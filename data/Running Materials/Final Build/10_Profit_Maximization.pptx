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10  ·  PROFIT MAXIMIZATION</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10</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Profit Maximization</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Module 9 gave you the cost curves. This module adds REVENUE, derives the single rule that governs every output decision — MR = MC — and follows it to its conclusions: the short-run supply curve, the long-run zero-profit result, and the deadweight loss of monopoly.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417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What are the conditions of perfect competition, and how do they determine a firm's pricing power?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How does the profit-maximization rule (MR = MC) operate — and what does it predict about output, price and profit?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How does monopoly power change market efficiency?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(4) Why do entry and exit drive economic profit to zero in the long run — and what survives that process?</a:t>
            </a:r>
            <a:endParaRPr lang="en-US" sz="850" dirty="0"/>
          </a:p>
        </p:txBody>
      </p:sp>
      <p:sp>
        <p:nvSpPr>
          <p:cNvPr id="9" name="Shape 7"/>
          <p:cNvSpPr/>
          <p:nvPr/>
        </p:nvSpPr>
        <p:spPr>
          <a:xfrm>
            <a:off x="4315968"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41732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Read Chapters 14–15 (Firms in Competitive Markets; Monopoly)</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Review Module 9 IN FULL — every cost curve today comes from it</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Khan Academy: Perfect Competition Model, Quizzes 2 and 3 — reach mastery</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Bring the Module 10 Worksheet, a calculator and graph paper</a:t>
            </a:r>
            <a:endParaRPr lang="en-US" sz="950" dirty="0"/>
          </a:p>
        </p:txBody>
      </p:sp>
      <p:sp>
        <p:nvSpPr>
          <p:cNvPr id="12" name="Shape 10"/>
          <p:cNvSpPr/>
          <p:nvPr/>
        </p:nvSpPr>
        <p:spPr>
          <a:xfrm>
            <a:off x="8119872" y="1481328"/>
            <a:ext cx="356616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41732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Module 10 Worksheet (printed)</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Calculator for the AT&amp;T and Ray's cold storage algebra</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Graph paper — SIX labeled diagrams today</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Your Module 4 notes on consumer surplus and deadweight loss</a:t>
            </a:r>
            <a:endParaRPr lang="en-US" sz="1100" dirty="0"/>
          </a:p>
        </p:txBody>
      </p:sp>
      <p:sp>
        <p:nvSpPr>
          <p:cNvPr id="15" name="Shape 13"/>
          <p:cNvSpPr/>
          <p:nvPr/>
        </p:nvSpPr>
        <p:spPr>
          <a:xfrm>
            <a:off x="502920" y="3931920"/>
            <a:ext cx="11183112" cy="868680"/>
          </a:xfrm>
          <a:prstGeom prst="rect">
            <a:avLst/>
          </a:prstGeom>
          <a:solidFill>
            <a:srgbClr val="1A2E4A"/>
          </a:solidFill>
          <a:ln/>
        </p:spPr>
      </p:sp>
      <p:sp>
        <p:nvSpPr>
          <p:cNvPr id="16" name="Text 14"/>
          <p:cNvSpPr/>
          <p:nvPr/>
        </p:nvSpPr>
        <p:spPr>
          <a:xfrm>
            <a:off x="758952" y="4059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3342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How does a firm decide how much to produce? The answer is PRECISE: produce until the revenue from the last unit exactly equals its cost. This module derives that rule, applies it across every profit scenario, and traces the long-run forces that drive economic profit to zero.</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4983480"/>
          <a:ext cx="11183112" cy="914400"/>
        </p:xfrm>
        <a:graphic>
          <a:graphicData uri="http://schemas.openxmlformats.org/drawingml/2006/table">
            <a:tbl>
              <a:tblPr/>
              <a:tblGrid>
                <a:gridCol w="5852160"/>
                <a:gridCol w="5330952"/>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 — 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II — MONOPOLY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The conditions of perfect competition and the price-taker result</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2 · Deriving and applying MR = MC</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3 · Profit, loss and shutdown; the short-run supply curve</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4 · Long-run equilibrium: entry, exit and zero economic profit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5 · Monopoly characteristics; MR bisects demand; price discrimination</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6 · Comparing competitive and monopoly equilibria; the deadweight loss of monopoly; the antitrust arc from AT&amp;T to Google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10</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554480"/>
            <a:ext cx="1755648" cy="3931920"/>
          </a:xfrm>
          <a:prstGeom prst="rect">
            <a:avLst/>
          </a:prstGeom>
          <a:solidFill>
            <a:srgbClr val="E8EDF3"/>
          </a:solidFill>
          <a:ln/>
        </p:spPr>
      </p:sp>
      <p:sp>
        <p:nvSpPr>
          <p:cNvPr id="7" name="Text 5"/>
          <p:cNvSpPr/>
          <p:nvPr/>
        </p:nvSpPr>
        <p:spPr>
          <a:xfrm>
            <a:off x="658368"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Perfect Competition — 4 assumptions</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Price Taker</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Market Price (P)</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Total Revenue (TR)</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Marginal Revenue (MR)</a:t>
            </a:r>
            <a:endParaRPr lang="en-US" sz="950" dirty="0"/>
          </a:p>
        </p:txBody>
      </p:sp>
      <p:sp>
        <p:nvSpPr>
          <p:cNvPr id="8" name="Shape 6"/>
          <p:cNvSpPr/>
          <p:nvPr/>
        </p:nvSpPr>
        <p:spPr>
          <a:xfrm>
            <a:off x="2414016" y="1554480"/>
            <a:ext cx="1755648" cy="3931920"/>
          </a:xfrm>
          <a:prstGeom prst="rect">
            <a:avLst/>
          </a:prstGeom>
          <a:solidFill>
            <a:srgbClr val="E8EDF3"/>
          </a:solidFill>
          <a:ln/>
        </p:spPr>
      </p:sp>
      <p:sp>
        <p:nvSpPr>
          <p:cNvPr id="9" name="Text 7"/>
          <p:cNvSpPr/>
          <p:nvPr/>
        </p:nvSpPr>
        <p:spPr>
          <a:xfrm>
            <a:off x="2569464"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Average Revenue (AR)</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MR = P in competition</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Profit Maximization Rule (MR = MC)</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Economic vs. Accounting Profit</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Normal Profit</a:t>
            </a:r>
            <a:endParaRPr lang="en-US" sz="950" dirty="0"/>
          </a:p>
        </p:txBody>
      </p:sp>
      <p:sp>
        <p:nvSpPr>
          <p:cNvPr id="10" name="Shape 8"/>
          <p:cNvSpPr/>
          <p:nvPr/>
        </p:nvSpPr>
        <p:spPr>
          <a:xfrm>
            <a:off x="4325112" y="1554480"/>
            <a:ext cx="1755648" cy="3931920"/>
          </a:xfrm>
          <a:prstGeom prst="rect">
            <a:avLst/>
          </a:prstGeom>
          <a:solidFill>
            <a:srgbClr val="E8EDF3"/>
          </a:solidFill>
          <a:ln/>
        </p:spPr>
      </p:sp>
      <p:sp>
        <p:nvSpPr>
          <p:cNvPr id="11" name="Text 9"/>
          <p:cNvSpPr/>
          <p:nvPr/>
        </p:nvSpPr>
        <p:spPr>
          <a:xfrm>
            <a:off x="4480560"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Break-Even Point</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Shutdown Condition (P &lt; AVC)</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Short-Run Supply Curve</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Firm vs. Market</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Long-Run Equilibrium</a:t>
            </a:r>
            <a:endParaRPr lang="en-US" sz="950" dirty="0"/>
          </a:p>
        </p:txBody>
      </p:sp>
      <p:sp>
        <p:nvSpPr>
          <p:cNvPr id="12" name="Shape 10"/>
          <p:cNvSpPr/>
          <p:nvPr/>
        </p:nvSpPr>
        <p:spPr>
          <a:xfrm>
            <a:off x="6236208" y="1554480"/>
            <a:ext cx="1755648" cy="3931920"/>
          </a:xfrm>
          <a:prstGeom prst="rect">
            <a:avLst/>
          </a:prstGeom>
          <a:solidFill>
            <a:srgbClr val="E8EDF3"/>
          </a:solidFill>
          <a:ln/>
        </p:spPr>
      </p:sp>
      <p:sp>
        <p:nvSpPr>
          <p:cNvPr id="13" name="Text 11"/>
          <p:cNvSpPr/>
          <p:nvPr/>
        </p:nvSpPr>
        <p:spPr>
          <a:xfrm>
            <a:off x="6391656"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Zero Economic Profit</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Entry &amp; Exit Dynamics</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Productive Efficiency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Allocative Efficiency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Barriers to Entry</a:t>
            </a:r>
            <a:endParaRPr lang="en-US" sz="950" dirty="0"/>
          </a:p>
        </p:txBody>
      </p:sp>
      <p:sp>
        <p:nvSpPr>
          <p:cNvPr id="14" name="Shape 12"/>
          <p:cNvSpPr/>
          <p:nvPr/>
        </p:nvSpPr>
        <p:spPr>
          <a:xfrm>
            <a:off x="8147304" y="1554480"/>
            <a:ext cx="1755648" cy="3931920"/>
          </a:xfrm>
          <a:prstGeom prst="rect">
            <a:avLst/>
          </a:prstGeom>
          <a:solidFill>
            <a:srgbClr val="E8EDF3"/>
          </a:solidFill>
          <a:ln/>
        </p:spPr>
      </p:sp>
      <p:sp>
        <p:nvSpPr>
          <p:cNvPr id="15" name="Text 13"/>
          <p:cNvSpPr/>
          <p:nvPr/>
        </p:nvSpPr>
        <p:spPr>
          <a:xfrm>
            <a:off x="8302752"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Monopoly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Market Power</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Price Maker</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MR &lt; P in monopoly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Demand = AR (monopoly)</a:t>
            </a:r>
            <a:endParaRPr lang="en-US" sz="950" dirty="0"/>
          </a:p>
        </p:txBody>
      </p:sp>
      <p:sp>
        <p:nvSpPr>
          <p:cNvPr id="16" name="Shape 14"/>
          <p:cNvSpPr/>
          <p:nvPr/>
        </p:nvSpPr>
        <p:spPr>
          <a:xfrm>
            <a:off x="10058400" y="1554480"/>
            <a:ext cx="1755648" cy="3931920"/>
          </a:xfrm>
          <a:prstGeom prst="rect">
            <a:avLst/>
          </a:prstGeom>
          <a:solidFill>
            <a:srgbClr val="E8EDF3"/>
          </a:solidFill>
          <a:ln/>
        </p:spPr>
      </p:sp>
      <p:sp>
        <p:nvSpPr>
          <p:cNvPr id="17" name="Text 15"/>
          <p:cNvSpPr/>
          <p:nvPr/>
        </p:nvSpPr>
        <p:spPr>
          <a:xfrm>
            <a:off x="10213848" y="1783080"/>
            <a:ext cx="1463040" cy="3474720"/>
          </a:xfrm>
          <a:prstGeom prst="rect">
            <a:avLst/>
          </a:prstGeom>
          <a:noFill/>
          <a:ln/>
        </p:spPr>
        <p:txBody>
          <a:bodyPr wrap="square" lIns="0" tIns="0" rIns="0" bIns="0" rtlCol="0" anchor="ctr"/>
          <a:lstStyle/>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Deadweight Loss of Monopoly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Natural Monopoly</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Price Discrimination</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1st / 2nd / 3rd Degree</a:t>
            </a:r>
            <a:endParaRPr lang="en-US" sz="950" dirty="0"/>
          </a:p>
          <a:p>
            <a:pPr marL="203200" indent="-203200">
              <a:lnSpc>
                <a:spcPts val="1400"/>
              </a:lnSpc>
              <a:spcAft>
                <a:spcPts val="1300"/>
              </a:spcAft>
              <a:buSzPct val="100000"/>
              <a:buChar char="•"/>
            </a:pPr>
            <a:r>
              <a:rPr lang="en-US" sz="950" dirty="0">
                <a:solidFill>
                  <a:srgbClr val="1A2E4A"/>
                </a:solidFill>
                <a:latin typeface="Calibri" pitchFamily="34" charset="0"/>
                <a:ea typeface="Calibri" pitchFamily="34" charset="-122"/>
                <a:cs typeface="Calibri" pitchFamily="34" charset="-120"/>
              </a:rPr>
              <a:t>Arbitrage</a:t>
            </a:r>
            <a:endParaRPr lang="en-US" sz="950" dirty="0"/>
          </a:p>
        </p:txBody>
      </p:sp>
      <p:sp>
        <p:nvSpPr>
          <p:cNvPr id="18" name="Shape 16"/>
          <p:cNvSpPr/>
          <p:nvPr/>
        </p:nvSpPr>
        <p:spPr>
          <a:xfrm>
            <a:off x="502920" y="5623560"/>
            <a:ext cx="11183112" cy="566928"/>
          </a:xfrm>
          <a:prstGeom prst="rect">
            <a:avLst/>
          </a:prstGeom>
          <a:solidFill>
            <a:srgbClr val="1A2E4A"/>
          </a:solidFill>
          <a:ln/>
        </p:spPr>
      </p:sp>
      <p:sp>
        <p:nvSpPr>
          <p:cNvPr id="19" name="Text 17"/>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ONE RULE THIS WHOLE MODULE RESTS ON</a:t>
            </a:r>
            <a:endParaRPr lang="en-US" sz="1050" dirty="0"/>
          </a:p>
        </p:txBody>
      </p:sp>
      <p:sp>
        <p:nvSpPr>
          <p:cNvPr id="20" name="Text 18"/>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EVERY firm — competitive, monopolistic, oligopolistic — maximizes profit at MR = MC. What DIFFERS between market structures is not the rule but the SHAPE OF MR: horizontal at P for a price taker, and strictly below the demand curve for a price maker.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Competitive Firm</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four conditions of perfect competition and why they force MR = P</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Deriving the MR = MC profit-maximization rule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Profit, loss and shutdown; deriving the short-run supply curve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Long-run equilibrium: entry, exit, and the zero-economic-profit result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Perfect Competition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Price-Taker Condition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Enumerate and evaluate each condition of perfect competition; establish why P = MR follows necessarily for a price taker.</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FOUR CONDITIONS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Perfect Competition Requires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4023360"/>
                <a:gridCol w="4873752"/>
              </a:tblGrid>
              <a:tr h="31089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CONDITION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PRECISE DEFINITION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DEGREE TO WHICH MARCUS'S MARKET SATISFIES 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MANY BUYERS AND SELLERS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So many that no single participant's quantity decision perceptibly moves the market price. Each is infinitesimal relative to the market.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PARTIALLY. There are many street-food vendors and very many buyers in Philadelphia — but within a two-block lunch radius there may be only three or four sellers, and that is the market Marcus actually faces.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HOMOGENEOUS (IDENTICAL) PRODUCT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Buyers regard every seller's output as a perfect substitute. There is no brand, no reputation, no differentiation of any kind.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WEAKLY. Food is inherently differentiated — recipe, speed, location, the vendor's manner. Any differentiation gives a sliver of price-setting power, which is why this is really MONOPOLISTIC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FREE ENTRY AND EXIT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legal, technological or financial barrier to entering or leaving the industry. Capital can move in and out costlessly.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PARTIALLY. Carts are cheap relative to a factory — but permits are capped and slow, prime pitches are scarce, and Module 7's credit desert means the $2,400 of capital is itself a barrier for some.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PERFECT INFORMATION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All buyers and sellers know all prices and all product qualities, at no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WEAKLY. Buyers do not price-check every cart; they buy from the one they can see. Search costs are exactly what gives a vendor local pricing power.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114800"/>
            <a:ext cx="11183112" cy="1097280"/>
          </a:xfrm>
          <a:prstGeom prst="rect">
            <a:avLst/>
          </a:prstGeom>
          <a:solidFill>
            <a:srgbClr val="1A2E4A"/>
          </a:solidFill>
          <a:ln/>
        </p:spPr>
      </p:sp>
      <p:sp>
        <p:nvSpPr>
          <p:cNvPr id="8" name="Text 5"/>
          <p:cNvSpPr/>
          <p:nvPr/>
        </p:nvSpPr>
        <p:spPr>
          <a:xfrm>
            <a:off x="685800" y="4242816"/>
            <a:ext cx="10817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For a PRICE TAKER:      MR  =  ΔTR / ΔQ  =  Δ(P × Q) / ΔQ  =  P        (because P is CONSTANT)</a:t>
            </a:r>
            <a:endParaRPr lang="en-US" sz="1800" dirty="0"/>
          </a:p>
        </p:txBody>
      </p:sp>
      <p:sp>
        <p:nvSpPr>
          <p:cNvPr id="9" name="Text 6"/>
          <p:cNvSpPr/>
          <p:nvPr/>
        </p:nvSpPr>
        <p:spPr>
          <a:xfrm>
            <a:off x="685800" y="47000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A price taker cannot influence the market price because its own output is a NEGLIGIBLE FRACTION of total market supply.</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Every unit sells at the same price P, so the revenue added by the last unit is exactly P. Hence MR = AR = P = d.</a:t>
            </a:r>
            <a:endParaRPr lang="en-US" sz="1150" dirty="0"/>
          </a:p>
        </p:txBody>
      </p:sp>
      <p:sp>
        <p:nvSpPr>
          <p:cNvPr id="10" name="Shape 7"/>
          <p:cNvSpPr/>
          <p:nvPr/>
        </p:nvSpPr>
        <p:spPr>
          <a:xfrm>
            <a:off x="502920" y="5349240"/>
            <a:ext cx="11183112" cy="777240"/>
          </a:xfrm>
          <a:prstGeom prst="rect">
            <a:avLst/>
          </a:prstGeom>
          <a:solidFill>
            <a:srgbClr val="1A2E4A"/>
          </a:solidFill>
          <a:ln/>
        </p:spPr>
      </p:sp>
      <p:sp>
        <p:nvSpPr>
          <p:cNvPr id="11" name="Text 8"/>
          <p:cNvSpPr/>
          <p:nvPr/>
        </p:nvSpPr>
        <p:spPr>
          <a:xfrm>
            <a:off x="758952" y="54772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WE STILL USE A MODEL THAT NO REAL MARKET SATISFIES</a:t>
            </a:r>
            <a:endParaRPr lang="en-US" sz="1050" dirty="0"/>
          </a:p>
        </p:txBody>
      </p:sp>
      <p:sp>
        <p:nvSpPr>
          <p:cNvPr id="12" name="Text 9"/>
          <p:cNvSpPr/>
          <p:nvPr/>
        </p:nvSpPr>
        <p:spPr>
          <a:xfrm>
            <a:off x="758952" y="575157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Perfect competition is a BENCHMARK, not a description. Its value is that it defines the efficient outcome precisely — so that every real market can be measured by HOW FAR IT DEPARTS from it, and in which direction. Module 11 will occupy the space in between.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MARCUS'S FOOD CART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Total Revenue, Marginal Revenue and the Price-Taker Result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417320"/>
            <a:ext cx="5440680" cy="365760"/>
          </a:xfrm>
          <a:prstGeom prst="rect">
            <a:avLst/>
          </a:prstGeom>
          <a:noFill/>
          <a:ln/>
        </p:spPr>
        <p:txBody>
          <a:bodyPr wrap="square" lIns="0" tIns="0" rIns="0" bIns="0" rtlCol="0" anchor="ctr"/>
          <a:lstStyle/>
          <a:p>
            <a:pPr indent="0" marL="0">
              <a:buNone/>
            </a:pPr>
            <a:r>
              <a:rPr lang="en-US" sz="1250" dirty="0">
                <a:solidFill>
                  <a:srgbClr val="4A6180"/>
                </a:solidFill>
                <a:latin typeface="Calibri" pitchFamily="34" charset="0"/>
                <a:ea typeface="Calibri" pitchFamily="34" charset="-122"/>
                <a:cs typeface="Calibri" pitchFamily="34" charset="-120"/>
              </a:rPr>
              <a:t>Suppose Marcus operates in a perfectly competitive street-food market. The market price for his lunch special is $10.</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440680" cy="914400"/>
        </p:xfrm>
        <a:graphic>
          <a:graphicData uri="http://schemas.openxmlformats.org/drawingml/2006/table">
            <a:tbl>
              <a:tblPr/>
              <a:tblGrid>
                <a:gridCol w="1051560"/>
                <a:gridCol w="1005840"/>
                <a:gridCol w="1143000"/>
                <a:gridCol w="1188720"/>
                <a:gridCol w="1051560"/>
              </a:tblGrid>
              <a:tr h="29260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MEALS (Q)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PRICE (P)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TR = P × 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MR = ΔTR/ΔQ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 =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502920" y="3977640"/>
            <a:ext cx="544068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160520"/>
            <a:ext cx="49286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THE RESULT HOLDS</a:t>
            </a:r>
            <a:endParaRPr lang="en-US" sz="1550" dirty="0"/>
          </a:p>
        </p:txBody>
      </p:sp>
      <p:sp>
        <p:nvSpPr>
          <p:cNvPr id="10" name="Text 7"/>
          <p:cNvSpPr/>
          <p:nvPr/>
        </p:nvSpPr>
        <p:spPr>
          <a:xfrm>
            <a:off x="758952" y="4562856"/>
            <a:ext cx="492861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Because in perfect competition EVERY UNIT IS SOLD AT THE SAME MARKET PRICE. Selling the fifth meal does not require cutting the price on the first four — so the revenue added by the fifth meal is the full $10.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Contrast Part 5, where a monopolist must cut price on ALL units to sell one more.</a:t>
            </a:r>
            <a:endParaRPr lang="en-US" sz="850" dirty="0"/>
          </a:p>
        </p:txBody>
      </p:sp>
      <p:sp>
        <p:nvSpPr>
          <p:cNvPr id="11" name="Shape 8"/>
          <p:cNvSpPr/>
          <p:nvPr/>
        </p:nvSpPr>
        <p:spPr>
          <a:xfrm>
            <a:off x="502920" y="5257800"/>
            <a:ext cx="5440680" cy="868680"/>
          </a:xfrm>
          <a:prstGeom prst="rect">
            <a:avLst/>
          </a:prstGeom>
          <a:solidFill>
            <a:srgbClr val="1A2E4A"/>
          </a:solidFill>
          <a:ln/>
        </p:spPr>
      </p:sp>
      <p:sp>
        <p:nvSpPr>
          <p:cNvPr id="12" name="Text 9"/>
          <p:cNvSpPr/>
          <p:nvPr/>
        </p:nvSpPr>
        <p:spPr>
          <a:xfrm>
            <a:off x="758952" y="538581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THREE NAMES, ONE LINE</a:t>
            </a:r>
            <a:endParaRPr lang="en-US" sz="1050" dirty="0"/>
          </a:p>
        </p:txBody>
      </p:sp>
      <p:sp>
        <p:nvSpPr>
          <p:cNvPr id="13" name="Text 10"/>
          <p:cNvSpPr/>
          <p:nvPr/>
        </p:nvSpPr>
        <p:spPr>
          <a:xfrm>
            <a:off x="758952" y="5660136"/>
            <a:ext cx="4928616"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The firm's demand curve d, its MARGINAL revenue MR, and its AVERAGE revenue AR are all the same horizontal line at P. This is true ONLY under price-taking.</a:t>
            </a:r>
            <a:endParaRPr lang="en-US" sz="900" dirty="0"/>
          </a:p>
        </p:txBody>
      </p:sp>
      <p:pic>
        <p:nvPicPr>
          <p:cNvPr id="14" name="Image 0" descr="figs/m10_pricetaker.png">    </p:cNvPr>
          <p:cNvPicPr>
            <a:picLocks noChangeAspect="1"/>
          </p:cNvPicPr>
          <p:nvPr/>
        </p:nvPicPr>
        <p:blipFill>
          <a:blip r:embed="rId1"/>
          <a:stretch>
            <a:fillRect/>
          </a:stretch>
        </p:blipFill>
        <p:spPr>
          <a:xfrm>
            <a:off x="6126480" y="2499854"/>
            <a:ext cx="5577840" cy="23154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MR = MC</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Profit-Maximization Rule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Derive the profit-maximization rule; identify optimal output from a cost and revenue schedule; compute profit.</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GOLDEN RULE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MR = MC Maximizes Profit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417320"/>
            <a:ext cx="11183112" cy="1143000"/>
          </a:xfrm>
          <a:prstGeom prst="rect">
            <a:avLst/>
          </a:prstGeom>
          <a:solidFill>
            <a:srgbClr val="1A2E4A"/>
          </a:solidFill>
          <a:ln/>
        </p:spPr>
      </p:sp>
      <p:sp>
        <p:nvSpPr>
          <p:cNvPr id="7" name="Text 5"/>
          <p:cNvSpPr/>
          <p:nvPr/>
        </p:nvSpPr>
        <p:spPr>
          <a:xfrm>
            <a:off x="685800" y="1545336"/>
            <a:ext cx="10817352" cy="5760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GOLDEN RULE:      produce where      MR  =  MC</a:t>
            </a:r>
            <a:endParaRPr lang="en-US" sz="2200" dirty="0"/>
          </a:p>
        </p:txBody>
      </p:sp>
      <p:sp>
        <p:nvSpPr>
          <p:cNvPr id="8" name="Text 6"/>
          <p:cNvSpPr/>
          <p:nvPr/>
        </p:nvSpPr>
        <p:spPr>
          <a:xfrm>
            <a:off x="685800" y="204825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In PERFECT COMPETITION, MR = P — so the competitive firm produces where P = MC.</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Beyond this point, each additional unit costs MORE to produce than it earns.</a:t>
            </a:r>
            <a:endParaRPr lang="en-US" sz="1150" dirty="0"/>
          </a:p>
        </p:txBody>
      </p:sp>
      <p:sp>
        <p:nvSpPr>
          <p:cNvPr id="9" name="Shape 7"/>
          <p:cNvSpPr/>
          <p:nvPr/>
        </p:nvSpPr>
        <p:spPr>
          <a:xfrm>
            <a:off x="502920" y="2743200"/>
            <a:ext cx="361188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92608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MARGINAL REVENUE (MR)</a:t>
            </a:r>
            <a:endParaRPr lang="en-US" sz="1550" dirty="0"/>
          </a:p>
        </p:txBody>
      </p:sp>
      <p:sp>
        <p:nvSpPr>
          <p:cNvPr id="11" name="Text 9"/>
          <p:cNvSpPr/>
          <p:nvPr/>
        </p:nvSpPr>
        <p:spPr>
          <a:xfrm>
            <a:off x="758952" y="3328416"/>
            <a:ext cx="309981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additional REVENUE from selling one more unit.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MR = ΔTR / ΔQ.</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For a price taker it is constant at P. For a price maker it FALLS as Q rises (Part 5).</a:t>
            </a:r>
            <a:endParaRPr lang="en-US" sz="850" dirty="0"/>
          </a:p>
        </p:txBody>
      </p:sp>
      <p:sp>
        <p:nvSpPr>
          <p:cNvPr id="12" name="Shape 10"/>
          <p:cNvSpPr/>
          <p:nvPr/>
        </p:nvSpPr>
        <p:spPr>
          <a:xfrm>
            <a:off x="4315968" y="2743200"/>
            <a:ext cx="361188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4572000" y="292608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MARGINAL COST (MC)</a:t>
            </a:r>
            <a:endParaRPr lang="en-US" sz="1550" dirty="0"/>
          </a:p>
        </p:txBody>
      </p:sp>
      <p:sp>
        <p:nvSpPr>
          <p:cNvPr id="14" name="Text 12"/>
          <p:cNvSpPr/>
          <p:nvPr/>
        </p:nvSpPr>
        <p:spPr>
          <a:xfrm>
            <a:off x="4572000" y="3328416"/>
            <a:ext cx="309981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additional COST of producing one more unit.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MC = ΔTC / ΔQ.</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RISES once diminishing returns set in — Module 9, and the reason MC = W/MP.</a:t>
            </a:r>
            <a:endParaRPr lang="en-US" sz="850" dirty="0"/>
          </a:p>
        </p:txBody>
      </p:sp>
      <p:sp>
        <p:nvSpPr>
          <p:cNvPr id="15" name="Shape 13"/>
          <p:cNvSpPr/>
          <p:nvPr/>
        </p:nvSpPr>
        <p:spPr>
          <a:xfrm>
            <a:off x="8119872" y="2743200"/>
            <a:ext cx="356616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8375904" y="2926080"/>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THE LOGIC IN TWO LINES</a:t>
            </a:r>
            <a:endParaRPr lang="en-US" sz="1550" dirty="0"/>
          </a:p>
        </p:txBody>
      </p:sp>
      <p:sp>
        <p:nvSpPr>
          <p:cNvPr id="17" name="Text 15"/>
          <p:cNvSpPr/>
          <p:nvPr/>
        </p:nvSpPr>
        <p:spPr>
          <a:xfrm>
            <a:off x="8375904" y="3328416"/>
            <a:ext cx="305409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IF MR &gt; MC → PRODUCE MORE. The unit earns more than it costs, so making it ADDS to profit.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IF MR &lt; MC → PRODUCE LESS. The unit costs more than it earns, so making it SUBTRACTS from profit.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Maximum profit is where the two are exactly equal.</a:t>
            </a:r>
            <a:endParaRPr lang="en-US" sz="850" dirty="0"/>
          </a:p>
        </p:txBody>
      </p:sp>
      <p:sp>
        <p:nvSpPr>
          <p:cNvPr id="18" name="Shape 16"/>
          <p:cNvSpPr/>
          <p:nvPr/>
        </p:nvSpPr>
        <p:spPr>
          <a:xfrm>
            <a:off x="502920" y="4526280"/>
            <a:ext cx="11183112" cy="1600200"/>
          </a:xfrm>
          <a:prstGeom prst="rect">
            <a:avLst/>
          </a:prstGeom>
          <a:solidFill>
            <a:srgbClr val="1A2E4A"/>
          </a:solidFill>
          <a:ln/>
        </p:spPr>
      </p:sp>
      <p:sp>
        <p:nvSpPr>
          <p:cNvPr id="19" name="Text 17"/>
          <p:cNvSpPr/>
          <p:nvPr/>
        </p:nvSpPr>
        <p:spPr>
          <a:xfrm>
            <a:off x="758952" y="46542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THE RULE IN PURELY INTUITIVE TERMS</a:t>
            </a:r>
            <a:endParaRPr lang="en-US" sz="1050" dirty="0"/>
          </a:p>
        </p:txBody>
      </p:sp>
      <p:sp>
        <p:nvSpPr>
          <p:cNvPr id="20" name="Text 18"/>
          <p:cNvSpPr/>
          <p:nvPr/>
        </p:nvSpPr>
        <p:spPr>
          <a:xfrm>
            <a:off x="758952" y="4928616"/>
            <a:ext cx="10671048" cy="10698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calculus version finds where the SLOPE of TR equals the SLOPE of TC — the point at which the vertical gap between them is widest. But you do not need calculus to see it.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THINK OF EACH UNIT SEPARATELY. Every unit either adds to the profit pile or subtracts from it. A unit adds if MR &gt; MC and subtracts if MC &gt; MR. A rational firm therefore makes EVERY unit that adds and NO unit that subtracts. The last unit worth making is the one where the addition is exactly zero — which is precisely MR = MC.</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Producing when MR &gt; MC always raises profit because you are leaving money on the table by stopping. Producing when MC &gt; MR always destroys profit because you are paying more for the unit than anyone will give you for it. There is no third possibility.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IOWA CORN FARM, 1973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Applying MR = MC — and Discovering a Loss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417320"/>
            <a:ext cx="5532120" cy="45720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A corn farmer faces market price P = $2.80/bu during the OPEC-era food price surge. TFC = $4,000. At Q = 2,000: ATC = $3.60 and AVC = $1.60.</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5532120" cy="914400"/>
        </p:xfrm>
        <a:graphic>
          <a:graphicData uri="http://schemas.openxmlformats.org/drawingml/2006/table">
            <a:tbl>
              <a:tblPr/>
              <a:tblGrid>
                <a:gridCol w="1371600"/>
                <a:gridCol w="960120"/>
                <a:gridCol w="1005840"/>
                <a:gridCol w="2194560"/>
              </a:tblGrid>
              <a:tr h="31089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QUANTITY (bu)</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MR = 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MR vs.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&gt; MC → produce more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1,500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&gt; MC → produce more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MC → Q* = 2,000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MC &gt; MR → do not produce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3,000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$4.20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MC &gt; MR → do not produce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3840480"/>
            <a:ext cx="5532120" cy="1234440"/>
          </a:xfrm>
          <a:prstGeom prst="rect">
            <a:avLst/>
          </a:prstGeom>
          <a:solidFill>
            <a:srgbClr val="1A2E4A"/>
          </a:solidFill>
          <a:ln/>
        </p:spPr>
      </p:sp>
      <p:sp>
        <p:nvSpPr>
          <p:cNvPr id="9" name="Text 6"/>
          <p:cNvSpPr/>
          <p:nvPr/>
        </p:nvSpPr>
        <p:spPr>
          <a:xfrm>
            <a:off x="685800" y="3968496"/>
            <a:ext cx="5166360" cy="6675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π  =  (P − ATC) × Q  =  (2.80 − 3.60) × 2,000  =  −$1,600</a:t>
            </a:r>
            <a:endParaRPr lang="en-US" sz="2000" dirty="0"/>
          </a:p>
        </p:txBody>
      </p:sp>
      <p:sp>
        <p:nvSpPr>
          <p:cNvPr id="10" name="Text 7"/>
          <p:cNvSpPr/>
          <p:nvPr/>
        </p:nvSpPr>
        <p:spPr>
          <a:xfrm>
            <a:off x="685800" y="4562856"/>
            <a:ext cx="516636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P &lt; ATC, so the farm is making an ECONOMIC LOSS at its best possible output.</a:t>
            </a:r>
            <a:endParaRPr lang="en-US" sz="1150" dirty="0"/>
          </a:p>
        </p:txBody>
      </p:sp>
      <p:sp>
        <p:nvSpPr>
          <p:cNvPr id="11" name="Shape 8"/>
          <p:cNvSpPr/>
          <p:nvPr/>
        </p:nvSpPr>
        <p:spPr>
          <a:xfrm>
            <a:off x="6309360" y="1417320"/>
            <a:ext cx="5376672"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6565392" y="1600200"/>
            <a:ext cx="48646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SHUTDOWN CHECK</a:t>
            </a:r>
            <a:endParaRPr lang="en-US" sz="1550" dirty="0"/>
          </a:p>
        </p:txBody>
      </p:sp>
      <p:sp>
        <p:nvSpPr>
          <p:cNvPr id="13" name="Text 10"/>
          <p:cNvSpPr/>
          <p:nvPr/>
        </p:nvSpPr>
        <p:spPr>
          <a:xfrm>
            <a:off x="6565392" y="2002536"/>
            <a:ext cx="4864608"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AVC at Q = 2,000 is $1.60. Is P ≥ AVC?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YES — $2.80 ≥ $1.60. Every bushel covers its own variable cost and contributes $1.20 toward the fixed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DECISION: PRODUCE AND LOSE MONEY.</a:t>
            </a:r>
            <a:endParaRPr lang="en-US" sz="8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3017520"/>
          <a:ext cx="5376672" cy="914400"/>
        </p:xfrm>
        <a:graphic>
          <a:graphicData uri="http://schemas.openxmlformats.org/drawingml/2006/table">
            <a:tbl>
              <a:tblPr/>
              <a:tblGrid>
                <a:gridCol w="1554480"/>
                <a:gridCol w="2743200"/>
                <a:gridCol w="1078992"/>
              </a:tblGrid>
              <a:tr h="40233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ARITHMETIC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LOSS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PRODUCE 2,000 bu</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 2.80 × 2,000 = $5,600.  TC = 3.60 × 2,000 = $7,200.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−$1,600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SHUT DOWN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 $0.  TC = TFC = $4,000, still owed.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5" name="Shape 11"/>
          <p:cNvSpPr/>
          <p:nvPr/>
        </p:nvSpPr>
        <p:spPr>
          <a:xfrm>
            <a:off x="6309360" y="4617720"/>
            <a:ext cx="5376672" cy="1508760"/>
          </a:xfrm>
          <a:prstGeom prst="rect">
            <a:avLst/>
          </a:prstGeom>
          <a:solidFill>
            <a:srgbClr val="1A2E4A"/>
          </a:solidFill>
          <a:ln/>
        </p:spPr>
      </p:sp>
      <p:sp>
        <p:nvSpPr>
          <p:cNvPr id="16" name="Text 12"/>
          <p:cNvSpPr/>
          <p:nvPr/>
        </p:nvSpPr>
        <p:spPr>
          <a:xfrm>
            <a:off x="6565392" y="4745736"/>
            <a:ext cx="48646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LESSON</a:t>
            </a:r>
            <a:endParaRPr lang="en-US" sz="1050" dirty="0"/>
          </a:p>
        </p:txBody>
      </p:sp>
      <p:sp>
        <p:nvSpPr>
          <p:cNvPr id="17" name="Text 13"/>
          <p:cNvSpPr/>
          <p:nvPr/>
        </p:nvSpPr>
        <p:spPr>
          <a:xfrm>
            <a:off x="6565392" y="5020056"/>
            <a:ext cx="4864608" cy="97840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MR = MC does NOT mean 'make a profit'. It means 'do the BEST YOU CAN, given the price'. Sometimes the best you can do is lose $1,600 instead of $4,000.</a:t>
            </a:r>
            <a:endParaRPr lang="en-US" sz="900" dirty="0"/>
          </a:p>
          <a:p>
            <a:pPr indent="0" marL="0">
              <a:lnSpc>
                <a:spcPts val="1300"/>
              </a:lnSpc>
              <a:buNone/>
            </a:pPr>
            <a:endParaRPr lang="en-US" sz="900" dirty="0"/>
          </a:p>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This is why Module 9's distinction between AVC and ATC matters so much: MR = MC finds the optimal QUANTITY, and the AVC comparison decides whether to produce that quantity AT ALL.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RAY'S WAREHOUSE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 Complete Revenue and Cost Schedule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417320"/>
            <a:ext cx="11155680" cy="365760"/>
          </a:xfrm>
          <a:prstGeom prst="rect">
            <a:avLst/>
          </a:prstGeom>
          <a:noFill/>
          <a:ln/>
        </p:spPr>
        <p:txBody>
          <a:bodyPr wrap="square" lIns="0" tIns="0" rIns="0" bIns="0" rtlCol="0" anchor="ctr"/>
          <a:lstStyle/>
          <a:p>
            <a:pPr indent="0" marL="0">
              <a:buNone/>
            </a:pPr>
            <a:r>
              <a:rPr lang="en-US" sz="1250" dirty="0">
                <a:solidFill>
                  <a:srgbClr val="4A6180"/>
                </a:solidFill>
                <a:latin typeface="Calibri" pitchFamily="34" charset="0"/>
                <a:ea typeface="Calibri" pitchFamily="34" charset="-122"/>
                <a:cs typeface="Calibri" pitchFamily="34" charset="-120"/>
              </a:rPr>
              <a:t>Market price P = $80 per unit. Apply MR = MC to find profit-maximizing output and compute total economic profit.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7223760" cy="914400"/>
        </p:xfrm>
        <a:graphic>
          <a:graphicData uri="http://schemas.openxmlformats.org/drawingml/2006/table">
            <a:tbl>
              <a:tblPr/>
              <a:tblGrid>
                <a:gridCol w="548640"/>
                <a:gridCol w="1234440"/>
                <a:gridCol w="868680"/>
                <a:gridCol w="731520"/>
                <a:gridCol w="731520"/>
                <a:gridCol w="1463040"/>
                <a:gridCol w="164592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TR = P × Q</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PROFIT = TR − TC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PRODUCE? (MR ≥ MC)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MR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MR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MR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MR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$470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−$70  ← BEST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YES — the LAST profitable unit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NO — MC &gt;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NO — MC &gt;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7955280" y="1874520"/>
            <a:ext cx="3730752" cy="1234440"/>
          </a:xfrm>
          <a:prstGeom prst="rect">
            <a:avLst/>
          </a:prstGeom>
          <a:solidFill>
            <a:srgbClr val="1A2E4A"/>
          </a:solidFill>
          <a:ln/>
        </p:spPr>
      </p:sp>
      <p:sp>
        <p:nvSpPr>
          <p:cNvPr id="9" name="Text 6"/>
          <p:cNvSpPr/>
          <p:nvPr/>
        </p:nvSpPr>
        <p:spPr>
          <a:xfrm>
            <a:off x="8138160" y="1874520"/>
            <a:ext cx="3364992" cy="12344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  =  5</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Max π  =  −$70</a:t>
            </a:r>
            <a:endParaRPr lang="en-US" sz="2200" dirty="0"/>
          </a:p>
        </p:txBody>
      </p:sp>
      <p:sp>
        <p:nvSpPr>
          <p:cNvPr id="10" name="Shape 7"/>
          <p:cNvSpPr/>
          <p:nvPr/>
        </p:nvSpPr>
        <p:spPr>
          <a:xfrm>
            <a:off x="7955280" y="3246120"/>
            <a:ext cx="373075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8211312" y="3429000"/>
            <a:ext cx="321868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IT IS A LOSS — AND STILL OPTIMAL</a:t>
            </a:r>
            <a:endParaRPr lang="en-US" sz="1550" dirty="0"/>
          </a:p>
        </p:txBody>
      </p:sp>
      <p:sp>
        <p:nvSpPr>
          <p:cNvPr id="12" name="Text 9"/>
          <p:cNvSpPr/>
          <p:nvPr/>
        </p:nvSpPr>
        <p:spPr>
          <a:xfrm>
            <a:off x="8211312" y="3831336"/>
            <a:ext cx="321868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MR = MC between Q = 5 and Q = 6: MC(5) = $70 &lt; $80, MC(6) = $90 &gt; $80. So the fifth unit is the last one worth making.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−$70 is the SMALLEST loss available. Every other row is worse.</a:t>
            </a:r>
            <a:endParaRPr lang="en-US" sz="850" dirty="0"/>
          </a:p>
        </p:txBody>
      </p:sp>
      <p:sp>
        <p:nvSpPr>
          <p:cNvPr id="13" name="Shape 10"/>
          <p:cNvSpPr/>
          <p:nvPr/>
        </p:nvSpPr>
        <p:spPr>
          <a:xfrm>
            <a:off x="7955280" y="4754880"/>
            <a:ext cx="373075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8211312" y="4937760"/>
            <a:ext cx="321868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CHECK THE SHUTDOWN RULE</a:t>
            </a:r>
            <a:endParaRPr lang="en-US" sz="1550" dirty="0"/>
          </a:p>
        </p:txBody>
      </p:sp>
      <p:sp>
        <p:nvSpPr>
          <p:cNvPr id="15" name="Text 12"/>
          <p:cNvSpPr/>
          <p:nvPr/>
        </p:nvSpPr>
        <p:spPr>
          <a:xfrm>
            <a:off x="8211312" y="5340096"/>
            <a:ext cx="321868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TFC = TC at Q = 0 = $200.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At Q = 5: TVC = 470 − 200 = $270, so AVC = $54.</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 = $80 &gt; AVC = $54 → OPERATE. The loss of $70 beats the shutdown loss of $200.</a:t>
            </a:r>
            <a:endParaRPr lang="en-US" sz="850" dirty="0"/>
          </a:p>
        </p:txBody>
      </p:sp>
      <p:sp>
        <p:nvSpPr>
          <p:cNvPr id="16" name="Shape 13"/>
          <p:cNvSpPr/>
          <p:nvPr/>
        </p:nvSpPr>
        <p:spPr>
          <a:xfrm>
            <a:off x="502920" y="5120640"/>
            <a:ext cx="7223760" cy="1005840"/>
          </a:xfrm>
          <a:prstGeom prst="rect">
            <a:avLst/>
          </a:prstGeom>
          <a:solidFill>
            <a:srgbClr val="1A2E4A"/>
          </a:solidFill>
          <a:ln/>
        </p:spPr>
      </p:sp>
      <p:sp>
        <p:nvSpPr>
          <p:cNvPr id="17" name="Text 14"/>
          <p:cNvSpPr/>
          <p:nvPr/>
        </p:nvSpPr>
        <p:spPr>
          <a:xfrm>
            <a:off x="758952" y="5248656"/>
            <a:ext cx="671169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MR = MC MAXIMIZES PROFIT — STATED WITH THIS TABLE</a:t>
            </a:r>
            <a:endParaRPr lang="en-US" sz="1050" dirty="0"/>
          </a:p>
        </p:txBody>
      </p:sp>
      <p:sp>
        <p:nvSpPr>
          <p:cNvPr id="18" name="Text 15"/>
          <p:cNvSpPr/>
          <p:nvPr/>
        </p:nvSpPr>
        <p:spPr>
          <a:xfrm>
            <a:off x="758952" y="5522976"/>
            <a:ext cx="6711696"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IF MR &gt; MC, PRODUCE MORE: at Q = 3 the fourth unit adds $80 of revenue and $50 of cost, so the loss shrinks by $30. IF MC &gt; MR, PRODUCE LESS: at Q = 6 the sixth unit adds $80 of revenue and $90 of cost, so the loss grows by $10. The optimum is the last unit for which the addition is still non-negative.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Profit, Loss, Shutdown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Short-Run Supply Curve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Compute and graphically illustrate each profit scenario; derive the shutdown condition; build the short-run supply curve from the MC curve.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THREE CASES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Profit, Normal Profit and Loss — All at MR = MC</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pic>
        <p:nvPicPr>
          <p:cNvPr id="6" name="Image 0" descr="figs/m10_threecases.png">    </p:cNvPr>
          <p:cNvPicPr>
            <a:picLocks noChangeAspect="1"/>
          </p:cNvPicPr>
          <p:nvPr/>
        </p:nvPicPr>
        <p:blipFill>
          <a:blip r:embed="rId1"/>
          <a:stretch>
            <a:fillRect/>
          </a:stretch>
        </p:blipFill>
        <p:spPr>
          <a:xfrm>
            <a:off x="579702" y="1371600"/>
            <a:ext cx="11002117" cy="338328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4937760"/>
          <a:ext cx="11183112" cy="914400"/>
        </p:xfrm>
        <a:graphic>
          <a:graphicData uri="http://schemas.openxmlformats.org/drawingml/2006/table">
            <a:tbl>
              <a:tblPr/>
              <a:tblGrid>
                <a:gridCol w="2286000"/>
                <a:gridCol w="2194560"/>
                <a:gridCol w="2194560"/>
                <a:gridCol w="450799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CASE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CONDITION (PRICE vs. COSTS)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RULE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PRODUCE OR NOT?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&gt;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Produce where MR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earn positive 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BREAK-EVEN / NORMAL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Produce where MR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economic profit is ZERO, which means the firm is earning exactly its opportunity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LOSS-MINIMIZE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AVC &lt; P &lt;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Produce where MR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covering all VARIABLE costs plus a contribution to fixed; fixed costs are sunk in the short run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SHUTDOWN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&lt; AVC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Produce ZERO units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losing MORE by staying open than by closing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MONTH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Accounting Profit, Economic Profit and the Verdict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417320"/>
            <a:ext cx="5532120" cy="45720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Marcus reviews Month 3: TR = $1,800; explicit costs (VC + FC) = $1,400; implicit cost — the forgone wage at Ray's warehouse — = $600/month.</a:t>
            </a:r>
            <a:endParaRPr lang="en-US" sz="1200" dirty="0"/>
          </a:p>
        </p:txBody>
      </p:sp>
      <p:sp>
        <p:nvSpPr>
          <p:cNvPr id="7" name="Shape 5"/>
          <p:cNvSpPr/>
          <p:nvPr/>
        </p:nvSpPr>
        <p:spPr>
          <a:xfrm>
            <a:off x="502920" y="1965960"/>
            <a:ext cx="5532120" cy="1737360"/>
          </a:xfrm>
          <a:prstGeom prst="rect">
            <a:avLst/>
          </a:prstGeom>
          <a:solidFill>
            <a:srgbClr val="1A2E4A"/>
          </a:solidFill>
          <a:ln/>
        </p:spPr>
      </p:sp>
      <p:sp>
        <p:nvSpPr>
          <p:cNvPr id="8" name="Text 6"/>
          <p:cNvSpPr/>
          <p:nvPr/>
        </p:nvSpPr>
        <p:spPr>
          <a:xfrm>
            <a:off x="685800" y="1965960"/>
            <a:ext cx="5166360" cy="1737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ACCOUNTING PROFIT  =  1,800 − 1,400  =  +$400</a:t>
            </a:r>
            <a:endParaRPr lang="en-US" sz="2000" dirty="0"/>
          </a:p>
          <a:p>
            <a:pPr algn="ctr" indent="0" marL="0">
              <a:buNone/>
            </a:pPr>
            <a:endParaRPr lang="en-US" sz="2000" dirty="0"/>
          </a:p>
          <a:p>
            <a:pPr algn="ctr" indent="0" marL="0">
              <a:buNone/>
            </a:pPr>
            <a:r>
              <a:rPr lang="en-US" sz="2000" b="1" dirty="0">
                <a:solidFill>
                  <a:srgbClr val="FFFFFF"/>
                </a:solidFill>
                <a:latin typeface="Cambria" pitchFamily="34" charset="0"/>
                <a:ea typeface="Cambria" pitchFamily="34" charset="-122"/>
                <a:cs typeface="Cambria" pitchFamily="34" charset="-120"/>
              </a:rPr>
              <a:t>ECONOMIC PROFIT  =  1,800 − (1,400 + 600)  =  −$200</a:t>
            </a:r>
            <a:endParaRPr lang="en-US" sz="2000" dirty="0"/>
          </a:p>
        </p:txBody>
      </p:sp>
      <p:sp>
        <p:nvSpPr>
          <p:cNvPr id="9" name="Shape 7"/>
          <p:cNvSpPr/>
          <p:nvPr/>
        </p:nvSpPr>
        <p:spPr>
          <a:xfrm>
            <a:off x="502920" y="3840480"/>
            <a:ext cx="553212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402336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VERDICT</a:t>
            </a:r>
            <a:endParaRPr lang="en-US" sz="1550" dirty="0"/>
          </a:p>
        </p:txBody>
      </p:sp>
      <p:sp>
        <p:nvSpPr>
          <p:cNvPr id="11" name="Text 9"/>
          <p:cNvSpPr/>
          <p:nvPr/>
        </p:nvSpPr>
        <p:spPr>
          <a:xfrm>
            <a:off x="758952" y="4425696"/>
            <a:ext cx="502005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By the accountant's measure Marcus is doing fine. By the economist's measure he is $200/month WORSE OFF than simply working at Ray's warehouse.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On these numbers alone he should NOT continue: his time has a better use, and the cart is destroying $200 of value a month.</a:t>
            </a:r>
            <a:endParaRPr lang="en-US" sz="850" dirty="0"/>
          </a:p>
        </p:txBody>
      </p:sp>
      <p:sp>
        <p:nvSpPr>
          <p:cNvPr id="12" name="Shape 10"/>
          <p:cNvSpPr/>
          <p:nvPr/>
        </p:nvSpPr>
        <p:spPr>
          <a:xfrm>
            <a:off x="502920" y="5166360"/>
            <a:ext cx="5532120" cy="960120"/>
          </a:xfrm>
          <a:prstGeom prst="rect">
            <a:avLst/>
          </a:prstGeom>
          <a:solidFill>
            <a:srgbClr val="1A2E4A"/>
          </a:solidFill>
          <a:ln/>
        </p:spPr>
      </p:sp>
      <p:sp>
        <p:nvSpPr>
          <p:cNvPr id="13" name="Text 11"/>
          <p:cNvSpPr/>
          <p:nvPr/>
        </p:nvSpPr>
        <p:spPr>
          <a:xfrm>
            <a:off x="758952" y="529437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BUT READ THE CAVEAT HONESTLY</a:t>
            </a:r>
            <a:endParaRPr lang="en-US" sz="1050" dirty="0"/>
          </a:p>
        </p:txBody>
      </p:sp>
      <p:sp>
        <p:nvSpPr>
          <p:cNvPr id="14" name="Text 12"/>
          <p:cNvSpPr/>
          <p:nvPr/>
        </p:nvSpPr>
        <p:spPr>
          <a:xfrm>
            <a:off x="758952" y="5568696"/>
            <a:ext cx="5020056" cy="4297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This is ONE month's data, and the gap is small. If the cart is still building a customer base, the relevant comparison is EXPECTED FUTURE profit, not Month 3. The rule is right; the input may not be representative yet.</a:t>
            </a:r>
            <a:endParaRPr lang="en-US" sz="850" dirty="0"/>
          </a:p>
        </p:txBody>
      </p:sp>
      <p:sp>
        <p:nvSpPr>
          <p:cNvPr id="15" name="Shape 13"/>
          <p:cNvSpPr/>
          <p:nvPr/>
        </p:nvSpPr>
        <p:spPr>
          <a:xfrm>
            <a:off x="6309360" y="1417320"/>
            <a:ext cx="537667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6565392" y="1600200"/>
            <a:ext cx="486460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SHUTDOWN CONDITION — why AVC and not ATC</a:t>
            </a:r>
            <a:endParaRPr lang="en-US" sz="1550" dirty="0"/>
          </a:p>
        </p:txBody>
      </p:sp>
      <p:sp>
        <p:nvSpPr>
          <p:cNvPr id="17" name="Text 15"/>
          <p:cNvSpPr/>
          <p:nvPr/>
        </p:nvSpPr>
        <p:spPr>
          <a:xfrm>
            <a:off x="6565392" y="2002536"/>
            <a:ext cx="4864608"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firm shuts down when P &lt; AVC because at prices below AVC it cannot cover even its VARIABLE costs — so operating DEEPENS the loss beyond the fixed costs it would owe anyway.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Fixed costs are owed whether the firm operates or not. They therefore cannot influence the decision.</a:t>
            </a:r>
            <a:endParaRPr lang="en-US" sz="850" dirty="0"/>
          </a:p>
        </p:txBody>
      </p:sp>
      <p:sp>
        <p:nvSpPr>
          <p:cNvPr id="18" name="Shape 16"/>
          <p:cNvSpPr/>
          <p:nvPr/>
        </p:nvSpPr>
        <p:spPr>
          <a:xfrm>
            <a:off x="6309360" y="2788920"/>
            <a:ext cx="537667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9" name="Text 17"/>
          <p:cNvSpPr/>
          <p:nvPr/>
        </p:nvSpPr>
        <p:spPr>
          <a:xfrm>
            <a:off x="6565392" y="2971800"/>
            <a:ext cx="486460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OPERATE WHEN AVC &lt; P &lt; ATC</a:t>
            </a:r>
            <a:endParaRPr lang="en-US" sz="1550" dirty="0"/>
          </a:p>
        </p:txBody>
      </p:sp>
      <p:sp>
        <p:nvSpPr>
          <p:cNvPr id="20" name="Text 18"/>
          <p:cNvSpPr/>
          <p:nvPr/>
        </p:nvSpPr>
        <p:spPr>
          <a:xfrm>
            <a:off x="6565392" y="3374136"/>
            <a:ext cx="4864608"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Because revenue covers ALL variable cost AND contributes something toward the fixed cost. Shutting down would forfeit that contribution and leave the whole fixed cost uncovered.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firm loses money either way — it simply loses LESS by staying open.</a:t>
            </a:r>
            <a:endParaRPr lang="en-US" sz="850" dirty="0"/>
          </a:p>
        </p:txBody>
      </p:sp>
      <p:sp>
        <p:nvSpPr>
          <p:cNvPr id="21" name="Shape 19"/>
          <p:cNvSpPr/>
          <p:nvPr/>
        </p:nvSpPr>
        <p:spPr>
          <a:xfrm>
            <a:off x="6309360" y="4160520"/>
            <a:ext cx="5376672" cy="1005840"/>
          </a:xfrm>
          <a:prstGeom prst="rect">
            <a:avLst/>
          </a:prstGeom>
          <a:solidFill>
            <a:srgbClr val="1A2E4A"/>
          </a:solidFill>
          <a:ln/>
        </p:spPr>
      </p:sp>
      <p:sp>
        <p:nvSpPr>
          <p:cNvPr id="22" name="Text 20"/>
          <p:cNvSpPr/>
          <p:nvPr/>
        </p:nvSpPr>
        <p:spPr>
          <a:xfrm>
            <a:off x="6492240" y="4288536"/>
            <a:ext cx="5010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SHORT-RUN SUPPLY  =  the MC curve ABOVE min AVC</a:t>
            </a:r>
            <a:endParaRPr lang="en-US" sz="1600" dirty="0"/>
          </a:p>
        </p:txBody>
      </p:sp>
      <p:sp>
        <p:nvSpPr>
          <p:cNvPr id="23" name="Text 21"/>
          <p:cNvSpPr/>
          <p:nvPr/>
        </p:nvSpPr>
        <p:spPr>
          <a:xfrm>
            <a:off x="6492240" y="4654296"/>
            <a:ext cx="501091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Not above ATC. Above AVC.</a:t>
            </a:r>
            <a:endParaRPr lang="en-US" sz="1150" dirty="0"/>
          </a:p>
        </p:txBody>
      </p:sp>
      <p:sp>
        <p:nvSpPr>
          <p:cNvPr id="24" name="Shape 22"/>
          <p:cNvSpPr/>
          <p:nvPr/>
        </p:nvSpPr>
        <p:spPr>
          <a:xfrm>
            <a:off x="6309360" y="5257800"/>
            <a:ext cx="5376672"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6565392" y="5440680"/>
            <a:ext cx="48646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SCENARIO — MARCUS'S SHUTDOWN MONTH</a:t>
            </a:r>
            <a:endParaRPr lang="en-US" sz="1550" dirty="0"/>
          </a:p>
        </p:txBody>
      </p:sp>
      <p:sp>
        <p:nvSpPr>
          <p:cNvPr id="26" name="Text 24"/>
          <p:cNvSpPr/>
          <p:nvPr/>
        </p:nvSpPr>
        <p:spPr>
          <a:xfrm>
            <a:off x="6565392" y="5843016"/>
            <a:ext cx="4864608"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 = $3.50, AVC = $4.00, ATC = $9.33. Is P &gt; AVC? NO. → SHUT DOWN in the short run. Closed, he loses only his FIXED costs. Open, he loses fixed costs PLUS $0.50 on every meal he serves.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DERIVING SUPPLY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Shutdown Case and the Short-Run Supply Curve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pic>
        <p:nvPicPr>
          <p:cNvPr id="6" name="Image 0" descr="figs/m10_srsupply.png">    </p:cNvPr>
          <p:cNvPicPr>
            <a:picLocks noChangeAspect="1"/>
          </p:cNvPicPr>
          <p:nvPr/>
        </p:nvPicPr>
        <p:blipFill>
          <a:blip r:embed="rId1"/>
          <a:stretch>
            <a:fillRect/>
          </a:stretch>
        </p:blipFill>
        <p:spPr>
          <a:xfrm>
            <a:off x="1931757" y="1371600"/>
            <a:ext cx="8325438" cy="3383280"/>
          </a:xfrm>
          <a:prstGeom prst="rect">
            <a:avLst/>
          </a:prstGeom>
        </p:spPr>
      </p:pic>
      <p:sp>
        <p:nvSpPr>
          <p:cNvPr id="7" name="Shape 4"/>
          <p:cNvSpPr/>
          <p:nvPr/>
        </p:nvSpPr>
        <p:spPr>
          <a:xfrm>
            <a:off x="502920" y="4937760"/>
            <a:ext cx="11183112" cy="1188720"/>
          </a:xfrm>
          <a:prstGeom prst="rect">
            <a:avLst/>
          </a:prstGeom>
          <a:solidFill>
            <a:srgbClr val="1A2E4A"/>
          </a:solidFill>
          <a:ln/>
        </p:spPr>
      </p:sp>
      <p:sp>
        <p:nvSpPr>
          <p:cNvPr id="8" name="Text 5"/>
          <p:cNvSpPr/>
          <p:nvPr/>
        </p:nvSpPr>
        <p:spPr>
          <a:xfrm>
            <a:off x="758952" y="5065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WHY A LOSS-MAKING FIRM SOMETIMES SHOULD KEEP OPERATING</a:t>
            </a:r>
            <a:endParaRPr lang="en-US" sz="1050" dirty="0"/>
          </a:p>
        </p:txBody>
      </p:sp>
      <p:sp>
        <p:nvSpPr>
          <p:cNvPr id="9" name="Text 6"/>
          <p:cNvSpPr/>
          <p:nvPr/>
        </p:nvSpPr>
        <p:spPr>
          <a:xfrm>
            <a:off x="758952" y="5340096"/>
            <a:ext cx="10671048" cy="6583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PLAIN LANGUAGE: the rent is due whether or not you open the doors. If opening brings in more than the cost of the food and the wages, then every dollar above that goes toward the rent you owe regardless. Closing does not save the rent — it only loses the contribution.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PRECISE CLOSING POINT: when the price no longer covers the AVERAGE VARIABLE cost. At that moment each additional unit sold makes things WORSE, and the only way to cap the loss at the fixed cost is to produce nothing.</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FOR MARCUS MONTH TO MONTH: as long as the price of a meal exceeds the $4 of ingredients and gas, serve meals — even in a losing month. When it does not, stay home. And if he expects price never to exceed ATC again, that is the LONG-RUN exit decision, which is a different question.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Long-Run Equilibrium</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Entry/Exit Dynamics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Trace the entry and exit process that drives economic profit to zero; define productive and allocative efficiency.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ADJUSTMENT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How Entry and Exit Eliminate Economic Profit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pic>
        <p:nvPicPr>
          <p:cNvPr id="6" name="Image 0" descr="figs/m10_longrun.png">    </p:cNvPr>
          <p:cNvPicPr>
            <a:picLocks noChangeAspect="1"/>
          </p:cNvPicPr>
          <p:nvPr/>
        </p:nvPicPr>
        <p:blipFill>
          <a:blip r:embed="rId1"/>
          <a:stretch>
            <a:fillRect/>
          </a:stretch>
        </p:blipFill>
        <p:spPr>
          <a:xfrm>
            <a:off x="2300176" y="1371600"/>
            <a:ext cx="7588599" cy="333756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92040"/>
          <a:ext cx="11183112" cy="914400"/>
        </p:xfrm>
        <a:graphic>
          <a:graphicData uri="http://schemas.openxmlformats.org/drawingml/2006/table">
            <a:tbl>
              <a:tblPr/>
              <a:tblGrid>
                <a:gridCol w="2926080"/>
                <a:gridCol w="4389120"/>
                <a:gridCol w="3867912"/>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STARTING CONDITION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MARKET PROCESS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LONG-RUN OUTCOME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Economic profit &gt; 0  (P &gt;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New firms ENTER the market → market supply shifts RIGHT → P FALLS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 falls until P = min ATC and economic profit → ZERO</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Economic loss  (P &lt;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Existing firms EXIT the market → market supply shifts LEFT → P RISES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 rises until P = min ATC and losses → ZERO</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Normal profit  (P = min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NO entry or exit incentive — the market is at rest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STABLE long-run equilibrium. Only NORMAL profit survives.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623560"/>
            <a:ext cx="11183112" cy="502920"/>
          </a:xfrm>
          <a:prstGeom prst="rect">
            <a:avLst/>
          </a:prstGeom>
          <a:solidFill>
            <a:srgbClr val="1A2E4A"/>
          </a:solidFill>
          <a:ln/>
        </p:spPr>
      </p:sp>
      <p:sp>
        <p:nvSpPr>
          <p:cNvPr id="9" name="Text 5"/>
          <p:cNvSpPr/>
          <p:nvPr/>
        </p:nvSpPr>
        <p:spPr>
          <a:xfrm>
            <a:off x="685800" y="5623560"/>
            <a:ext cx="1081735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LONG-RUN RESULT:      P  =  MR  =  MC  =  min ATC</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TWO EFFICIENCIES AND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the Zero-Profit Equilibrium Achieves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417320"/>
            <a:ext cx="548640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PRODUCTIVE EFFICIENCY</a:t>
            </a:r>
            <a:endParaRPr lang="en-US" sz="1550" dirty="0"/>
          </a:p>
        </p:txBody>
      </p:sp>
      <p:sp>
        <p:nvSpPr>
          <p:cNvPr id="8" name="Text 6"/>
          <p:cNvSpPr/>
          <p:nvPr/>
        </p:nvSpPr>
        <p:spPr>
          <a:xfrm>
            <a:off x="758952" y="2002536"/>
            <a:ext cx="497433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 = MINIMUM ATC.</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firm is producing at the LOWEST POSSIBLE AVERAGE COST. No resources are wasted — the good is being made as cheaply as it can be made with existing technology.</a:t>
            </a:r>
            <a:endParaRPr lang="en-US" sz="850" dirty="0"/>
          </a:p>
        </p:txBody>
      </p:sp>
      <p:sp>
        <p:nvSpPr>
          <p:cNvPr id="9" name="Shape 7"/>
          <p:cNvSpPr/>
          <p:nvPr/>
        </p:nvSpPr>
        <p:spPr>
          <a:xfrm>
            <a:off x="6199632" y="1417320"/>
            <a:ext cx="548640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ALLOCATIVE EFFICIENCY</a:t>
            </a:r>
            <a:endParaRPr lang="en-US" sz="1550" dirty="0"/>
          </a:p>
        </p:txBody>
      </p:sp>
      <p:sp>
        <p:nvSpPr>
          <p:cNvPr id="11" name="Text 9"/>
          <p:cNvSpPr/>
          <p:nvPr/>
        </p:nvSpPr>
        <p:spPr>
          <a:xfrm>
            <a:off x="6455664" y="2002536"/>
            <a:ext cx="497433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 = MARGINAL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Price equals the SOCIAL MARGINAL COST of production, so the value buyers place on the last unit exactly equals what it cost society to make it. No mutually beneficial trade goes unmade.</a:t>
            </a:r>
            <a:endParaRPr lang="en-US" sz="850" dirty="0"/>
          </a:p>
        </p:txBody>
      </p:sp>
      <p:sp>
        <p:nvSpPr>
          <p:cNvPr id="12" name="Shape 10"/>
          <p:cNvSpPr/>
          <p:nvPr/>
        </p:nvSpPr>
        <p:spPr>
          <a:xfrm>
            <a:off x="502920" y="2788920"/>
            <a:ext cx="11183112" cy="777240"/>
          </a:xfrm>
          <a:prstGeom prst="rect">
            <a:avLst/>
          </a:prstGeom>
          <a:solidFill>
            <a:srgbClr val="1A2E4A"/>
          </a:solidFill>
          <a:ln/>
        </p:spPr>
      </p:sp>
      <p:sp>
        <p:nvSpPr>
          <p:cNvPr id="13" name="Text 11"/>
          <p:cNvSpPr/>
          <p:nvPr/>
        </p:nvSpPr>
        <p:spPr>
          <a:xfrm>
            <a:off x="758952" y="2916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REMARKABLE FACT</a:t>
            </a:r>
            <a:endParaRPr lang="en-US" sz="1050" dirty="0"/>
          </a:p>
        </p:txBody>
      </p:sp>
      <p:sp>
        <p:nvSpPr>
          <p:cNvPr id="14" name="Text 12"/>
          <p:cNvSpPr/>
          <p:nvPr/>
        </p:nvSpPr>
        <p:spPr>
          <a:xfrm>
            <a:off x="758952" y="319125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Both efficiencies emerge from the SAME long-run condition, and neither is anyone's intention. No firm is trying to minimize cost for society or to price at marginal cost. Each is maximizing its own profit. This is the sharpest possible statement of Adam Smith's invisible hand — and it is why Module 4's three assumptions matter so much.</a:t>
            </a:r>
            <a:endParaRPr lang="en-US" sz="850" dirty="0"/>
          </a:p>
        </p:txBody>
      </p:sp>
      <p:sp>
        <p:nvSpPr>
          <p:cNvPr id="15" name="Shape 13"/>
          <p:cNvSpPr/>
          <p:nvPr/>
        </p:nvSpPr>
        <p:spPr>
          <a:xfrm>
            <a:off x="502920" y="3703320"/>
            <a:ext cx="3611880" cy="1874520"/>
          </a:xfrm>
          <a:prstGeom prst="rect">
            <a:avLst/>
          </a:prstGeom>
          <a:solidFill>
            <a:srgbClr val="E8EDF3"/>
          </a:solidFill>
          <a:ln/>
        </p:spPr>
      </p:sp>
      <p:sp>
        <p:nvSpPr>
          <p:cNvPr id="16" name="Shape 14"/>
          <p:cNvSpPr/>
          <p:nvPr/>
        </p:nvSpPr>
        <p:spPr>
          <a:xfrm>
            <a:off x="704088" y="3904488"/>
            <a:ext cx="457200" cy="457200"/>
          </a:xfrm>
          <a:prstGeom prst="ellipse">
            <a:avLst/>
          </a:prstGeom>
          <a:solidFill>
            <a:srgbClr val="1A2E4A"/>
          </a:solidFill>
          <a:ln/>
        </p:spPr>
      </p:sp>
      <p:sp>
        <p:nvSpPr>
          <p:cNvPr id="17" name="Text 15"/>
          <p:cNvSpPr/>
          <p:nvPr/>
        </p:nvSpPr>
        <p:spPr>
          <a:xfrm>
            <a:off x="704088"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6"/>
          <p:cNvSpPr/>
          <p:nvPr/>
        </p:nvSpPr>
        <p:spPr>
          <a:xfrm>
            <a:off x="1280160" y="390448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BARRIERS TO ENTRY</a:t>
            </a:r>
            <a:endParaRPr lang="en-US" sz="1600" dirty="0"/>
          </a:p>
        </p:txBody>
      </p:sp>
      <p:sp>
        <p:nvSpPr>
          <p:cNvPr id="19" name="Text 17"/>
          <p:cNvSpPr/>
          <p:nvPr/>
        </p:nvSpPr>
        <p:spPr>
          <a:xfrm>
            <a:off x="722376" y="4453128"/>
            <a:ext cx="3154680" cy="9144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If entry is blocked, the mechanism cannot operate. Patents, licences, network effects, control of a scarce input, or enormous minimum efficient scale (Module 9) all prevent the supply shift that would compete the profit away.</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IMPLIES: the market is NOT competitive, whatever the number of incumbents.</a:t>
            </a:r>
            <a:endParaRPr lang="en-US" sz="900" dirty="0"/>
          </a:p>
        </p:txBody>
      </p:sp>
      <p:sp>
        <p:nvSpPr>
          <p:cNvPr id="20" name="Shape 18"/>
          <p:cNvSpPr/>
          <p:nvPr/>
        </p:nvSpPr>
        <p:spPr>
          <a:xfrm>
            <a:off x="4315968" y="3703320"/>
            <a:ext cx="3611880" cy="1874520"/>
          </a:xfrm>
          <a:prstGeom prst="rect">
            <a:avLst/>
          </a:prstGeom>
          <a:solidFill>
            <a:srgbClr val="E8EDF3"/>
          </a:solidFill>
          <a:ln/>
        </p:spPr>
      </p:sp>
      <p:sp>
        <p:nvSpPr>
          <p:cNvPr id="21" name="Shape 19"/>
          <p:cNvSpPr/>
          <p:nvPr/>
        </p:nvSpPr>
        <p:spPr>
          <a:xfrm>
            <a:off x="4517136" y="3904488"/>
            <a:ext cx="457200" cy="457200"/>
          </a:xfrm>
          <a:prstGeom prst="ellipse">
            <a:avLst/>
          </a:prstGeom>
          <a:solidFill>
            <a:srgbClr val="C0892E"/>
          </a:solidFill>
          <a:ln/>
        </p:spPr>
      </p:sp>
      <p:sp>
        <p:nvSpPr>
          <p:cNvPr id="22" name="Text 20"/>
          <p:cNvSpPr/>
          <p:nvPr/>
        </p:nvSpPr>
        <p:spPr>
          <a:xfrm>
            <a:off x="4517136"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5093208" y="390448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PRODUCT DIFFERENTIATION</a:t>
            </a:r>
            <a:endParaRPr lang="en-US" sz="1600" dirty="0"/>
          </a:p>
        </p:txBody>
      </p:sp>
      <p:sp>
        <p:nvSpPr>
          <p:cNvPr id="24" name="Text 22"/>
          <p:cNvSpPr/>
          <p:nvPr/>
        </p:nvSpPr>
        <p:spPr>
          <a:xfrm>
            <a:off x="4535424" y="4453128"/>
            <a:ext cx="3154680" cy="9144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If products are not homogeneous, each firm has a downward-sloping demand curve and a sliver of price-setting power. Brand, reputation, location and switching costs all do this.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IMPLIES: MONOPOLISTIC COMPETITION — the subject of Module 11. Profits persist but are usually small.</a:t>
            </a:r>
            <a:endParaRPr lang="en-US" sz="900" dirty="0"/>
          </a:p>
        </p:txBody>
      </p:sp>
      <p:sp>
        <p:nvSpPr>
          <p:cNvPr id="25" name="Shape 23"/>
          <p:cNvSpPr/>
          <p:nvPr/>
        </p:nvSpPr>
        <p:spPr>
          <a:xfrm>
            <a:off x="8119872" y="3703320"/>
            <a:ext cx="3566160" cy="1874520"/>
          </a:xfrm>
          <a:prstGeom prst="rect">
            <a:avLst/>
          </a:prstGeom>
          <a:solidFill>
            <a:srgbClr val="E8EDF3"/>
          </a:solidFill>
          <a:ln/>
        </p:spPr>
      </p:sp>
      <p:sp>
        <p:nvSpPr>
          <p:cNvPr id="26" name="Shape 24"/>
          <p:cNvSpPr/>
          <p:nvPr/>
        </p:nvSpPr>
        <p:spPr>
          <a:xfrm>
            <a:off x="8321040" y="3904488"/>
            <a:ext cx="457200" cy="457200"/>
          </a:xfrm>
          <a:prstGeom prst="ellipse">
            <a:avLst/>
          </a:prstGeom>
          <a:solidFill>
            <a:srgbClr val="9E2A2B"/>
          </a:solidFill>
          <a:ln/>
        </p:spPr>
      </p:sp>
      <p:sp>
        <p:nvSpPr>
          <p:cNvPr id="27" name="Text 25"/>
          <p:cNvSpPr/>
          <p:nvPr/>
        </p:nvSpPr>
        <p:spPr>
          <a:xfrm>
            <a:off x="832104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p:nvPr/>
        </p:nvSpPr>
        <p:spPr>
          <a:xfrm>
            <a:off x="8897112" y="390448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CONTINUOUS INNOVATION</a:t>
            </a:r>
            <a:endParaRPr lang="en-US" sz="1600" dirty="0"/>
          </a:p>
        </p:txBody>
      </p:sp>
      <p:sp>
        <p:nvSpPr>
          <p:cNvPr id="29" name="Text 27"/>
          <p:cNvSpPr/>
          <p:nvPr/>
        </p:nvSpPr>
        <p:spPr>
          <a:xfrm>
            <a:off x="8339328" y="4453128"/>
            <a:ext cx="3108960" cy="9144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firm can keep re-establishing a temporary advantage faster than rivals can imitate it. Schumpeter's answer: the profit is real but the IDENTITY of the earner keeps changing.</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IMPLIES: the market may be dynamically competitive even when it is never statically so. Also: measured 'economic profit' may partly be a return to unmeasured intangible capital.</a:t>
            </a:r>
            <a:endParaRPr lang="en-US" sz="900" dirty="0"/>
          </a:p>
        </p:txBody>
      </p:sp>
      <p:sp>
        <p:nvSpPr>
          <p:cNvPr id="30" name="Shape 28"/>
          <p:cNvSpPr/>
          <p:nvPr/>
        </p:nvSpPr>
        <p:spPr>
          <a:xfrm>
            <a:off x="502920" y="5669280"/>
            <a:ext cx="11183112" cy="457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31" name="Text 29"/>
          <p:cNvSpPr/>
          <p:nvPr/>
        </p:nvSpPr>
        <p:spPr>
          <a:xfrm>
            <a:off x="758952" y="5852160"/>
            <a:ext cx="1067104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A FOURTH, QUIETER REASON</a:t>
            </a:r>
            <a:endParaRPr lang="en-US" sz="1550" dirty="0"/>
          </a:p>
        </p:txBody>
      </p:sp>
      <p:sp>
        <p:nvSpPr>
          <p:cNvPr id="32" name="Text 30"/>
          <p:cNvSpPr/>
          <p:nvPr/>
        </p:nvSpPr>
        <p:spPr>
          <a:xfrm>
            <a:off x="758952" y="6254496"/>
            <a:ext cx="10671048"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Some apparent economic profit is really a return to a factor we failed to cost — an owner's unusual skill, a uniquely good location, a brand built over decades. Properly measured, that is ECONOMIC RENT to a scarce factor (Module 5), not profit at all.</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Monopoly</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Monopoly characteristics; why MR bisects demand; applying MR = MC; price discrimination</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Comparing competitive and monopoly equilibria; the deadweight loss of monopoly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The antitrust arc: AT&amp;T 1984 → Microsoft 1998 → Google 2024</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Monopoly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Derive the monopolist's MR schedule; apply MR = MC to find optimal output; compute monopoly price, profit and deadweight loss; introduce price discrimination.</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CRITICAL DIFFERENCE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MR &lt; P for a Monopolist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417320"/>
            <a:ext cx="548640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MONOPOLIST IS THE INDUSTRY</a:t>
            </a:r>
            <a:endParaRPr lang="en-US" sz="1550" dirty="0"/>
          </a:p>
        </p:txBody>
      </p:sp>
      <p:sp>
        <p:nvSpPr>
          <p:cNvPr id="8" name="Text 6"/>
          <p:cNvSpPr/>
          <p:nvPr/>
        </p:nvSpPr>
        <p:spPr>
          <a:xfrm>
            <a:off x="758952" y="2002536"/>
            <a:ext cx="497433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With one seller, the firm's demand curve IS the MARKET demand curve — and market demand is DOWNWARD-SLOPING.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So the monopolist is a PRICE MAKER: it chooses a point on the demand curve rather than accepting a price from the market. But it cannot choose price AND quantity independently — the demand curve links them.</a:t>
            </a:r>
            <a:endParaRPr lang="en-US" sz="850" dirty="0"/>
          </a:p>
        </p:txBody>
      </p:sp>
      <p:sp>
        <p:nvSpPr>
          <p:cNvPr id="9" name="Shape 7"/>
          <p:cNvSpPr/>
          <p:nvPr/>
        </p:nvSpPr>
        <p:spPr>
          <a:xfrm>
            <a:off x="6199632" y="1417320"/>
            <a:ext cx="548640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AND THAT IS WHY MR &lt; P</a:t>
            </a:r>
            <a:endParaRPr lang="en-US" sz="1550" dirty="0"/>
          </a:p>
        </p:txBody>
      </p:sp>
      <p:sp>
        <p:nvSpPr>
          <p:cNvPr id="11" name="Text 9"/>
          <p:cNvSpPr/>
          <p:nvPr/>
        </p:nvSpPr>
        <p:spPr>
          <a:xfrm>
            <a:off x="6455664" y="2002536"/>
            <a:ext cx="497433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To sell ONE MORE unit, the monopolist must LOWER THE PRICE ON EVERY UNIT — not just on the marginal one.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So the revenue gained is the price of the new unit MINUS the revenue lost on all the units that were already selling at the higher price. That subtraction is why MR lies strictly BELOW the demand curve at every quantity.</a:t>
            </a:r>
            <a:endParaRPr lang="en-US" sz="850" dirty="0"/>
          </a:p>
        </p:txBody>
      </p:sp>
      <p:sp>
        <p:nvSpPr>
          <p:cNvPr id="12" name="Shape 10"/>
          <p:cNvSpPr/>
          <p:nvPr/>
        </p:nvSpPr>
        <p:spPr>
          <a:xfrm>
            <a:off x="502920" y="3108960"/>
            <a:ext cx="11183112" cy="1234440"/>
          </a:xfrm>
          <a:prstGeom prst="rect">
            <a:avLst/>
          </a:prstGeom>
          <a:solidFill>
            <a:srgbClr val="1A2E4A"/>
          </a:solidFill>
          <a:ln/>
        </p:spPr>
      </p:sp>
      <p:sp>
        <p:nvSpPr>
          <p:cNvPr id="13" name="Text 11"/>
          <p:cNvSpPr/>
          <p:nvPr/>
        </p:nvSpPr>
        <p:spPr>
          <a:xfrm>
            <a:off x="685800" y="3236976"/>
            <a:ext cx="10817352" cy="6675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If    P = a − bQ    then    TR = aQ − bQ²    and    MR = a − 2bQ</a:t>
            </a:r>
            <a:endParaRPr lang="en-US" sz="2200" dirty="0"/>
          </a:p>
        </p:txBody>
      </p:sp>
      <p:sp>
        <p:nvSpPr>
          <p:cNvPr id="14" name="Text 12"/>
          <p:cNvSpPr/>
          <p:nvPr/>
        </p:nvSpPr>
        <p:spPr>
          <a:xfrm>
            <a:off x="685800" y="383133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MR has the SAME intercept as demand and TWICE the slope — which is exactly what 'MR BISECTS DEMAND' means:</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the MR line cuts the horizontal distance between the vertical axis and the demand curve exactly in half at every price.</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4526280"/>
          <a:ext cx="11183112" cy="914400"/>
        </p:xfrm>
        <a:graphic>
          <a:graphicData uri="http://schemas.openxmlformats.org/drawingml/2006/table">
            <a:tbl>
              <a:tblPr/>
              <a:tblGrid>
                <a:gridCol w="2377440"/>
                <a:gridCol w="3657600"/>
                <a:gridCol w="5148072"/>
              </a:tblGrid>
              <a:tr h="292608">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MONOPOLY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Firm's demand curve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HORIZONTAL at the market price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DOWNWARD-SLOPING — it is the market demand curve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Marginal revenue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P  (constant)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&lt; P at every Q, and MR falls twice as fast as P</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Profit-maximizing rule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MC — so P = MC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MC — but P is then read UP TO THE DEMAND CURVE, so P &gt; MC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Long-run economic profit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ZERO — entry competes it away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CAN PERSIST — barriers to entry block the mechanism</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Efficiency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Productively AND allocatively efficient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NEITHER. P &gt; MC, and output is below min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AT&amp;T LONG DISTANCE, 1977</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Solving a Monopoly Algebraically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417320"/>
            <a:ext cx="5532120" cy="365760"/>
          </a:xfrm>
          <a:prstGeom prst="rect">
            <a:avLst/>
          </a:prstGeom>
          <a:noFill/>
          <a:ln/>
        </p:spPr>
        <p:txBody>
          <a:bodyPr wrap="square" lIns="0" tIns="0" rIns="0" bIns="0" rtlCol="0" anchor="ctr"/>
          <a:lstStyle/>
          <a:p>
            <a:pPr indent="0" marL="0">
              <a:buNone/>
            </a:pPr>
            <a:r>
              <a:rPr lang="en-US" sz="1200" dirty="0">
                <a:solidFill>
                  <a:srgbClr val="4A6180"/>
                </a:solidFill>
                <a:latin typeface="Calibri" pitchFamily="34" charset="0"/>
                <a:ea typeface="Calibri" pitchFamily="34" charset="-122"/>
                <a:cs typeface="Calibri" pitchFamily="34" charset="-120"/>
              </a:rPr>
              <a:t>AT&amp;T is the only long-distance provider. Demand: P = 2.50 − 0.0002Q. MC = $0.70 (constant). MR = 2.50 − 0.0004Q.</a:t>
            </a:r>
            <a:endParaRPr lang="en-US" sz="1200" dirty="0"/>
          </a:p>
        </p:txBody>
      </p:sp>
      <p:sp>
        <p:nvSpPr>
          <p:cNvPr id="7" name="Shape 5"/>
          <p:cNvSpPr/>
          <p:nvPr/>
        </p:nvSpPr>
        <p:spPr>
          <a:xfrm>
            <a:off x="502920" y="1874520"/>
            <a:ext cx="5532120" cy="2148840"/>
          </a:xfrm>
          <a:prstGeom prst="rect">
            <a:avLst/>
          </a:prstGeom>
          <a:solidFill>
            <a:srgbClr val="1A2E4A"/>
          </a:solidFill>
          <a:ln/>
        </p:spPr>
      </p:sp>
      <p:sp>
        <p:nvSpPr>
          <p:cNvPr id="8" name="Text 6"/>
          <p:cNvSpPr/>
          <p:nvPr/>
        </p:nvSpPr>
        <p:spPr>
          <a:xfrm>
            <a:off x="685800" y="1874520"/>
            <a:ext cx="5166360" cy="21488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MR = MC:   2.50 − 0.0004Q  =  0.70</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1.80  =  0.0004Q    →    Q*  =  4,500 calls/day</a:t>
            </a:r>
            <a:endParaRPr lang="en-US" sz="1600" dirty="0"/>
          </a:p>
          <a:p>
            <a:pPr algn="ctr" indent="0" marL="0">
              <a:buNone/>
            </a:pP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P*  =  2.50 − 0.0002(4,500)  =  $1.60</a:t>
            </a:r>
            <a:endParaRPr lang="en-US" sz="1600" dirty="0"/>
          </a:p>
          <a:p>
            <a:pPr algn="ctr" indent="0" marL="0">
              <a:buNone/>
            </a:pP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COMPETITIVE:  P = MC = $0.70</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0.70 = 2.50 − 0.0002Q    →    Q_c  =  9,000</a:t>
            </a:r>
            <a:endParaRPr lang="en-US" sz="1600" dirty="0"/>
          </a:p>
        </p:txBody>
      </p:sp>
      <p:sp>
        <p:nvSpPr>
          <p:cNvPr id="9" name="Shape 7"/>
          <p:cNvSpPr/>
          <p:nvPr/>
        </p:nvSpPr>
        <p:spPr>
          <a:xfrm>
            <a:off x="502920" y="4160520"/>
            <a:ext cx="5532120" cy="1143000"/>
          </a:xfrm>
          <a:prstGeom prst="rect">
            <a:avLst/>
          </a:prstGeom>
          <a:solidFill>
            <a:srgbClr val="1A2E4A"/>
          </a:solidFill>
          <a:ln/>
        </p:spPr>
      </p:sp>
      <p:sp>
        <p:nvSpPr>
          <p:cNvPr id="10" name="Text 8"/>
          <p:cNvSpPr/>
          <p:nvPr/>
        </p:nvSpPr>
        <p:spPr>
          <a:xfrm>
            <a:off x="685800" y="4160520"/>
            <a:ext cx="5166360" cy="11430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DWL  =  ½ × (9,000 − 4,500) × (1.60 − 0.70)  =  $2,025 per day</a:t>
            </a:r>
            <a:endParaRPr lang="en-US" sz="2200" dirty="0"/>
          </a:p>
        </p:txBody>
      </p:sp>
      <p:sp>
        <p:nvSpPr>
          <p:cNvPr id="11" name="Shape 9"/>
          <p:cNvSpPr/>
          <p:nvPr/>
        </p:nvSpPr>
        <p:spPr>
          <a:xfrm>
            <a:off x="502920" y="5394960"/>
            <a:ext cx="5532120" cy="731520"/>
          </a:xfrm>
          <a:prstGeom prst="rect">
            <a:avLst/>
          </a:prstGeom>
          <a:solidFill>
            <a:srgbClr val="1A2E4A"/>
          </a:solidFill>
          <a:ln/>
        </p:spPr>
      </p:sp>
      <p:sp>
        <p:nvSpPr>
          <p:cNvPr id="12" name="Text 10"/>
          <p:cNvSpPr/>
          <p:nvPr/>
        </p:nvSpPr>
        <p:spPr>
          <a:xfrm>
            <a:off x="758952" y="552297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 NOTE ON THE WORKSHEET FIGURE</a:t>
            </a:r>
            <a:endParaRPr lang="en-US" sz="1050" dirty="0"/>
          </a:p>
        </p:txBody>
      </p:sp>
      <p:sp>
        <p:nvSpPr>
          <p:cNvPr id="13" name="Text 11"/>
          <p:cNvSpPr/>
          <p:nvPr/>
        </p:nvSpPr>
        <p:spPr>
          <a:xfrm>
            <a:off x="758952" y="5797296"/>
            <a:ext cx="502005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worksheet states a competitive Q of 6,000. Setting P = MC in the GIVEN demand curve yields 9,000. Use the demand curve you were given, show the algebra, and flag the discrepancy — that is the right professional response.</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76672" cy="914400"/>
        </p:xfrm>
        <a:graphic>
          <a:graphicData uri="http://schemas.openxmlformats.org/drawingml/2006/table">
            <a:tbl>
              <a:tblPr/>
              <a:tblGrid>
                <a:gridCol w="2651760"/>
                <a:gridCol w="1600200"/>
                <a:gridCol w="1124712"/>
              </a:tblGrid>
              <a:tr h="329184">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WHAT HAPPENS TO CONSUMER SURPLUS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COMPUTATION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CS under COMPETITION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½ × 9,000 × (2.50 − 0.70)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$8,100/day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CS under MONOPOLY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½ × 4,500 × (2.50 − 1.60)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$2,025/day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CS LOST in total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8,100 − 2,025</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$6,075/day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…of which TRANSFERRED to AT&amp;T as profit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(1.60 − 0.70) × 4,500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$4,050/day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…of which DESTROYED as deadweight loss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½ × 4,500 × 0.90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$2,025/day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5" name="Shape 12"/>
          <p:cNvSpPr/>
          <p:nvPr/>
        </p:nvSpPr>
        <p:spPr>
          <a:xfrm>
            <a:off x="6309360" y="3657600"/>
            <a:ext cx="5376672" cy="1371600"/>
          </a:xfrm>
          <a:prstGeom prst="rect">
            <a:avLst/>
          </a:prstGeom>
          <a:solidFill>
            <a:srgbClr val="1A2E4A"/>
          </a:solidFill>
          <a:ln/>
        </p:spPr>
      </p:sp>
      <p:sp>
        <p:nvSpPr>
          <p:cNvPr id="16" name="Text 13"/>
          <p:cNvSpPr/>
          <p:nvPr/>
        </p:nvSpPr>
        <p:spPr>
          <a:xfrm>
            <a:off x="6565392" y="3785616"/>
            <a:ext cx="48646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 THE DECOMPOSITION CAREFULLY</a:t>
            </a:r>
            <a:endParaRPr lang="en-US" sz="1050" dirty="0"/>
          </a:p>
        </p:txBody>
      </p:sp>
      <p:sp>
        <p:nvSpPr>
          <p:cNvPr id="17" name="Text 14"/>
          <p:cNvSpPr/>
          <p:nvPr/>
        </p:nvSpPr>
        <p:spPr>
          <a:xfrm>
            <a:off x="6565392" y="4059936"/>
            <a:ext cx="4864608" cy="8412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consumer loses $6,075/day. AT&amp;T gains $4,050 of it — that part is a TRANSFER, not a loss to society. The remaining $2,025 is a genuine DESTRUCTION of value: calls that buyers valued above $0.70 and that cost $0.70 to carry, which simply never happened.</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Only the triangle is deadweight. The rectangle is distribution.</a:t>
            </a:r>
            <a:endParaRPr lang="en-US" sz="850" dirty="0"/>
          </a:p>
        </p:txBody>
      </p:sp>
      <p:sp>
        <p:nvSpPr>
          <p:cNvPr id="18" name="Shape 15"/>
          <p:cNvSpPr/>
          <p:nvPr/>
        </p:nvSpPr>
        <p:spPr>
          <a:xfrm>
            <a:off x="6309360" y="5166360"/>
            <a:ext cx="5376672" cy="960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9" name="Text 16"/>
          <p:cNvSpPr/>
          <p:nvPr/>
        </p:nvSpPr>
        <p:spPr>
          <a:xfrm>
            <a:off x="6565392" y="5349240"/>
            <a:ext cx="48646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CONSUMERS PAY $1.60 INSTEAD OF $0.70</a:t>
            </a:r>
            <a:endParaRPr lang="en-US" sz="1550" dirty="0"/>
          </a:p>
        </p:txBody>
      </p:sp>
      <p:sp>
        <p:nvSpPr>
          <p:cNvPr id="20" name="Text 17"/>
          <p:cNvSpPr/>
          <p:nvPr/>
        </p:nvSpPr>
        <p:spPr>
          <a:xfrm>
            <a:off x="6565392" y="5751576"/>
            <a:ext cx="4864608"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More than double the competitive price — and they buy half as many calls. Both effects follow from a single decision: produce where MR = MC, then price off the DEMAND curve.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RAY'S COLD STORAGE MONOPOLY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Complete Monopoly Diagram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pic>
        <p:nvPicPr>
          <p:cNvPr id="6" name="Image 0" descr="figs/m10_monopoly.png">    </p:cNvPr>
          <p:cNvPicPr>
            <a:picLocks noChangeAspect="1"/>
          </p:cNvPicPr>
          <p:nvPr/>
        </p:nvPicPr>
        <p:blipFill>
          <a:blip r:embed="rId1"/>
          <a:stretch>
            <a:fillRect/>
          </a:stretch>
        </p:blipFill>
        <p:spPr>
          <a:xfrm>
            <a:off x="502920" y="1517495"/>
            <a:ext cx="6035040" cy="3823010"/>
          </a:xfrm>
          <a:prstGeom prst="rect">
            <a:avLst/>
          </a:prstGeom>
        </p:spPr>
      </p:pic>
      <p:sp>
        <p:nvSpPr>
          <p:cNvPr id="7" name="Shape 4"/>
          <p:cNvSpPr/>
          <p:nvPr/>
        </p:nvSpPr>
        <p:spPr>
          <a:xfrm>
            <a:off x="6812280" y="1417320"/>
            <a:ext cx="4873752" cy="1508760"/>
          </a:xfrm>
          <a:prstGeom prst="rect">
            <a:avLst/>
          </a:prstGeom>
          <a:solidFill>
            <a:srgbClr val="1A2E4A"/>
          </a:solidFill>
          <a:ln/>
        </p:spPr>
      </p:sp>
      <p:sp>
        <p:nvSpPr>
          <p:cNvPr id="8" name="Text 5"/>
          <p:cNvSpPr/>
          <p:nvPr/>
        </p:nvSpPr>
        <p:spPr>
          <a:xfrm>
            <a:off x="6995160" y="1417320"/>
            <a:ext cx="4507992" cy="1508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 = 200 − 10Q      TC = 600 + 20Q</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TR = 200Q − 10Q²      MR = 200 − 20Q</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MR = MC:  200 − 20Q = 20  →  Q* = 9</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P* = 200 − 10(9) = $110</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12280" y="3108960"/>
          <a:ext cx="4873752" cy="914400"/>
        </p:xfrm>
        <a:graphic>
          <a:graphicData uri="http://schemas.openxmlformats.org/drawingml/2006/table">
            <a:tbl>
              <a:tblPr/>
              <a:tblGrid>
                <a:gridCol w="594360"/>
                <a:gridCol w="685800"/>
                <a:gridCol w="822960"/>
                <a:gridCol w="731520"/>
                <a:gridCol w="777240"/>
                <a:gridCol w="1261872"/>
              </a:tblGrid>
              <a:tr h="25603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TC</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PROFIT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130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+170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990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780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+210  ← MAX</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6"/>
          <p:cNvSpPr/>
          <p:nvPr/>
        </p:nvSpPr>
        <p:spPr>
          <a:xfrm>
            <a:off x="6812280" y="5029200"/>
            <a:ext cx="4873752" cy="1097280"/>
          </a:xfrm>
          <a:prstGeom prst="rect">
            <a:avLst/>
          </a:prstGeom>
          <a:solidFill>
            <a:srgbClr val="1A2E4A"/>
          </a:solidFill>
          <a:ln/>
        </p:spPr>
      </p:sp>
      <p:sp>
        <p:nvSpPr>
          <p:cNvPr id="11" name="Text 7"/>
          <p:cNvSpPr/>
          <p:nvPr/>
        </p:nvSpPr>
        <p:spPr>
          <a:xfrm>
            <a:off x="7068312" y="5157216"/>
            <a:ext cx="436168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THREE ANSWERS</a:t>
            </a:r>
            <a:endParaRPr lang="en-US" sz="1050" dirty="0"/>
          </a:p>
        </p:txBody>
      </p:sp>
      <p:sp>
        <p:nvSpPr>
          <p:cNvPr id="12" name="Text 8"/>
          <p:cNvSpPr/>
          <p:nvPr/>
        </p:nvSpPr>
        <p:spPr>
          <a:xfrm>
            <a:off x="7068312" y="5431536"/>
            <a:ext cx="4361688" cy="56692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ECONOMIC PROFIT = (P* − ATC) × Q* = (110 − 86.67) × 9 = $210.</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COMPETITIVE OUTCOME: P = MC → 200 − 10Q = 20 → Q_c = 18 at P = $20.</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DWL = ½ × (18 − 9) × (110 − 20) = $405.</a:t>
            </a:r>
            <a:endParaRPr lang="en-US" sz="1000" dirty="0"/>
          </a:p>
        </p:txBody>
      </p:sp>
      <p:sp>
        <p:nvSpPr>
          <p:cNvPr id="13" name="Shape 9"/>
          <p:cNvSpPr/>
          <p:nvPr/>
        </p:nvSpPr>
        <p:spPr>
          <a:xfrm>
            <a:off x="502920" y="5532120"/>
            <a:ext cx="6035040" cy="6858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0"/>
          <p:cNvSpPr/>
          <p:nvPr/>
        </p:nvSpPr>
        <p:spPr>
          <a:xfrm>
            <a:off x="758952" y="5715000"/>
            <a:ext cx="552297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MR = MC GIVES THE QUANTITY, NOT THE PRICE</a:t>
            </a:r>
            <a:endParaRPr lang="en-US" sz="1550" dirty="0"/>
          </a:p>
        </p:txBody>
      </p:sp>
      <p:sp>
        <p:nvSpPr>
          <p:cNvPr id="15" name="Text 11"/>
          <p:cNvSpPr/>
          <p:nvPr/>
        </p:nvSpPr>
        <p:spPr>
          <a:xfrm>
            <a:off x="758952" y="6117336"/>
            <a:ext cx="5522976"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price is read UP to the DEMAND curve, never off MR. Reading P off MR is the most common monopoly error.</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PRICE DISCRIMINATION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Charging Different Buyers Different Prices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Shape 4"/>
          <p:cNvSpPr/>
          <p:nvPr/>
        </p:nvSpPr>
        <p:spPr>
          <a:xfrm>
            <a:off x="502920" y="1417320"/>
            <a:ext cx="548640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PRICE DISCRIMINATION — the definition</a:t>
            </a:r>
            <a:endParaRPr lang="en-US" sz="1550" dirty="0"/>
          </a:p>
        </p:txBody>
      </p:sp>
      <p:sp>
        <p:nvSpPr>
          <p:cNvPr id="8" name="Text 6"/>
          <p:cNvSpPr/>
          <p:nvPr/>
        </p:nvSpPr>
        <p:spPr>
          <a:xfrm>
            <a:off x="758952" y="2002536"/>
            <a:ext cx="497433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Charging different PRICES to different buyers for the SAME good, where the price differences are NOT based on cost differences.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requires market power: a price taker cannot do it.</a:t>
            </a:r>
            <a:endParaRPr lang="en-US" sz="850" dirty="0"/>
          </a:p>
        </p:txBody>
      </p:sp>
      <p:sp>
        <p:nvSpPr>
          <p:cNvPr id="9" name="Shape 7"/>
          <p:cNvSpPr/>
          <p:nvPr/>
        </p:nvSpPr>
        <p:spPr>
          <a:xfrm>
            <a:off x="6199632" y="1417320"/>
            <a:ext cx="548640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TWO NECESSARY CONDITIONS</a:t>
            </a:r>
            <a:endParaRPr lang="en-US" sz="1550" dirty="0"/>
          </a:p>
        </p:txBody>
      </p:sp>
      <p:sp>
        <p:nvSpPr>
          <p:cNvPr id="11" name="Text 9"/>
          <p:cNvSpPr/>
          <p:nvPr/>
        </p:nvSpPr>
        <p:spPr>
          <a:xfrm>
            <a:off x="6455664" y="2002536"/>
            <a:ext cx="497433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The firm must be able to SEPARATE buyer groups with different willingness to pay — and identify which group a buyer is in.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The firm must be able to PREVENT ARBITRAGE — buyers must not be able to resell to each other, or the low-price group simply becomes a wholesaler.</a:t>
            </a:r>
            <a:endParaRPr lang="en-US" sz="850" dirty="0"/>
          </a:p>
        </p:txBody>
      </p:sp>
      <p:pic>
        <p:nvPicPr>
          <p:cNvPr id="12" name="Image 0" descr="figs/m10_pricedisc.png">    </p:cNvPr>
          <p:cNvPicPr>
            <a:picLocks noChangeAspect="1"/>
          </p:cNvPicPr>
          <p:nvPr/>
        </p:nvPicPr>
        <p:blipFill>
          <a:blip r:embed="rId1"/>
          <a:stretch>
            <a:fillRect/>
          </a:stretch>
        </p:blipFill>
        <p:spPr>
          <a:xfrm>
            <a:off x="2134266" y="2697480"/>
            <a:ext cx="7892987" cy="228600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5120640"/>
          <a:ext cx="11183112" cy="914400"/>
        </p:xfrm>
        <a:graphic>
          <a:graphicData uri="http://schemas.openxmlformats.org/drawingml/2006/table">
            <a:tbl>
              <a:tblPr/>
              <a:tblGrid>
                <a:gridCol w="2926080"/>
                <a:gridCol w="1737360"/>
                <a:gridCol w="2926080"/>
                <a:gridCol w="3593592"/>
              </a:tblGrid>
              <a:tr h="21945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EXAMPLE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DEGREE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MECHANISM</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WHO WINS / LOSES vs. UNIFORM PRICING</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1945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Amazon dynamic pricing — prices adjust ~1,000×/day on demand signals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Approaching FIRST degree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Individual-level demand estimation from browsing, location and purchase history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FIRM captures most surplus. Buyers with inelastic or urgent demand lose; bargain-hunters may gain.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1945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Airline pricing — book early cheap, last minute expensive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SECOND and THIRD degree combined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Advance-purchase requirements and fare classes SELF-SORT business from leisure travellers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LEISURE travellers WIN (they would not fly at the uniform price). BUSINESS travellers LOSE. Total output RISES.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1945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Drug prices — $5,000 in the U.S., $200 in India for the same medication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THIRD degree, by country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Geographic separation plus import restrictions prevent arbitrage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LOW-INCOME country patients WIN — they get the drug at all. U.S. patients LOSE and effectively fund the R&amp;D.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19456">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Movie theaters — matinee cheaper than evening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THIRD degree, by time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Time of day sorts price-sensitive from time-constrained viewers; tickets cannot be resold across showings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MATINEE viewers WIN. Evening viewers LOSE. Seats that would sit empty are filled.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Comparing Market Efficiency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Compare competitive and monopoly equilibria; calculate the deadweight loss of monopoly; connect to Module 4's welfare framework.</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SIDE BY SIDE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Perfect Competition vs. Monopoly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pic>
        <p:nvPicPr>
          <p:cNvPr id="6" name="Image 0" descr="figs/m10_compare.png">    </p:cNvPr>
          <p:cNvPicPr>
            <a:picLocks noChangeAspect="1"/>
          </p:cNvPicPr>
          <p:nvPr/>
        </p:nvPicPr>
        <p:blipFill>
          <a:blip r:embed="rId1"/>
          <a:stretch>
            <a:fillRect/>
          </a:stretch>
        </p:blipFill>
        <p:spPr>
          <a:xfrm>
            <a:off x="1948265" y="1371600"/>
            <a:ext cx="8292421" cy="329184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11183112" cy="914400"/>
        </p:xfrm>
        <a:graphic>
          <a:graphicData uri="http://schemas.openxmlformats.org/drawingml/2006/table">
            <a:tbl>
              <a:tblPr/>
              <a:tblGrid>
                <a:gridCol w="2468880"/>
                <a:gridCol w="3931920"/>
                <a:gridCol w="4782312"/>
              </a:tblGrid>
              <a:tr h="237744">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PERFECT COMPETITION (long run)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MONOPOLY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37744">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 vs. marginal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 MC — ALLOCATIVELY EFFICIENT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&gt; MC — allocatively INEFFICIENT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37744">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 vs. minimum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 min ATC — PRODUCTIVELY EFFICIENT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 &gt; min ATC — productively inefficient; output is not at lowest cost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37744">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Long-run 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ZERO — only normal profit survives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POSITIVE — protected by barriers to entry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37744">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Consumer surplus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MAXIMIZED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REDUCED — partly TRANSFERRED to the producer, partly DESTROYED as DWL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37744">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Deadweight loss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triangle between Q_monopoly and Q_competitive, bounded by demand above and MC below</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806440"/>
            <a:ext cx="11183112" cy="320040"/>
          </a:xfrm>
          <a:prstGeom prst="rect">
            <a:avLst/>
          </a:prstGeom>
          <a:solidFill>
            <a:srgbClr val="1A2E4A"/>
          </a:solidFill>
          <a:ln/>
        </p:spPr>
      </p:sp>
      <p:sp>
        <p:nvSpPr>
          <p:cNvPr id="9" name="Text 5"/>
          <p:cNvSpPr/>
          <p:nvPr/>
        </p:nvSpPr>
        <p:spPr>
          <a:xfrm>
            <a:off x="758952" y="59344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AT&amp;T BEFORE AND AFTER 1984</a:t>
            </a:r>
            <a:endParaRPr lang="en-US" sz="1050" dirty="0"/>
          </a:p>
        </p:txBody>
      </p:sp>
      <p:sp>
        <p:nvSpPr>
          <p:cNvPr id="10" name="Text 6"/>
          <p:cNvSpPr/>
          <p:nvPr/>
        </p:nvSpPr>
        <p:spPr>
          <a:xfrm>
            <a:off x="758952" y="613562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Before: P &gt;&gt; MC, a large DWL, and weak incentive to innovate. After the divestiture and entry by MCI and Sprint, real cross-country call prices fell by roughly 90% over the following two decades.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SYNTHESIS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Antitrust Arc — AT&amp;T to Google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554480"/>
                <a:gridCol w="2286000"/>
                <a:gridCol w="2286000"/>
                <a:gridCol w="2651760"/>
                <a:gridCol w="2404872"/>
              </a:tblGrid>
              <a:tr h="384048">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ERA / CASE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MARKET TYPE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KEY INEFFICIENCY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POLICY RESPONSE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DID IT WORK?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AT&amp;T</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(before 1984)</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NATURAL MONOPOLY — network fixed costs so large that MES exceeded market demand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 &gt;&gt; MC; large DWL; weak incentive to innovate in equipment or service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Regulated monopoly from 1913 (rate-of-return regulation) → structural BREAKUP in 1984 into seven regional operating companies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LARGELY YES for prices — long-distance rates fell roughly 90% in real terms. But the regional monopolies persisted locally, and much of the industry has since re-consolidated.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MICROSOFT</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(1998–2001)</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NETWORK-EFFECTS MONOPOLY — the value of the OS rose with the number of users and applications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BUNDLING Internet Explorer with Windows to foreclose browser competition — leveraging one monopoly into an adjacent market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DOJ antitrust suit; a breakup was ordered at trial and REVERSED on appeal; settled with BEHAVIORAL remedies only (interoperability disclosure, no breakup)</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PARTIALLY. IE ultimately lost to Chrome and Firefox anyway. Many argue the suit's real effect was to make Microsoft cautious enough to leave room for Google — a deterrence effect rather than a remedy effect.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GOOGLE SEARCH</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(2024– )</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DATA NETWORK-EFFECTS MONOPOLY — more queries produce better results, which attract more queries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90%+ search share sustained by DEFAULT PLACEMENT agreements that exclude rivals from the point of distribution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DOJ antitrust trial; liability found in 2024; remedies contested and on appeal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TBD. The core difficulty is that the scale which produces the harm is the same scale that produces the product quality.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160520"/>
            <a:ext cx="11183112" cy="1965960"/>
          </a:xfrm>
          <a:prstGeom prst="rect">
            <a:avLst/>
          </a:prstGeom>
          <a:solidFill>
            <a:srgbClr val="1A2E4A"/>
          </a:solidFill>
          <a:ln/>
        </p:spPr>
      </p:sp>
      <p:sp>
        <p:nvSpPr>
          <p:cNvPr id="8" name="Text 5"/>
          <p:cNvSpPr/>
          <p:nvPr/>
        </p:nvSpPr>
        <p:spPr>
          <a:xfrm>
            <a:off x="758952" y="42885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WOULD BREAKING GOOGLE UP RESTORE COMPETITIVE EFFICIENCY?</a:t>
            </a:r>
            <a:endParaRPr lang="en-US" sz="1050" dirty="0"/>
          </a:p>
        </p:txBody>
      </p:sp>
      <p:sp>
        <p:nvSpPr>
          <p:cNvPr id="9" name="Text 6"/>
          <p:cNvSpPr/>
          <p:nvPr/>
        </p:nvSpPr>
        <p:spPr>
          <a:xfrm>
            <a:off x="758952" y="4562856"/>
            <a:ext cx="10671048" cy="1435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(1) THE BARRIER is DATA NETWORK EFFECTS reinforced by default-placement contracts — a feedback loop, not a patent or a statute. It is closest to Module 8's algorithmic loop: scale produces quality, which produces scale.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(2) THE MISSING TRADES are harder to see than AT&amp;T's, because the consumer price is zero. The DWL is on the ADVERTISER side — advertisers paying above the competitive price — and in the QUALITY-AND-PRIVACY dimension for users, who cannot buy a better-privacy search at a competitive price because no rival has the scale to offer one.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(3) THE MODULE 9 TENSION: if LRAC falls continuously (the platform case), a breakup RAISES average cost and may degrade the product. This is the natural-monopoly problem again — which is precisely why AT&amp;T was REGULATED for 71 years before it was broken up. Splitting a natural monopoly destroys the scale economy; regulating one preserves it but requires a regulator who can observe cost.</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&amp; RAY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Same Rule, Two Structurally Different Markets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926080"/>
                <a:gridCol w="3657600"/>
                <a:gridCol w="4599432"/>
              </a:tblGrid>
              <a:tr h="329184">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MARCUS — food cart (competitive)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RAY — warehouse (imperfect competitor)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 at 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Economic profit PER UNIT (P −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200 meals/month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50 units/month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TOTAL economic profit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 × 200 = $400/month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 × 50 = $1,000/month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Long-run trajectory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COMPETITIVE market → other vendors ENTER → supply rises → P falls toward min ATC → economic profit → ZERO</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BARRIERS TO ENTRY (the property itself, permits, scale) → entry does not occur → profit MAY PERSIST INDEFINITELY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3977640"/>
            <a:ext cx="11183112" cy="1051560"/>
          </a:xfrm>
          <a:prstGeom prst="rect">
            <a:avLst/>
          </a:prstGeom>
          <a:solidFill>
            <a:srgbClr val="1A2E4A"/>
          </a:solidFill>
          <a:ln/>
        </p:spPr>
      </p:sp>
      <p:sp>
        <p:nvSpPr>
          <p:cNvPr id="8" name="Text 5"/>
          <p:cNvSpPr/>
          <p:nvPr/>
        </p:nvSpPr>
        <p:spPr>
          <a:xfrm>
            <a:off x="758952" y="41056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THE KEY STRUCTURAL DIFFERENCE</a:t>
            </a:r>
            <a:endParaRPr lang="en-US" sz="1050" dirty="0"/>
          </a:p>
        </p:txBody>
      </p:sp>
      <p:sp>
        <p:nvSpPr>
          <p:cNvPr id="9" name="Text 6"/>
          <p:cNvSpPr/>
          <p:nvPr/>
        </p:nvSpPr>
        <p:spPr>
          <a:xfrm>
            <a:off x="758952" y="4379976"/>
            <a:ext cx="10671048" cy="5212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BOTH firms operate at MR = MC. Both are behaving identically and rationally. What differs is ENTRY.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Marcus's profit is a SIGNAL that attracts competitors, and the signal destroys itself. Ray's profit is protected by an asset that cannot be replicated — and it is therefore not really 'profit' in the long-run sense at all. It is ECONOMIC RENT to a factor in perfectly inelastic supply (Module 5, Part 2).</a:t>
            </a:r>
            <a:endParaRPr lang="en-US" sz="850" dirty="0"/>
          </a:p>
        </p:txBody>
      </p:sp>
      <p:sp>
        <p:nvSpPr>
          <p:cNvPr id="10" name="Shape 7"/>
          <p:cNvSpPr/>
          <p:nvPr/>
        </p:nvSpPr>
        <p:spPr>
          <a:xfrm>
            <a:off x="502920" y="5212080"/>
            <a:ext cx="11183112"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394960"/>
            <a:ext cx="1067104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IMPLICATION FOR THE NEIGHBORHOOD</a:t>
            </a:r>
            <a:endParaRPr lang="en-US" sz="1550" dirty="0"/>
          </a:p>
        </p:txBody>
      </p:sp>
      <p:sp>
        <p:nvSpPr>
          <p:cNvPr id="12" name="Text 9"/>
          <p:cNvSpPr/>
          <p:nvPr/>
        </p:nvSpPr>
        <p:spPr>
          <a:xfrm>
            <a:off x="758952" y="5797296"/>
            <a:ext cx="10671048"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Income from COMPETITIVE activity is competed away; income from a PROTECTED POSITION is not. Over time, wealth therefore accumulates with whoever holds the barrier — the property, the licence, the network — rather than with whoever works hardest or produces most efficiently. That is Module 7's distributional result, arriving here as a straightforward corollary of the entry condition.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10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six Parts of the Module 10 Worksheet, including the AT&amp;T and Ray's cold storage algebra and every table.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all six diagrams: the three profit scenarios, the shutdown case, the long-run firm-and-market pair, and the full monopoly diagram with the DWL triangle and profit rectangle.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Perfect Competition Model, Quizzes 2 and 3. Reach mastery.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Practice the ONE thing most students get wrong: after finding Q* where MR = MC in a monopoly, read the price UP TO THE DEMAND CURVE — never off MR.</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✦4 in complete sentences. HOMEWORK RULE OF THUMB: above 80% → move on; below → retry; consistently below → office hours.</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548640">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LEARNING OUTCOME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State all four conditions of perfect competition and evaluate how well a real market satisfies each; explain why a price taker faces a horizontal demand curve; prove that MR = AR = P for a price taker and build the revenue schedule that shows 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State the MR = MC rule and explain it intuitively without calculus; identify Q* from a schedule of MC against P; compute economic profit as (P − ATC) × Q; recognize that MR = MC gives the best available outcome even when that outcome is a loss.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Distinguish and draw the profit, normal-profit, loss-minimizing and shutdown cases; state the shutdown condition as P &lt; AVC and explain why AVC and not ATC; derive the short-run supply curve as the MC segment above minimum AVC; compute both accounting and economic profit and give a verdict.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Trace the entry and exit adjustment in both the firm and market panels; state the long-run condition P = MR = MC = min ATC; define productive and allocative efficiency and identify which condition delivers each; give three structural reasons the zero-profit prediction fails and say what each implies.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Explain why MR &lt; P for a monopolist and derive MR = a − 2bQ from P = a − bQ; solve MR = MC for Q* and read P* off the DEMAND curve; compute monopoly profit and deadweight loss; decompose lost consumer surplus into transfer and destruction; define price discrimination, its two conditions, and classify examples by degree.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Compare competition and monopoly on price, efficiency, profit, surplus and DWL; compute the DWL triangle; trace the antitrust arc from AT&amp;T through Microsoft to Google; explain why breaking up a natural or platform monopoly involves a genuine trade-off against economies of scale.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11 — IMPERFECT COMPETITION AND GAME THEORY. Between the price taker and the pure monopolist lies almost every real market. Module 11 fills that space, and gives the strategic tools Module 7 previewed.</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10: PROFIT MAXIMIZATION</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Chamberlin, E. H. (1933). The theory of monopolistic competition. Harvard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Cournot, A. A. (1838). Recherches sur les principes mathématiques de la théorie des richesses.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Mankiw, N. G. (2021). Principles of microeconomics (9th ed.), Chs. 14–15. Cengage.</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Marshall, A. (1890). Principles of economics. London: Macmillan.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Robinson, J. (1933). The economics of imperfect competition. London: Macmillan.</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Temin, P., &amp; Galambos, L. (1987). The fall of the Bell System. Cambridge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Crandall, R. W. (1991). After the breakup: U.S. telecommunications in a more competitive era. Brookings.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Gilbert, R. J., &amp; Katz, M. L. (2001). An economist's guide to U.S. v. Microsoft. Journal of Economic Perspectives, 15(2), 25–44.</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United States v. Google LLC, No. 1:20-cv-03010 (D.D.C. 2024).</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Tirole, J. (1988). The theory of industrial organization. MIT Press.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10: Profit Maximization</dc:title>
  <dc:subject>Introduction to Microeconomics</dc:subject>
  <dc:creator>Professor Velazquez</dc:creator>
  <cp:lastModifiedBy>Professor Velazquez</cp:lastModifiedBy>
  <cp:revision>1</cp:revision>
  <dcterms:created xsi:type="dcterms:W3CDTF">2026-08-25T00:26:03Z</dcterms:created>
  <dcterms:modified xsi:type="dcterms:W3CDTF">2026-08-25T00:26:03Z</dcterms:modified>
</cp:coreProperties>
</file>