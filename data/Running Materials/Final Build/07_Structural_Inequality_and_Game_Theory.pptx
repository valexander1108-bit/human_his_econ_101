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07  ·  STRUCTURAL INEQUALITY &amp; GAME THEORY PREVIEW</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07</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Structural Inequality Core</a:t>
            </a:r>
            <a:endParaRPr lang="en-US" sz="4000" dirty="0"/>
          </a:p>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&amp; Game Theory Preview</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Module 6 ended by observing that the competitive model takes the distribution as given. This module removes that assumption. Section I builds four mechanisms that produce unequal outcomes from identical markets. Section II previews the strategic reasoning Module 11 formalizes.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7  ·  ASYNCHRONOUS 📹</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Opening Inquiry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Shape 4"/>
          <p:cNvSpPr/>
          <p:nvPr/>
        </p:nvSpPr>
        <p:spPr>
          <a:xfrm>
            <a:off x="502920" y="1481328"/>
            <a:ext cx="3611880" cy="2331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508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(1) Why do poverty traps persist even in growing economies — and what mechanisms sustain them?</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(2) How does market power in labor markets (monopsony) explain wages below VMP — and who designs the institutions that allow 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(3) What is game theory, and why do rational individual strategies sometimes produce collectively irrational outcomes?</a:t>
            </a:r>
            <a:endParaRPr lang="en-US" sz="850" dirty="0"/>
          </a:p>
        </p:txBody>
      </p:sp>
      <p:sp>
        <p:nvSpPr>
          <p:cNvPr id="9" name="Shape 7"/>
          <p:cNvSpPr/>
          <p:nvPr/>
        </p:nvSpPr>
        <p:spPr>
          <a:xfrm>
            <a:off x="4315968" y="1481328"/>
            <a:ext cx="3611880" cy="2331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50876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Review Module 5 (VMP, monopsony preview) and Module 6 (poverty traps, Kuznets)</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Complete the Module 7 Vocabulary Checklist</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Read Akerlof (1970), 'The Market for Lemons' — the abstract and Section I</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Bring the Module 7 Worksheet and graph paper</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ASYNC FORMAT: watch each Part's recorded segment, pause, and complete the corresponding activities.</a:t>
            </a:r>
            <a:endParaRPr lang="en-US" sz="900" dirty="0"/>
          </a:p>
        </p:txBody>
      </p:sp>
      <p:sp>
        <p:nvSpPr>
          <p:cNvPr id="12" name="Shape 10"/>
          <p:cNvSpPr/>
          <p:nvPr/>
        </p:nvSpPr>
        <p:spPr>
          <a:xfrm>
            <a:off x="8119872" y="1481328"/>
            <a:ext cx="3566160" cy="2331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508760"/>
          </a:xfrm>
          <a:prstGeom prst="rect">
            <a:avLst/>
          </a:prstGeom>
          <a:noFill/>
          <a:ln/>
        </p:spPr>
        <p:txBody>
          <a:bodyPr wrap="square" lIns="0" tIns="0" rIns="0" bIns="0" rtlCol="0" anchor="t"/>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Module 7 Worksheet (printed)</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Calculator for the Gini computation</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Graph paper for the Lorenz curve and the monopsony diagram</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Your Module 2 notes on the bandwidth tax</a:t>
            </a:r>
            <a:endParaRPr lang="en-US" sz="1250" dirty="0"/>
          </a:p>
        </p:txBody>
      </p:sp>
      <p:sp>
        <p:nvSpPr>
          <p:cNvPr id="15" name="Shape 13"/>
          <p:cNvSpPr/>
          <p:nvPr/>
        </p:nvSpPr>
        <p:spPr>
          <a:xfrm>
            <a:off x="502920" y="4023360"/>
            <a:ext cx="11183112" cy="914400"/>
          </a:xfrm>
          <a:prstGeom prst="rect">
            <a:avLst/>
          </a:prstGeom>
          <a:solidFill>
            <a:srgbClr val="1A2E4A"/>
          </a:solidFill>
          <a:ln/>
        </p:spPr>
      </p:sp>
      <p:sp>
        <p:nvSpPr>
          <p:cNvPr id="16" name="Text 14"/>
          <p:cNvSpPr/>
          <p:nvPr/>
        </p:nvSpPr>
        <p:spPr>
          <a:xfrm>
            <a:off x="758952" y="41513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OPENING INQUIRY</a:t>
            </a:r>
            <a:endParaRPr lang="en-US" sz="1050" dirty="0"/>
          </a:p>
        </p:txBody>
      </p:sp>
      <p:sp>
        <p:nvSpPr>
          <p:cNvPr id="17" name="Text 15"/>
          <p:cNvSpPr/>
          <p:nvPr/>
        </p:nvSpPr>
        <p:spPr>
          <a:xfrm>
            <a:off x="758952" y="4425696"/>
            <a:ext cx="10671048" cy="384048"/>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Calibri" pitchFamily="34" charset="0"/>
                <a:ea typeface="Calibri" pitchFamily="34" charset="-122"/>
                <a:cs typeface="Calibri" pitchFamily="34" charset="-120"/>
              </a:rPr>
              <a:t>Marcus earns $15/hr. Ray earns rent, interest and profit. Both are participating in the same market — yet their outcomes diverge sharply. CAN OUR MODELS EXPLAIN WHY? Or do they require structural extensions?</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5074920"/>
          <a:ext cx="11183112" cy="914400"/>
        </p:xfrm>
        <a:graphic>
          <a:graphicData uri="http://schemas.openxmlformats.org/drawingml/2006/table">
            <a:tbl>
              <a:tblPr/>
              <a:tblGrid>
                <a:gridCol w="6035040"/>
                <a:gridCol w="5148072"/>
              </a:tblGrid>
              <a:tr h="36576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SECTION I — POVERTY, INEQUALITY &amp; LABOR MARKET DISTORTIONS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SECTION II — STRATEGIC INTERACTION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1 · The poverty trap and its feedback mechanisms</a:t>
                      </a:r>
                      <a:endParaRPr lang="en-US" sz="1050" dirty="0">
                        <a:latin typeface="Calibri" charset="0"/>
                        <a:ea typeface="Calibri" charset="0"/>
                        <a:cs typeface="Calibri" charset="0"/>
                      </a:endParaRPr>
                    </a:p>
                    <a:p>
                      <a:pPr algn="l" indent="0" marL="0">
                        <a:buNone/>
                      </a:pPr>
                      <a:r>
                        <a:rPr lang="en-US" sz="1050" dirty="0">
                          <a:solidFill>
                            <a:srgbClr val="1A2E4A"/>
                          </a:solidFill>
                          <a:latin typeface="Calibri" pitchFamily="34" charset="0"/>
                          <a:ea typeface="Calibri" pitchFamily="34" charset="-122"/>
                          <a:cs typeface="Calibri" pitchFamily="34" charset="-120"/>
                        </a:rPr>
                        <a:t>Part 2 · The Lorenz Curve and the Gini Coefficient</a:t>
                      </a:r>
                      <a:endParaRPr lang="en-US" sz="1050" dirty="0">
                        <a:latin typeface="Calibri" charset="0"/>
                        <a:ea typeface="Calibri" charset="0"/>
                        <a:cs typeface="Calibri" charset="0"/>
                      </a:endParaRPr>
                    </a:p>
                    <a:p>
                      <a:pPr algn="l" indent="0" marL="0">
                        <a:buNone/>
                      </a:pPr>
                      <a:r>
                        <a:rPr lang="en-US" sz="1050" dirty="0">
                          <a:solidFill>
                            <a:srgbClr val="1A2E4A"/>
                          </a:solidFill>
                          <a:latin typeface="Calibri" pitchFamily="34" charset="0"/>
                          <a:ea typeface="Calibri" pitchFamily="34" charset="-122"/>
                          <a:cs typeface="Calibri" pitchFamily="34" charset="-120"/>
                        </a:rPr>
                        <a:t>Part 3 · Monopsony, statistical discrimination and VMP divergence</a:t>
                      </a:r>
                      <a:endParaRPr lang="en-US" sz="1050" dirty="0">
                        <a:latin typeface="Calibri" charset="0"/>
                        <a:ea typeface="Calibri" charset="0"/>
                        <a:cs typeface="Calibri" charset="0"/>
                      </a:endParaRPr>
                    </a:p>
                    <a:p>
                      <a:pPr algn="l" indent="0" marL="0">
                        <a:buNone/>
                      </a:pPr>
                      <a:r>
                        <a:rPr lang="en-US" sz="1050" dirty="0">
                          <a:solidFill>
                            <a:srgbClr val="1A2E4A"/>
                          </a:solidFill>
                          <a:latin typeface="Calibri" pitchFamily="34" charset="0"/>
                          <a:ea typeface="Calibri" pitchFamily="34" charset="-122"/>
                          <a:cs typeface="Calibri" pitchFamily="34" charset="-120"/>
                        </a:rPr>
                        <a:t>Part 4 · Principal-agent problems: moral hazard and adverse selection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5 · Game theory preview: dominant strategies, Nash equilibrium, and the collective action problem</a:t>
                      </a:r>
                      <a:endParaRPr lang="en-US" sz="1050" dirty="0">
                        <a:latin typeface="Calibri" charset="0"/>
                        <a:ea typeface="Calibri" charset="0"/>
                        <a:cs typeface="Calibri" charset="0"/>
                      </a:endParaRPr>
                    </a:p>
                    <a:p>
                      <a:pPr algn="l" indent="0" marL="0">
                        <a:buNone/>
                      </a:pPr>
                      <a:endParaRPr lang="en-US" sz="1050" dirty="0">
                        <a:latin typeface="Calibri" charset="0"/>
                        <a:ea typeface="Calibri" charset="0"/>
                        <a:cs typeface="Calibri" charset="0"/>
                      </a:endParaRPr>
                    </a:p>
                    <a:p>
                      <a:pPr algn="l" indent="0" marL="0">
                        <a:buNone/>
                      </a:pPr>
                      <a:r>
                        <a:rPr lang="en-US" sz="1050" dirty="0">
                          <a:solidFill>
                            <a:srgbClr val="1A2E4A"/>
                          </a:solidFill>
                          <a:latin typeface="Calibri" pitchFamily="34" charset="0"/>
                          <a:ea typeface="Calibri" pitchFamily="34" charset="-122"/>
                          <a:cs typeface="Calibri" pitchFamily="34" charset="-120"/>
                        </a:rPr>
                        <a:t>The formal treatment — mixed strategies, repeated games, the folk theorem — arrives in Module 11.</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7</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Shape 4"/>
          <p:cNvSpPr/>
          <p:nvPr/>
        </p:nvSpPr>
        <p:spPr>
          <a:xfrm>
            <a:off x="502920" y="1554480"/>
            <a:ext cx="2121408" cy="3931920"/>
          </a:xfrm>
          <a:prstGeom prst="rect">
            <a:avLst/>
          </a:prstGeom>
          <a:solidFill>
            <a:srgbClr val="E8EDF3"/>
          </a:solidFill>
          <a:ln/>
        </p:spPr>
      </p:sp>
      <p:sp>
        <p:nvSpPr>
          <p:cNvPr id="7" name="Text 5"/>
          <p:cNvSpPr/>
          <p:nvPr/>
        </p:nvSpPr>
        <p:spPr>
          <a:xfrm>
            <a:off x="685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Poverty Trap</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Lorenz Curve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Gini Coefficient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Intergenerational Mobility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Credit Desert</a:t>
            </a:r>
            <a:endParaRPr lang="en-US" sz="1050" dirty="0"/>
          </a:p>
        </p:txBody>
      </p:sp>
      <p:sp>
        <p:nvSpPr>
          <p:cNvPr id="8" name="Shape 6"/>
          <p:cNvSpPr/>
          <p:nvPr/>
        </p:nvSpPr>
        <p:spPr>
          <a:xfrm>
            <a:off x="2788920" y="1554480"/>
            <a:ext cx="2121408" cy="3931920"/>
          </a:xfrm>
          <a:prstGeom prst="rect">
            <a:avLst/>
          </a:prstGeom>
          <a:solidFill>
            <a:srgbClr val="E8EDF3"/>
          </a:solidFill>
          <a:ln/>
        </p:spPr>
      </p:sp>
      <p:sp>
        <p:nvSpPr>
          <p:cNvPr id="9" name="Text 7"/>
          <p:cNvSpPr/>
          <p:nvPr/>
        </p:nvSpPr>
        <p:spPr>
          <a:xfrm>
            <a:off x="2971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Monopsony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Marginal Factor Cost (MFC)</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Average Cost of Labor (ACL)</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Wage Discrimination</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Statistical Discrimination</a:t>
            </a:r>
            <a:endParaRPr lang="en-US" sz="1050" dirty="0"/>
          </a:p>
        </p:txBody>
      </p:sp>
      <p:sp>
        <p:nvSpPr>
          <p:cNvPr id="10" name="Shape 8"/>
          <p:cNvSpPr/>
          <p:nvPr/>
        </p:nvSpPr>
        <p:spPr>
          <a:xfrm>
            <a:off x="5074920" y="1554480"/>
            <a:ext cx="2121408" cy="3931920"/>
          </a:xfrm>
          <a:prstGeom prst="rect">
            <a:avLst/>
          </a:prstGeom>
          <a:solidFill>
            <a:srgbClr val="E8EDF3"/>
          </a:solidFill>
          <a:ln/>
        </p:spPr>
      </p:sp>
      <p:sp>
        <p:nvSpPr>
          <p:cNvPr id="11" name="Text 9"/>
          <p:cNvSpPr/>
          <p:nvPr/>
        </p:nvSpPr>
        <p:spPr>
          <a:xfrm>
            <a:off x="5257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Principal-Agent Problem</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Information Asymmetry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Moral Hazard</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Adverse Selection</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Market for Lemons</a:t>
            </a:r>
            <a:endParaRPr lang="en-US" sz="1050" dirty="0"/>
          </a:p>
        </p:txBody>
      </p:sp>
      <p:sp>
        <p:nvSpPr>
          <p:cNvPr id="12" name="Shape 10"/>
          <p:cNvSpPr/>
          <p:nvPr/>
        </p:nvSpPr>
        <p:spPr>
          <a:xfrm>
            <a:off x="7360920" y="1554480"/>
            <a:ext cx="2121408" cy="3931920"/>
          </a:xfrm>
          <a:prstGeom prst="rect">
            <a:avLst/>
          </a:prstGeom>
          <a:solidFill>
            <a:srgbClr val="E8EDF3"/>
          </a:solidFill>
          <a:ln/>
        </p:spPr>
      </p:sp>
      <p:sp>
        <p:nvSpPr>
          <p:cNvPr id="13" name="Text 11"/>
          <p:cNvSpPr/>
          <p:nvPr/>
        </p:nvSpPr>
        <p:spPr>
          <a:xfrm>
            <a:off x="7543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Game Theory (preview)</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Payoff Matrix</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Dominant Strategy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Nash Equilibrium</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Prisoner's Dilemma</a:t>
            </a:r>
            <a:endParaRPr lang="en-US" sz="1050" dirty="0"/>
          </a:p>
        </p:txBody>
      </p:sp>
      <p:sp>
        <p:nvSpPr>
          <p:cNvPr id="14" name="Shape 12"/>
          <p:cNvSpPr/>
          <p:nvPr/>
        </p:nvSpPr>
        <p:spPr>
          <a:xfrm>
            <a:off x="9646920" y="1554480"/>
            <a:ext cx="2121408" cy="3931920"/>
          </a:xfrm>
          <a:prstGeom prst="rect">
            <a:avLst/>
          </a:prstGeom>
          <a:solidFill>
            <a:srgbClr val="E8EDF3"/>
          </a:solidFill>
          <a:ln/>
        </p:spPr>
      </p:sp>
      <p:sp>
        <p:nvSpPr>
          <p:cNvPr id="15" name="Text 13"/>
          <p:cNvSpPr/>
          <p:nvPr/>
        </p:nvSpPr>
        <p:spPr>
          <a:xfrm>
            <a:off x="9829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Collective Action Problem</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Public Goods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Free Rider</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Pareto-Superior Outcome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Bandwidth Tax (Module 2)</a:t>
            </a:r>
            <a:endParaRPr lang="en-US" sz="1050" dirty="0"/>
          </a:p>
        </p:txBody>
      </p:sp>
      <p:sp>
        <p:nvSpPr>
          <p:cNvPr id="16" name="Shape 14"/>
          <p:cNvSpPr/>
          <p:nvPr/>
        </p:nvSpPr>
        <p:spPr>
          <a:xfrm>
            <a:off x="502920" y="5623560"/>
            <a:ext cx="11183112" cy="566928"/>
          </a:xfrm>
          <a:prstGeom prst="rect">
            <a:avLst/>
          </a:prstGeom>
          <a:solidFill>
            <a:srgbClr val="1A2E4A"/>
          </a:solidFill>
          <a:ln/>
        </p:spPr>
      </p:sp>
      <p:sp>
        <p:nvSpPr>
          <p:cNvPr id="17" name="Text 15"/>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ORGANIZING CLAIM OF THIS MODULE</a:t>
            </a:r>
            <a:endParaRPr lang="en-US" sz="1050" dirty="0"/>
          </a:p>
        </p:txBody>
      </p:sp>
      <p:sp>
        <p:nvSpPr>
          <p:cNvPr id="18" name="Text 16"/>
          <p:cNvSpPr/>
          <p:nvPr/>
        </p:nvSpPr>
        <p:spPr>
          <a:xfrm>
            <a:off x="758952" y="595274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Every mechanism in Section I produces a wage BELOW VMP, or an outcome below the efficient one, WITHOUT any party behaving irrationally. Inequality here is not a story about effort or preference. It is a story about STRUCTURE — and structures are designed.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Poverty, Inequality &amp; Labor Market Distortions</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The poverty trap: a self-reinforcing structural equilibrium</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Measuring the distribution: the Lorenz Curve and the Gini Coefficient</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Monopsony wage suppression and statistical discrimination</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4  ·  Principal-agent problems: moral hazard and adverse selection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Poverty Trap</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Model the poverty trap; identify the feedback mechanisms that perpetuate low-income equilibria even as the wider economy grows.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MARCUS'S NEIGHBORHOOD, PHILADELPHIA</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Poverty Trap as a Feedback Loop</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Text 4"/>
          <p:cNvSpPr/>
          <p:nvPr/>
        </p:nvSpPr>
        <p:spPr>
          <a:xfrm>
            <a:off x="502920" y="1417320"/>
            <a:ext cx="6400800" cy="86868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Marcus earns $15/hr in a monopsonistic labor market. His neighborhood has underfunded schools, few bank branches (a credit desert), high-cost payday lenders, and food deserts. EACH CONSTRAINT REINFORCES THE OTHERS.</a:t>
            </a:r>
            <a:endParaRPr lang="en-US" sz="1200" dirty="0"/>
          </a:p>
        </p:txBody>
      </p:sp>
      <p:pic>
        <p:nvPicPr>
          <p:cNvPr id="7" name="Image 0" descr="figs/m7_trap.png">    </p:cNvPr>
          <p:cNvPicPr>
            <a:picLocks noChangeAspect="1"/>
          </p:cNvPicPr>
          <p:nvPr/>
        </p:nvPicPr>
        <p:blipFill>
          <a:blip r:embed="rId1"/>
          <a:stretch>
            <a:fillRect/>
          </a:stretch>
        </p:blipFill>
        <p:spPr>
          <a:xfrm>
            <a:off x="1894817" y="2194560"/>
            <a:ext cx="3617005" cy="3017520"/>
          </a:xfrm>
          <a:prstGeom prst="rect">
            <a:avLst/>
          </a:prstGeom>
        </p:spPr>
      </p:pic>
      <p:sp>
        <p:nvSpPr>
          <p:cNvPr id="8" name="Shape 5"/>
          <p:cNvSpPr/>
          <p:nvPr/>
        </p:nvSpPr>
        <p:spPr>
          <a:xfrm>
            <a:off x="7223760" y="1463040"/>
            <a:ext cx="4462272" cy="12801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6"/>
          <p:cNvSpPr/>
          <p:nvPr/>
        </p:nvSpPr>
        <p:spPr>
          <a:xfrm>
            <a:off x="7479792" y="1645920"/>
            <a:ext cx="395020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POVERTY TRAP — formal definition</a:t>
            </a:r>
            <a:endParaRPr lang="en-US" sz="1550" dirty="0"/>
          </a:p>
        </p:txBody>
      </p:sp>
      <p:sp>
        <p:nvSpPr>
          <p:cNvPr id="10" name="Text 7"/>
          <p:cNvSpPr/>
          <p:nvPr/>
        </p:nvSpPr>
        <p:spPr>
          <a:xfrm>
            <a:off x="7479792" y="2048256"/>
            <a:ext cx="3950208" cy="4572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self-reinforcing equilibrium in which the condition of being poor itself generates the mechanisms that keep a household or community poor. It is a STABLE equilibrium: small shocks are absorbed and the system returns to it.</a:t>
            </a:r>
            <a:endParaRPr lang="en-US" sz="850" dirty="0"/>
          </a:p>
        </p:txBody>
      </p:sp>
      <p:sp>
        <p:nvSpPr>
          <p:cNvPr id="11" name="Shape 8"/>
          <p:cNvSpPr/>
          <p:nvPr/>
        </p:nvSpPr>
        <p:spPr>
          <a:xfrm>
            <a:off x="7223760" y="2880360"/>
            <a:ext cx="4462272"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9"/>
          <p:cNvSpPr/>
          <p:nvPr/>
        </p:nvSpPr>
        <p:spPr>
          <a:xfrm>
            <a:off x="7479792" y="3063240"/>
            <a:ext cx="395020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CREDIT DESERT</a:t>
            </a:r>
            <a:endParaRPr lang="en-US" sz="1550" dirty="0"/>
          </a:p>
        </p:txBody>
      </p:sp>
      <p:sp>
        <p:nvSpPr>
          <p:cNvPr id="13" name="Text 10"/>
          <p:cNvSpPr/>
          <p:nvPr/>
        </p:nvSpPr>
        <p:spPr>
          <a:xfrm>
            <a:off x="7479792" y="3465576"/>
            <a:ext cx="3950208"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Few bank branches means no relationship lending and no collateralized credit at market rates. Marcus's $15,000 food cart must be financed at payday rates or not at all — so a project with a positive return goes unbuilt (Module 2, Part 3).</a:t>
            </a:r>
            <a:endParaRPr lang="en-US" sz="850" dirty="0"/>
          </a:p>
        </p:txBody>
      </p:sp>
      <p:sp>
        <p:nvSpPr>
          <p:cNvPr id="14" name="Shape 11"/>
          <p:cNvSpPr/>
          <p:nvPr/>
        </p:nvSpPr>
        <p:spPr>
          <a:xfrm>
            <a:off x="7223760" y="4114800"/>
            <a:ext cx="4462272"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5" name="Text 12"/>
          <p:cNvSpPr/>
          <p:nvPr/>
        </p:nvSpPr>
        <p:spPr>
          <a:xfrm>
            <a:off x="7479792" y="4297680"/>
            <a:ext cx="395020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BANDWIDTH TAX</a:t>
            </a:r>
            <a:endParaRPr lang="en-US" sz="1550" dirty="0"/>
          </a:p>
        </p:txBody>
      </p:sp>
      <p:sp>
        <p:nvSpPr>
          <p:cNvPr id="16" name="Text 13"/>
          <p:cNvSpPr/>
          <p:nvPr/>
        </p:nvSpPr>
        <p:spPr>
          <a:xfrm>
            <a:off x="7479792" y="4700016"/>
            <a:ext cx="3950208"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Mullainathan &amp; Shafir (2013): managing scarcity consumes the cognitive resources needed for exactly the long-horizon planning that would escape it. The trap taxes the faculty required to leave it.</a:t>
            </a:r>
            <a:endParaRPr lang="en-US" sz="850" dirty="0"/>
          </a:p>
        </p:txBody>
      </p:sp>
      <p:sp>
        <p:nvSpPr>
          <p:cNvPr id="17" name="Shape 14"/>
          <p:cNvSpPr/>
          <p:nvPr/>
        </p:nvSpPr>
        <p:spPr>
          <a:xfrm>
            <a:off x="502920" y="5349240"/>
            <a:ext cx="11183112" cy="777240"/>
          </a:xfrm>
          <a:prstGeom prst="rect">
            <a:avLst/>
          </a:prstGeom>
          <a:solidFill>
            <a:srgbClr val="1A2E4A"/>
          </a:solidFill>
          <a:ln/>
        </p:spPr>
      </p:sp>
      <p:sp>
        <p:nvSpPr>
          <p:cNvPr id="18" name="Text 15"/>
          <p:cNvSpPr/>
          <p:nvPr/>
        </p:nvSpPr>
        <p:spPr>
          <a:xfrm>
            <a:off x="758952" y="54772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INTERGENERATIONAL TRANSMISSION</a:t>
            </a:r>
            <a:endParaRPr lang="en-US" sz="1050" dirty="0"/>
          </a:p>
        </p:txBody>
      </p:sp>
      <p:sp>
        <p:nvSpPr>
          <p:cNvPr id="19" name="Text 16"/>
          <p:cNvSpPr/>
          <p:nvPr/>
        </p:nvSpPr>
        <p:spPr>
          <a:xfrm>
            <a:off x="758952" y="575157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Children in Marcus's neighborhood face LOWER intergenerational mobility than Ray's children — a smaller probability of ending in a higher income quintile than their parents. School funding tied to local property values makes the loop span generations: today's low income becomes tomorrow's low human capital, which becomes the next generation's low VMP.</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WORKSHEET ✦1</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Three Institutional Changes That Break the Trap</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Shape 4"/>
          <p:cNvSpPr/>
          <p:nvPr/>
        </p:nvSpPr>
        <p:spPr>
          <a:xfrm>
            <a:off x="502920" y="1417320"/>
            <a:ext cx="11183112" cy="77724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 poverty trap is not simply a matter of individual choices — it is a self-reinforcing structural equilibrium. Identify three institutional changes that economic theory suggests would break the trap, and explain each mechanism using tools from Modules 1–6.</a:t>
            </a:r>
            <a:endParaRPr lang="en-US" sz="850" dirty="0"/>
          </a:p>
        </p:txBody>
      </p:sp>
      <p:sp>
        <p:nvSpPr>
          <p:cNvPr id="9" name="Shape 7"/>
          <p:cNvSpPr/>
          <p:nvPr/>
        </p:nvSpPr>
        <p:spPr>
          <a:xfrm>
            <a:off x="502920" y="2331720"/>
            <a:ext cx="3611880" cy="2331720"/>
          </a:xfrm>
          <a:prstGeom prst="rect">
            <a:avLst/>
          </a:prstGeom>
          <a:solidFill>
            <a:srgbClr val="E8EDF3"/>
          </a:solidFill>
          <a:ln/>
        </p:spPr>
      </p:sp>
      <p:sp>
        <p:nvSpPr>
          <p:cNvPr id="10" name="Shape 8"/>
          <p:cNvSpPr/>
          <p:nvPr/>
        </p:nvSpPr>
        <p:spPr>
          <a:xfrm>
            <a:off x="704088" y="2532888"/>
            <a:ext cx="457200" cy="457200"/>
          </a:xfrm>
          <a:prstGeom prst="ellipse">
            <a:avLst/>
          </a:prstGeom>
          <a:solidFill>
            <a:srgbClr val="1A2E4A"/>
          </a:solidFill>
          <a:ln/>
        </p:spPr>
      </p:sp>
      <p:sp>
        <p:nvSpPr>
          <p:cNvPr id="11" name="Text 9"/>
          <p:cNvSpPr/>
          <p:nvPr/>
        </p:nvSpPr>
        <p:spPr>
          <a:xfrm>
            <a:off x="704088" y="2532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53288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OPEN THE CREDIT MARKET</a:t>
            </a:r>
            <a:endParaRPr lang="en-US" sz="1600" dirty="0"/>
          </a:p>
        </p:txBody>
      </p:sp>
      <p:sp>
        <p:nvSpPr>
          <p:cNvPr id="13" name="Text 11"/>
          <p:cNvSpPr/>
          <p:nvPr/>
        </p:nvSpPr>
        <p:spPr>
          <a:xfrm>
            <a:off x="722376" y="3081528"/>
            <a:ext cx="3154680" cy="13716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community development financial institution, credit union, or public loan guarantee.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MECHANISM (Module 2, Part 3): it lowers r, which moves the return-vs-rate test from FAIL to PASS for productive investments. The intertemporal budget constraint ROTATES outward about the endowment, enlarging the feasible set without transferring a cent of income.</a:t>
            </a:r>
            <a:endParaRPr lang="en-US" sz="900" dirty="0"/>
          </a:p>
        </p:txBody>
      </p:sp>
      <p:sp>
        <p:nvSpPr>
          <p:cNvPr id="14" name="Shape 12"/>
          <p:cNvSpPr/>
          <p:nvPr/>
        </p:nvSpPr>
        <p:spPr>
          <a:xfrm>
            <a:off x="4315968" y="2331720"/>
            <a:ext cx="3611880" cy="2331720"/>
          </a:xfrm>
          <a:prstGeom prst="rect">
            <a:avLst/>
          </a:prstGeom>
          <a:solidFill>
            <a:srgbClr val="E8EDF3"/>
          </a:solidFill>
          <a:ln/>
        </p:spPr>
      </p:sp>
      <p:sp>
        <p:nvSpPr>
          <p:cNvPr id="15" name="Shape 13"/>
          <p:cNvSpPr/>
          <p:nvPr/>
        </p:nvSpPr>
        <p:spPr>
          <a:xfrm>
            <a:off x="4517136" y="2532888"/>
            <a:ext cx="457200" cy="457200"/>
          </a:xfrm>
          <a:prstGeom prst="ellipse">
            <a:avLst/>
          </a:prstGeom>
          <a:solidFill>
            <a:srgbClr val="C0892E"/>
          </a:solidFill>
          <a:ln/>
        </p:spPr>
      </p:sp>
      <p:sp>
        <p:nvSpPr>
          <p:cNvPr id="16" name="Text 14"/>
          <p:cNvSpPr/>
          <p:nvPr/>
        </p:nvSpPr>
        <p:spPr>
          <a:xfrm>
            <a:off x="4517136" y="2532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53288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BREAK THE MONOPSONY</a:t>
            </a:r>
            <a:endParaRPr lang="en-US" sz="1600" dirty="0"/>
          </a:p>
        </p:txBody>
      </p:sp>
      <p:sp>
        <p:nvSpPr>
          <p:cNvPr id="18" name="Text 16"/>
          <p:cNvSpPr/>
          <p:nvPr/>
        </p:nvSpPr>
        <p:spPr>
          <a:xfrm>
            <a:off x="4535424" y="3081528"/>
            <a:ext cx="3154680" cy="13716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binding minimum wage, sectoral bargaining, a right to organize, or public transit that widens the commuting radius.</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MECHANISM (Module 5 / Part 3 today): each raises the elasticity of labor supply facing the individual firm, or sets a floor above the monopsony wage. Uniquely, a minimum wage under monopsony can raise BOTH the wage AND employment — the opposite of the competitive prediction.</a:t>
            </a:r>
            <a:endParaRPr lang="en-US" sz="900" dirty="0"/>
          </a:p>
        </p:txBody>
      </p:sp>
      <p:sp>
        <p:nvSpPr>
          <p:cNvPr id="19" name="Shape 17"/>
          <p:cNvSpPr/>
          <p:nvPr/>
        </p:nvSpPr>
        <p:spPr>
          <a:xfrm>
            <a:off x="8119872" y="2331720"/>
            <a:ext cx="3566160" cy="2331720"/>
          </a:xfrm>
          <a:prstGeom prst="rect">
            <a:avLst/>
          </a:prstGeom>
          <a:solidFill>
            <a:srgbClr val="E8EDF3"/>
          </a:solidFill>
          <a:ln/>
        </p:spPr>
      </p:sp>
      <p:sp>
        <p:nvSpPr>
          <p:cNvPr id="20" name="Shape 18"/>
          <p:cNvSpPr/>
          <p:nvPr/>
        </p:nvSpPr>
        <p:spPr>
          <a:xfrm>
            <a:off x="8321040" y="2532888"/>
            <a:ext cx="457200" cy="457200"/>
          </a:xfrm>
          <a:prstGeom prst="ellipse">
            <a:avLst/>
          </a:prstGeom>
          <a:solidFill>
            <a:srgbClr val="2A7F84"/>
          </a:solidFill>
          <a:ln/>
        </p:spPr>
      </p:sp>
      <p:sp>
        <p:nvSpPr>
          <p:cNvPr id="21" name="Text 19"/>
          <p:cNvSpPr/>
          <p:nvPr/>
        </p:nvSpPr>
        <p:spPr>
          <a:xfrm>
            <a:off x="8321040" y="2532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53288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DE-LINK SCHOOLING FROM PROPERTY VALUES</a:t>
            </a:r>
            <a:endParaRPr lang="en-US" sz="1450" dirty="0"/>
          </a:p>
        </p:txBody>
      </p:sp>
      <p:sp>
        <p:nvSpPr>
          <p:cNvPr id="23" name="Text 21"/>
          <p:cNvSpPr/>
          <p:nvPr/>
        </p:nvSpPr>
        <p:spPr>
          <a:xfrm>
            <a:off x="8339328" y="3081528"/>
            <a:ext cx="3108960" cy="137160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State-equalized school finance, universal pre-K, or means-tested tuition.</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MECHANISM (Modules 5 and 6): human capital raises MP, which raises VMP = P × MP, which shifts labor DEMAND right — raising the wage rather than merely redistributing it. This is the only one of the three that moves the productivity term itself.</a:t>
            </a:r>
            <a:endParaRPr lang="en-US" sz="950" dirty="0"/>
          </a:p>
        </p:txBody>
      </p:sp>
      <p:sp>
        <p:nvSpPr>
          <p:cNvPr id="24" name="Shape 22"/>
          <p:cNvSpPr/>
          <p:nvPr/>
        </p:nvSpPr>
        <p:spPr>
          <a:xfrm>
            <a:off x="502920" y="4892040"/>
            <a:ext cx="11183112" cy="1234440"/>
          </a:xfrm>
          <a:prstGeom prst="rect">
            <a:avLst/>
          </a:prstGeom>
          <a:solidFill>
            <a:srgbClr val="1A2E4A"/>
          </a:solidFill>
          <a:ln/>
        </p:spPr>
      </p:sp>
      <p:sp>
        <p:nvSpPr>
          <p:cNvPr id="25" name="Text 23"/>
          <p:cNvSpPr/>
          <p:nvPr/>
        </p:nvSpPr>
        <p:spPr>
          <a:xfrm>
            <a:off x="685800" y="5020056"/>
            <a:ext cx="10817352" cy="66751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Each intervention changes the CONSTRAINT, not the preference.</a:t>
            </a:r>
            <a:endParaRPr lang="en-US" sz="2200" dirty="0"/>
          </a:p>
        </p:txBody>
      </p:sp>
      <p:sp>
        <p:nvSpPr>
          <p:cNvPr id="26" name="Text 24"/>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That is the signature of a structural explanation. If the fix has to change what people want, you have written a story about character.</a:t>
            </a:r>
            <a:endParaRPr lang="en-US" sz="1150" dirty="0"/>
          </a:p>
          <a:p>
            <a:pPr algn="ctr" indent="0" marL="0">
              <a:buNone/>
            </a:pPr>
            <a:r>
              <a:rPr lang="en-US" sz="1150" i="1" dirty="0">
                <a:solidFill>
                  <a:srgbClr val="E8C87A"/>
                </a:solidFill>
                <a:latin typeface="Calibri" pitchFamily="34" charset="0"/>
                <a:ea typeface="Calibri" pitchFamily="34" charset="-122"/>
                <a:cs typeface="Calibri" pitchFamily="34" charset="-120"/>
              </a:rPr>
              <a:t>If it changes what people can reach, you have written a story about economics.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Lorenz Curve</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Gini Coefficient</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Construct and interpret a Lorenz Curve; compute and evaluate the Gini Coefficient; understand what the statistic preserves and what it discards.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CONSTRUCTION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Building the Lorenz Curve from Quintile Data</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5486400" cy="914400"/>
        </p:xfrm>
        <a:graphic>
          <a:graphicData uri="http://schemas.openxmlformats.org/drawingml/2006/table">
            <a:tbl>
              <a:tblPr/>
              <a:tblGrid>
                <a:gridCol w="1280160"/>
                <a:gridCol w="1234440"/>
                <a:gridCol w="1371600"/>
                <a:gridCol w="914400"/>
                <a:gridCol w="685800"/>
              </a:tblGrid>
              <a:tr h="310896">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INCOME QUINTILE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SHARE OF TOTAL INCOME (%)</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CUMULATIVE INCOME SHARE (%)</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PERFECTLY EQUAL (%)</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SHORTFALL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Lowest 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Second 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−27</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Third 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Fourth 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−29</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Top 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49</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3566160"/>
            <a:ext cx="5486400" cy="1234440"/>
          </a:xfrm>
          <a:prstGeom prst="rect">
            <a:avLst/>
          </a:prstGeom>
          <a:solidFill>
            <a:srgbClr val="1A2E4A"/>
          </a:solidFill>
          <a:ln/>
        </p:spPr>
      </p:sp>
      <p:sp>
        <p:nvSpPr>
          <p:cNvPr id="8" name="Text 5"/>
          <p:cNvSpPr/>
          <p:nvPr/>
        </p:nvSpPr>
        <p:spPr>
          <a:xfrm>
            <a:off x="685800" y="3566160"/>
            <a:ext cx="5120640" cy="12344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Gini  =  A / ( A + B )</a:t>
            </a:r>
            <a:endParaRPr lang="en-US" sz="2200" dirty="0"/>
          </a:p>
          <a:p>
            <a:pPr algn="ctr" indent="0" marL="0">
              <a:buNone/>
            </a:pP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  ( 0.5 − 0.292 ) / 0.5  =  0.42</a:t>
            </a:r>
            <a:endParaRPr lang="en-US" sz="2200" dirty="0"/>
          </a:p>
        </p:txBody>
      </p:sp>
      <p:sp>
        <p:nvSpPr>
          <p:cNvPr id="9" name="Shape 6"/>
          <p:cNvSpPr/>
          <p:nvPr/>
        </p:nvSpPr>
        <p:spPr>
          <a:xfrm>
            <a:off x="502920" y="4937760"/>
            <a:ext cx="5486400" cy="1188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7"/>
          <p:cNvSpPr/>
          <p:nvPr/>
        </p:nvSpPr>
        <p:spPr>
          <a:xfrm>
            <a:off x="758952" y="512064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READING THE ENDPOINTS</a:t>
            </a:r>
            <a:endParaRPr lang="en-US" sz="1550" dirty="0"/>
          </a:p>
        </p:txBody>
      </p:sp>
      <p:sp>
        <p:nvSpPr>
          <p:cNvPr id="11" name="Text 8"/>
          <p:cNvSpPr/>
          <p:nvPr/>
        </p:nvSpPr>
        <p:spPr>
          <a:xfrm>
            <a:off x="758952" y="5522976"/>
            <a:ext cx="4974336" cy="365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Gini of 0 means PERFECT EQUALITY — every quintile holds exactly 20% and the Lorenz curve lies on the diagonal, so area A vanishes.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Gini of 1 means PERFECT INEQUALITY — one household holds all income, the Lorenz curve runs along the bottom and right edges, and area B vanishes.</a:t>
            </a:r>
            <a:endParaRPr lang="en-US" sz="850" dirty="0"/>
          </a:p>
        </p:txBody>
      </p:sp>
      <p:pic>
        <p:nvPicPr>
          <p:cNvPr id="12" name="Image 0" descr="figs/m7_lorenz.png">    </p:cNvPr>
          <p:cNvPicPr>
            <a:picLocks noChangeAspect="1"/>
          </p:cNvPicPr>
          <p:nvPr/>
        </p:nvPicPr>
        <p:blipFill>
          <a:blip r:embed="rId1"/>
          <a:stretch>
            <a:fillRect/>
          </a:stretch>
        </p:blipFill>
        <p:spPr>
          <a:xfrm>
            <a:off x="6217920" y="1801864"/>
            <a:ext cx="5468112" cy="39400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WORKSHEET ✦2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the Gini Preserves — and What It Discards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Shape 4"/>
          <p:cNvSpPr/>
          <p:nvPr/>
        </p:nvSpPr>
        <p:spPr>
          <a:xfrm>
            <a:off x="502920" y="1463040"/>
            <a:ext cx="3611880" cy="2286000"/>
          </a:xfrm>
          <a:prstGeom prst="rect">
            <a:avLst/>
          </a:prstGeom>
          <a:solidFill>
            <a:srgbClr val="E8EDF3"/>
          </a:solidFill>
          <a:ln/>
        </p:spPr>
      </p:sp>
      <p:sp>
        <p:nvSpPr>
          <p:cNvPr id="7" name="Shape 5"/>
          <p:cNvSpPr/>
          <p:nvPr/>
        </p:nvSpPr>
        <p:spPr>
          <a:xfrm>
            <a:off x="704088" y="1664208"/>
            <a:ext cx="457200" cy="457200"/>
          </a:xfrm>
          <a:prstGeom prst="ellipse">
            <a:avLst/>
          </a:prstGeom>
          <a:solidFill>
            <a:srgbClr val="1A2E4A"/>
          </a:solidFill>
          <a:ln/>
        </p:spPr>
      </p:sp>
      <p:sp>
        <p:nvSpPr>
          <p:cNvPr id="8" name="Text 6"/>
          <p:cNvSpPr/>
          <p:nvPr/>
        </p:nvSpPr>
        <p:spPr>
          <a:xfrm>
            <a:off x="70408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WHAT IT PRESERVES</a:t>
            </a:r>
            <a:endParaRPr lang="en-US" sz="1600" dirty="0"/>
          </a:p>
        </p:txBody>
      </p:sp>
      <p:sp>
        <p:nvSpPr>
          <p:cNvPr id="10" name="Text 8"/>
          <p:cNvSpPr/>
          <p:nvPr/>
        </p:nvSpPr>
        <p:spPr>
          <a:xfrm>
            <a:off x="722376" y="2212848"/>
            <a:ext cx="3154680" cy="13258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The OVERALL DISPERSION of income relative to a perfectly equal benchmark.</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Scale invariance — multiply every income by 10 and the Gini is unchanged, so it compares economies of different sizes.</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Population invariance — it does not depend on how many people are in the economy.</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The Pigou–Dalton principle: any transfer from a richer to a poorer household LOWERS the Gini.</a:t>
            </a:r>
            <a:endParaRPr lang="en-US" sz="900" dirty="0"/>
          </a:p>
        </p:txBody>
      </p:sp>
      <p:sp>
        <p:nvSpPr>
          <p:cNvPr id="11" name="Shape 9"/>
          <p:cNvSpPr/>
          <p:nvPr/>
        </p:nvSpPr>
        <p:spPr>
          <a:xfrm>
            <a:off x="4315968" y="1463040"/>
            <a:ext cx="3611880" cy="2286000"/>
          </a:xfrm>
          <a:prstGeom prst="rect">
            <a:avLst/>
          </a:prstGeom>
          <a:solidFill>
            <a:srgbClr val="E8EDF3"/>
          </a:solidFill>
          <a:ln/>
        </p:spPr>
      </p:sp>
      <p:sp>
        <p:nvSpPr>
          <p:cNvPr id="12" name="Shape 10"/>
          <p:cNvSpPr/>
          <p:nvPr/>
        </p:nvSpPr>
        <p:spPr>
          <a:xfrm>
            <a:off x="4517136" y="1664208"/>
            <a:ext cx="457200" cy="457200"/>
          </a:xfrm>
          <a:prstGeom prst="ellipse">
            <a:avLst/>
          </a:prstGeom>
          <a:solidFill>
            <a:srgbClr val="9E2A2B"/>
          </a:solidFill>
          <a:ln/>
        </p:spPr>
      </p:sp>
      <p:sp>
        <p:nvSpPr>
          <p:cNvPr id="13" name="Text 11"/>
          <p:cNvSpPr/>
          <p:nvPr/>
        </p:nvSpPr>
        <p:spPr>
          <a:xfrm>
            <a:off x="4517136"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93208"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WHAT IT DISCARDS</a:t>
            </a:r>
            <a:endParaRPr lang="en-US" sz="1600" dirty="0"/>
          </a:p>
        </p:txBody>
      </p:sp>
      <p:sp>
        <p:nvSpPr>
          <p:cNvPr id="15" name="Text 13"/>
          <p:cNvSpPr/>
          <p:nvPr/>
        </p:nvSpPr>
        <p:spPr>
          <a:xfrm>
            <a:off x="4535424" y="2212848"/>
            <a:ext cx="3154680" cy="13258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WHERE in the distribution the inequality sits. A Gini of 0.42 can come from a rich top or a destitute bottom, and the number cannot tell you which.</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ABSOLUTE living standards — a country can halve everyone's income and keep the same Gini.</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MOBILITY. The Gini is a snapshot; it says nothing about whether the same households occupy the bottom quintile next year.</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Wealth, as distinct from income.</a:t>
            </a:r>
            <a:endParaRPr lang="en-US" sz="900" dirty="0"/>
          </a:p>
        </p:txBody>
      </p:sp>
      <p:sp>
        <p:nvSpPr>
          <p:cNvPr id="16" name="Shape 14"/>
          <p:cNvSpPr/>
          <p:nvPr/>
        </p:nvSpPr>
        <p:spPr>
          <a:xfrm>
            <a:off x="8119872" y="1463040"/>
            <a:ext cx="3566160" cy="2286000"/>
          </a:xfrm>
          <a:prstGeom prst="rect">
            <a:avLst/>
          </a:prstGeom>
          <a:solidFill>
            <a:srgbClr val="E8EDF3"/>
          </a:solidFill>
          <a:ln/>
        </p:spPr>
      </p:sp>
      <p:sp>
        <p:nvSpPr>
          <p:cNvPr id="17" name="Shape 15"/>
          <p:cNvSpPr/>
          <p:nvPr/>
        </p:nvSpPr>
        <p:spPr>
          <a:xfrm>
            <a:off x="8321040" y="1664208"/>
            <a:ext cx="457200" cy="457200"/>
          </a:xfrm>
          <a:prstGeom prst="ellipse">
            <a:avLst/>
          </a:prstGeom>
          <a:solidFill>
            <a:srgbClr val="C0892E"/>
          </a:solidFill>
          <a:ln/>
        </p:spPr>
      </p:sp>
      <p:sp>
        <p:nvSpPr>
          <p:cNvPr id="18" name="Text 16"/>
          <p:cNvSpPr/>
          <p:nvPr/>
        </p:nvSpPr>
        <p:spPr>
          <a:xfrm>
            <a:off x="8321040"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97112" y="166420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A CHANGE THE GINI WOULD MISS</a:t>
            </a:r>
            <a:endParaRPr lang="en-US" sz="1450" dirty="0"/>
          </a:p>
        </p:txBody>
      </p:sp>
      <p:sp>
        <p:nvSpPr>
          <p:cNvPr id="20" name="Text 18"/>
          <p:cNvSpPr/>
          <p:nvPr/>
        </p:nvSpPr>
        <p:spPr>
          <a:xfrm>
            <a:off x="8339328" y="2212848"/>
            <a:ext cx="3108960" cy="13258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Take $1,000 from the lowest quintile and give it to the second quintile, while simultaneously transferring an offsetting amount from the top quintile to the fourth.</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two moves can be calibrated so the Gini is UNCHANGED — yet the lived experience of the poorest households is materially worse. Lorenz curves that CROSS can even produce identical Ginis with entirely different bottom tails.</a:t>
            </a:r>
            <a:endParaRPr lang="en-US" sz="900" dirty="0"/>
          </a:p>
        </p:txBody>
      </p:sp>
      <p:sp>
        <p:nvSpPr>
          <p:cNvPr id="21" name="Shape 19"/>
          <p:cNvSpPr/>
          <p:nvPr/>
        </p:nvSpPr>
        <p:spPr>
          <a:xfrm>
            <a:off x="502920" y="3977640"/>
            <a:ext cx="11183112" cy="1051560"/>
          </a:xfrm>
          <a:prstGeom prst="rect">
            <a:avLst/>
          </a:prstGeom>
          <a:solidFill>
            <a:srgbClr val="1A2E4A"/>
          </a:solidFill>
          <a:ln/>
        </p:spPr>
      </p:sp>
      <p:sp>
        <p:nvSpPr>
          <p:cNvPr id="22" name="Text 20"/>
          <p:cNvSpPr/>
          <p:nvPr/>
        </p:nvSpPr>
        <p:spPr>
          <a:xfrm>
            <a:off x="758952" y="41056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THIS MATTERS METHODOLOGICALLY</a:t>
            </a:r>
            <a:endParaRPr lang="en-US" sz="1050" dirty="0"/>
          </a:p>
        </p:txBody>
      </p:sp>
      <p:sp>
        <p:nvSpPr>
          <p:cNvPr id="23" name="Text 21"/>
          <p:cNvSpPr/>
          <p:nvPr/>
        </p:nvSpPr>
        <p:spPr>
          <a:xfrm>
            <a:off x="758952" y="4379976"/>
            <a:ext cx="10671048" cy="52120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The Gini is a SUMMARY STATISTIC: it compresses a rich, multi-dimensional distribution into one number so that comparison becomes possible. Every summary statistic buys comparability by discarding information. The economist's obligation is to know WHICH information was discarded, and to check whether the discarded part is the part the question is about.</a:t>
            </a:r>
            <a:endParaRPr lang="en-US" sz="950" dirty="0"/>
          </a:p>
        </p:txBody>
      </p:sp>
      <p:sp>
        <p:nvSpPr>
          <p:cNvPr id="24" name="Shape 22"/>
          <p:cNvSpPr/>
          <p:nvPr/>
        </p:nvSpPr>
        <p:spPr>
          <a:xfrm>
            <a:off x="502920" y="5166360"/>
            <a:ext cx="11183112" cy="9601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5" name="Text 23"/>
          <p:cNvSpPr/>
          <p:nvPr/>
        </p:nvSpPr>
        <p:spPr>
          <a:xfrm>
            <a:off x="758952" y="5349240"/>
            <a:ext cx="10671048"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ALTERNATIVE AND COMPLEMENTARY MEASURES</a:t>
            </a:r>
            <a:endParaRPr lang="en-US" sz="1550" dirty="0"/>
          </a:p>
        </p:txBody>
      </p:sp>
      <p:sp>
        <p:nvSpPr>
          <p:cNvPr id="26" name="Text 24"/>
          <p:cNvSpPr/>
          <p:nvPr/>
        </p:nvSpPr>
        <p:spPr>
          <a:xfrm>
            <a:off x="758952" y="5751576"/>
            <a:ext cx="10671048" cy="137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PALMA RATIO — top 10% share ÷ bottom 40% share; deliberately sensitive to the tails the Gini smooths.   ·   P90/P10 RATIO — ninetieth percentile income divided by tenth.   ·   POVERTY HEADCOUNT and POVERTY GAP — how many are below a line, and by how far.   ·   INTERGENERATIONAL ELASTICITY — how much of a parent's income advantage passes to a child. Report the Gini WITH at least one of these, never alone.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Monopsony, Wage Discrimination</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VMP Divergence</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Model monopsony wage suppression; analyze statistical discrimination; evaluate why wages diverge from VMP independently of worker productivity.</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RAY AS MONOPSONIST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Why the Monopsonist Pays Below VMP</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pic>
        <p:nvPicPr>
          <p:cNvPr id="6" name="Image 0" descr="figs/m7_monopsony.png">    </p:cNvPr>
          <p:cNvPicPr>
            <a:picLocks noChangeAspect="1"/>
          </p:cNvPicPr>
          <p:nvPr/>
        </p:nvPicPr>
        <p:blipFill>
          <a:blip r:embed="rId1"/>
          <a:stretch>
            <a:fillRect/>
          </a:stretch>
        </p:blipFill>
        <p:spPr>
          <a:xfrm>
            <a:off x="502920" y="1470332"/>
            <a:ext cx="6035040" cy="3917335"/>
          </a:xfrm>
          <a:prstGeom prst="rect">
            <a:avLst/>
          </a:prstGeom>
        </p:spPr>
      </p:pic>
      <p:sp>
        <p:nvSpPr>
          <p:cNvPr id="7" name="Shape 4"/>
          <p:cNvSpPr/>
          <p:nvPr/>
        </p:nvSpPr>
        <p:spPr>
          <a:xfrm>
            <a:off x="6812280" y="1444752"/>
            <a:ext cx="4873752" cy="15544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068312" y="1627632"/>
            <a:ext cx="436168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SOURCE OF THE WEDGE</a:t>
            </a:r>
            <a:endParaRPr lang="en-US" sz="1550" dirty="0"/>
          </a:p>
        </p:txBody>
      </p:sp>
      <p:sp>
        <p:nvSpPr>
          <p:cNvPr id="9" name="Text 6"/>
          <p:cNvSpPr/>
          <p:nvPr/>
        </p:nvSpPr>
        <p:spPr>
          <a:xfrm>
            <a:off x="7068312" y="2029968"/>
            <a:ext cx="4361688" cy="7315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Ray is the dominant employer, so he faces an UPWARD-SLOPING labor supply curve rather than a horizontal one. To hire one more worker he must raise the wage — and he must pay that higher wage to EVERY worker already employed.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cost of the marginal worker therefore exceeds that worker's wage. MFC &gt; S_L, and the gap grows with L.</a:t>
            </a:r>
            <a:endParaRPr lang="en-US" sz="850" dirty="0"/>
          </a:p>
        </p:txBody>
      </p:sp>
      <p:sp>
        <p:nvSpPr>
          <p:cNvPr id="10" name="Shape 7"/>
          <p:cNvSpPr/>
          <p:nvPr/>
        </p:nvSpPr>
        <p:spPr>
          <a:xfrm>
            <a:off x="6812280" y="3108960"/>
            <a:ext cx="4873752" cy="1051560"/>
          </a:xfrm>
          <a:prstGeom prst="rect">
            <a:avLst/>
          </a:prstGeom>
          <a:solidFill>
            <a:srgbClr val="E8EDF3"/>
          </a:solidFill>
          <a:ln/>
        </p:spPr>
      </p:sp>
      <p:sp>
        <p:nvSpPr>
          <p:cNvPr id="11" name="Text 8"/>
          <p:cNvSpPr/>
          <p:nvPr/>
        </p:nvSpPr>
        <p:spPr>
          <a:xfrm>
            <a:off x="6995160" y="3236976"/>
            <a:ext cx="4507992" cy="484632"/>
          </a:xfrm>
          <a:prstGeom prst="rect">
            <a:avLst/>
          </a:prstGeom>
          <a:noFill/>
          <a:ln/>
        </p:spPr>
        <p:txBody>
          <a:bodyPr wrap="square" lIns="0" tIns="0" rIns="0" bIns="0" rtlCol="0" anchor="ctr"/>
          <a:lstStyle/>
          <a:p>
            <a:pPr algn="ctr" indent="0" marL="0">
              <a:buNone/>
            </a:pPr>
            <a:r>
              <a:rPr lang="en-US" sz="2200" b="1" dirty="0">
                <a:solidFill>
                  <a:srgbClr val="1A2E4A"/>
                </a:solidFill>
                <a:latin typeface="Cambria" pitchFamily="34" charset="0"/>
                <a:ea typeface="Cambria" pitchFamily="34" charset="-122"/>
                <a:cs typeface="Cambria" pitchFamily="34" charset="-120"/>
              </a:rPr>
              <a:t>MFC  =  W  +  L · ( ΔW / ΔL )</a:t>
            </a:r>
            <a:endParaRPr lang="en-US" sz="2200" dirty="0"/>
          </a:p>
        </p:txBody>
      </p:sp>
      <p:sp>
        <p:nvSpPr>
          <p:cNvPr id="12" name="Text 9"/>
          <p:cNvSpPr/>
          <p:nvPr/>
        </p:nvSpPr>
        <p:spPr>
          <a:xfrm>
            <a:off x="6995160" y="3648456"/>
            <a:ext cx="4507992" cy="402336"/>
          </a:xfrm>
          <a:prstGeom prst="rect">
            <a:avLst/>
          </a:prstGeom>
          <a:noFill/>
          <a:ln/>
        </p:spPr>
        <p:txBody>
          <a:bodyPr wrap="square" lIns="0" tIns="0" rIns="0" bIns="0" rtlCol="0" anchor="ctr"/>
          <a:lstStyle/>
          <a:p>
            <a:pPr algn="ctr" indent="0" marL="0">
              <a:buNone/>
            </a:pPr>
            <a:r>
              <a:rPr lang="en-US" sz="1150" i="1" dirty="0">
                <a:solidFill>
                  <a:srgbClr val="4A6180"/>
                </a:solidFill>
                <a:latin typeface="Calibri" pitchFamily="34" charset="0"/>
                <a:ea typeface="Calibri" pitchFamily="34" charset="-122"/>
                <a:cs typeface="Calibri" pitchFamily="34" charset="-120"/>
              </a:rPr>
              <a:t>The second term is what a price-taking firm does not pay: the raise owed to inframarginal workers.</a:t>
            </a:r>
            <a:endParaRPr lang="en-US" sz="1150" dirty="0"/>
          </a:p>
        </p:txBody>
      </p:sp>
      <p:sp>
        <p:nvSpPr>
          <p:cNvPr id="13" name="Shape 10"/>
          <p:cNvSpPr/>
          <p:nvPr/>
        </p:nvSpPr>
        <p:spPr>
          <a:xfrm>
            <a:off x="6812280" y="4251960"/>
            <a:ext cx="4873752" cy="1188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7068312" y="4434840"/>
            <a:ext cx="436168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TWO-STEP DECISION</a:t>
            </a:r>
            <a:endParaRPr lang="en-US" sz="1550" dirty="0"/>
          </a:p>
        </p:txBody>
      </p:sp>
      <p:sp>
        <p:nvSpPr>
          <p:cNvPr id="15" name="Text 12"/>
          <p:cNvSpPr/>
          <p:nvPr/>
        </p:nvSpPr>
        <p:spPr>
          <a:xfrm>
            <a:off x="7068312" y="4837176"/>
            <a:ext cx="4361688" cy="365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STEP 1 — choose QUANTITY where VMP = MFC. This gives L_mono = 46, well below the competitive 67.</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STEP 2 — read the WAGE off the SUPPLY curve at that quantity, not off VMP. This gives W = $38 against a VMP of $65.</a:t>
            </a:r>
            <a:endParaRPr lang="en-US" sz="850" dirty="0"/>
          </a:p>
        </p:txBody>
      </p:sp>
      <p:sp>
        <p:nvSpPr>
          <p:cNvPr id="16" name="Shape 13"/>
          <p:cNvSpPr/>
          <p:nvPr/>
        </p:nvSpPr>
        <p:spPr>
          <a:xfrm>
            <a:off x="502920" y="5532120"/>
            <a:ext cx="11183112" cy="594360"/>
          </a:xfrm>
          <a:prstGeom prst="rect">
            <a:avLst/>
          </a:prstGeom>
          <a:solidFill>
            <a:srgbClr val="1A2E4A"/>
          </a:solidFill>
          <a:ln/>
        </p:spPr>
      </p:sp>
      <p:sp>
        <p:nvSpPr>
          <p:cNvPr id="17" name="Text 14"/>
          <p:cNvSpPr/>
          <p:nvPr/>
        </p:nvSpPr>
        <p:spPr>
          <a:xfrm>
            <a:off x="758952" y="56601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DEADWEIGHT LOSS</a:t>
            </a:r>
            <a:endParaRPr lang="en-US" sz="1050" dirty="0"/>
          </a:p>
        </p:txBody>
      </p:sp>
      <p:sp>
        <p:nvSpPr>
          <p:cNvPr id="18" name="Text 15"/>
          <p:cNvSpPr/>
          <p:nvPr/>
        </p:nvSpPr>
        <p:spPr>
          <a:xfrm>
            <a:off x="758952" y="586130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Welfare is lost to the WORKERS WHO ARE NOT HIRED (their VMP exceeded their reservation wage, so a mutually beneficial trade went unmade) and to the OUTPUT NOT PRODUCED. As always, DWL measures trades that should have happened and did not.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A SECOND ROUTE TO THE SAME RESULT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Statistical Discrimination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Shape 4"/>
          <p:cNvSpPr/>
          <p:nvPr/>
        </p:nvSpPr>
        <p:spPr>
          <a:xfrm>
            <a:off x="502920" y="1417320"/>
            <a:ext cx="5532120" cy="14173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502005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STATISTICAL DISCRIMINATION — formal definition</a:t>
            </a:r>
            <a:endParaRPr lang="en-US" sz="1550" dirty="0"/>
          </a:p>
        </p:txBody>
      </p:sp>
      <p:sp>
        <p:nvSpPr>
          <p:cNvPr id="8" name="Text 6"/>
          <p:cNvSpPr/>
          <p:nvPr/>
        </p:nvSpPr>
        <p:spPr>
          <a:xfrm>
            <a:off x="758952" y="2002536"/>
            <a:ext cx="5020056" cy="5943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An employer uses GROUP-LEVEL AVERAGES to make an INDIVIDUAL hiring or wage decision, because individual productivity is costly or impossible to observe before hiring.</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Phelps (1972) and Arrow (1973). Note that it requires NO animus: a purely profit-maximizing employer with imperfect information will do it.</a:t>
            </a:r>
            <a:endParaRPr lang="en-US" sz="850" dirty="0"/>
          </a:p>
        </p:txBody>
      </p:sp>
      <p:sp>
        <p:nvSpPr>
          <p:cNvPr id="9" name="Shape 7"/>
          <p:cNvSpPr/>
          <p:nvPr/>
        </p:nvSpPr>
        <p:spPr>
          <a:xfrm>
            <a:off x="502920" y="2971800"/>
            <a:ext cx="553212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3154680"/>
            <a:ext cx="502005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WHY IT IS SELF-FULFILLING</a:t>
            </a:r>
            <a:endParaRPr lang="en-US" sz="1550" dirty="0"/>
          </a:p>
        </p:txBody>
      </p:sp>
      <p:sp>
        <p:nvSpPr>
          <p:cNvPr id="11" name="Text 9"/>
          <p:cNvSpPr/>
          <p:nvPr/>
        </p:nvSpPr>
        <p:spPr>
          <a:xfrm>
            <a:off x="758952" y="3557016"/>
            <a:ext cx="502005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If employers EXPECT Group A to be less productive, they invest LESS in training and offer fewer promotion tracks. Group A therefore accumulates LESS firm-specific human capital, and its measured productivity FALLS.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belief creates the data that appears to confirm it. The equilibrium is stable even though the initial belief may have been false.</a:t>
            </a:r>
            <a:endParaRPr lang="en-US" sz="850" dirty="0"/>
          </a:p>
        </p:txBody>
      </p:sp>
      <p:sp>
        <p:nvSpPr>
          <p:cNvPr id="12" name="Shape 10"/>
          <p:cNvSpPr/>
          <p:nvPr/>
        </p:nvSpPr>
        <p:spPr>
          <a:xfrm>
            <a:off x="502920" y="4480560"/>
            <a:ext cx="5532120"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758952" y="466344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TASTE-BASED DISCRIMINATION — the contrast</a:t>
            </a:r>
            <a:endParaRPr lang="en-US" sz="1550" dirty="0"/>
          </a:p>
        </p:txBody>
      </p:sp>
      <p:sp>
        <p:nvSpPr>
          <p:cNvPr id="14" name="Text 12"/>
          <p:cNvSpPr/>
          <p:nvPr/>
        </p:nvSpPr>
        <p:spPr>
          <a:xfrm>
            <a:off x="758952" y="5065776"/>
            <a:ext cx="5020056"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Becker (1957): the employer has a PREFERENCE against the group and accepts lower profit to indulge it. Competition erodes this over time, because non-discriminating firms have lower costs and can undercut. Statistical discrimination has no such self-correction.</a:t>
            </a:r>
            <a:endParaRPr lang="en-US" sz="850" dirty="0"/>
          </a:p>
        </p:txBody>
      </p:sp>
      <p:pic>
        <p:nvPicPr>
          <p:cNvPr id="15" name="Image 0" descr="figs/m7_statdisc.png">    </p:cNvPr>
          <p:cNvPicPr>
            <a:picLocks noChangeAspect="1"/>
          </p:cNvPicPr>
          <p:nvPr/>
        </p:nvPicPr>
        <p:blipFill>
          <a:blip r:embed="rId1"/>
          <a:stretch>
            <a:fillRect/>
          </a:stretch>
        </p:blipFill>
        <p:spPr>
          <a:xfrm>
            <a:off x="6263640" y="1842171"/>
            <a:ext cx="5422392" cy="1710618"/>
          </a:xfrm>
          <a:prstGeom prst="rect">
            <a:avLst/>
          </a:prstGeom>
        </p:spPr>
      </p:pic>
      <p:sp>
        <p:nvSpPr>
          <p:cNvPr id="16" name="Shape 13"/>
          <p:cNvSpPr/>
          <p:nvPr/>
        </p:nvSpPr>
        <p:spPr>
          <a:xfrm>
            <a:off x="6263640" y="3794760"/>
            <a:ext cx="5422392" cy="2331720"/>
          </a:xfrm>
          <a:prstGeom prst="rect">
            <a:avLst/>
          </a:prstGeom>
          <a:solidFill>
            <a:srgbClr val="1A2E4A"/>
          </a:solidFill>
          <a:ln/>
        </p:spPr>
      </p:sp>
      <p:sp>
        <p:nvSpPr>
          <p:cNvPr id="17" name="Text 14"/>
          <p:cNvSpPr/>
          <p:nvPr/>
        </p:nvSpPr>
        <p:spPr>
          <a:xfrm>
            <a:off x="6519672" y="3922776"/>
            <a:ext cx="49103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✦3  WHICH MECHANISM IS AMENABLE TO MARKET CORRECTION?</a:t>
            </a:r>
            <a:endParaRPr lang="en-US" sz="1050" dirty="0"/>
          </a:p>
        </p:txBody>
      </p:sp>
      <p:sp>
        <p:nvSpPr>
          <p:cNvPr id="18" name="Text 15"/>
          <p:cNvSpPr/>
          <p:nvPr/>
        </p:nvSpPr>
        <p:spPr>
          <a:xfrm>
            <a:off x="6519672" y="4197096"/>
            <a:ext cx="4910328" cy="18013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MONOPSONY: partly self-correcting only if entry is possible — a rival employer can profitably enter and bid workers away. Where entry is blocked by geography, licensing or scale, it persists indefinitely.</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STATISTICAL DISCRIMINATION: NOT self-correcting, because the belief generates its own confirming evidence. Competition cannot punish a firm for acting on a belief the market has made true.</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MINIMUM WAGE: under MONOPSONY a minimum wage set between W_mono and W_competitive raises the wage AND employment — the monopsonist's MFC becomes flat at the floor. Against STATISTICAL DISCRIMINATION it raises the floor but does nothing to the underlying belief or the training gap; that requires disclosure rules, structured hiring, or direct investment in the group's skill acquisition.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04</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Principal-Agent Problems:</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Moral Hazard &amp; Adverse Selection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Define the principal-agent problem; explain moral hazard and adverse selection; identify the market distortion each produces.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THE GENERAL STRUCTURE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Principal-Agent Problem</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Shape 4"/>
          <p:cNvSpPr/>
          <p:nvPr/>
        </p:nvSpPr>
        <p:spPr>
          <a:xfrm>
            <a:off x="502920" y="1417320"/>
            <a:ext cx="11183112" cy="1051560"/>
          </a:xfrm>
          <a:prstGeom prst="rect">
            <a:avLst/>
          </a:prstGeom>
          <a:solidFill>
            <a:srgbClr val="1A2E4A"/>
          </a:solidFill>
          <a:ln/>
        </p:spPr>
      </p:sp>
      <p:sp>
        <p:nvSpPr>
          <p:cNvPr id="7" name="Text 5"/>
          <p:cNvSpPr/>
          <p:nvPr/>
        </p:nvSpPr>
        <p:spPr>
          <a:xfrm>
            <a:off x="685800" y="1545336"/>
            <a:ext cx="10817352" cy="48463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 PRINCIPAL delegates to an AGENT who has DIFFERENT INFORMATION and DIFFERENT INCENTIVES.</a:t>
            </a:r>
            <a:endParaRPr lang="en-US" sz="1800" dirty="0"/>
          </a:p>
        </p:txBody>
      </p:sp>
      <p:sp>
        <p:nvSpPr>
          <p:cNvPr id="8" name="Text 6"/>
          <p:cNvSpPr/>
          <p:nvPr/>
        </p:nvSpPr>
        <p:spPr>
          <a:xfrm>
            <a:off x="685800" y="19568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 principal cannot costlessly observe either the agent's TYPE (before contracting) or the agent's ACTION (after contracting). Contracts are therefore INCOMPLETE, and the resulting allocation is inefficient.</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697480"/>
          <a:ext cx="11183112" cy="914400"/>
        </p:xfrm>
        <a:graphic>
          <a:graphicData uri="http://schemas.openxmlformats.org/drawingml/2006/table">
            <a:tbl>
              <a:tblPr/>
              <a:tblGrid>
                <a:gridCol w="2011680"/>
                <a:gridCol w="1280160"/>
                <a:gridCol w="1554480"/>
                <a:gridCol w="6336792"/>
              </a:tblGrid>
              <a:tr h="29260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CONTEXT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PRINCIPAL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AGENT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INFORMATION ASYMMETRY &amp; THE PROBLEM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Marcus's employer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Ray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Marcus (worker)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Ray cannot observe effort continuously → MORAL HAZARD (hidden action). Ray responds with monitoring, piece rates, or efficiency wages — each of which is itself costly.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Health insurance market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Insurer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Policyholder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BOTH. Hidden TYPE before the contract: the sickest are most eager to buy (adverse selection). Hidden ACTION after it: the insured takes less care (moral hazard). Response: underwriting, deductibles, co-pays, mandates.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Used car market (Akerlof)</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Buyer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Seller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The seller knows the car's quality and the buyer does not → ADVERSE SELECTION. Buyers offer only the average price; good cars withdraw; average quality falls; the price falls again. The market can UNRAVEL entirely.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Payday lending</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Lender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Borrower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The lender cannot observe the borrower's true repayment probability → ADVERSE SELECTION drives rates up, which drives out the safest borrowers, which raises the average risk of those remaining, which drives rates up again.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0" name="Shape 7"/>
          <p:cNvSpPr/>
          <p:nvPr/>
        </p:nvSpPr>
        <p:spPr>
          <a:xfrm>
            <a:off x="502920" y="4937760"/>
            <a:ext cx="5486400" cy="1188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58952" y="512064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MORAL HAZARD</a:t>
            </a:r>
            <a:endParaRPr lang="en-US" sz="1550" dirty="0"/>
          </a:p>
        </p:txBody>
      </p:sp>
      <p:sp>
        <p:nvSpPr>
          <p:cNvPr id="12" name="Text 9"/>
          <p:cNvSpPr/>
          <p:nvPr/>
        </p:nvSpPr>
        <p:spPr>
          <a:xfrm>
            <a:off x="758952" y="5522976"/>
            <a:ext cx="4974336" cy="365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party takes on MORE RISK after being insured or contracted, because they do NOT bear the full cost of the outcome. The cost is shifted to the principal, so the agent's private optimum diverges from the social one.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HIDDEN ACTION — the problem arrives AFTER the contract is signed.</a:t>
            </a:r>
            <a:endParaRPr lang="en-US" sz="850" dirty="0"/>
          </a:p>
        </p:txBody>
      </p:sp>
      <p:sp>
        <p:nvSpPr>
          <p:cNvPr id="13" name="Shape 10"/>
          <p:cNvSpPr/>
          <p:nvPr/>
        </p:nvSpPr>
        <p:spPr>
          <a:xfrm>
            <a:off x="6199632" y="4937760"/>
            <a:ext cx="5486400" cy="1188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6455664" y="5120640"/>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ADVERSE SELECTION</a:t>
            </a:r>
            <a:endParaRPr lang="en-US" sz="1550" dirty="0"/>
          </a:p>
        </p:txBody>
      </p:sp>
      <p:sp>
        <p:nvSpPr>
          <p:cNvPr id="15" name="Text 12"/>
          <p:cNvSpPr/>
          <p:nvPr/>
        </p:nvSpPr>
        <p:spPr>
          <a:xfrm>
            <a:off x="6455664" y="5522976"/>
            <a:ext cx="4974336" cy="365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party with MORE INFORMATION SELF-SELECTS into the market, leaving a pool of disproportionately BAD risks. The uninformed side prices for the average, which drives out the best, which worsens the average.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HIDDEN TYPE — the problem exists BEFORE the contract is signed.</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WORKSHEET ✦4</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Market for Lemons — Applied to Neighborhood Mortgages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pic>
        <p:nvPicPr>
          <p:cNvPr id="6" name="Image 0" descr="figs/m7_lemons.png">    </p:cNvPr>
          <p:cNvPicPr>
            <a:picLocks noChangeAspect="1"/>
          </p:cNvPicPr>
          <p:nvPr/>
        </p:nvPicPr>
        <p:blipFill>
          <a:blip r:embed="rId1"/>
          <a:stretch>
            <a:fillRect/>
          </a:stretch>
        </p:blipFill>
        <p:spPr>
          <a:xfrm>
            <a:off x="2310950" y="1371600"/>
            <a:ext cx="7567053" cy="3063240"/>
          </a:xfrm>
          <a:prstGeom prst="rect">
            <a:avLst/>
          </a:prstGeom>
        </p:spPr>
      </p:pic>
      <p:sp>
        <p:nvSpPr>
          <p:cNvPr id="7" name="Shape 4"/>
          <p:cNvSpPr/>
          <p:nvPr/>
        </p:nvSpPr>
        <p:spPr>
          <a:xfrm>
            <a:off x="502920" y="4617720"/>
            <a:ext cx="3611880" cy="1508760"/>
          </a:xfrm>
          <a:prstGeom prst="rect">
            <a:avLst/>
          </a:prstGeom>
          <a:solidFill>
            <a:srgbClr val="E8EDF3"/>
          </a:solidFill>
          <a:ln/>
        </p:spPr>
      </p:sp>
      <p:sp>
        <p:nvSpPr>
          <p:cNvPr id="8" name="Shape 5"/>
          <p:cNvSpPr/>
          <p:nvPr/>
        </p:nvSpPr>
        <p:spPr>
          <a:xfrm>
            <a:off x="704088" y="4818888"/>
            <a:ext cx="457200" cy="457200"/>
          </a:xfrm>
          <a:prstGeom prst="ellipse">
            <a:avLst/>
          </a:prstGeom>
          <a:solidFill>
            <a:srgbClr val="9E2A2B"/>
          </a:solidFill>
          <a:ln/>
        </p:spPr>
      </p:sp>
      <p:sp>
        <p:nvSpPr>
          <p:cNvPr id="9" name="Text 6"/>
          <p:cNvSpPr/>
          <p:nvPr/>
        </p:nvSpPr>
        <p:spPr>
          <a:xfrm>
            <a:off x="704088" y="4818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280160" y="481888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HOW ADVERSE SELECTION RAISES THE RATE</a:t>
            </a:r>
            <a:endParaRPr lang="en-US" sz="1450" dirty="0"/>
          </a:p>
        </p:txBody>
      </p:sp>
      <p:sp>
        <p:nvSpPr>
          <p:cNvPr id="11" name="Text 8"/>
          <p:cNvSpPr/>
          <p:nvPr/>
        </p:nvSpPr>
        <p:spPr>
          <a:xfrm>
            <a:off x="722376" y="5367528"/>
            <a:ext cx="3154680" cy="5486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lender cannot distinguish a reliable borrower from a risky one at acceptable cost, so it prices for the pool AVERAGE. Reliable borrowers find that rate unattractive and go elsewhere or don't borrow. The remaining pool is riskier, so the rate rises again. Credit becomes expensive precisely where it is most productive.</a:t>
            </a:r>
            <a:endParaRPr lang="en-US" sz="900" dirty="0"/>
          </a:p>
        </p:txBody>
      </p:sp>
      <p:sp>
        <p:nvSpPr>
          <p:cNvPr id="12" name="Shape 9"/>
          <p:cNvSpPr/>
          <p:nvPr/>
        </p:nvSpPr>
        <p:spPr>
          <a:xfrm>
            <a:off x="4315968" y="4617720"/>
            <a:ext cx="3611880" cy="1508760"/>
          </a:xfrm>
          <a:prstGeom prst="rect">
            <a:avLst/>
          </a:prstGeom>
          <a:solidFill>
            <a:srgbClr val="E8EDF3"/>
          </a:solidFill>
          <a:ln/>
        </p:spPr>
      </p:sp>
      <p:sp>
        <p:nvSpPr>
          <p:cNvPr id="13" name="Shape 10"/>
          <p:cNvSpPr/>
          <p:nvPr/>
        </p:nvSpPr>
        <p:spPr>
          <a:xfrm>
            <a:off x="4517136" y="4818888"/>
            <a:ext cx="457200" cy="457200"/>
          </a:xfrm>
          <a:prstGeom prst="ellipse">
            <a:avLst/>
          </a:prstGeom>
          <a:solidFill>
            <a:srgbClr val="1A2E4A"/>
          </a:solidFill>
          <a:ln/>
        </p:spPr>
      </p:sp>
      <p:sp>
        <p:nvSpPr>
          <p:cNvPr id="14" name="Text 11"/>
          <p:cNvSpPr/>
          <p:nvPr/>
        </p:nvSpPr>
        <p:spPr>
          <a:xfrm>
            <a:off x="4517136" y="4818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5093208" y="481888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WHY IT COMPOUNDS SPATIALLY</a:t>
            </a:r>
            <a:endParaRPr lang="en-US" sz="1450" dirty="0"/>
          </a:p>
        </p:txBody>
      </p:sp>
      <p:sp>
        <p:nvSpPr>
          <p:cNvPr id="16" name="Text 13"/>
          <p:cNvSpPr/>
          <p:nvPr/>
        </p:nvSpPr>
        <p:spPr>
          <a:xfrm>
            <a:off x="4535424" y="5367528"/>
            <a:ext cx="3154680" cy="5486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Historic redlining removed the LENDING HISTORY that would let a lender price individual risk. Thin data is itself the asymmetry. Absent branches, there is no relationship lending and no soft information — so the neighborhood is priced as an undifferentiated pool forever.</a:t>
            </a:r>
            <a:endParaRPr lang="en-US" sz="900" dirty="0"/>
          </a:p>
        </p:txBody>
      </p:sp>
      <p:sp>
        <p:nvSpPr>
          <p:cNvPr id="17" name="Shape 14"/>
          <p:cNvSpPr/>
          <p:nvPr/>
        </p:nvSpPr>
        <p:spPr>
          <a:xfrm>
            <a:off x="8119872" y="4617720"/>
            <a:ext cx="3566160" cy="1508760"/>
          </a:xfrm>
          <a:prstGeom prst="rect">
            <a:avLst/>
          </a:prstGeom>
          <a:solidFill>
            <a:srgbClr val="E8EDF3"/>
          </a:solidFill>
          <a:ln/>
        </p:spPr>
      </p:sp>
      <p:sp>
        <p:nvSpPr>
          <p:cNvPr id="18" name="Shape 15"/>
          <p:cNvSpPr/>
          <p:nvPr/>
        </p:nvSpPr>
        <p:spPr>
          <a:xfrm>
            <a:off x="8321040" y="4818888"/>
            <a:ext cx="457200" cy="457200"/>
          </a:xfrm>
          <a:prstGeom prst="ellipse">
            <a:avLst/>
          </a:prstGeom>
          <a:solidFill>
            <a:srgbClr val="2A7F84"/>
          </a:solidFill>
          <a:ln/>
        </p:spPr>
      </p:sp>
      <p:sp>
        <p:nvSpPr>
          <p:cNvPr id="19" name="Text 16"/>
          <p:cNvSpPr/>
          <p:nvPr/>
        </p:nvSpPr>
        <p:spPr>
          <a:xfrm>
            <a:off x="8321040" y="4818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p:nvPr/>
        </p:nvSpPr>
        <p:spPr>
          <a:xfrm>
            <a:off x="8897112" y="481888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INSTITUTIONS THAT CORRECT IT</a:t>
            </a:r>
            <a:endParaRPr lang="en-US" sz="1450" dirty="0"/>
          </a:p>
        </p:txBody>
      </p:sp>
      <p:sp>
        <p:nvSpPr>
          <p:cNvPr id="21" name="Text 18"/>
          <p:cNvSpPr/>
          <p:nvPr/>
        </p:nvSpPr>
        <p:spPr>
          <a:xfrm>
            <a:off x="8339328" y="5367528"/>
            <a:ext cx="3108960" cy="5486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CREDIT REPORTING and alternative data (rent, utilities) — reduce the asymmetry directly. COMMUNITY BANKING and CDFIs — generate soft information a national lender cannot. GOVERNMENT GUARANTEES (FHA, SBA) — remove the risk the lender cannot price. Each works by supplying INFORMATION or absorbing the RESIDUAL RISK.</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Game Theory Preview  ·  Asynchronous 📹</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5  ·  Payoff matrices, dominant strategies and the Nash equilibrium</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5  ·  The Prisoner's Dilemma and the collective action problem</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Preview  ·  Module 11 develops mixed strategies, repeated games and the folk theorem</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05</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Game Theory Preview:</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Dominant Strategies &amp; Collective Action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Preview game theory: read a payoff matrix, identify dominant strategies and the Nash equilibrium, and explain why rational individual choices can produce collectively suboptimal outcomes.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THE VOCABULARY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Reading a Game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Shape 4"/>
          <p:cNvSpPr/>
          <p:nvPr/>
        </p:nvSpPr>
        <p:spPr>
          <a:xfrm>
            <a:off x="502920" y="1444752"/>
            <a:ext cx="3611880" cy="1965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27632"/>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PAYOFF MATRIX</a:t>
            </a:r>
            <a:endParaRPr lang="en-US" sz="1550" dirty="0"/>
          </a:p>
        </p:txBody>
      </p:sp>
      <p:sp>
        <p:nvSpPr>
          <p:cNvPr id="8" name="Text 6"/>
          <p:cNvSpPr/>
          <p:nvPr/>
        </p:nvSpPr>
        <p:spPr>
          <a:xfrm>
            <a:off x="758952" y="2029968"/>
            <a:ext cx="3099816"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table listing every combination of strategies and the payoff each player receives from it.</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By convention, each cell reads (ROW PLAYER'S payoff, COLUMN PLAYER'S payoff). Read the first number down the rows and the second number across the columns.</a:t>
            </a:r>
            <a:endParaRPr lang="en-US" sz="900" dirty="0"/>
          </a:p>
        </p:txBody>
      </p:sp>
      <p:sp>
        <p:nvSpPr>
          <p:cNvPr id="9" name="Shape 7"/>
          <p:cNvSpPr/>
          <p:nvPr/>
        </p:nvSpPr>
        <p:spPr>
          <a:xfrm>
            <a:off x="4315968" y="1444752"/>
            <a:ext cx="3611880" cy="1965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27632"/>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DOMINANT STRATEGY</a:t>
            </a:r>
            <a:endParaRPr lang="en-US" sz="1550" dirty="0"/>
          </a:p>
        </p:txBody>
      </p:sp>
      <p:sp>
        <p:nvSpPr>
          <p:cNvPr id="11" name="Text 9"/>
          <p:cNvSpPr/>
          <p:nvPr/>
        </p:nvSpPr>
        <p:spPr>
          <a:xfrm>
            <a:off x="4572000" y="2029968"/>
            <a:ext cx="3099816" cy="114300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A strategy that yields a HIGHER payoff than any alternative, REGARDLESS of what the other player does.</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Test it by fixing the opponent's choice and comparing your own payoffs column by column. If one strategy wins every comparison, it strictly dominates.</a:t>
            </a:r>
            <a:endParaRPr lang="en-US" sz="950" dirty="0"/>
          </a:p>
        </p:txBody>
      </p:sp>
      <p:sp>
        <p:nvSpPr>
          <p:cNvPr id="12" name="Shape 10"/>
          <p:cNvSpPr/>
          <p:nvPr/>
        </p:nvSpPr>
        <p:spPr>
          <a:xfrm>
            <a:off x="8119872" y="1444752"/>
            <a:ext cx="3566160" cy="1965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27632"/>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NASH EQUILIBRIUM</a:t>
            </a:r>
            <a:endParaRPr lang="en-US" sz="1550" dirty="0"/>
          </a:p>
        </p:txBody>
      </p:sp>
      <p:sp>
        <p:nvSpPr>
          <p:cNvPr id="14" name="Text 12"/>
          <p:cNvSpPr/>
          <p:nvPr/>
        </p:nvSpPr>
        <p:spPr>
          <a:xfrm>
            <a:off x="8375904" y="2029968"/>
            <a:ext cx="3054096"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set of strategies such that NO PLAYER CAN IMPROVE their own payoff by unilaterally changing strategy.</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Nash (1950) proved that every finite game has at least one — possibly in mixed strategies. It is the foundational solution concept of modern game theory.</a:t>
            </a:r>
            <a:endParaRPr lang="en-US" sz="900" dirty="0"/>
          </a:p>
        </p:txBody>
      </p:sp>
      <p:sp>
        <p:nvSpPr>
          <p:cNvPr id="15" name="Shape 13"/>
          <p:cNvSpPr/>
          <p:nvPr/>
        </p:nvSpPr>
        <p:spPr>
          <a:xfrm>
            <a:off x="502920" y="3611880"/>
            <a:ext cx="11183112" cy="1005840"/>
          </a:xfrm>
          <a:prstGeom prst="rect">
            <a:avLst/>
          </a:prstGeom>
          <a:solidFill>
            <a:srgbClr val="1A2E4A"/>
          </a:solidFill>
          <a:ln/>
        </p:spPr>
      </p:sp>
      <p:sp>
        <p:nvSpPr>
          <p:cNvPr id="16" name="Text 14"/>
          <p:cNvSpPr/>
          <p:nvPr/>
        </p:nvSpPr>
        <p:spPr>
          <a:xfrm>
            <a:off x="758952" y="37398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RELATIONSHIP BETWEEN THE TWO CONCEPTS</a:t>
            </a:r>
            <a:endParaRPr lang="en-US" sz="1050" dirty="0"/>
          </a:p>
        </p:txBody>
      </p:sp>
      <p:sp>
        <p:nvSpPr>
          <p:cNvPr id="17" name="Text 15"/>
          <p:cNvSpPr/>
          <p:nvPr/>
        </p:nvSpPr>
        <p:spPr>
          <a:xfrm>
            <a:off x="758952" y="4014216"/>
            <a:ext cx="10671048" cy="475488"/>
          </a:xfrm>
          <a:prstGeom prst="rect">
            <a:avLst/>
          </a:prstGeom>
          <a:noFill/>
          <a:ln/>
        </p:spPr>
        <p:txBody>
          <a:bodyPr wrap="square" lIns="0" tIns="0" rIns="0" bIns="0" rtlCol="0" anchor="t"/>
          <a:lstStyle/>
          <a:p>
            <a:pPr indent="0" marL="0">
              <a:lnSpc>
                <a:spcPts val="1600"/>
              </a:lnSpc>
              <a:buNone/>
            </a:pPr>
            <a:r>
              <a:rPr lang="en-US" sz="1100" dirty="0">
                <a:solidFill>
                  <a:srgbClr val="FFFFFF"/>
                </a:solidFill>
                <a:latin typeface="Calibri" pitchFamily="34" charset="0"/>
                <a:ea typeface="Calibri" pitchFamily="34" charset="-122"/>
                <a:cs typeface="Calibri" pitchFamily="34" charset="-120"/>
              </a:rPr>
              <a:t>If every player has a dominant strategy, the combination of dominant strategies IS the Nash equilibrium — and finding it is easy. The reverse does not hold: a Nash equilibrium can exist with no dominant strategies at all. Module 11 will need the general method; today the dominance shortcut suffices.</a:t>
            </a:r>
            <a:endParaRPr lang="en-US" sz="1100" dirty="0"/>
          </a:p>
        </p:txBody>
      </p:sp>
      <p:sp>
        <p:nvSpPr>
          <p:cNvPr id="18" name="Shape 16"/>
          <p:cNvSpPr/>
          <p:nvPr/>
        </p:nvSpPr>
        <p:spPr>
          <a:xfrm>
            <a:off x="502920" y="4754880"/>
            <a:ext cx="548640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9" name="Text 17"/>
          <p:cNvSpPr/>
          <p:nvPr/>
        </p:nvSpPr>
        <p:spPr>
          <a:xfrm>
            <a:off x="758952" y="493776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ASSUMPTIONS BEING MADE</a:t>
            </a:r>
            <a:endParaRPr lang="en-US" sz="1550" dirty="0"/>
          </a:p>
        </p:txBody>
      </p:sp>
      <p:sp>
        <p:nvSpPr>
          <p:cNvPr id="20" name="Text 18"/>
          <p:cNvSpPr/>
          <p:nvPr/>
        </p:nvSpPr>
        <p:spPr>
          <a:xfrm>
            <a:off x="758952" y="5340096"/>
            <a:ext cx="497433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Players are RATIONAL — each maximizes its own payoff.</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Payoffs are COMMON KNOWLEDGE — both players know the whole matrix.</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Choices are SIMULTANEOUS and made ONCE. Neither can observe the other's move first.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Module 11 relaxes the last assumption, and the answer changes completely.</a:t>
            </a:r>
            <a:endParaRPr lang="en-US" sz="850" dirty="0"/>
          </a:p>
        </p:txBody>
      </p:sp>
      <p:sp>
        <p:nvSpPr>
          <p:cNvPr id="21" name="Shape 19"/>
          <p:cNvSpPr/>
          <p:nvPr/>
        </p:nvSpPr>
        <p:spPr>
          <a:xfrm>
            <a:off x="6199632" y="4754880"/>
            <a:ext cx="548640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2" name="Text 20"/>
          <p:cNvSpPr/>
          <p:nvPr/>
        </p:nvSpPr>
        <p:spPr>
          <a:xfrm>
            <a:off x="6455664" y="493776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WHY ECONOMICS NEEDS THIS</a:t>
            </a:r>
            <a:endParaRPr lang="en-US" sz="1550" dirty="0"/>
          </a:p>
        </p:txBody>
      </p:sp>
      <p:sp>
        <p:nvSpPr>
          <p:cNvPr id="23" name="Text 21"/>
          <p:cNvSpPr/>
          <p:nvPr/>
        </p:nvSpPr>
        <p:spPr>
          <a:xfrm>
            <a:off x="6455664" y="5340096"/>
            <a:ext cx="497433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Everything before Module 7 assumed agents face PRICES and respond to them. Game theory models agents who face EACH OTHER — where my best action depends on yours and yours on mine.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That is the right model for oligopoly (Module 11), for bargaining, for public goods, and for the climate commons (Module 6, Part 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 &amp; RAY'S BLOCK</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Neighborhood Upgrading Game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Text 4"/>
          <p:cNvSpPr/>
          <p:nvPr/>
        </p:nvSpPr>
        <p:spPr>
          <a:xfrm>
            <a:off x="502920" y="1417320"/>
            <a:ext cx="5532120" cy="502920"/>
          </a:xfrm>
          <a:prstGeom prst="rect">
            <a:avLst/>
          </a:prstGeom>
          <a:noFill/>
          <a:ln/>
        </p:spPr>
        <p:txBody>
          <a:bodyPr wrap="square" lIns="0" tIns="0" rIns="0" bIns="0" rtlCol="0" anchor="ctr"/>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Marcus and his neighbor can each choose to MAINTAIN or NEGLECT their property. The payoff structure creates a Prisoner's Dilemma: individual rationality leads to collective deterioration.</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2057400"/>
          <a:ext cx="5532120" cy="914400"/>
        </p:xfrm>
        <a:graphic>
          <a:graphicData uri="http://schemas.openxmlformats.org/drawingml/2006/table">
            <a:tbl>
              <a:tblPr/>
              <a:tblGrid>
                <a:gridCol w="1417320"/>
                <a:gridCol w="1371600"/>
                <a:gridCol w="1280160"/>
                <a:gridCol w="1463040"/>
              </a:tblGrid>
              <a:tr h="38404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IF THE NEIGHBOR…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MARCUS: MAINTAIN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MARCUS: NEGLECT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MARCUS'S BEST REPLY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8404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…MAINTAINS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NEGLECT  (8 &gt; 6)</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…NEGLECTS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00" dirty="0">
                          <a:solidFill>
                            <a:srgbClr val="1A2E4A"/>
                          </a:solidFill>
                          <a:latin typeface="Calibri" pitchFamily="34" charset="0"/>
                          <a:ea typeface="Calibri" pitchFamily="34" charset="-122"/>
                          <a:cs typeface="Calibri" pitchFamily="34" charset="-120"/>
                        </a:rPr>
                        <a:t>NEGLECT  (3 &gt; 1)</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5"/>
          <p:cNvSpPr/>
          <p:nvPr/>
        </p:nvSpPr>
        <p:spPr>
          <a:xfrm>
            <a:off x="502920" y="3291840"/>
            <a:ext cx="5532120" cy="1188720"/>
          </a:xfrm>
          <a:prstGeom prst="rect">
            <a:avLst/>
          </a:prstGeom>
          <a:solidFill>
            <a:srgbClr val="1A2E4A"/>
          </a:solidFill>
          <a:ln/>
        </p:spPr>
      </p:sp>
      <p:sp>
        <p:nvSpPr>
          <p:cNvPr id="9" name="Text 6"/>
          <p:cNvSpPr/>
          <p:nvPr/>
        </p:nvSpPr>
        <p:spPr>
          <a:xfrm>
            <a:off x="685800" y="3419856"/>
            <a:ext cx="5166360"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NEGLECT is Marcus's DOMINANT STRATEGY</a:t>
            </a:r>
            <a:endParaRPr lang="en-US" sz="2000" dirty="0"/>
          </a:p>
        </p:txBody>
      </p:sp>
      <p:sp>
        <p:nvSpPr>
          <p:cNvPr id="10" name="Text 7"/>
          <p:cNvSpPr/>
          <p:nvPr/>
        </p:nvSpPr>
        <p:spPr>
          <a:xfrm>
            <a:off x="685800" y="3968496"/>
            <a:ext cx="516636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It wins in every column. The game is symmetric, so the same is true for the neighbor.</a:t>
            </a:r>
            <a:endParaRPr lang="en-US" sz="1150" dirty="0"/>
          </a:p>
        </p:txBody>
      </p:sp>
      <p:sp>
        <p:nvSpPr>
          <p:cNvPr id="11" name="Shape 8"/>
          <p:cNvSpPr/>
          <p:nvPr/>
        </p:nvSpPr>
        <p:spPr>
          <a:xfrm>
            <a:off x="502920" y="4526280"/>
            <a:ext cx="5532120" cy="16002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9"/>
          <p:cNvSpPr/>
          <p:nvPr/>
        </p:nvSpPr>
        <p:spPr>
          <a:xfrm>
            <a:off x="758952" y="4709160"/>
            <a:ext cx="502005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THREE ANSWERS THE WORKSHEET WANTS</a:t>
            </a:r>
            <a:endParaRPr lang="en-US" sz="1550" dirty="0"/>
          </a:p>
        </p:txBody>
      </p:sp>
      <p:sp>
        <p:nvSpPr>
          <p:cNvPr id="13" name="Text 10"/>
          <p:cNvSpPr/>
          <p:nvPr/>
        </p:nvSpPr>
        <p:spPr>
          <a:xfrm>
            <a:off x="758952" y="5111496"/>
            <a:ext cx="5020056" cy="7772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NASH EQUILIBRIUM: (NEGLECT, NEGLECT), yielding payoffs of (3, 3).</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IS IT COLLECTIVELY OPTIMAL? NO. (MAINTAIN, MAINTAIN) yields (6, 6) — strictly better for BOTH players.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PARETO-SUPERIOR OUTCOME is therefore (MAINTAIN, MAINTAIN) — and it is unreachable, because each player has a private incentive to defect from it.</a:t>
            </a:r>
            <a:endParaRPr lang="en-US" sz="850" dirty="0"/>
          </a:p>
        </p:txBody>
      </p:sp>
      <p:pic>
        <p:nvPicPr>
          <p:cNvPr id="14" name="Image 0" descr="figs/m7_pd.png">    </p:cNvPr>
          <p:cNvPicPr>
            <a:picLocks noChangeAspect="1"/>
          </p:cNvPicPr>
          <p:nvPr/>
        </p:nvPicPr>
        <p:blipFill>
          <a:blip r:embed="rId1"/>
          <a:stretch>
            <a:fillRect/>
          </a:stretch>
        </p:blipFill>
        <p:spPr>
          <a:xfrm>
            <a:off x="6263640" y="2206957"/>
            <a:ext cx="5422392" cy="317560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WORKSHEET ✦5</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Where This Structure Appears — and How to Escape It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Shape 4"/>
          <p:cNvSpPr/>
          <p:nvPr/>
        </p:nvSpPr>
        <p:spPr>
          <a:xfrm>
            <a:off x="502920" y="1417320"/>
            <a:ext cx="11183112" cy="77724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Prisoner's Dilemma shows that individually rational behavior can produce collectively irrational outcomes. Identify three real economic contexts — beyond this example — where this structure appears. Then identify one institutional mechanism that could sustain the cooperative outcome.</a:t>
            </a:r>
            <a:endParaRPr lang="en-US" sz="8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2286000"/>
          <a:ext cx="11183112" cy="914400"/>
        </p:xfrm>
        <a:graphic>
          <a:graphicData uri="http://schemas.openxmlformats.org/drawingml/2006/table">
            <a:tbl>
              <a:tblPr/>
              <a:tblGrid>
                <a:gridCol w="2743200"/>
                <a:gridCol w="4572000"/>
                <a:gridCol w="3867912"/>
              </a:tblGrid>
              <a:tr h="22860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CONTEXT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WHY IT IS A PRISONER'S DILEMMA</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THE COLLECTIVE COST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286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CLIMATE CHANGE — the atmospheric commons</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(Module 6, Part 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Every country is better off emitting whether or not others abate; abating alone bears the full cost and captures a fraction of the benefit.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Emissions far above the social optimum; the deadweight loss you drew as an externality triangle is the aggregate of every player's dominant strategy.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286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CARTEL PRICING — OPEC, or any oligopoly</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(Module 11)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Each member gains by cheating on the quota whether or not others comply. The collusive price is Pareto-superior FOR THE FIRMS but not an equilibrium.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Cartels are chronically unstable. Note that here the 'cooperative' outcome is bad for consumers — the structure is neutral about who benefits.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286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OVERFISHING and groundwater depletion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Each boat's catch is privately valuable and the stock depletion is shared. Restraint by one is captured by the others.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Stock collapse — the classic tragedy of the commons, which is a many-player Prisoner's Dilemma.</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286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ADVERTISING and arms races between firms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If a rival advertises and you do not, you lose share; if neither advertises, both keep the share and save the cost. Advertising dominates.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Both firms spend heavily and market shares are unchanged. The spending is a pure transfer out of joint 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2860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FREE RIDING on a PUBLIC GOOD — street lighting, a neighborhood association, a union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good is NON-EXCLUDABLE, so each person's dominant strategy is to enjoy it without contributing.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good is UNDER-PROVIDED or not provided at all. This is the COLLECTIVE ACTION PROBLEM in its purest form.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5074920"/>
            <a:ext cx="11183112" cy="1051560"/>
          </a:xfrm>
          <a:prstGeom prst="rect">
            <a:avLst/>
          </a:prstGeom>
          <a:solidFill>
            <a:srgbClr val="1A2E4A"/>
          </a:solidFill>
          <a:ln/>
        </p:spPr>
      </p:sp>
      <p:sp>
        <p:nvSpPr>
          <p:cNvPr id="11" name="Text 8"/>
          <p:cNvSpPr/>
          <p:nvPr/>
        </p:nvSpPr>
        <p:spPr>
          <a:xfrm>
            <a:off x="758952" y="52029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MECHANISMS THAT SUSTAIN COOPERATION — AND THE MODULE 11 PREVIEW</a:t>
            </a:r>
            <a:endParaRPr lang="en-US" sz="1050" dirty="0"/>
          </a:p>
        </p:txBody>
      </p:sp>
      <p:sp>
        <p:nvSpPr>
          <p:cNvPr id="12" name="Text 9"/>
          <p:cNvSpPr/>
          <p:nvPr/>
        </p:nvSpPr>
        <p:spPr>
          <a:xfrm>
            <a:off x="758952" y="5477256"/>
            <a:ext cx="10671048" cy="5212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REPEATED INTERACTION with a long shadow of the future: if the game is played indefinitely, strategies like tit-for-tat can make cooperation an equilibrium. This is the FOLK THEOREM, and it is the single most important result in Module 11.   ·   BINDING CONTRACTS AND ENFORCEMENT — change the payoffs so that defection is punished.   ·   OSTROM'S DESIGN PRINCIPLES (1990): locally-devised rules, graduated sanctions, cheap conflict resolution and monitoring by the users themselves — documented commons that do NOT end in tragedy.   ·   CHANGING THE PAYOFF MATRIX DIRECTLY: a tax on defection, a subsidy for cooperation, or assigning property rights (Coase, Module 12).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Module 7 — Independent Practice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Complete all five Parts of the Module 7 Worksheet, including the poverty-trap loop diagram, the Lorenz curve and the monopsony diagram.</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Compute the Gini by the trapezoid method and show your working — the cumulative column is the part most students get wrong.</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Draw the monopsony diagram with S_L, MFC and VMP all labeled, and mark W_competitive, W_mono, L_competitive, L_mono and the DWL region.</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Answer reflection questions ✦1 through ✦5 in complete sentences. Every one asks you to convert a diagram into an argument about institutions.</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HOMEWORK RULE OF THUMB: above 80% → move on. Below 80% → retry once or twice. Consistently below 80% → office hours, immediately.</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ASYNC</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7</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You Should Be Able to Do</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188720"/>
                <a:gridCol w="9994392"/>
              </a:tblGrid>
              <a:tr h="640080">
                <a:tc>
                  <a:txBody>
                    <a:bodyPr/>
                    <a:lstStyle/>
                    <a:p>
                      <a:pPr algn="l" indent="0" marL="0">
                        <a:buNone/>
                      </a:pP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LEARNING OUTCOME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64008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1</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Define a poverty trap as a self-reinforcing equilibrium and draw the feedback loop with at least four nodes; explain the credit-desert and bandwidth-tax mechanisms using Module 2 tools; explain intergenerational transmission; propose three institutional interventions and name the mechanism of each.</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64008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Build a cumulative income column from quintile shares; plot a Lorenz curve against the diagonal; compute the Gini by the area method and interpret 0 and 1; state three things the Gini preserves and three it discards; name an alternative measure and say what it adds.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64008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Explain why a monopsonist's MFC lies above the labor supply curve, and write the formula; execute the two-step decision (quantity from VMP = MFC, wage from S_L); identify the exploitation wedge and the DWL; define statistical discrimination and explain why it is self-fulfilling; contrast it with taste-based discrimination; predict the effect of a minimum wage under monopsony.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64008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4</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State the principal-agent structure; distinguish moral hazard (hidden action, after) from adverse selection (hidden type, before) using the timing test; trace the unravelling logic of the market for lemons; apply it to a neighborhood credit market and name three corrective institutions.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64008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Read a payoff matrix in (row, column) convention; identify a dominant strategy by column-by-column comparison; locate the Nash equilibrium and verify that no unilateral deviation improves either payoff; explain why the Nash outcome can be Pareto-inferior; name three real contexts with this structure and one mechanism that sustains cooperation.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486400"/>
            <a:ext cx="11183112" cy="640080"/>
          </a:xfrm>
          <a:prstGeom prst="rect">
            <a:avLst/>
          </a:prstGeom>
          <a:solidFill>
            <a:srgbClr val="1A2E4A"/>
          </a:solidFill>
          <a:ln/>
        </p:spPr>
      </p:sp>
      <p:sp>
        <p:nvSpPr>
          <p:cNvPr id="8" name="Text 5"/>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NEXT</a:t>
            </a:r>
            <a:endParaRPr lang="en-US" sz="1050" dirty="0"/>
          </a:p>
        </p:txBody>
      </p:sp>
      <p:sp>
        <p:nvSpPr>
          <p:cNvPr id="9" name="Text 6"/>
          <p:cNvSpPr/>
          <p:nvPr/>
        </p:nvSpPr>
        <p:spPr>
          <a:xfrm>
            <a:off x="758952" y="5815584"/>
            <a:ext cx="10671048" cy="256032"/>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MODULE 8 — STRUCTURAL INEQUALITY EXTENSIONS. We take the four mechanisms built here and apply them to wealth, race, gender, geography and the climate crisis — Climate Arc, Part 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7</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7: STRUCTURAL INEQUALITY &amp; GAME THEORY PREVIEW</a:t>
            </a:r>
            <a:endParaRPr lang="en-US" sz="900" dirty="0"/>
          </a:p>
        </p:txBody>
      </p:sp>
      <p:sp>
        <p:nvSpPr>
          <p:cNvPr id="6" name="Text 4"/>
          <p:cNvSpPr/>
          <p:nvPr/>
        </p:nvSpPr>
        <p:spPr>
          <a:xfrm>
            <a:off x="502920"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Akerlof, G. A. (1970). The market for lemons: Quality uncertainty and the market mechanism. Quarterly Journal of Economics, 84(3), 488–500.</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Arrow, K. J. (1973). The theory of discrimination. In Discrimination in Labor Markets. Princeton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Becker, G. S. (1957). The economics of discrimination. University of Chicago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Bowles, S., &amp; Gintis, H. (2002). The inheritance of inequality. Journal of Economic Perspectives, 16(3), 3–30.</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Chetty, R., Hendren, N., Kline, P., &amp; Saez, E. (2014). Where is the land of opportunity? Quarterly Journal of Economics, 129(4), 1553–1623.</a:t>
            </a:r>
            <a:endParaRPr lang="en-US" sz="1050" dirty="0"/>
          </a:p>
        </p:txBody>
      </p:sp>
      <p:sp>
        <p:nvSpPr>
          <p:cNvPr id="7" name="Text 5"/>
          <p:cNvSpPr/>
          <p:nvPr/>
        </p:nvSpPr>
        <p:spPr>
          <a:xfrm>
            <a:off x="6199632"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Gini, C. (1912). Variabilità e mutabilità. Bologna: C. Cuppini.</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Lorenz, M. O. (1905). Methods of measuring the concentration of wealth. Publications of the American Statistical Association, 9(70), 209–219.</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Manning, A. (2003). Monopsony in motion: Imperfect competition in labor markets. Princeton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Mullainathan, S., &amp; Shafir, E. (2013). Scarcity: Why having too little means so much. Times Books.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Nash, J. F. (1950). Equilibrium points in n-person games. PNAS, 36(1), 48–49.</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Ostrom, E. (1990). Governing the commons. Cambridge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Phelps, E. S. (1972). The statistical theory of racism and sexism. American Economic Review, 62(4), 659–661.</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7: Structural Inequality Core and Game Theory Preview</dc:title>
  <dc:subject>Introduction to Microeconomics</dc:subject>
  <dc:creator>Professor Velazquez</dc:creator>
  <cp:lastModifiedBy>Professor Velazquez</cp:lastModifiedBy>
  <cp:revision>1</cp:revision>
  <dcterms:created xsi:type="dcterms:W3CDTF">2026-08-25T00:04:43Z</dcterms:created>
  <dcterms:modified xsi:type="dcterms:W3CDTF">2026-08-25T00:04:43Z</dcterms:modified>
</cp:coreProperties>
</file>