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E4A"/>
          </a:solidFill>
          <a:ln/>
        </p:spPr>
      </p:sp>
      <p:sp>
        <p:nvSpPr>
          <p:cNvPr id="3" name="Text 1"/>
          <p:cNvSpPr/>
          <p:nvPr/>
        </p:nvSpPr>
        <p:spPr>
          <a:xfrm>
            <a:off x="914400" y="1051560"/>
            <a:ext cx="10332720" cy="365760"/>
          </a:xfrm>
          <a:prstGeom prst="rect">
            <a:avLst/>
          </a:prstGeom>
          <a:noFill/>
          <a:ln/>
        </p:spPr>
        <p:txBody>
          <a:bodyPr wrap="square" lIns="0" tIns="0" rIns="0" bIns="0" rtlCol="0" anchor="ctr"/>
          <a:lstStyle/>
          <a:p>
            <a:pPr indent="0" marL="0">
              <a:buNone/>
            </a:pPr>
            <a:r>
              <a:rPr lang="en-US" sz="1400" b="1" spc="600" kern="0" dirty="0">
                <a:solidFill>
                  <a:srgbClr val="E8C87A"/>
                </a:solidFill>
                <a:latin typeface="Calibri" pitchFamily="34" charset="0"/>
                <a:ea typeface="Calibri" pitchFamily="34" charset="-122"/>
                <a:cs typeface="Calibri" pitchFamily="34" charset="-120"/>
              </a:rPr>
              <a:t>PROFESSOR VELAZQUEZ</a:t>
            </a:r>
            <a:endParaRPr lang="en-US" sz="1400" dirty="0"/>
          </a:p>
        </p:txBody>
      </p:sp>
      <p:sp>
        <p:nvSpPr>
          <p:cNvPr id="4" name="Text 2"/>
          <p:cNvSpPr/>
          <p:nvPr/>
        </p:nvSpPr>
        <p:spPr>
          <a:xfrm>
            <a:off x="914400" y="1600200"/>
            <a:ext cx="10332720" cy="2651760"/>
          </a:xfrm>
          <a:prstGeom prst="rect">
            <a:avLst/>
          </a:prstGeom>
          <a:noFill/>
          <a:ln/>
        </p:spPr>
        <p:txBody>
          <a:bodyPr wrap="square" lIns="0" tIns="0" rIns="0" bIns="0" rtlCol="0" anchor="ctr"/>
          <a:lstStyle/>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INTRODUCTION</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TO</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MICROECONOMICS</a:t>
            </a:r>
            <a:endParaRPr lang="en-US" sz="5400" dirty="0"/>
          </a:p>
        </p:txBody>
      </p:sp>
      <p:sp>
        <p:nvSpPr>
          <p:cNvPr id="5" name="Shape 3"/>
          <p:cNvSpPr/>
          <p:nvPr/>
        </p:nvSpPr>
        <p:spPr>
          <a:xfrm>
            <a:off x="914400" y="4434840"/>
            <a:ext cx="1371600" cy="50292"/>
          </a:xfrm>
          <a:prstGeom prst="rect">
            <a:avLst/>
          </a:prstGeom>
          <a:solidFill>
            <a:srgbClr val="C0892E"/>
          </a:solidFill>
          <a:ln/>
        </p:spPr>
      </p:sp>
      <p:sp>
        <p:nvSpPr>
          <p:cNvPr id="6" name="Text 4"/>
          <p:cNvSpPr/>
          <p:nvPr/>
        </p:nvSpPr>
        <p:spPr>
          <a:xfrm>
            <a:off x="914400" y="4709160"/>
            <a:ext cx="10332720" cy="457200"/>
          </a:xfrm>
          <a:prstGeom prst="rect">
            <a:avLst/>
          </a:prstGeom>
          <a:noFill/>
          <a:ln/>
        </p:spPr>
        <p:txBody>
          <a:bodyPr wrap="square" lIns="0" tIns="0" rIns="0" bIns="0" rtlCol="0" anchor="ctr"/>
          <a:lstStyle/>
          <a:p>
            <a:pPr indent="0" marL="0">
              <a:buNone/>
            </a:pPr>
            <a:r>
              <a:rPr lang="en-US" sz="1700" spc="200" kern="0" dirty="0">
                <a:solidFill>
                  <a:srgbClr val="E8C87A"/>
                </a:solidFill>
                <a:latin typeface="Calibri" pitchFamily="34" charset="0"/>
                <a:ea typeface="Calibri" pitchFamily="34" charset="-122"/>
                <a:cs typeface="Calibri" pitchFamily="34" charset="-120"/>
              </a:rPr>
              <a:t>MODULE 09  ·  FIRMS AND THE COST OF PRODUCTION</a:t>
            </a:r>
            <a:endParaRPr lang="en-US" sz="1700" dirty="0"/>
          </a:p>
        </p:txBody>
      </p:sp>
      <p:sp>
        <p:nvSpPr>
          <p:cNvPr id="7" name="Text 5"/>
          <p:cNvSpPr/>
          <p:nvPr/>
        </p:nvSpPr>
        <p:spPr>
          <a:xfrm>
            <a:off x="914400" y="5212080"/>
            <a:ext cx="10332720" cy="365760"/>
          </a:xfrm>
          <a:prstGeom prst="rect">
            <a:avLst/>
          </a:prstGeom>
          <a:noFill/>
          <a:ln/>
        </p:spPr>
        <p:txBody>
          <a:bodyPr wrap="square" lIns="0" tIns="0" rIns="0" bIns="0" rtlCol="0" anchor="ctr"/>
          <a:lstStyle/>
          <a:p>
            <a:pPr indent="0" marL="0">
              <a:buNone/>
            </a:pPr>
            <a:r>
              <a:rPr lang="en-US" sz="1300" spc="500" kern="0" dirty="0">
                <a:solidFill>
                  <a:srgbClr val="8A97A8"/>
                </a:solidFill>
                <a:latin typeface="Calibri" pitchFamily="34" charset="0"/>
                <a:ea typeface="Calibri" pitchFamily="34" charset="-122"/>
                <a:cs typeface="Calibri" pitchFamily="34" charset="-120"/>
              </a:rPr>
              <a:t>FALL 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3"/>
        </a:solidFill>
      </p:bgPr>
    </p:bg>
    <p:spTree>
      <p:nvGrpSpPr>
        <p:cNvPr id="1" name=""/>
        <p:cNvGrpSpPr/>
        <p:nvPr/>
      </p:nvGrpSpPr>
      <p:grpSpPr>
        <a:xfrm>
          <a:off x="0" y="0"/>
          <a:ext cx="0" cy="0"/>
          <a:chOff x="0" y="0"/>
          <a:chExt cx="0" cy="0"/>
        </a:xfrm>
      </p:grpSpPr>
      <p:sp>
        <p:nvSpPr>
          <p:cNvPr id="2" name="Text 0"/>
          <p:cNvSpPr/>
          <p:nvPr/>
        </p:nvSpPr>
        <p:spPr>
          <a:xfrm>
            <a:off x="822960" y="1417320"/>
            <a:ext cx="3291840" cy="2743200"/>
          </a:xfrm>
          <a:prstGeom prst="rect">
            <a:avLst/>
          </a:prstGeom>
          <a:noFill/>
          <a:ln/>
        </p:spPr>
        <p:txBody>
          <a:bodyPr wrap="square" lIns="0" tIns="0" rIns="0" bIns="0" rtlCol="0" anchor="ctr"/>
          <a:lstStyle/>
          <a:p>
            <a:pPr indent="0" marL="0">
              <a:buNone/>
            </a:pPr>
            <a:r>
              <a:rPr lang="en-US" sz="19000" b="1" dirty="0">
                <a:solidFill>
                  <a:srgbClr val="E8C87A"/>
                </a:solidFill>
                <a:latin typeface="Cambria" pitchFamily="34" charset="0"/>
                <a:ea typeface="Cambria" pitchFamily="34" charset="-122"/>
                <a:cs typeface="Cambria" pitchFamily="34" charset="-120"/>
              </a:rPr>
              <a:t>09</a:t>
            </a:r>
            <a:endParaRPr lang="en-US" sz="19000" dirty="0"/>
          </a:p>
        </p:txBody>
      </p:sp>
      <p:sp>
        <p:nvSpPr>
          <p:cNvPr id="3" name="Text 1"/>
          <p:cNvSpPr/>
          <p:nvPr/>
        </p:nvSpPr>
        <p:spPr>
          <a:xfrm>
            <a:off x="960120" y="4160520"/>
            <a:ext cx="3108960" cy="36576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MODULE</a:t>
            </a:r>
            <a:endParaRPr lang="en-US" sz="1500" dirty="0"/>
          </a:p>
        </p:txBody>
      </p:sp>
      <p:sp>
        <p:nvSpPr>
          <p:cNvPr id="4" name="Text 2"/>
          <p:cNvSpPr/>
          <p:nvPr/>
        </p:nvSpPr>
        <p:spPr>
          <a:xfrm>
            <a:off x="4480560" y="1828800"/>
            <a:ext cx="6949440" cy="1828800"/>
          </a:xfrm>
          <a:prstGeom prst="rect">
            <a:avLst/>
          </a:prstGeom>
          <a:noFill/>
          <a:ln/>
        </p:spPr>
        <p:txBody>
          <a:bodyPr wrap="square" lIns="0" tIns="0" rIns="0" bIns="0" rtlCol="0" anchor="b"/>
          <a:lstStyle/>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Firms and the</a:t>
            </a:r>
            <a:endParaRPr lang="en-US" sz="4000" dirty="0"/>
          </a:p>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Cost of Production</a:t>
            </a:r>
            <a:endParaRPr lang="en-US" sz="4000" dirty="0"/>
          </a:p>
        </p:txBody>
      </p:sp>
      <p:sp>
        <p:nvSpPr>
          <p:cNvPr id="5" name="Text 3"/>
          <p:cNvSpPr/>
          <p:nvPr/>
        </p:nvSpPr>
        <p:spPr>
          <a:xfrm>
            <a:off x="4480560" y="3794760"/>
            <a:ext cx="6949440" cy="1463040"/>
          </a:xfrm>
          <a:prstGeom prst="rect">
            <a:avLst/>
          </a:prstGeom>
          <a:noFill/>
          <a:ln/>
        </p:spPr>
        <p:txBody>
          <a:bodyPr wrap="square" lIns="0" tIns="0" rIns="0" bIns="0" rtlCol="0" anchor="ctr"/>
          <a:lstStyle/>
          <a:p>
            <a:pPr indent="0" marL="0">
              <a:lnSpc>
                <a:spcPts val="2400"/>
              </a:lnSpc>
              <a:buNone/>
            </a:pPr>
            <a:r>
              <a:rPr lang="en-US" sz="1500" dirty="0">
                <a:solidFill>
                  <a:srgbClr val="4A6180"/>
                </a:solidFill>
                <a:latin typeface="Calibri" pitchFamily="34" charset="0"/>
                <a:ea typeface="Calibri" pitchFamily="34" charset="-122"/>
                <a:cs typeface="Calibri" pitchFamily="34" charset="-120"/>
              </a:rPr>
              <a:t>Since Module 3 we have drawn a supply curve and assumed it. This module opens the firm and DERIVES it. Section I asks what a firm is and how it measures profit. Section II builds the complete cost architecture — from total product to marginal cost — that every output decision in Module 10 will rest 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9</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Agenda, Big Questions &amp; Opening Inquiry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Shape 4"/>
          <p:cNvSpPr/>
          <p:nvPr/>
        </p:nvSpPr>
        <p:spPr>
          <a:xfrm>
            <a:off x="502920" y="1481328"/>
            <a:ext cx="3611880" cy="2194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64208"/>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BIG QUESTIONS</a:t>
            </a:r>
            <a:endParaRPr lang="en-US" sz="1550" dirty="0"/>
          </a:p>
        </p:txBody>
      </p:sp>
      <p:sp>
        <p:nvSpPr>
          <p:cNvPr id="8" name="Text 6"/>
          <p:cNvSpPr/>
          <p:nvPr/>
        </p:nvSpPr>
        <p:spPr>
          <a:xfrm>
            <a:off x="758952" y="2066544"/>
            <a:ext cx="3099816" cy="13716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(1) How do economists model the relationship between inputs and outputs — and what is the law of diminishing returns?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(2) How does a firm's cost structure — fixed versus variable — shape its short-run and long-run decisions?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(3) At what scale of operation does a firm minimize its average cost, and what determines that scale?</a:t>
            </a:r>
            <a:endParaRPr lang="en-US" sz="850" dirty="0"/>
          </a:p>
        </p:txBody>
      </p:sp>
      <p:sp>
        <p:nvSpPr>
          <p:cNvPr id="9" name="Shape 7"/>
          <p:cNvSpPr/>
          <p:nvPr/>
        </p:nvSpPr>
        <p:spPr>
          <a:xfrm>
            <a:off x="4315968" y="1481328"/>
            <a:ext cx="3611880" cy="2194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64208"/>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PRE-WORK</a:t>
            </a:r>
            <a:endParaRPr lang="en-US" sz="1550" dirty="0"/>
          </a:p>
        </p:txBody>
      </p:sp>
      <p:sp>
        <p:nvSpPr>
          <p:cNvPr id="11" name="Text 9"/>
          <p:cNvSpPr/>
          <p:nvPr/>
        </p:nvSpPr>
        <p:spPr>
          <a:xfrm>
            <a:off x="4572000" y="2066544"/>
            <a:ext cx="3099816" cy="1371600"/>
          </a:xfrm>
          <a:prstGeom prst="rect">
            <a:avLst/>
          </a:prstGeom>
          <a:noFill/>
          <a:ln/>
        </p:spPr>
        <p:txBody>
          <a:bodyPr wrap="square" lIns="0" tIns="0" rIns="0" bIns="0" rtlCol="0" anchor="t"/>
          <a:lstStyle/>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 Read Chapter 13 (The Costs of Production)</a:t>
            </a:r>
            <a:endParaRPr lang="en-US" sz="1000" dirty="0"/>
          </a:p>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 Complete the Module 9 Vocabulary Checklist</a:t>
            </a:r>
            <a:endParaRPr lang="en-US" sz="1000" dirty="0"/>
          </a:p>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 Khan Academy: Production Cost — reach mastery</a:t>
            </a:r>
            <a:endParaRPr lang="en-US" sz="1000" dirty="0"/>
          </a:p>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 Bring the Module 9 Worksheet, a calculator and graph paper</a:t>
            </a:r>
            <a:endParaRPr lang="en-US" sz="1000" dirty="0"/>
          </a:p>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 Review Module 2 Part 1 (production function, MP) and Module 7 Part 4 (principal-agent)</a:t>
            </a:r>
            <a:endParaRPr lang="en-US" sz="1000" dirty="0"/>
          </a:p>
        </p:txBody>
      </p:sp>
      <p:sp>
        <p:nvSpPr>
          <p:cNvPr id="12" name="Shape 10"/>
          <p:cNvSpPr/>
          <p:nvPr/>
        </p:nvSpPr>
        <p:spPr>
          <a:xfrm>
            <a:off x="8119872" y="1481328"/>
            <a:ext cx="3566160" cy="2194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64208"/>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WHAT YOU'LL NEED</a:t>
            </a:r>
            <a:endParaRPr lang="en-US" sz="1550" dirty="0"/>
          </a:p>
        </p:txBody>
      </p:sp>
      <p:sp>
        <p:nvSpPr>
          <p:cNvPr id="14" name="Text 12"/>
          <p:cNvSpPr/>
          <p:nvPr/>
        </p:nvSpPr>
        <p:spPr>
          <a:xfrm>
            <a:off x="8375904" y="2066544"/>
            <a:ext cx="3054096" cy="1371600"/>
          </a:xfrm>
          <a:prstGeom prst="rect">
            <a:avLst/>
          </a:prstGeom>
          <a:noFill/>
          <a:ln/>
        </p:spPr>
        <p:txBody>
          <a:bodyPr wrap="square" lIns="0" tIns="0" rIns="0" bIns="0" rtlCol="0" anchor="t"/>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Module 9 Worksheet (printed) — this is the longest packet of the semester</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Calculator — five tables to complete</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Graph paper for the TP/MP panels and the cost-curve family</a:t>
            </a:r>
            <a:endParaRPr lang="en-US" sz="1250" dirty="0"/>
          </a:p>
        </p:txBody>
      </p:sp>
      <p:sp>
        <p:nvSpPr>
          <p:cNvPr id="15" name="Shape 13"/>
          <p:cNvSpPr/>
          <p:nvPr/>
        </p:nvSpPr>
        <p:spPr>
          <a:xfrm>
            <a:off x="502920" y="3886200"/>
            <a:ext cx="11183112" cy="868680"/>
          </a:xfrm>
          <a:prstGeom prst="rect">
            <a:avLst/>
          </a:prstGeom>
          <a:solidFill>
            <a:srgbClr val="1A2E4A"/>
          </a:solidFill>
          <a:ln/>
        </p:spPr>
      </p:sp>
      <p:sp>
        <p:nvSpPr>
          <p:cNvPr id="16" name="Text 14"/>
          <p:cNvSpPr/>
          <p:nvPr/>
        </p:nvSpPr>
        <p:spPr>
          <a:xfrm>
            <a:off x="758952" y="40142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OPENING INQUIRY</a:t>
            </a:r>
            <a:endParaRPr lang="en-US" sz="1050" dirty="0"/>
          </a:p>
        </p:txBody>
      </p:sp>
      <p:sp>
        <p:nvSpPr>
          <p:cNvPr id="17" name="Text 15"/>
          <p:cNvSpPr/>
          <p:nvPr/>
        </p:nvSpPr>
        <p:spPr>
          <a:xfrm>
            <a:off x="758952" y="4288536"/>
            <a:ext cx="10671048" cy="33832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Before a firm can choose HOW MUCH to produce, it must understand its COST STRUCTURE. In this module we build the complete cost architecture — from total product to marginal cost — that firms use to make output decisions. Marcus's food cart and Ray's warehouse are both firms. The same tools apply to both.</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4983480"/>
          <a:ext cx="11183112" cy="914400"/>
        </p:xfrm>
        <a:graphic>
          <a:graphicData uri="http://schemas.openxmlformats.org/drawingml/2006/table">
            <a:tbl>
              <a:tblPr/>
              <a:tblGrid>
                <a:gridCol w="5120640"/>
                <a:gridCol w="6062472"/>
              </a:tblGrid>
              <a:tr h="36576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SECTION I — PROFITS AND FIRMS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SECTION II — PRODUCTION AND COSTS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6576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1 · Economic vs. accounting profit; explicit and implicit costs</a:t>
                      </a:r>
                      <a:endParaRPr lang="en-US" sz="1000" dirty="0">
                        <a:latin typeface="Calibri" charset="0"/>
                        <a:ea typeface="Calibri" charset="0"/>
                        <a:cs typeface="Calibri" charset="0"/>
                      </a:endParaRPr>
                    </a:p>
                    <a:p>
                      <a:pPr algn="l" indent="0" marL="0">
                        <a:buNone/>
                      </a:pPr>
                      <a:r>
                        <a:rPr lang="en-US" sz="1000" dirty="0">
                          <a:solidFill>
                            <a:srgbClr val="1A2E4A"/>
                          </a:solidFill>
                          <a:latin typeface="Calibri" pitchFamily="34" charset="0"/>
                          <a:ea typeface="Calibri" pitchFamily="34" charset="-122"/>
                          <a:cs typeface="Calibri" pitchFamily="34" charset="-120"/>
                        </a:rPr>
                        <a:t>Part 2 · The four market types; two meanings of 'short run'; what a firm IS</a:t>
                      </a:r>
                      <a:endParaRPr lang="en-US" sz="1000" dirty="0">
                        <a:latin typeface="Calibri" charset="0"/>
                        <a:ea typeface="Calibri" charset="0"/>
                        <a:cs typeface="Calibri" charset="0"/>
                      </a:endParaRPr>
                    </a:p>
                    <a:p>
                      <a:pPr algn="l" indent="0" marL="0">
                        <a:buNone/>
                      </a:pPr>
                      <a:r>
                        <a:rPr lang="en-US" sz="1000" dirty="0">
                          <a:solidFill>
                            <a:srgbClr val="1A2E4A"/>
                          </a:solidFill>
                          <a:latin typeface="Calibri" pitchFamily="34" charset="0"/>
                          <a:ea typeface="Calibri" pitchFamily="34" charset="-122"/>
                          <a:cs typeface="Calibri" pitchFamily="34" charset="-120"/>
                        </a:rPr>
                        <a:t>Part 3 · Principal-agent problems inside the firm</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4 · Short-run production: TP, MP, AP and the law of diminishing returns</a:t>
                      </a:r>
                      <a:endParaRPr lang="en-US" sz="1000" dirty="0">
                        <a:latin typeface="Calibri" charset="0"/>
                        <a:ea typeface="Calibri" charset="0"/>
                        <a:cs typeface="Calibri" charset="0"/>
                      </a:endParaRPr>
                    </a:p>
                    <a:p>
                      <a:pPr algn="l" indent="0" marL="0">
                        <a:buNone/>
                      </a:pPr>
                      <a:r>
                        <a:rPr lang="en-US" sz="1000" dirty="0">
                          <a:solidFill>
                            <a:srgbClr val="1A2E4A"/>
                          </a:solidFill>
                          <a:latin typeface="Calibri" pitchFamily="34" charset="0"/>
                          <a:ea typeface="Calibri" pitchFamily="34" charset="-122"/>
                          <a:cs typeface="Calibri" pitchFamily="34" charset="-120"/>
                        </a:rPr>
                        <a:t>Part 5 · Short-run cost curves: FC, VC, TC, AFC, AVC, ATC, MC</a:t>
                      </a:r>
                      <a:endParaRPr lang="en-US" sz="1000" dirty="0">
                        <a:latin typeface="Calibri" charset="0"/>
                        <a:ea typeface="Calibri" charset="0"/>
                        <a:cs typeface="Calibri" charset="0"/>
                      </a:endParaRPr>
                    </a:p>
                    <a:p>
                      <a:pPr algn="l" indent="0" marL="0">
                        <a:buNone/>
                      </a:pPr>
                      <a:r>
                        <a:rPr lang="en-US" sz="1000" dirty="0">
                          <a:solidFill>
                            <a:srgbClr val="1A2E4A"/>
                          </a:solidFill>
                          <a:latin typeface="Calibri" pitchFamily="34" charset="0"/>
                          <a:ea typeface="Calibri" pitchFamily="34" charset="-122"/>
                          <a:cs typeface="Calibri" pitchFamily="34" charset="-120"/>
                        </a:rPr>
                        <a:t>Part 6 · Long-run production: returns to scale, the LRAC envelope, MES</a:t>
                      </a:r>
                      <a:endParaRPr lang="en-US" sz="1000" dirty="0">
                        <a:latin typeface="Calibri" charset="0"/>
                        <a:ea typeface="Calibri" charset="0"/>
                        <a:cs typeface="Calibri" charset="0"/>
                      </a:endParaRPr>
                    </a:p>
                    <a:p>
                      <a:pPr algn="l" indent="0" marL="0">
                        <a:buNone/>
                      </a:pPr>
                      <a:r>
                        <a:rPr lang="en-US" sz="1000" dirty="0">
                          <a:solidFill>
                            <a:srgbClr val="1A2E4A"/>
                          </a:solidFill>
                          <a:latin typeface="Calibri" pitchFamily="34" charset="0"/>
                          <a:ea typeface="Calibri" pitchFamily="34" charset="-122"/>
                          <a:cs typeface="Calibri" pitchFamily="34" charset="-120"/>
                        </a:rPr>
                        <a:t>Part 7 · Application: Marcus's food cart launch decision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BEFORE WE BEGIN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Vocabulary Checklist — Module 9</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Shape 4"/>
          <p:cNvSpPr/>
          <p:nvPr/>
        </p:nvSpPr>
        <p:spPr>
          <a:xfrm>
            <a:off x="502920" y="1554480"/>
            <a:ext cx="2121408" cy="3931920"/>
          </a:xfrm>
          <a:prstGeom prst="rect">
            <a:avLst/>
          </a:prstGeom>
          <a:solidFill>
            <a:srgbClr val="E8EDF3"/>
          </a:solidFill>
          <a:ln/>
        </p:spPr>
      </p:sp>
      <p:sp>
        <p:nvSpPr>
          <p:cNvPr id="7" name="Text 5"/>
          <p:cNvSpPr/>
          <p:nvPr/>
        </p:nvSpPr>
        <p:spPr>
          <a:xfrm>
            <a:off x="685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Explicit Cost</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Implicit Cost</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Accounting Profit</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Economic Profit</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Normal Profit</a:t>
            </a:r>
            <a:endParaRPr lang="en-US" sz="1050" dirty="0"/>
          </a:p>
        </p:txBody>
      </p:sp>
      <p:sp>
        <p:nvSpPr>
          <p:cNvPr id="8" name="Shape 6"/>
          <p:cNvSpPr/>
          <p:nvPr/>
        </p:nvSpPr>
        <p:spPr>
          <a:xfrm>
            <a:off x="2788920" y="1554480"/>
            <a:ext cx="2121408" cy="3931920"/>
          </a:xfrm>
          <a:prstGeom prst="rect">
            <a:avLst/>
          </a:prstGeom>
          <a:solidFill>
            <a:srgbClr val="E8EDF3"/>
          </a:solidFill>
          <a:ln/>
        </p:spPr>
      </p:sp>
      <p:sp>
        <p:nvSpPr>
          <p:cNvPr id="9" name="Text 7"/>
          <p:cNvSpPr/>
          <p:nvPr/>
        </p:nvSpPr>
        <p:spPr>
          <a:xfrm>
            <a:off x="2971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Total Product (TP)</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Marginal Product (MP)</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Average Product (AP)</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Law of Diminishing Returns</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Production Phases I / II / III</a:t>
            </a:r>
            <a:endParaRPr lang="en-US" sz="1050" dirty="0"/>
          </a:p>
        </p:txBody>
      </p:sp>
      <p:sp>
        <p:nvSpPr>
          <p:cNvPr id="10" name="Shape 8"/>
          <p:cNvSpPr/>
          <p:nvPr/>
        </p:nvSpPr>
        <p:spPr>
          <a:xfrm>
            <a:off x="5074920" y="1554480"/>
            <a:ext cx="2121408" cy="3931920"/>
          </a:xfrm>
          <a:prstGeom prst="rect">
            <a:avLst/>
          </a:prstGeom>
          <a:solidFill>
            <a:srgbClr val="E8EDF3"/>
          </a:solidFill>
          <a:ln/>
        </p:spPr>
      </p:sp>
      <p:sp>
        <p:nvSpPr>
          <p:cNvPr id="11" name="Text 9"/>
          <p:cNvSpPr/>
          <p:nvPr/>
        </p:nvSpPr>
        <p:spPr>
          <a:xfrm>
            <a:off x="5257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Fixed Cost (TFC)</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Variable Cost (TVC)</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Total Cost (TC)</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Average Fixed Cost (AFC)</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Average Variable Cost (AVC)</a:t>
            </a:r>
            <a:endParaRPr lang="en-US" sz="1050" dirty="0"/>
          </a:p>
        </p:txBody>
      </p:sp>
      <p:sp>
        <p:nvSpPr>
          <p:cNvPr id="12" name="Shape 10"/>
          <p:cNvSpPr/>
          <p:nvPr/>
        </p:nvSpPr>
        <p:spPr>
          <a:xfrm>
            <a:off x="7360920" y="1554480"/>
            <a:ext cx="2121408" cy="3931920"/>
          </a:xfrm>
          <a:prstGeom prst="rect">
            <a:avLst/>
          </a:prstGeom>
          <a:solidFill>
            <a:srgbClr val="E8EDF3"/>
          </a:solidFill>
          <a:ln/>
        </p:spPr>
      </p:sp>
      <p:sp>
        <p:nvSpPr>
          <p:cNvPr id="13" name="Text 11"/>
          <p:cNvSpPr/>
          <p:nvPr/>
        </p:nvSpPr>
        <p:spPr>
          <a:xfrm>
            <a:off x="7543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Average Total Cost (ATC)</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Marginal Cost (MC)</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Shutdown Rule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Short Run vs. Long Run</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Sunk Cost</a:t>
            </a:r>
            <a:endParaRPr lang="en-US" sz="1050" dirty="0"/>
          </a:p>
        </p:txBody>
      </p:sp>
      <p:sp>
        <p:nvSpPr>
          <p:cNvPr id="14" name="Shape 12"/>
          <p:cNvSpPr/>
          <p:nvPr/>
        </p:nvSpPr>
        <p:spPr>
          <a:xfrm>
            <a:off x="9646920" y="1554480"/>
            <a:ext cx="2121408" cy="3931920"/>
          </a:xfrm>
          <a:prstGeom prst="rect">
            <a:avLst/>
          </a:prstGeom>
          <a:solidFill>
            <a:srgbClr val="E8EDF3"/>
          </a:solidFill>
          <a:ln/>
        </p:spPr>
      </p:sp>
      <p:sp>
        <p:nvSpPr>
          <p:cNvPr id="15" name="Text 13"/>
          <p:cNvSpPr/>
          <p:nvPr/>
        </p:nvSpPr>
        <p:spPr>
          <a:xfrm>
            <a:off x="9829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Returns to Scale (IRS/CRS/DRS)</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Economies of Scale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Diseconomies of Scale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LRAC Envelope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Minimum Efficient Scale</a:t>
            </a:r>
            <a:endParaRPr lang="en-US" sz="1050" dirty="0"/>
          </a:p>
        </p:txBody>
      </p:sp>
      <p:sp>
        <p:nvSpPr>
          <p:cNvPr id="16" name="Shape 14"/>
          <p:cNvSpPr/>
          <p:nvPr/>
        </p:nvSpPr>
        <p:spPr>
          <a:xfrm>
            <a:off x="502920" y="5623560"/>
            <a:ext cx="11183112" cy="566928"/>
          </a:xfrm>
          <a:prstGeom prst="rect">
            <a:avLst/>
          </a:prstGeom>
          <a:solidFill>
            <a:srgbClr val="1A2E4A"/>
          </a:solidFill>
          <a:ln/>
        </p:spPr>
      </p:sp>
      <p:sp>
        <p:nvSpPr>
          <p:cNvPr id="17" name="Text 15"/>
          <p:cNvSpPr/>
          <p:nvPr/>
        </p:nvSpPr>
        <p:spPr>
          <a:xfrm>
            <a:off x="758952" y="57515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SINGLE MOST IMPORTANT WARNING IN THIS MODULE</a:t>
            </a:r>
            <a:endParaRPr lang="en-US" sz="1050" dirty="0"/>
          </a:p>
        </p:txBody>
      </p:sp>
      <p:sp>
        <p:nvSpPr>
          <p:cNvPr id="18" name="Text 16"/>
          <p:cNvSpPr/>
          <p:nvPr/>
        </p:nvSpPr>
        <p:spPr>
          <a:xfrm>
            <a:off x="758952" y="595274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word SHORT RUN has TWO distinct meanings and BOTH are active in Module 10. In the PRODUCTION sense it means at least one input is fixed. In the MARKET STRUCTURE sense it means there is not enough time for entry or exit. Always say which one you mean.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Profits and Firms</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Economic versus accounting profit; explicit and implicit costs</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2  ·  The four market types; the two meanings of 'short run'; what a firm actually is</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3  ·  Principal-agent problems inside the firm; separation of ownership and control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01</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Economic vs.</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Accounting Profit</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Distinguish economic profit from accounting profit; define explicit and implicit costs; explain why the two measures give different signals about where resources should go.</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FORMAL DEFINITIONS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Two Ways to Measure Profit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Shape 4"/>
          <p:cNvSpPr/>
          <p:nvPr/>
        </p:nvSpPr>
        <p:spPr>
          <a:xfrm>
            <a:off x="502920" y="1417320"/>
            <a:ext cx="5486400" cy="12801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EXPLICIT COSTS</a:t>
            </a:r>
            <a:endParaRPr lang="en-US" sz="1550" dirty="0"/>
          </a:p>
        </p:txBody>
      </p:sp>
      <p:sp>
        <p:nvSpPr>
          <p:cNvPr id="8" name="Text 6"/>
          <p:cNvSpPr/>
          <p:nvPr/>
        </p:nvSpPr>
        <p:spPr>
          <a:xfrm>
            <a:off x="758952" y="2002536"/>
            <a:ext cx="4974336" cy="4572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Input costs that REQUIRE AN OUTLAY OF MONEY by the firm — wages paid, rent paid, materials purchased, interest paid.</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These are the costs an accountant records, because a transaction generated a receipt.</a:t>
            </a:r>
            <a:endParaRPr lang="en-US" sz="850" dirty="0"/>
          </a:p>
        </p:txBody>
      </p:sp>
      <p:sp>
        <p:nvSpPr>
          <p:cNvPr id="9" name="Shape 7"/>
          <p:cNvSpPr/>
          <p:nvPr/>
        </p:nvSpPr>
        <p:spPr>
          <a:xfrm>
            <a:off x="6199632" y="1417320"/>
            <a:ext cx="5486400" cy="12801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60020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IMPLICIT COSTS</a:t>
            </a:r>
            <a:endParaRPr lang="en-US" sz="1550" dirty="0"/>
          </a:p>
        </p:txBody>
      </p:sp>
      <p:sp>
        <p:nvSpPr>
          <p:cNvPr id="11" name="Text 9"/>
          <p:cNvSpPr/>
          <p:nvPr/>
        </p:nvSpPr>
        <p:spPr>
          <a:xfrm>
            <a:off x="6455664" y="2002536"/>
            <a:ext cx="4974336" cy="4572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Input costs that do NOT require an outlay of money — the forgone wage of the owner, the forgone interest on the owner's own capital, the forgone rent on premises the owner already owns.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These are OPPORTUNITY COSTS (Module 1), and no receipt is ever generated.</a:t>
            </a:r>
            <a:endParaRPr lang="en-US" sz="850" dirty="0"/>
          </a:p>
        </p:txBody>
      </p:sp>
      <p:sp>
        <p:nvSpPr>
          <p:cNvPr id="12" name="Shape 10"/>
          <p:cNvSpPr/>
          <p:nvPr/>
        </p:nvSpPr>
        <p:spPr>
          <a:xfrm>
            <a:off x="502920" y="2834640"/>
            <a:ext cx="5486400" cy="1005840"/>
          </a:xfrm>
          <a:prstGeom prst="rect">
            <a:avLst/>
          </a:prstGeom>
          <a:solidFill>
            <a:srgbClr val="1A2E4A"/>
          </a:solidFill>
          <a:ln/>
        </p:spPr>
      </p:sp>
      <p:sp>
        <p:nvSpPr>
          <p:cNvPr id="13" name="Text 11"/>
          <p:cNvSpPr/>
          <p:nvPr/>
        </p:nvSpPr>
        <p:spPr>
          <a:xfrm>
            <a:off x="685800" y="2834640"/>
            <a:ext cx="512064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Accounting Profit  =  TR  −  EXPLICIT costs</a:t>
            </a:r>
            <a:endParaRPr lang="en-US" sz="2200" dirty="0"/>
          </a:p>
        </p:txBody>
      </p:sp>
      <p:sp>
        <p:nvSpPr>
          <p:cNvPr id="14" name="Shape 12"/>
          <p:cNvSpPr/>
          <p:nvPr/>
        </p:nvSpPr>
        <p:spPr>
          <a:xfrm>
            <a:off x="6199632" y="2834640"/>
            <a:ext cx="5486400" cy="1005840"/>
          </a:xfrm>
          <a:prstGeom prst="rect">
            <a:avLst/>
          </a:prstGeom>
          <a:solidFill>
            <a:srgbClr val="1A2E4A"/>
          </a:solidFill>
          <a:ln/>
        </p:spPr>
      </p:sp>
      <p:sp>
        <p:nvSpPr>
          <p:cNvPr id="15" name="Text 13"/>
          <p:cNvSpPr/>
          <p:nvPr/>
        </p:nvSpPr>
        <p:spPr>
          <a:xfrm>
            <a:off x="6382512" y="2834640"/>
            <a:ext cx="512064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Economic Profit  =  TR  −  ( EXPLICIT + IMPLICIT )</a:t>
            </a:r>
            <a:endParaRPr lang="en-US" sz="2200" dirty="0"/>
          </a:p>
        </p:txBody>
      </p:sp>
      <p:sp>
        <p:nvSpPr>
          <p:cNvPr id="16" name="Shape 14"/>
          <p:cNvSpPr/>
          <p:nvPr/>
        </p:nvSpPr>
        <p:spPr>
          <a:xfrm>
            <a:off x="502920" y="3977640"/>
            <a:ext cx="5486400" cy="1188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7" name="Text 15"/>
          <p:cNvSpPr/>
          <p:nvPr/>
        </p:nvSpPr>
        <p:spPr>
          <a:xfrm>
            <a:off x="758952" y="4160520"/>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NORMAL PROFIT</a:t>
            </a:r>
            <a:endParaRPr lang="en-US" sz="1550" dirty="0"/>
          </a:p>
        </p:txBody>
      </p:sp>
      <p:sp>
        <p:nvSpPr>
          <p:cNvPr id="18" name="Text 16"/>
          <p:cNvSpPr/>
          <p:nvPr/>
        </p:nvSpPr>
        <p:spPr>
          <a:xfrm>
            <a:off x="758952" y="4562856"/>
            <a:ext cx="4974336" cy="3657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When ECONOMIC PROFIT = ZERO. The firm is earning exactly ITS OPPORTUNITY COST — the same return it could get in its next-best use.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Zero economic profit is NOT losing money. It is the break-even point in the economist's sense, and it is where every competitive market ends up in the long run (Module 10).</a:t>
            </a:r>
            <a:endParaRPr lang="en-US" sz="850" dirty="0"/>
          </a:p>
        </p:txBody>
      </p:sp>
      <p:sp>
        <p:nvSpPr>
          <p:cNvPr id="19" name="Shape 17"/>
          <p:cNvSpPr/>
          <p:nvPr/>
        </p:nvSpPr>
        <p:spPr>
          <a:xfrm>
            <a:off x="6199632" y="3977640"/>
            <a:ext cx="5486400" cy="1188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0" name="Text 18"/>
          <p:cNvSpPr/>
          <p:nvPr/>
        </p:nvSpPr>
        <p:spPr>
          <a:xfrm>
            <a:off x="6455664" y="4160520"/>
            <a:ext cx="497433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WHY ECONOMISTS INSIST ON THIS</a:t>
            </a:r>
            <a:endParaRPr lang="en-US" sz="1550" dirty="0"/>
          </a:p>
        </p:txBody>
      </p:sp>
      <p:sp>
        <p:nvSpPr>
          <p:cNvPr id="21" name="Text 19"/>
          <p:cNvSpPr/>
          <p:nvPr/>
        </p:nvSpPr>
        <p:spPr>
          <a:xfrm>
            <a:off x="6455664" y="4562856"/>
            <a:ext cx="4974336" cy="3657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Because the question economics asks is ALLOCATIVE: should these resources be here, or somewhere else? Accounting profit cannot answer it, since it never compares the firm's return to the alternative.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Economic profit is the only measure that answers a SHOULD question.</a:t>
            </a:r>
            <a:endParaRPr lang="en-US" sz="850" dirty="0"/>
          </a:p>
        </p:txBody>
      </p:sp>
      <p:sp>
        <p:nvSpPr>
          <p:cNvPr id="22" name="Shape 20"/>
          <p:cNvSpPr/>
          <p:nvPr/>
        </p:nvSpPr>
        <p:spPr>
          <a:xfrm>
            <a:off x="502920" y="5349240"/>
            <a:ext cx="11183112" cy="777240"/>
          </a:xfrm>
          <a:prstGeom prst="rect">
            <a:avLst/>
          </a:prstGeom>
          <a:solidFill>
            <a:srgbClr val="1A2E4A"/>
          </a:solidFill>
          <a:ln/>
        </p:spPr>
      </p:sp>
      <p:sp>
        <p:nvSpPr>
          <p:cNvPr id="23" name="Text 21"/>
          <p:cNvSpPr/>
          <p:nvPr/>
        </p:nvSpPr>
        <p:spPr>
          <a:xfrm>
            <a:off x="758952" y="54772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RELATIONSHIP IN ONE LINE</a:t>
            </a:r>
            <a:endParaRPr lang="en-US" sz="1050" dirty="0"/>
          </a:p>
        </p:txBody>
      </p:sp>
      <p:sp>
        <p:nvSpPr>
          <p:cNvPr id="24" name="Text 22"/>
          <p:cNvSpPr/>
          <p:nvPr/>
        </p:nvSpPr>
        <p:spPr>
          <a:xfrm>
            <a:off x="758952" y="5751576"/>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ECONOMIC PROFIT  =  ACCOUNTING PROFIT  −  IMPLICIT COSTS.   Economic profit is therefore ALWAYS less than or equal to accounting profit, and the gap between them IS the opportunity cost of staying where you are.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DETROIT, 1965</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GM Foreman's Decision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Text 4"/>
          <p:cNvSpPr/>
          <p:nvPr/>
        </p:nvSpPr>
        <p:spPr>
          <a:xfrm>
            <a:off x="502920" y="1417320"/>
            <a:ext cx="5440680" cy="73152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A GM assembly-line foreman earns $12,000/year. He has $20,000 in savings and is considering opening his own auto parts shop. Projected annual revenue: $35,000. Shop rent: $8,000/year. Parts inventory: $10,000/year. His savings, if left in the bank, would earn 5% interest ($1,000/year).</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5440680" cy="914400"/>
        </p:xfrm>
        <a:graphic>
          <a:graphicData uri="http://schemas.openxmlformats.org/drawingml/2006/table">
            <a:tbl>
              <a:tblPr/>
              <a:tblGrid>
                <a:gridCol w="1828800"/>
                <a:gridCol w="2468880"/>
                <a:gridCol w="1143000"/>
              </a:tblGrid>
              <a:tr h="27432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STEP</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COMPUTATION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Total revenue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given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$35,000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Explicit costs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rent $8,000 + inventory $10,000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$18,000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ACCOUNTING PROFIT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$35,000 − $18,000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$17,000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Open on accounting profit alone?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$17,000 &gt; 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Implicit costs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forgone wage $12,000 + forgone interest $1,000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$13,000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ECONOMIC PROFIT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$17,000 − $13,000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$4,000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Open on economic profit?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$4,000 &gt; 0 — he beats his best alternative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4617720"/>
            <a:ext cx="5440680" cy="1508760"/>
          </a:xfrm>
          <a:prstGeom prst="rect">
            <a:avLst/>
          </a:prstGeom>
          <a:solidFill>
            <a:srgbClr val="1A2E4A"/>
          </a:solidFill>
          <a:ln/>
        </p:spPr>
      </p:sp>
      <p:sp>
        <p:nvSpPr>
          <p:cNvPr id="9" name="Text 6"/>
          <p:cNvSpPr/>
          <p:nvPr/>
        </p:nvSpPr>
        <p:spPr>
          <a:xfrm>
            <a:off x="758952" y="4745736"/>
            <a:ext cx="492861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THE GAP EXISTS</a:t>
            </a:r>
            <a:endParaRPr lang="en-US" sz="1050" dirty="0"/>
          </a:p>
        </p:txBody>
      </p:sp>
      <p:sp>
        <p:nvSpPr>
          <p:cNvPr id="10" name="Text 7"/>
          <p:cNvSpPr/>
          <p:nvPr/>
        </p:nvSpPr>
        <p:spPr>
          <a:xfrm>
            <a:off x="758952" y="5020056"/>
            <a:ext cx="4928616" cy="97840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$17,000 versus $4,000. The $13,000 difference is everything the foreman GIVES UP by opening the shop — a year of wages he will no longer earn and a year of interest his savings will no longer generate.</a:t>
            </a:r>
            <a:endParaRPr lang="en-US" sz="900" dirty="0"/>
          </a:p>
          <a:p>
            <a:pPr indent="0" marL="0">
              <a:lnSpc>
                <a:spcPts val="1300"/>
              </a:lnSpc>
              <a:buNone/>
            </a:pPr>
            <a:endParaRPr lang="en-US" sz="900" dirty="0"/>
          </a:p>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An accountant cannot record these, because no money changed hands. An economist must, because they are exactly what the decision is about.</a:t>
            </a:r>
            <a:endParaRPr lang="en-US" sz="900" dirty="0"/>
          </a:p>
        </p:txBody>
      </p:sp>
      <p:pic>
        <p:nvPicPr>
          <p:cNvPr id="11" name="Image 0" descr="figs/m9_profit.png">    </p:cNvPr>
          <p:cNvPicPr>
            <a:picLocks noChangeAspect="1"/>
          </p:cNvPicPr>
          <p:nvPr/>
        </p:nvPicPr>
        <p:blipFill>
          <a:blip r:embed="rId1"/>
          <a:stretch>
            <a:fillRect/>
          </a:stretch>
        </p:blipFill>
        <p:spPr>
          <a:xfrm>
            <a:off x="6126480" y="2250759"/>
            <a:ext cx="5577840" cy="26308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FLINT, MICHIGAN, 1978</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GM Plant Manager — and Worksheet ✦1</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Text 4"/>
          <p:cNvSpPr/>
          <p:nvPr/>
        </p:nvSpPr>
        <p:spPr>
          <a:xfrm>
            <a:off x="502920" y="1417320"/>
            <a:ext cx="5532120" cy="77724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After the 1973 OPEC oil shock, demand for large American cars collapsed. A GM plant manager earns $45,000/year. Running the division loses $2M in accounting terms (TR $18M, explicit costs $20M). He could instead consult for a Japanese firm at $60,000/year, or invest the $5M in plant capital elsewhere at 8%.</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286000"/>
          <a:ext cx="5532120" cy="914400"/>
        </p:xfrm>
        <a:graphic>
          <a:graphicData uri="http://schemas.openxmlformats.org/drawingml/2006/table">
            <a:tbl>
              <a:tblPr/>
              <a:tblGrid>
                <a:gridCol w="1920240"/>
                <a:gridCol w="2194560"/>
                <a:gridCol w="1417320"/>
              </a:tblGrid>
              <a:tr h="310896">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ITEM</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COMPUTATION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Accounting profit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$18M − $20M</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−$2,000,000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Forgone consulting salary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$60,000 − $45,000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$15,000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Forgone capital return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8% × $5,000,000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$400,000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Total implicit costs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$15,000 + $400,000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$415,000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ECONOMIC PROFIT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−$2,000,000 − $415,000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−$2,415,000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4251960"/>
            <a:ext cx="5532120" cy="9601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9" name="Text 6"/>
          <p:cNvSpPr/>
          <p:nvPr/>
        </p:nvSpPr>
        <p:spPr>
          <a:xfrm>
            <a:off x="758952" y="4434840"/>
            <a:ext cx="502005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INTERPRETATION</a:t>
            </a:r>
            <a:endParaRPr lang="en-US" sz="1550" dirty="0"/>
          </a:p>
        </p:txBody>
      </p:sp>
      <p:sp>
        <p:nvSpPr>
          <p:cNvPr id="10" name="Text 7"/>
          <p:cNvSpPr/>
          <p:nvPr/>
        </p:nvSpPr>
        <p:spPr>
          <a:xfrm>
            <a:off x="758952" y="4837176"/>
            <a:ext cx="5020056" cy="1371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He is earning FAR LESS than his best alternatives — by $2.415M once the capital is counted. He should NOT stay, and neither should the capital. This is the signal the market is sending.</a:t>
            </a:r>
            <a:endParaRPr lang="en-US" sz="850" dirty="0"/>
          </a:p>
        </p:txBody>
      </p:sp>
      <p:sp>
        <p:nvSpPr>
          <p:cNvPr id="11" name="Shape 8"/>
          <p:cNvSpPr/>
          <p:nvPr/>
        </p:nvSpPr>
        <p:spPr>
          <a:xfrm>
            <a:off x="502920" y="5349240"/>
            <a:ext cx="5532120" cy="777240"/>
          </a:xfrm>
          <a:prstGeom prst="rect">
            <a:avLst/>
          </a:prstGeom>
          <a:solidFill>
            <a:srgbClr val="1A2E4A"/>
          </a:solidFill>
          <a:ln/>
        </p:spPr>
      </p:sp>
      <p:sp>
        <p:nvSpPr>
          <p:cNvPr id="12" name="Text 9"/>
          <p:cNvSpPr/>
          <p:nvPr/>
        </p:nvSpPr>
        <p:spPr>
          <a:xfrm>
            <a:off x="758952" y="5477256"/>
            <a:ext cx="502005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NOTE WHAT IS DOING THE WORK</a:t>
            </a:r>
            <a:endParaRPr lang="en-US" sz="1050" dirty="0"/>
          </a:p>
        </p:txBody>
      </p:sp>
      <p:sp>
        <p:nvSpPr>
          <p:cNvPr id="13" name="Text 10"/>
          <p:cNvSpPr/>
          <p:nvPr/>
        </p:nvSpPr>
        <p:spPr>
          <a:xfrm>
            <a:off x="758952" y="5751576"/>
            <a:ext cx="5020056"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forgone SALARY is $15,000 — trivial. The forgone CAPITAL RETURN is $400,000. Capital, not the manager, is the resource whose misallocation matters here.</a:t>
            </a:r>
            <a:endParaRPr lang="en-US" sz="850" dirty="0"/>
          </a:p>
        </p:txBody>
      </p:sp>
      <p:sp>
        <p:nvSpPr>
          <p:cNvPr id="14" name="Shape 11"/>
          <p:cNvSpPr/>
          <p:nvPr/>
        </p:nvSpPr>
        <p:spPr>
          <a:xfrm>
            <a:off x="6309360" y="1417320"/>
            <a:ext cx="5376672" cy="2194560"/>
          </a:xfrm>
          <a:prstGeom prst="rect">
            <a:avLst/>
          </a:prstGeom>
          <a:solidFill>
            <a:srgbClr val="1A2E4A"/>
          </a:solidFill>
          <a:ln/>
        </p:spPr>
      </p:sp>
      <p:sp>
        <p:nvSpPr>
          <p:cNvPr id="15" name="Text 12"/>
          <p:cNvSpPr/>
          <p:nvPr/>
        </p:nvSpPr>
        <p:spPr>
          <a:xfrm>
            <a:off x="6565392" y="1545336"/>
            <a:ext cx="486460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✦1  WHY ACCOUNTING PROFIT MISLEADS</a:t>
            </a:r>
            <a:endParaRPr lang="en-US" sz="1050" dirty="0"/>
          </a:p>
        </p:txBody>
      </p:sp>
      <p:sp>
        <p:nvSpPr>
          <p:cNvPr id="16" name="Text 13"/>
          <p:cNvSpPr/>
          <p:nvPr/>
        </p:nvSpPr>
        <p:spPr>
          <a:xfrm>
            <a:off x="6565392" y="1819656"/>
            <a:ext cx="4864608" cy="1664208"/>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The Detroit-to-Sun-Belt shift of the 1970s–80s was driven by NEGATIVE ECONOMIC PROFIT, not negative accounting profit. Many GM plants remained 'profitable' on the books even as workers and capital left.</a:t>
            </a:r>
            <a:endParaRPr lang="en-US" sz="1000" dirty="0"/>
          </a:p>
          <a:p>
            <a:pPr indent="0" marL="0">
              <a:lnSpc>
                <a:spcPts val="1400"/>
              </a:lnSpc>
              <a:buNone/>
            </a:pPr>
            <a:endParaRPr lang="en-US" sz="1000" dirty="0"/>
          </a:p>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THE MECHANISM: accounting profit compares revenue to what you SPENT. Economic profit compares it to what you COULD HAVE EARNED ELSEWHERE. Capital flows toward the higher RETURN, not toward the positive number — so a plant earning 2% while capital earns 12% in Tennessee is losing $10 on every $100 tied up in it, and it will be closed even though it 'makes money'.</a:t>
            </a:r>
            <a:endParaRPr lang="en-US" sz="1000" dirty="0"/>
          </a:p>
        </p:txBody>
      </p:sp>
      <p:sp>
        <p:nvSpPr>
          <p:cNvPr id="17" name="Shape 14"/>
          <p:cNvSpPr/>
          <p:nvPr/>
        </p:nvSpPr>
        <p:spPr>
          <a:xfrm>
            <a:off x="6309360" y="3794760"/>
            <a:ext cx="5376672" cy="2331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8" name="Text 15"/>
          <p:cNvSpPr/>
          <p:nvPr/>
        </p:nvSpPr>
        <p:spPr>
          <a:xfrm>
            <a:off x="6565392" y="3977640"/>
            <a:ext cx="486460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A MODERN EXAMPLE WHERE THEY DIVERGE</a:t>
            </a:r>
            <a:endParaRPr lang="en-US" sz="1550" dirty="0"/>
          </a:p>
        </p:txBody>
      </p:sp>
      <p:sp>
        <p:nvSpPr>
          <p:cNvPr id="19" name="Text 16"/>
          <p:cNvSpPr/>
          <p:nvPr/>
        </p:nvSpPr>
        <p:spPr>
          <a:xfrm>
            <a:off x="6565392" y="4379976"/>
            <a:ext cx="4864608" cy="150876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ANY OWNER-OPERATED SMALL BUSINESS. A restaurant owner who works 70 hours a week and reports $60,000 in accounting profit may be earning a NEGATIVE economic profit if the same hours would earn $85,000 as an employed chef. The business 'makes money' and destroys value simultaneously.</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OTHERS: a family farm on land worth $4M at 5% forgone rent; a start-up burning venture capital that shows accounting profit only because founder equity is uncosted; a firm holding an appreciated building it uses rent-free — the forgone rent is a real implicit cost that never appears on the income statement.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02</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Four Market Types</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What a Firm Is</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Identify the four market types; distinguish the two meanings of short run; define the firm and explain why firms exist at all.</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THE MAP FOR MODULES 10 AND 11</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Four Market Types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286000"/>
                <a:gridCol w="1463040"/>
                <a:gridCol w="1828800"/>
                <a:gridCol w="2468880"/>
                <a:gridCol w="1463040"/>
                <a:gridCol w="1673352"/>
              </a:tblGrid>
              <a:tr h="38404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MARKET TYPE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 OF FIRMS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PRODUCT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PRICE CONTROL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ENTRY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HISTORICAL EXAMPLE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8404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PERFECT COMPETITION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 very large number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Standardized / identical</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NONE — the firm is a PRICE TAKER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Very easy, no obstacles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Wheat and corn farmers, 1960s–70s Midwest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MONOPOLISTIC COMPETITION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Many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DIFFERENTIATED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Some, within narrow limits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Relatively easy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Retail trade, restaurants, clothing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8404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OLIGOPOLY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FEW</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Standardized OR differentiated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Limited by mutual interdependence; considerable with collusion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Significant obstacles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U.S. Big Three automakers — GM, Ford, Chrysler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MONOPOLY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ONE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Unique; no close substitutes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FULL price setter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BLOCKED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AT&amp;T Bell System before the 1984 breakup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02920" y="3749040"/>
          <a:ext cx="11183112" cy="914400"/>
        </p:xfrm>
        <a:graphic>
          <a:graphicData uri="http://schemas.openxmlformats.org/drawingml/2006/table">
            <a:tbl>
              <a:tblPr/>
              <a:tblGrid>
                <a:gridCol w="3383280"/>
                <a:gridCol w="2743200"/>
                <a:gridCol w="5056632"/>
              </a:tblGrid>
              <a:tr h="27432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CLASSIFY THESE 1970s–80s INDUSTRIES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MARKET TYPE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KEY EVIDENCE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U.S. corn farming (Iowa, 1972)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PERFECT COMPETITION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Tens of thousands of growers; corn is a graded commodity; no farmer's output moves the Chicago price.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U.S. airline industry before deregulation (1975)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REGULATED OLIGOPOLY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CAB set routes and fares; a handful of trunk carriers; entry legally blocked rather than economically blocked.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IBM personal computers (1981)</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MONOPOLISTIC COMPETITION / early OLIGOPOLY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Many makers, but branded and differentiated products with real price discretion; the open architecture then invited clone entry.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U.S. long-distance telephone (AT&amp;T, 1970)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MONOPOLY — a regulated natural monopoly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One seller, no substitute, entry blocked by statute; huge network fixed costs made MES exceed market demand.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4"/>
          <p:cNvSpPr/>
          <p:nvPr/>
        </p:nvSpPr>
        <p:spPr>
          <a:xfrm>
            <a:off x="502920" y="5577840"/>
            <a:ext cx="11183112" cy="548640"/>
          </a:xfrm>
          <a:prstGeom prst="rect">
            <a:avLst/>
          </a:prstGeom>
          <a:solidFill>
            <a:srgbClr val="1A2E4A"/>
          </a:solidFill>
          <a:ln/>
        </p:spPr>
      </p:sp>
      <p:sp>
        <p:nvSpPr>
          <p:cNvPr id="9" name="Text 5"/>
          <p:cNvSpPr/>
          <p:nvPr/>
        </p:nvSpPr>
        <p:spPr>
          <a:xfrm>
            <a:off x="758952" y="57058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✦2  WHY AT&amp;T WAS BROKEN UP IN 1984</a:t>
            </a:r>
            <a:endParaRPr lang="en-US" sz="1050" dirty="0"/>
          </a:p>
        </p:txBody>
      </p:sp>
      <p:sp>
        <p:nvSpPr>
          <p:cNvPr id="10" name="Text 6"/>
          <p:cNvSpPr/>
          <p:nvPr/>
        </p:nvSpPr>
        <p:spPr>
          <a:xfrm>
            <a:off x="758952" y="590702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AT&amp;T was a MONOPOLY. The problem that market type creates: P &gt; MC, output below the efficient level, and a deadweight loss (Module 4) — plus no competitive pressure on cost or innovation. The 1984 divestiture split local service from long distance and opened long distance to entry by MCI and Sprint. Long-distance prices FELL sharply — roughly 40% in real terms over the following decade.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TWO MEANINGS, ONE PHRASE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Short Run and Long Run — Say Which One You Mean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Shape 4"/>
          <p:cNvSpPr/>
          <p:nvPr/>
        </p:nvSpPr>
        <p:spPr>
          <a:xfrm>
            <a:off x="502920" y="1444752"/>
            <a:ext cx="3611880" cy="2148840"/>
          </a:xfrm>
          <a:prstGeom prst="rect">
            <a:avLst/>
          </a:prstGeom>
          <a:solidFill>
            <a:srgbClr val="E8EDF3"/>
          </a:solidFill>
          <a:ln/>
        </p:spPr>
      </p:sp>
      <p:sp>
        <p:nvSpPr>
          <p:cNvPr id="7" name="Shape 5"/>
          <p:cNvSpPr/>
          <p:nvPr/>
        </p:nvSpPr>
        <p:spPr>
          <a:xfrm>
            <a:off x="704088" y="1645920"/>
            <a:ext cx="457200" cy="457200"/>
          </a:xfrm>
          <a:prstGeom prst="ellipse">
            <a:avLst/>
          </a:prstGeom>
          <a:solidFill>
            <a:srgbClr val="1A2E4A"/>
          </a:solidFill>
          <a:ln/>
        </p:spPr>
      </p:sp>
      <p:sp>
        <p:nvSpPr>
          <p:cNvPr id="8" name="Text 6"/>
          <p:cNvSpPr/>
          <p:nvPr/>
        </p:nvSpPr>
        <p:spPr>
          <a:xfrm>
            <a:off x="704088" y="1645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645920"/>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SHORT RUN — the PRODUCTION sense</a:t>
            </a:r>
            <a:endParaRPr lang="en-US" sz="1450" dirty="0"/>
          </a:p>
        </p:txBody>
      </p:sp>
      <p:sp>
        <p:nvSpPr>
          <p:cNvPr id="10" name="Text 8"/>
          <p:cNvSpPr/>
          <p:nvPr/>
        </p:nvSpPr>
        <p:spPr>
          <a:xfrm>
            <a:off x="722376" y="2194560"/>
            <a:ext cx="3154680" cy="11887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At least one factor of production is FIXED — usually CAPITAL (plant, equipment, land).</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This is the sense used in Module 2 and in Parts 4–5 today. It is what generates the law of diminishing returns and the U-shaped cost curves.</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TEST: can the firm change its plant size? If no, you are in the short run in this sense.</a:t>
            </a:r>
            <a:endParaRPr lang="en-US" sz="900" dirty="0"/>
          </a:p>
        </p:txBody>
      </p:sp>
      <p:sp>
        <p:nvSpPr>
          <p:cNvPr id="11" name="Shape 9"/>
          <p:cNvSpPr/>
          <p:nvPr/>
        </p:nvSpPr>
        <p:spPr>
          <a:xfrm>
            <a:off x="4315968" y="1444752"/>
            <a:ext cx="3611880" cy="2148840"/>
          </a:xfrm>
          <a:prstGeom prst="rect">
            <a:avLst/>
          </a:prstGeom>
          <a:solidFill>
            <a:srgbClr val="E8EDF3"/>
          </a:solidFill>
          <a:ln/>
        </p:spPr>
      </p:sp>
      <p:sp>
        <p:nvSpPr>
          <p:cNvPr id="12" name="Shape 10"/>
          <p:cNvSpPr/>
          <p:nvPr/>
        </p:nvSpPr>
        <p:spPr>
          <a:xfrm>
            <a:off x="4517136" y="1645920"/>
            <a:ext cx="457200" cy="457200"/>
          </a:xfrm>
          <a:prstGeom prst="ellipse">
            <a:avLst/>
          </a:prstGeom>
          <a:solidFill>
            <a:srgbClr val="C0892E"/>
          </a:solidFill>
          <a:ln/>
        </p:spPr>
      </p:sp>
      <p:sp>
        <p:nvSpPr>
          <p:cNvPr id="13" name="Text 11"/>
          <p:cNvSpPr/>
          <p:nvPr/>
        </p:nvSpPr>
        <p:spPr>
          <a:xfrm>
            <a:off x="4517136" y="1645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93208" y="1645920"/>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SHORT RUN — the MARKET STRUCTURE sense</a:t>
            </a:r>
            <a:endParaRPr lang="en-US" sz="1450" dirty="0"/>
          </a:p>
        </p:txBody>
      </p:sp>
      <p:sp>
        <p:nvSpPr>
          <p:cNvPr id="15" name="Text 13"/>
          <p:cNvSpPr/>
          <p:nvPr/>
        </p:nvSpPr>
        <p:spPr>
          <a:xfrm>
            <a:off x="4535424" y="2194560"/>
            <a:ext cx="3154680" cy="11887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There is insufficient time for ENTRY or EXIT of firms. The NUMBER OF FIRMS in the industry is fixed.</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This is the sense that matters in Module 10, where entry drives economic profit to zero in the long run.</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TEST: can new firms enter the industry? If no, you are in the short run in this sense.</a:t>
            </a:r>
            <a:endParaRPr lang="en-US" sz="900" dirty="0"/>
          </a:p>
        </p:txBody>
      </p:sp>
      <p:sp>
        <p:nvSpPr>
          <p:cNvPr id="16" name="Shape 14"/>
          <p:cNvSpPr/>
          <p:nvPr/>
        </p:nvSpPr>
        <p:spPr>
          <a:xfrm>
            <a:off x="8119872" y="1444752"/>
            <a:ext cx="3566160" cy="2148840"/>
          </a:xfrm>
          <a:prstGeom prst="rect">
            <a:avLst/>
          </a:prstGeom>
          <a:solidFill>
            <a:srgbClr val="E8EDF3"/>
          </a:solidFill>
          <a:ln/>
        </p:spPr>
      </p:sp>
      <p:sp>
        <p:nvSpPr>
          <p:cNvPr id="17" name="Shape 15"/>
          <p:cNvSpPr/>
          <p:nvPr/>
        </p:nvSpPr>
        <p:spPr>
          <a:xfrm>
            <a:off x="8321040" y="1645920"/>
            <a:ext cx="457200" cy="457200"/>
          </a:xfrm>
          <a:prstGeom prst="ellipse">
            <a:avLst/>
          </a:prstGeom>
          <a:solidFill>
            <a:srgbClr val="2A7F84"/>
          </a:solidFill>
          <a:ln/>
        </p:spPr>
      </p:sp>
      <p:sp>
        <p:nvSpPr>
          <p:cNvPr id="18" name="Text 16"/>
          <p:cNvSpPr/>
          <p:nvPr/>
        </p:nvSpPr>
        <p:spPr>
          <a:xfrm>
            <a:off x="8321040" y="1645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97112" y="1645920"/>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LONG RUN — both senses at once</a:t>
            </a:r>
            <a:endParaRPr lang="en-US" sz="1450" dirty="0"/>
          </a:p>
        </p:txBody>
      </p:sp>
      <p:sp>
        <p:nvSpPr>
          <p:cNvPr id="20" name="Text 18"/>
          <p:cNvSpPr/>
          <p:nvPr/>
        </p:nvSpPr>
        <p:spPr>
          <a:xfrm>
            <a:off x="8339328" y="2194560"/>
            <a:ext cx="3108960" cy="11887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ALL factors are variable AND entry and exit are FREE.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firm can build, scrap, or leave; the industry can gain or lose members. Nothing is fixed.</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Note that the long run is a STATE OF COMPLETE ADJUSTMENT, not a number of months. For a food cart it may be weeks; for a nuclear plant, decades.</a:t>
            </a:r>
            <a:endParaRPr lang="en-US" sz="900" dirty="0"/>
          </a:p>
        </p:txBody>
      </p:sp>
      <p:sp>
        <p:nvSpPr>
          <p:cNvPr id="21" name="Shape 19"/>
          <p:cNvSpPr/>
          <p:nvPr/>
        </p:nvSpPr>
        <p:spPr>
          <a:xfrm>
            <a:off x="502920" y="3794760"/>
            <a:ext cx="11183112" cy="1005840"/>
          </a:xfrm>
          <a:prstGeom prst="rect">
            <a:avLst/>
          </a:prstGeom>
          <a:solidFill>
            <a:srgbClr val="1A2E4A"/>
          </a:solidFill>
          <a:ln/>
        </p:spPr>
      </p:sp>
      <p:sp>
        <p:nvSpPr>
          <p:cNvPr id="22" name="Text 20"/>
          <p:cNvSpPr/>
          <p:nvPr/>
        </p:nvSpPr>
        <p:spPr>
          <a:xfrm>
            <a:off x="758952" y="39227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CRITICAL — IN MODULE 10 BOTH MEANINGS ARE ACTIVE SIMULTANEOUSLY</a:t>
            </a:r>
            <a:endParaRPr lang="en-US" sz="1050" dirty="0"/>
          </a:p>
        </p:txBody>
      </p:sp>
      <p:sp>
        <p:nvSpPr>
          <p:cNvPr id="23" name="Text 21"/>
          <p:cNvSpPr/>
          <p:nvPr/>
        </p:nvSpPr>
        <p:spPr>
          <a:xfrm>
            <a:off x="758952" y="4197096"/>
            <a:ext cx="10671048" cy="47548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A perfectly competitive firm's SHORT-RUN supply decision uses the production sense (capital fixed → MC rises). The industry's LONG-RUN zero-profit result uses the market-structure sense (entry until π = 0). Clarify which you mean by naming the fixed thing: 'the short run, in which the PLANT is fixed' or 'the short run, in which the NUMBER OF FIRMS is fixed.'</a:t>
            </a:r>
            <a:endParaRPr lang="en-US" sz="900" dirty="0"/>
          </a:p>
        </p:txBody>
      </p:sp>
      <p:sp>
        <p:nvSpPr>
          <p:cNvPr id="24" name="Shape 22"/>
          <p:cNvSpPr/>
          <p:nvPr/>
        </p:nvSpPr>
        <p:spPr>
          <a:xfrm>
            <a:off x="502920" y="4983480"/>
            <a:ext cx="11183112" cy="1143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5" name="Text 23"/>
          <p:cNvSpPr/>
          <p:nvPr/>
        </p:nvSpPr>
        <p:spPr>
          <a:xfrm>
            <a:off x="758952" y="5166360"/>
            <a:ext cx="1067104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SUNK COST — a third distinction that is not about time at all</a:t>
            </a:r>
            <a:endParaRPr lang="en-US" sz="1550" dirty="0"/>
          </a:p>
        </p:txBody>
      </p:sp>
      <p:sp>
        <p:nvSpPr>
          <p:cNvPr id="26" name="Text 24"/>
          <p:cNvSpPr/>
          <p:nvPr/>
        </p:nvSpPr>
        <p:spPr>
          <a:xfrm>
            <a:off x="758952" y="5568696"/>
            <a:ext cx="10671048" cy="320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cost already incurred that CANNOT BE RECOVERED regardless of any future decision. A sunk cost is IRRELEVANT to every forward-looking choice, because it is identical under every option — and a cost that does not vary across options cannot discriminate between them.</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Fixed ≠ sunk. A monthly lease is FIXED with respect to output but NOT sunk if it can be cancelled. Custom equipment with no resale market is BOTH.</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COASE (1937)</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IS a Firm — and Why Do Firms Exist?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Shape 4"/>
          <p:cNvSpPr/>
          <p:nvPr/>
        </p:nvSpPr>
        <p:spPr>
          <a:xfrm>
            <a:off x="502920" y="1417320"/>
            <a:ext cx="553212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502005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TWO WAYS TO COORDINATE ECONOMIC ACTIVITY</a:t>
            </a:r>
            <a:endParaRPr lang="en-US" sz="1550" dirty="0"/>
          </a:p>
        </p:txBody>
      </p:sp>
      <p:sp>
        <p:nvSpPr>
          <p:cNvPr id="8" name="Text 6"/>
          <p:cNvSpPr/>
          <p:nvPr/>
        </p:nvSpPr>
        <p:spPr>
          <a:xfrm>
            <a:off x="758952" y="2002536"/>
            <a:ext cx="502005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MARKETS: coordination by PRICE. Prices signal value; decisions are autonomous, decentralized and voluntary. Nobody gives an order.</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FIRMS: coordination by AUTHORITY. Managers issue commands; authority concentrates with owners. Nobody quotes a price to the person at the next desk.</a:t>
            </a:r>
            <a:endParaRPr lang="en-US" sz="850" dirty="0"/>
          </a:p>
        </p:txBody>
      </p:sp>
      <p:sp>
        <p:nvSpPr>
          <p:cNvPr id="9" name="Shape 7"/>
          <p:cNvSpPr/>
          <p:nvPr/>
        </p:nvSpPr>
        <p:spPr>
          <a:xfrm>
            <a:off x="502920" y="2926080"/>
            <a:ext cx="5532120" cy="1143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310896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COASE'S ANSWER (1937)</a:t>
            </a:r>
            <a:endParaRPr lang="en-US" sz="1550" dirty="0"/>
          </a:p>
        </p:txBody>
      </p:sp>
      <p:sp>
        <p:nvSpPr>
          <p:cNvPr id="11" name="Text 9"/>
          <p:cNvSpPr/>
          <p:nvPr/>
        </p:nvSpPr>
        <p:spPr>
          <a:xfrm>
            <a:off x="758952" y="3511296"/>
            <a:ext cx="5020056" cy="320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Firms exist when the TRANSACTION COSTS of using markets exceed the cost of organizing the same activity internally.</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TRANSACTION COSTS: the cost of USING THE MARKET — searching for a counterparty, negotiating, writing and enforcing a contract, bearing the risk of hold-up.</a:t>
            </a:r>
            <a:endParaRPr lang="en-US" sz="850" dirty="0"/>
          </a:p>
        </p:txBody>
      </p:sp>
      <p:sp>
        <p:nvSpPr>
          <p:cNvPr id="12" name="Shape 10"/>
          <p:cNvSpPr/>
          <p:nvPr/>
        </p:nvSpPr>
        <p:spPr>
          <a:xfrm>
            <a:off x="502920" y="4206240"/>
            <a:ext cx="5532120" cy="1051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758952" y="4389120"/>
            <a:ext cx="502005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FIRM-SPECIFIC ASSETS</a:t>
            </a:r>
            <a:endParaRPr lang="en-US" sz="1550" dirty="0"/>
          </a:p>
        </p:txBody>
      </p:sp>
      <p:sp>
        <p:nvSpPr>
          <p:cNvPr id="14" name="Text 12"/>
          <p:cNvSpPr/>
          <p:nvPr/>
        </p:nvSpPr>
        <p:spPr>
          <a:xfrm>
            <a:off x="758952" y="4791456"/>
            <a:ext cx="5020056" cy="2286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Skills, relationships and knowledge with value ONLY INSIDE a particular firm. When the relationship ends, that value is DESTROYED for both sides — which is why long relationships are protected by contracts, and why displaced workers in Module 8 lost so much.</a:t>
            </a:r>
            <a:endParaRPr lang="en-US" sz="850" dirty="0"/>
          </a:p>
        </p:txBody>
      </p:sp>
      <p:sp>
        <p:nvSpPr>
          <p:cNvPr id="15" name="Shape 13"/>
          <p:cNvSpPr/>
          <p:nvPr/>
        </p:nvSpPr>
        <p:spPr>
          <a:xfrm>
            <a:off x="6309360" y="1417320"/>
            <a:ext cx="5376672" cy="1371600"/>
          </a:xfrm>
          <a:prstGeom prst="rect">
            <a:avLst/>
          </a:prstGeom>
          <a:solidFill>
            <a:srgbClr val="1A2E4A"/>
          </a:solidFill>
          <a:ln/>
        </p:spPr>
      </p:sp>
      <p:sp>
        <p:nvSpPr>
          <p:cNvPr id="16" name="Text 14"/>
          <p:cNvSpPr/>
          <p:nvPr/>
        </p:nvSpPr>
        <p:spPr>
          <a:xfrm>
            <a:off x="6492240" y="1545336"/>
            <a:ext cx="5010912" cy="8046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"The firm in a capitalist economy is a miniature,</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privately owned, CENTRALLY PLANNED economy."</a:t>
            </a:r>
            <a:endParaRPr lang="en-US" sz="1600" dirty="0"/>
          </a:p>
        </p:txBody>
      </p:sp>
      <p:sp>
        <p:nvSpPr>
          <p:cNvPr id="17" name="Text 15"/>
          <p:cNvSpPr/>
          <p:nvPr/>
        </p:nvSpPr>
        <p:spPr>
          <a:xfrm>
            <a:off x="6492240" y="2276856"/>
            <a:ext cx="5010912" cy="402336"/>
          </a:xfrm>
          <a:prstGeom prst="rect">
            <a:avLst/>
          </a:prstGeom>
          <a:noFill/>
          <a:ln/>
        </p:spPr>
        <p:txBody>
          <a:bodyPr wrap="square" lIns="0" tIns="0" rIns="0" bIns="0" rtlCol="0" anchor="ctr"/>
          <a:lstStyle/>
          <a:p>
            <a:pPr algn="ctr" indent="0" marL="0">
              <a:buNone/>
            </a:pPr>
            <a:r>
              <a:rPr lang="en-US" sz="950" i="1" dirty="0">
                <a:solidFill>
                  <a:srgbClr val="E8C87A"/>
                </a:solidFill>
                <a:latin typeface="Calibri" pitchFamily="34" charset="0"/>
                <a:ea typeface="Calibri" pitchFamily="34" charset="-122"/>
                <a:cs typeface="Calibri" pitchFamily="34" charset="-120"/>
              </a:rPr>
              <a:t>CORE Econ. Inside the boundary, allocation is by command; outside it, by price.</a:t>
            </a:r>
            <a:endParaRPr lang="en-US" sz="950" dirty="0"/>
          </a:p>
          <a:p>
            <a:pPr algn="ctr" indent="0" marL="0">
              <a:buNone/>
            </a:pPr>
            <a:r>
              <a:rPr lang="en-US" sz="950" i="1" dirty="0">
                <a:solidFill>
                  <a:srgbClr val="E8C87A"/>
                </a:solidFill>
                <a:latin typeface="Calibri" pitchFamily="34" charset="0"/>
                <a:ea typeface="Calibri" pitchFamily="34" charset="-122"/>
                <a:cs typeface="Calibri" pitchFamily="34" charset="-120"/>
              </a:rPr>
              <a:t>The boundary itself is an economic decision — the make-or-buy question.</a:t>
            </a:r>
            <a:endParaRPr lang="en-US" sz="950" dirty="0"/>
          </a:p>
        </p:txBody>
      </p:sp>
      <p:sp>
        <p:nvSpPr>
          <p:cNvPr id="18" name="Shape 16"/>
          <p:cNvSpPr/>
          <p:nvPr/>
        </p:nvSpPr>
        <p:spPr>
          <a:xfrm>
            <a:off x="6309360" y="2926080"/>
            <a:ext cx="5376672" cy="1143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9" name="Text 17"/>
          <p:cNvSpPr/>
          <p:nvPr/>
        </p:nvSpPr>
        <p:spPr>
          <a:xfrm>
            <a:off x="6565392" y="3108960"/>
            <a:ext cx="4864608"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NEXUS OF CONTRACTS</a:t>
            </a:r>
            <a:endParaRPr lang="en-US" sz="1550" dirty="0"/>
          </a:p>
        </p:txBody>
      </p:sp>
      <p:sp>
        <p:nvSpPr>
          <p:cNvPr id="20" name="Text 18"/>
          <p:cNvSpPr/>
          <p:nvPr/>
        </p:nvSpPr>
        <p:spPr>
          <a:xfrm>
            <a:off x="6565392" y="3511296"/>
            <a:ext cx="4864608" cy="320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firm is not a thing but a SET OF CONTRACTS among owners, managers, workers, suppliers and customers. On this view the firm has no 'inside' — only a dense cluster of agreements. Jensen &amp; Meckling (1976).</a:t>
            </a:r>
            <a:endParaRPr lang="en-US" sz="850" dirty="0"/>
          </a:p>
        </p:txBody>
      </p:sp>
      <p:sp>
        <p:nvSpPr>
          <p:cNvPr id="21" name="Shape 19"/>
          <p:cNvSpPr/>
          <p:nvPr/>
        </p:nvSpPr>
        <p:spPr>
          <a:xfrm>
            <a:off x="6309360" y="4206240"/>
            <a:ext cx="5376672" cy="1051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2" name="Text 20"/>
          <p:cNvSpPr/>
          <p:nvPr/>
        </p:nvSpPr>
        <p:spPr>
          <a:xfrm>
            <a:off x="6565392" y="4389120"/>
            <a:ext cx="486460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SEPARATION OF OWNERSHIP AND CONTROL</a:t>
            </a:r>
            <a:endParaRPr lang="en-US" sz="1550" dirty="0"/>
          </a:p>
        </p:txBody>
      </p:sp>
      <p:sp>
        <p:nvSpPr>
          <p:cNvPr id="23" name="Text 21"/>
          <p:cNvSpPr/>
          <p:nvPr/>
        </p:nvSpPr>
        <p:spPr>
          <a:xfrm>
            <a:off x="6565392" y="4791456"/>
            <a:ext cx="4864608" cy="2286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Owners ≠ managers. The people who bear the residual risk are not the people making the decisions — which creates a PRINCIPAL-AGENT problem, and that is Part 3.</a:t>
            </a:r>
            <a:endParaRPr lang="en-US" sz="850" dirty="0"/>
          </a:p>
        </p:txBody>
      </p:sp>
      <p:sp>
        <p:nvSpPr>
          <p:cNvPr id="24" name="Shape 22"/>
          <p:cNvSpPr/>
          <p:nvPr/>
        </p:nvSpPr>
        <p:spPr>
          <a:xfrm>
            <a:off x="502920" y="5394960"/>
            <a:ext cx="11183112" cy="731520"/>
          </a:xfrm>
          <a:prstGeom prst="rect">
            <a:avLst/>
          </a:prstGeom>
          <a:solidFill>
            <a:srgbClr val="1A2E4A"/>
          </a:solidFill>
          <a:ln/>
        </p:spPr>
      </p:sp>
      <p:sp>
        <p:nvSpPr>
          <p:cNvPr id="25" name="Text 23"/>
          <p:cNvSpPr/>
          <p:nvPr/>
        </p:nvSpPr>
        <p:spPr>
          <a:xfrm>
            <a:off x="758952" y="55229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MAKE-OR-BUY QUESTION, RESTATED</a:t>
            </a:r>
            <a:endParaRPr lang="en-US" sz="1050" dirty="0"/>
          </a:p>
        </p:txBody>
      </p:sp>
      <p:sp>
        <p:nvSpPr>
          <p:cNvPr id="26" name="Text 24"/>
          <p:cNvSpPr/>
          <p:nvPr/>
        </p:nvSpPr>
        <p:spPr>
          <a:xfrm>
            <a:off x="758952" y="5797296"/>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Module 10's version of this is the firm's boundary decision: buy from an external competitive market, produce internally, or contract with an external monopolist. Coase's rule chooses whichever has the lower TOTAL cost — production cost PLUS transaction cost.</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03</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Principal-Agent Problems</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Inside the Firm</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Explain asymmetric information and the separation of ownership and control; apply principal-agent theory within firms.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THE HIERARCHY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Four Layers, Three Principal-Agent Relationships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926080"/>
                <a:gridCol w="4206240"/>
                <a:gridCol w="4050792"/>
              </a:tblGrid>
              <a:tr h="38404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LAYER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ROLE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THE ASYMMETRY BELOW THEM</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8404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 SHAREHOLDERS  (principals)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Own the firm; receive RESIDUAL profits — what is left after everyone else is paid; set long-term STRATEGY.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Cannot observe whether managers are maximizing firm value or their own salary, empire and job security.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 BOARD OF DIRECTORS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Monitor managers; can hire and fire MANAGEMENT; approve major decisions.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Depends on information managers supply. A board is only as good as the reporting it receives.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8404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3. MANAGERS  (agents to shareholders, principals to workers)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Implement strategy; assign tasks to workers. Their interests may DIVERGE from shareholders'.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Do not always know what workers actually KNOW or DO on the floor.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4. WORKERS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Execute tasks. Hold detailed, local, tacit knowledge that never travels upward.</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3794760"/>
            <a:ext cx="361188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58952" y="3977640"/>
            <a:ext cx="309981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CONFLICT OF INTEREST</a:t>
            </a:r>
            <a:endParaRPr lang="en-US" sz="1550" dirty="0"/>
          </a:p>
        </p:txBody>
      </p:sp>
      <p:sp>
        <p:nvSpPr>
          <p:cNvPr id="9" name="Text 6"/>
          <p:cNvSpPr/>
          <p:nvPr/>
        </p:nvSpPr>
        <p:spPr>
          <a:xfrm>
            <a:off x="758952" y="4379976"/>
            <a:ext cx="309981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OWNERS WANT: maximum PROFIT and firm value.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MANAGERS MAY WANT: higher salary, a bigger EMPIRE, lower personal risk, longer job security.</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These are not the same objective, and only the manager can observe which one is being pursued.</a:t>
            </a:r>
            <a:endParaRPr lang="en-US" sz="850" dirty="0"/>
          </a:p>
        </p:txBody>
      </p:sp>
      <p:sp>
        <p:nvSpPr>
          <p:cNvPr id="10" name="Shape 7"/>
          <p:cNvSpPr/>
          <p:nvPr/>
        </p:nvSpPr>
        <p:spPr>
          <a:xfrm>
            <a:off x="4315968" y="3794760"/>
            <a:ext cx="361188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4572000" y="3977640"/>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THE STANDARD SOLUTIONS</a:t>
            </a:r>
            <a:endParaRPr lang="en-US" sz="1550" dirty="0"/>
          </a:p>
        </p:txBody>
      </p:sp>
      <p:sp>
        <p:nvSpPr>
          <p:cNvPr id="12" name="Text 9"/>
          <p:cNvSpPr/>
          <p:nvPr/>
        </p:nvSpPr>
        <p:spPr>
          <a:xfrm>
            <a:off x="4572000" y="4379976"/>
            <a:ext cx="309981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Link manager pay to STOCK PRICE (equity and options)</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BOARD monitoring, with the power to dismiss</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PERFORMANCE BONUSES tied to measurable outcomes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All three are attempts to align the agent's payoff with the principal's — and all three are answers to the same question: how do you pay for something you cannot see?</a:t>
            </a:r>
            <a:endParaRPr lang="en-US" sz="850" dirty="0"/>
          </a:p>
        </p:txBody>
      </p:sp>
      <p:sp>
        <p:nvSpPr>
          <p:cNvPr id="13" name="Shape 10"/>
          <p:cNvSpPr/>
          <p:nvPr/>
        </p:nvSpPr>
        <p:spPr>
          <a:xfrm>
            <a:off x="8119872" y="3794760"/>
            <a:ext cx="356616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8375904" y="3977640"/>
            <a:ext cx="3054096" cy="384048"/>
          </a:xfrm>
          <a:prstGeom prst="rect">
            <a:avLst/>
          </a:prstGeom>
          <a:noFill/>
          <a:ln/>
        </p:spPr>
        <p:txBody>
          <a:bodyPr wrap="square" lIns="0" tIns="0" rIns="0" bIns="0" rtlCol="0" anchor="ctr"/>
          <a:lstStyle/>
          <a:p>
            <a:pPr indent="0" marL="0">
              <a:buNone/>
            </a:pPr>
            <a:r>
              <a:rPr lang="en-US" sz="1200" b="1" dirty="0">
                <a:solidFill>
                  <a:srgbClr val="1A2E4A"/>
                </a:solidFill>
                <a:latin typeface="Cambria" pitchFamily="34" charset="0"/>
                <a:ea typeface="Cambria" pitchFamily="34" charset="-122"/>
                <a:cs typeface="Cambria" pitchFamily="34" charset="-120"/>
              </a:rPr>
              <a:t>ASYMMETRIC INFORMATION → MORAL HAZARD</a:t>
            </a:r>
            <a:endParaRPr lang="en-US" sz="1200" dirty="0"/>
          </a:p>
        </p:txBody>
      </p:sp>
      <p:sp>
        <p:nvSpPr>
          <p:cNvPr id="15" name="Text 12"/>
          <p:cNvSpPr/>
          <p:nvPr/>
        </p:nvSpPr>
        <p:spPr>
          <a:xfrm>
            <a:off x="8375904" y="4379976"/>
            <a:ext cx="305409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Principals CANNOT fully observe what agents actually do. That hidden ACTION, after the contract is signed, is MORAL HAZARD (Module 7, Part 4).</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Note that the firm does not eliminate the principal-agent problem — it RELOCATES it from the market into the hierarchy.</a:t>
            </a:r>
            <a:endParaRPr lang="en-US" sz="850" dirty="0"/>
          </a:p>
        </p:txBody>
      </p:sp>
      <p:sp>
        <p:nvSpPr>
          <p:cNvPr id="16" name="Shape 13"/>
          <p:cNvSpPr/>
          <p:nvPr/>
        </p:nvSpPr>
        <p:spPr>
          <a:xfrm>
            <a:off x="502920" y="5349240"/>
            <a:ext cx="11183112" cy="777240"/>
          </a:xfrm>
          <a:prstGeom prst="rect">
            <a:avLst/>
          </a:prstGeom>
          <a:solidFill>
            <a:srgbClr val="1A2E4A"/>
          </a:solidFill>
          <a:ln/>
        </p:spPr>
      </p:sp>
      <p:sp>
        <p:nvSpPr>
          <p:cNvPr id="17" name="Text 14"/>
          <p:cNvSpPr/>
          <p:nvPr/>
        </p:nvSpPr>
        <p:spPr>
          <a:xfrm>
            <a:off x="758952" y="54772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MARCUS OCCUPIES BOTH ROLES AT ONCE</a:t>
            </a:r>
            <a:endParaRPr lang="en-US" sz="1050" dirty="0"/>
          </a:p>
        </p:txBody>
      </p:sp>
      <p:sp>
        <p:nvSpPr>
          <p:cNvPr id="18" name="Text 15"/>
          <p:cNvSpPr/>
          <p:nvPr/>
        </p:nvSpPr>
        <p:spPr>
          <a:xfrm>
            <a:off x="758952" y="5751576"/>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MARCUS AS AGENT: DoorDash is the PRINCIPAL, Marcus is the AGENT — and, as Module 8 showed, the asymmetry runs backwards, with the platform holding the information.   ·   MARCUS AS PRINCIPAL: at his food cart, MARCUS is the principal and his employee is the AGENT.</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GM VS. TOYOTA, 1985</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Thirteen Layers, Six Layers, and One Cord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Text 4"/>
          <p:cNvSpPr/>
          <p:nvPr/>
        </p:nvSpPr>
        <p:spPr>
          <a:xfrm>
            <a:off x="502920" y="1417320"/>
            <a:ext cx="11155680" cy="502920"/>
          </a:xfrm>
          <a:prstGeom prst="rect">
            <a:avLst/>
          </a:prstGeom>
          <a:noFill/>
          <a:ln/>
        </p:spPr>
        <p:txBody>
          <a:bodyPr wrap="square" lIns="0" tIns="0" rIns="0" bIns="0" rtlCol="0" anchor="ctr"/>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By 1985 GM had 13 layers of management between the CEO and the assembly line. Toyota had 6. A GM worker who spots a defect must send it: worker → foreman → plant manager → regional manager → division VP → corporate manufacturing VP → CEO. Toyota's Andon cord lets any worker stop the line immediately.</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83112" cy="914400"/>
        </p:xfrm>
        <a:graphic>
          <a:graphicData uri="http://schemas.openxmlformats.org/drawingml/2006/table">
            <a:tbl>
              <a:tblPr/>
              <a:tblGrid>
                <a:gridCol w="3108960"/>
                <a:gridCol w="8074152"/>
              </a:tblGrid>
              <a:tr h="310896">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QUESTION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How many layers does information pass through?</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GM: 6 handoffs across 13 layers of hierarchy.   TOYOTA: effectively 0 — the worker acts directly.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What can happen at each layer?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ALL OF THEM: it gets FILTERED, DELAYED, DISTORTED, or DISAPPEARS. Only in the Toyota case is it ACTED ON IMMEDIATELY. Note that each intermediate manager has a private incentive to suppress bad news that reflects on their own unit.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Who is the 'agent' causing the problem?</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EVERY INTERMEDIATE MANAGER. Their private information is the defect report itself — and their private incentive is to minimize how much of it reaches the layer above.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How does the Andon cord solve it?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It ELIMINATES THE CHAIN. Authority is moved DOWN to the person who already holds the information, so the information no longer has to travel. You cannot distort a message that is never sent.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What does it cost?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REAL AND IMMEDIATE: stopping the line halts output for everyone. Toyota accepted a high short-run cost to buy a low long-run defect rate — and had to TRUST that workers would not abuse the authority.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4709160"/>
            <a:ext cx="11183112" cy="868680"/>
          </a:xfrm>
          <a:prstGeom prst="rect">
            <a:avLst/>
          </a:prstGeom>
          <a:solidFill>
            <a:srgbClr val="1A2E4A"/>
          </a:solidFill>
          <a:ln/>
        </p:spPr>
      </p:sp>
      <p:sp>
        <p:nvSpPr>
          <p:cNvPr id="9" name="Text 6"/>
          <p:cNvSpPr/>
          <p:nvPr/>
        </p:nvSpPr>
        <p:spPr>
          <a:xfrm>
            <a:off x="758952" y="48371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✦3  MARCUS AS AGENT SHAPES MARCUS AS PRINCIPAL</a:t>
            </a:r>
            <a:endParaRPr lang="en-US" sz="1050" dirty="0"/>
          </a:p>
        </p:txBody>
      </p:sp>
      <p:sp>
        <p:nvSpPr>
          <p:cNvPr id="10" name="Text 7"/>
          <p:cNvSpPr/>
          <p:nvPr/>
        </p:nvSpPr>
        <p:spPr>
          <a:xfrm>
            <a:off x="758952" y="5111496"/>
            <a:ext cx="10671048" cy="33832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Having experienced opaque algorithmic management, Marcus knows what an unpriceable job feels like. ADVERSE SELECTION (hidden type, before hiring): if he offers an opaque, variable wage he will attract only applicants with no better option — the worst pool. MORAL HAZARD (hidden action, after hiring): if he cannot observe effort he must either monitor, pay a piece rate, or pay an EFFICIENCY WAGE above market so that being fired is costly.</a:t>
            </a:r>
            <a:endParaRPr lang="en-US" sz="850" dirty="0"/>
          </a:p>
        </p:txBody>
      </p:sp>
      <p:sp>
        <p:nvSpPr>
          <p:cNvPr id="11" name="Shape 8"/>
          <p:cNvSpPr/>
          <p:nvPr/>
        </p:nvSpPr>
        <p:spPr>
          <a:xfrm>
            <a:off x="502920" y="5669280"/>
            <a:ext cx="11183112" cy="4572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2" name="Text 9"/>
          <p:cNvSpPr/>
          <p:nvPr/>
        </p:nvSpPr>
        <p:spPr>
          <a:xfrm>
            <a:off x="758952" y="5852160"/>
            <a:ext cx="10671048"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THE GENERAL LESSON FROM TOYOTA</a:t>
            </a:r>
            <a:endParaRPr lang="en-US" sz="1550" dirty="0"/>
          </a:p>
        </p:txBody>
      </p:sp>
      <p:sp>
        <p:nvSpPr>
          <p:cNvPr id="13" name="Text 10"/>
          <p:cNvSpPr/>
          <p:nvPr/>
        </p:nvSpPr>
        <p:spPr>
          <a:xfrm>
            <a:off x="758952" y="6254496"/>
            <a:ext cx="10671048" cy="-3657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cheapest solution to a principal-agent problem is often not a better contract but a REDESIGN OF WHO DECIDES — moving authority to wherever the information already is.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WORKSHEET ✦4</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1980s Shareholder Value Revolution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Shape 4"/>
          <p:cNvSpPr/>
          <p:nvPr/>
        </p:nvSpPr>
        <p:spPr>
          <a:xfrm>
            <a:off x="502920" y="1417320"/>
            <a:ext cx="11183112" cy="82296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29260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Shareholder Value Revolution tried to solve the principal-agent problem between shareholders and CEOs by linking CEO pay to the stock price. But this may have created a NEW principal-agent problem. What incentive problem was created — and why might workers and communities have been the 'losers' of this solution?</a:t>
            </a:r>
            <a:endParaRPr lang="en-US" sz="850" dirty="0"/>
          </a:p>
        </p:txBody>
      </p:sp>
      <p:sp>
        <p:nvSpPr>
          <p:cNvPr id="9" name="Shape 7"/>
          <p:cNvSpPr/>
          <p:nvPr/>
        </p:nvSpPr>
        <p:spPr>
          <a:xfrm>
            <a:off x="502920" y="2377440"/>
            <a:ext cx="3611880" cy="2194560"/>
          </a:xfrm>
          <a:prstGeom prst="rect">
            <a:avLst/>
          </a:prstGeom>
          <a:solidFill>
            <a:srgbClr val="E8EDF3"/>
          </a:solidFill>
          <a:ln/>
        </p:spPr>
      </p:sp>
      <p:sp>
        <p:nvSpPr>
          <p:cNvPr id="10" name="Shape 8"/>
          <p:cNvSpPr/>
          <p:nvPr/>
        </p:nvSpPr>
        <p:spPr>
          <a:xfrm>
            <a:off x="704088" y="2578608"/>
            <a:ext cx="457200" cy="457200"/>
          </a:xfrm>
          <a:prstGeom prst="ellipse">
            <a:avLst/>
          </a:prstGeom>
          <a:solidFill>
            <a:srgbClr val="1A2E4A"/>
          </a:solidFill>
          <a:ln/>
        </p:spPr>
      </p:sp>
      <p:sp>
        <p:nvSpPr>
          <p:cNvPr id="11" name="Text 9"/>
          <p:cNvSpPr/>
          <p:nvPr/>
        </p:nvSpPr>
        <p:spPr>
          <a:xfrm>
            <a:off x="704088"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25786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FIX</a:t>
            </a:r>
            <a:endParaRPr lang="en-US" sz="1600" dirty="0"/>
          </a:p>
        </p:txBody>
      </p:sp>
      <p:sp>
        <p:nvSpPr>
          <p:cNvPr id="13" name="Text 11"/>
          <p:cNvSpPr/>
          <p:nvPr/>
        </p:nvSpPr>
        <p:spPr>
          <a:xfrm>
            <a:off x="722376" y="3127248"/>
            <a:ext cx="3154680" cy="12344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CEO pay was linked to the STOCK PRICE via equity and options, so that the agent's payoff moved with the principal's wealth.</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It worked, in the narrow sense: it did align CEO pay with shareholder returns, and it did reduce the empire-building and perk-consumption problem the 1970s complained about.</a:t>
            </a:r>
            <a:endParaRPr lang="en-US" sz="900" dirty="0"/>
          </a:p>
        </p:txBody>
      </p:sp>
      <p:sp>
        <p:nvSpPr>
          <p:cNvPr id="14" name="Shape 12"/>
          <p:cNvSpPr/>
          <p:nvPr/>
        </p:nvSpPr>
        <p:spPr>
          <a:xfrm>
            <a:off x="4315968" y="2377440"/>
            <a:ext cx="3611880" cy="2194560"/>
          </a:xfrm>
          <a:prstGeom prst="rect">
            <a:avLst/>
          </a:prstGeom>
          <a:solidFill>
            <a:srgbClr val="E8EDF3"/>
          </a:solidFill>
          <a:ln/>
        </p:spPr>
      </p:sp>
      <p:sp>
        <p:nvSpPr>
          <p:cNvPr id="15" name="Shape 13"/>
          <p:cNvSpPr/>
          <p:nvPr/>
        </p:nvSpPr>
        <p:spPr>
          <a:xfrm>
            <a:off x="4517136" y="2578608"/>
            <a:ext cx="457200" cy="457200"/>
          </a:xfrm>
          <a:prstGeom prst="ellipse">
            <a:avLst/>
          </a:prstGeom>
          <a:solidFill>
            <a:srgbClr val="9E2A2B"/>
          </a:solidFill>
          <a:ln/>
        </p:spPr>
      </p:sp>
      <p:sp>
        <p:nvSpPr>
          <p:cNvPr id="16" name="Text 14"/>
          <p:cNvSpPr/>
          <p:nvPr/>
        </p:nvSpPr>
        <p:spPr>
          <a:xfrm>
            <a:off x="4517136"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93208" y="257860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THE NEW PROBLEM IT CREATED</a:t>
            </a:r>
            <a:endParaRPr lang="en-US" sz="1450" dirty="0"/>
          </a:p>
        </p:txBody>
      </p:sp>
      <p:sp>
        <p:nvSpPr>
          <p:cNvPr id="18" name="Text 16"/>
          <p:cNvSpPr/>
          <p:nvPr/>
        </p:nvSpPr>
        <p:spPr>
          <a:xfrm>
            <a:off x="4535424" y="3127248"/>
            <a:ext cx="3154680" cy="12344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stock price is a MEASURABLE PROXY for firm value — and the agent now has an incentive to maximize THE PROXY rather than the thing.</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Managers optimized for SHORT-RUN stock performance at the expense of LONG-RUN INVESTMENT and WORKERS: share buybacks over R&amp;D, layoffs announced to move the price, deferred maintenance, offshoring, pension conversions.</a:t>
            </a:r>
            <a:endParaRPr lang="en-US" sz="900" dirty="0"/>
          </a:p>
        </p:txBody>
      </p:sp>
      <p:sp>
        <p:nvSpPr>
          <p:cNvPr id="19" name="Shape 17"/>
          <p:cNvSpPr/>
          <p:nvPr/>
        </p:nvSpPr>
        <p:spPr>
          <a:xfrm>
            <a:off x="8119872" y="2377440"/>
            <a:ext cx="3566160" cy="2194560"/>
          </a:xfrm>
          <a:prstGeom prst="rect">
            <a:avLst/>
          </a:prstGeom>
          <a:solidFill>
            <a:srgbClr val="E8EDF3"/>
          </a:solidFill>
          <a:ln/>
        </p:spPr>
      </p:sp>
      <p:sp>
        <p:nvSpPr>
          <p:cNvPr id="20" name="Shape 18"/>
          <p:cNvSpPr/>
          <p:nvPr/>
        </p:nvSpPr>
        <p:spPr>
          <a:xfrm>
            <a:off x="8321040" y="2578608"/>
            <a:ext cx="457200" cy="457200"/>
          </a:xfrm>
          <a:prstGeom prst="ellipse">
            <a:avLst/>
          </a:prstGeom>
          <a:solidFill>
            <a:srgbClr val="C0892E"/>
          </a:solidFill>
          <a:ln/>
        </p:spPr>
      </p:sp>
      <p:sp>
        <p:nvSpPr>
          <p:cNvPr id="21" name="Text 19"/>
          <p:cNvSpPr/>
          <p:nvPr/>
        </p:nvSpPr>
        <p:spPr>
          <a:xfrm>
            <a:off x="8321040"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97112" y="2578608"/>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WHY WORKERS AND COMMUNITIES LOST</a:t>
            </a:r>
            <a:endParaRPr lang="en-US" sz="1450" dirty="0"/>
          </a:p>
        </p:txBody>
      </p:sp>
      <p:sp>
        <p:nvSpPr>
          <p:cNvPr id="23" name="Text 21"/>
          <p:cNvSpPr/>
          <p:nvPr/>
        </p:nvSpPr>
        <p:spPr>
          <a:xfrm>
            <a:off x="8339328" y="3127248"/>
            <a:ext cx="3108960" cy="12344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They are the RESIDUAL CLAIMANTS WITHOUT A CONTRACT. Shareholders had a contract that now paid the CEO; workers held firm-specific human capital protected by nothing but custom.</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 measure that counts only the share price treats a layoff as pure gain, because the community cost appears in no term of the objective function.</a:t>
            </a:r>
            <a:endParaRPr lang="en-US" sz="900" dirty="0"/>
          </a:p>
        </p:txBody>
      </p:sp>
      <p:sp>
        <p:nvSpPr>
          <p:cNvPr id="24" name="Shape 22"/>
          <p:cNvSpPr/>
          <p:nvPr/>
        </p:nvSpPr>
        <p:spPr>
          <a:xfrm>
            <a:off x="502920" y="4800600"/>
            <a:ext cx="11183112" cy="1325880"/>
          </a:xfrm>
          <a:prstGeom prst="rect">
            <a:avLst/>
          </a:prstGeom>
          <a:solidFill>
            <a:srgbClr val="1A2E4A"/>
          </a:solidFill>
          <a:ln/>
        </p:spPr>
      </p:sp>
      <p:sp>
        <p:nvSpPr>
          <p:cNvPr id="25" name="Text 23"/>
          <p:cNvSpPr/>
          <p:nvPr/>
        </p:nvSpPr>
        <p:spPr>
          <a:xfrm>
            <a:off x="685800" y="4928616"/>
            <a:ext cx="10817352" cy="7589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The general hazard:  when you pay for a MEASURE, you get the MEASURE — not the thing the measure stood for.</a:t>
            </a:r>
            <a:endParaRPr lang="en-US" sz="2200" dirty="0"/>
          </a:p>
        </p:txBody>
      </p:sp>
      <p:sp>
        <p:nvSpPr>
          <p:cNvPr id="26" name="Text 24"/>
          <p:cNvSpPr/>
          <p:nvPr/>
        </p:nvSpPr>
        <p:spPr>
          <a:xfrm>
            <a:off x="685800" y="5614416"/>
            <a:ext cx="10817352" cy="402336"/>
          </a:xfrm>
          <a:prstGeom prst="rect">
            <a:avLst/>
          </a:prstGeom>
          <a:noFill/>
          <a:ln/>
        </p:spPr>
        <p:txBody>
          <a:bodyPr wrap="square" lIns="0" tIns="0" rIns="0" bIns="0" rtlCol="0" anchor="ctr"/>
          <a:lstStyle/>
          <a:p>
            <a:pPr algn="ctr" indent="0" marL="0">
              <a:buNone/>
            </a:pPr>
            <a:r>
              <a:rPr lang="en-US" sz="950" i="1" dirty="0">
                <a:solidFill>
                  <a:srgbClr val="E8C87A"/>
                </a:solidFill>
                <a:latin typeface="Calibri" pitchFamily="34" charset="0"/>
                <a:ea typeface="Calibri" pitchFamily="34" charset="-122"/>
                <a:cs typeface="Calibri" pitchFamily="34" charset="-120"/>
              </a:rPr>
              <a:t>MACROECONOMIC TREND TODAY: the decoupling of productivity growth from median wage growth since roughly 1979, the rise of the labor share's mirror image in the profit share, and</a:t>
            </a:r>
            <a:endParaRPr lang="en-US" sz="950" dirty="0"/>
          </a:p>
          <a:p>
            <a:pPr algn="ctr" indent="0" marL="0">
              <a:buNone/>
            </a:pPr>
            <a:r>
              <a:rPr lang="en-US" sz="950" i="1" dirty="0">
                <a:solidFill>
                  <a:srgbClr val="E8C87A"/>
                </a:solidFill>
                <a:latin typeface="Calibri" pitchFamily="34" charset="0"/>
                <a:ea typeface="Calibri" pitchFamily="34" charset="-122"/>
                <a:cs typeface="Calibri" pitchFamily="34" charset="-120"/>
              </a:rPr>
              <a:t>the scale of share buybacks relative to capital expenditure. Whether the causation runs from this reform is contested — but the mechanism is the one this slide describes.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Production and Costs</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4  ·  Short-run production: total, marginal and average product, and the three phases</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5  ·  Short-run costs: the total curves, the per-unit family, and the shutdown rule</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6  ·  Long-run production: returns to scale, the LRAC envelope and minimum efficient scale</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7  ·  Application: Marcus's food cart launch decision and the sunk cost fallacy</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04</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Total, Marginal &amp; Average Product</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the Law of Diminishing Returns</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Analyze short-run production; define TP, MP and AP; apply the law of diminishing marginal productivity and identify the three phases.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DEFINITIONS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Short-Run Production Function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Shape 4"/>
          <p:cNvSpPr/>
          <p:nvPr/>
        </p:nvSpPr>
        <p:spPr>
          <a:xfrm>
            <a:off x="502920" y="1417320"/>
            <a:ext cx="11183112" cy="914400"/>
          </a:xfrm>
          <a:prstGeom prst="rect">
            <a:avLst/>
          </a:prstGeom>
          <a:solidFill>
            <a:srgbClr val="1A2E4A"/>
          </a:solidFill>
          <a:ln/>
        </p:spPr>
      </p:sp>
      <p:sp>
        <p:nvSpPr>
          <p:cNvPr id="7" name="Text 5"/>
          <p:cNvSpPr/>
          <p:nvPr/>
        </p:nvSpPr>
        <p:spPr>
          <a:xfrm>
            <a:off x="685800" y="1545336"/>
            <a:ext cx="10817352"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  =  f ( L,  K̄ )</a:t>
            </a:r>
            <a:endParaRPr lang="en-US" sz="2000" dirty="0"/>
          </a:p>
        </p:txBody>
      </p:sp>
      <p:sp>
        <p:nvSpPr>
          <p:cNvPr id="8" name="Text 6"/>
          <p:cNvSpPr/>
          <p:nvPr/>
        </p:nvSpPr>
        <p:spPr>
          <a:xfrm>
            <a:off x="685800" y="181965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In the SHORT RUN, CAPITAL (K) is FIXED and only LABOR (L) is variable. Output depends only on how many workers you hire, given the existing machinery.</a:t>
            </a:r>
            <a:endParaRPr lang="en-US" sz="1150" dirty="0"/>
          </a:p>
        </p:txBody>
      </p:sp>
      <p:sp>
        <p:nvSpPr>
          <p:cNvPr id="9" name="Shape 7"/>
          <p:cNvSpPr/>
          <p:nvPr/>
        </p:nvSpPr>
        <p:spPr>
          <a:xfrm>
            <a:off x="502920" y="2514600"/>
            <a:ext cx="361188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2697480"/>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TOTAL PRODUCT (TP)</a:t>
            </a:r>
            <a:endParaRPr lang="en-US" sz="1550" dirty="0"/>
          </a:p>
        </p:txBody>
      </p:sp>
      <p:sp>
        <p:nvSpPr>
          <p:cNvPr id="11" name="Text 9"/>
          <p:cNvSpPr/>
          <p:nvPr/>
        </p:nvSpPr>
        <p:spPr>
          <a:xfrm>
            <a:off x="758952" y="3099816"/>
            <a:ext cx="309981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total quantity of output produced. In the short run, TP = f(L).</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Geometrically: the height of the production function at each level of L.</a:t>
            </a:r>
            <a:endParaRPr lang="en-US" sz="850" dirty="0"/>
          </a:p>
        </p:txBody>
      </p:sp>
      <p:sp>
        <p:nvSpPr>
          <p:cNvPr id="12" name="Shape 10"/>
          <p:cNvSpPr/>
          <p:nvPr/>
        </p:nvSpPr>
        <p:spPr>
          <a:xfrm>
            <a:off x="4315968" y="2514600"/>
            <a:ext cx="361188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4572000" y="2697480"/>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MARGINAL PRODUCT (MP)</a:t>
            </a:r>
            <a:endParaRPr lang="en-US" sz="1550" dirty="0"/>
          </a:p>
        </p:txBody>
      </p:sp>
      <p:sp>
        <p:nvSpPr>
          <p:cNvPr id="14" name="Text 12"/>
          <p:cNvSpPr/>
          <p:nvPr/>
        </p:nvSpPr>
        <p:spPr>
          <a:xfrm>
            <a:off x="4572000" y="3099816"/>
            <a:ext cx="309981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MP = ΔTP / ΔL — the additional output from hiring ONE more worker.</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Geometrically: the SLOPE of the total product curve. MP is what changes between two adjacent rows of the table.</a:t>
            </a:r>
            <a:endParaRPr lang="en-US" sz="850" dirty="0"/>
          </a:p>
        </p:txBody>
      </p:sp>
      <p:sp>
        <p:nvSpPr>
          <p:cNvPr id="15" name="Shape 13"/>
          <p:cNvSpPr/>
          <p:nvPr/>
        </p:nvSpPr>
        <p:spPr>
          <a:xfrm>
            <a:off x="8119872" y="2514600"/>
            <a:ext cx="356616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6" name="Text 14"/>
          <p:cNvSpPr/>
          <p:nvPr/>
        </p:nvSpPr>
        <p:spPr>
          <a:xfrm>
            <a:off x="8375904" y="2697480"/>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AVERAGE PRODUCT (AP)</a:t>
            </a:r>
            <a:endParaRPr lang="en-US" sz="1550" dirty="0"/>
          </a:p>
        </p:txBody>
      </p:sp>
      <p:sp>
        <p:nvSpPr>
          <p:cNvPr id="17" name="Text 15"/>
          <p:cNvSpPr/>
          <p:nvPr/>
        </p:nvSpPr>
        <p:spPr>
          <a:xfrm>
            <a:off x="8375904" y="3099816"/>
            <a:ext cx="305409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AP = TP / L — total output DIVIDED BY total workers. Output per worker; a productivity measure.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Geometrically: the slope of a ray from the ORIGIN to the point on the TP curve.</a:t>
            </a:r>
            <a:endParaRPr lang="en-US" sz="850" dirty="0"/>
          </a:p>
        </p:txBody>
      </p:sp>
      <p:sp>
        <p:nvSpPr>
          <p:cNvPr id="18" name="Shape 16"/>
          <p:cNvSpPr/>
          <p:nvPr/>
        </p:nvSpPr>
        <p:spPr>
          <a:xfrm>
            <a:off x="502920" y="4069080"/>
            <a:ext cx="11183112" cy="914400"/>
          </a:xfrm>
          <a:prstGeom prst="rect">
            <a:avLst/>
          </a:prstGeom>
          <a:solidFill>
            <a:srgbClr val="1A2E4A"/>
          </a:solidFill>
          <a:ln/>
        </p:spPr>
      </p:sp>
      <p:sp>
        <p:nvSpPr>
          <p:cNvPr id="19" name="Text 17"/>
          <p:cNvSpPr/>
          <p:nvPr/>
        </p:nvSpPr>
        <p:spPr>
          <a:xfrm>
            <a:off x="758952" y="41970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LAW OF DIMINISHING RETURNS</a:t>
            </a:r>
            <a:endParaRPr lang="en-US" sz="1050" dirty="0"/>
          </a:p>
        </p:txBody>
      </p:sp>
      <p:sp>
        <p:nvSpPr>
          <p:cNvPr id="20" name="Text 18"/>
          <p:cNvSpPr/>
          <p:nvPr/>
        </p:nvSpPr>
        <p:spPr>
          <a:xfrm>
            <a:off x="758952" y="4471416"/>
            <a:ext cx="10671048" cy="38404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As more VARIABLE workers are added to FIXED capital, eventually the MARGINAL product of each additional worker DECLINES.</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WHY: each worker has less of the fixed factor to work with. The furnace, the loading dock and the floor space do not multiply when the headcount does.</a:t>
            </a:r>
            <a:endParaRPr lang="en-US" sz="850" dirty="0"/>
          </a:p>
        </p:txBody>
      </p:sp>
      <p:sp>
        <p:nvSpPr>
          <p:cNvPr id="21" name="Shape 19"/>
          <p:cNvSpPr/>
          <p:nvPr/>
        </p:nvSpPr>
        <p:spPr>
          <a:xfrm>
            <a:off x="502920" y="5120640"/>
            <a:ext cx="5486400" cy="10058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2" name="Text 20"/>
          <p:cNvSpPr/>
          <p:nvPr/>
        </p:nvSpPr>
        <p:spPr>
          <a:xfrm>
            <a:off x="758952" y="5303520"/>
            <a:ext cx="4974336" cy="384048"/>
          </a:xfrm>
          <a:prstGeom prst="rect">
            <a:avLst/>
          </a:prstGeom>
          <a:noFill/>
          <a:ln/>
        </p:spPr>
        <p:txBody>
          <a:bodyPr wrap="square" lIns="0" tIns="0" rIns="0" bIns="0" rtlCol="0" anchor="ctr"/>
          <a:lstStyle/>
          <a:p>
            <a:pPr indent="0" marL="0">
              <a:buNone/>
            </a:pPr>
            <a:r>
              <a:rPr lang="en-US" sz="1400" b="1" dirty="0">
                <a:solidFill>
                  <a:srgbClr val="9E2A2B"/>
                </a:solidFill>
                <a:latin typeface="Cambria" pitchFamily="34" charset="0"/>
                <a:ea typeface="Cambria" pitchFamily="34" charset="-122"/>
                <a:cs typeface="Cambria" pitchFamily="34" charset="-120"/>
              </a:rPr>
              <a:t>THE MP–AP RELATIONSHIP — a rule that recurs all module</a:t>
            </a:r>
            <a:endParaRPr lang="en-US" sz="1400" dirty="0"/>
          </a:p>
        </p:txBody>
      </p:sp>
      <p:sp>
        <p:nvSpPr>
          <p:cNvPr id="23" name="Text 21"/>
          <p:cNvSpPr/>
          <p:nvPr/>
        </p:nvSpPr>
        <p:spPr>
          <a:xfrm>
            <a:off x="758952" y="5705856"/>
            <a:ext cx="4974336" cy="1828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When MP &gt; AP, AP is RISING. When MP &lt; AP, AP is FALLING. Therefore MP CUTS AP AT AP'S MAXIMUM.</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This is pure arithmetic — the same reason one extra exam score above your average pulls the average up.</a:t>
            </a:r>
            <a:endParaRPr lang="en-US" sz="850" dirty="0"/>
          </a:p>
        </p:txBody>
      </p:sp>
      <p:sp>
        <p:nvSpPr>
          <p:cNvPr id="24" name="Shape 22"/>
          <p:cNvSpPr/>
          <p:nvPr/>
        </p:nvSpPr>
        <p:spPr>
          <a:xfrm>
            <a:off x="6199632" y="5120640"/>
            <a:ext cx="5486400" cy="10058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5" name="Text 23"/>
          <p:cNvSpPr/>
          <p:nvPr/>
        </p:nvSpPr>
        <p:spPr>
          <a:xfrm>
            <a:off x="6455664" y="530352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AND ITS COST-SIDE TWIN</a:t>
            </a:r>
            <a:endParaRPr lang="en-US" sz="1550" dirty="0"/>
          </a:p>
        </p:txBody>
      </p:sp>
      <p:sp>
        <p:nvSpPr>
          <p:cNvPr id="26" name="Text 24"/>
          <p:cNvSpPr/>
          <p:nvPr/>
        </p:nvSpPr>
        <p:spPr>
          <a:xfrm>
            <a:off x="6455664" y="5705856"/>
            <a:ext cx="4974336" cy="1828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Exactly the same logic will give you: when MC &lt; ATC, ATC is falling; when MC &gt; ATC, ATC is rising; so MC cuts ATC at MINIMUM ATC.</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production relationship and the cost relationship are the SAME FACT, seen from two sides.</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PITTSBURGH, 1974</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U.S. Steel's Gary Works — Deriving MP, AP and VMP</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Text 4"/>
          <p:cNvSpPr/>
          <p:nvPr/>
        </p:nvSpPr>
        <p:spPr>
          <a:xfrm>
            <a:off x="502920" y="1417320"/>
            <a:ext cx="11155680" cy="320040"/>
          </a:xfrm>
          <a:prstGeom prst="rect">
            <a:avLst/>
          </a:prstGeom>
          <a:noFill/>
          <a:ln/>
        </p:spPr>
        <p:txBody>
          <a:bodyPr wrap="square" lIns="0" tIns="0" rIns="0" bIns="0" rtlCol="0" anchor="ctr"/>
          <a:lstStyle/>
          <a:p>
            <a:pPr indent="0" marL="0">
              <a:buNone/>
            </a:pPr>
            <a:r>
              <a:rPr lang="en-US" sz="1250" dirty="0">
                <a:solidFill>
                  <a:srgbClr val="4A6180"/>
                </a:solidFill>
                <a:latin typeface="Calibri" pitchFamily="34" charset="0"/>
                <a:ea typeface="Calibri" pitchFamily="34" charset="-122"/>
                <a:cs typeface="Calibri" pitchFamily="34" charset="-120"/>
              </a:rPr>
              <a:t>One open-hearth furnace is the fixed capital. Steel sells for $50/ton; the daily wage is $80 per worker.</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6949440" cy="914400"/>
        </p:xfrm>
        <a:graphic>
          <a:graphicData uri="http://schemas.openxmlformats.org/drawingml/2006/table">
            <a:tbl>
              <a:tblPr/>
              <a:tblGrid>
                <a:gridCol w="1097280"/>
                <a:gridCol w="1554480"/>
                <a:gridCol w="1463040"/>
                <a:gridCol w="1005840"/>
                <a:gridCol w="1005840"/>
                <a:gridCol w="822960"/>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WORKERS (L)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TOTAL PRODUCT (tons)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MP = ΔTP/ΔL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AP = TP/L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VMP = P × MP</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HIRE? (VMP vs. $80)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28</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16  ← MP PEAKS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14.00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13.33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48</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10.40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9.00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 — the last one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7.71</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5"/>
          <p:cNvSpPr/>
          <p:nvPr/>
        </p:nvSpPr>
        <p:spPr>
          <a:xfrm>
            <a:off x="7680960" y="1874520"/>
            <a:ext cx="4005072"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9" name="Text 6"/>
          <p:cNvSpPr/>
          <p:nvPr/>
        </p:nvSpPr>
        <p:spPr>
          <a:xfrm>
            <a:off x="7936992" y="2057400"/>
            <a:ext cx="349300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WHERE DIMINISHING RETURNS SET IN</a:t>
            </a:r>
            <a:endParaRPr lang="en-US" sz="1550" dirty="0"/>
          </a:p>
        </p:txBody>
      </p:sp>
      <p:sp>
        <p:nvSpPr>
          <p:cNvPr id="10" name="Text 7"/>
          <p:cNvSpPr/>
          <p:nvPr/>
        </p:nvSpPr>
        <p:spPr>
          <a:xfrm>
            <a:off x="7936992" y="2459736"/>
            <a:ext cx="3493008"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AT WORKER #3. MP rises from 12 to 16 through the second worker, then falls to 12 at the third and keeps falling.</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WHY: with one furnace, two workers can specialize — one charges, one taps. The third begins to wait for furnace time. The fixed factor is the binding constraint.</a:t>
            </a:r>
            <a:endParaRPr lang="en-US" sz="850" dirty="0"/>
          </a:p>
        </p:txBody>
      </p:sp>
      <p:sp>
        <p:nvSpPr>
          <p:cNvPr id="11" name="Shape 8"/>
          <p:cNvSpPr/>
          <p:nvPr/>
        </p:nvSpPr>
        <p:spPr>
          <a:xfrm>
            <a:off x="7680960" y="3383280"/>
            <a:ext cx="4005072" cy="1234440"/>
          </a:xfrm>
          <a:prstGeom prst="rect">
            <a:avLst/>
          </a:prstGeom>
          <a:solidFill>
            <a:srgbClr val="1A2E4A"/>
          </a:solidFill>
          <a:ln/>
        </p:spPr>
      </p:sp>
      <p:sp>
        <p:nvSpPr>
          <p:cNvPr id="12" name="Text 9"/>
          <p:cNvSpPr/>
          <p:nvPr/>
        </p:nvSpPr>
        <p:spPr>
          <a:xfrm>
            <a:off x="7863840" y="3511296"/>
            <a:ext cx="3639312" cy="66751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Hire while  VMP ≥ W</a:t>
            </a:r>
            <a:endParaRPr lang="en-US" sz="2000" dirty="0"/>
          </a:p>
          <a:p>
            <a:pPr algn="ctr" indent="0" marL="0">
              <a:buNone/>
            </a:pPr>
            <a:r>
              <a:rPr lang="en-US" sz="2000" b="1" dirty="0">
                <a:solidFill>
                  <a:srgbClr val="FFFFFF"/>
                </a:solidFill>
                <a:latin typeface="Cambria" pitchFamily="34" charset="0"/>
                <a:ea typeface="Cambria" pitchFamily="34" charset="-122"/>
                <a:cs typeface="Cambria" pitchFamily="34" charset="-120"/>
              </a:rPr>
              <a:t>→  6 WORKERS</a:t>
            </a:r>
            <a:endParaRPr lang="en-US" sz="2000" dirty="0"/>
          </a:p>
        </p:txBody>
      </p:sp>
      <p:sp>
        <p:nvSpPr>
          <p:cNvPr id="13" name="Text 10"/>
          <p:cNvSpPr/>
          <p:nvPr/>
        </p:nvSpPr>
        <p:spPr>
          <a:xfrm>
            <a:off x="7863840" y="4105656"/>
            <a:ext cx="363931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At L = 6, VMP = $100 ≥ $80. At L = 7, VMP = $0 &lt; $80.</a:t>
            </a:r>
            <a:endParaRPr lang="en-US" sz="1150" dirty="0"/>
          </a:p>
        </p:txBody>
      </p:sp>
      <p:sp>
        <p:nvSpPr>
          <p:cNvPr id="14" name="Shape 11"/>
          <p:cNvSpPr/>
          <p:nvPr/>
        </p:nvSpPr>
        <p:spPr>
          <a:xfrm>
            <a:off x="7680960" y="4754880"/>
            <a:ext cx="4005072"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5" name="Text 12"/>
          <p:cNvSpPr/>
          <p:nvPr/>
        </p:nvSpPr>
        <p:spPr>
          <a:xfrm>
            <a:off x="7936992" y="4937760"/>
            <a:ext cx="3493008" cy="384048"/>
          </a:xfrm>
          <a:prstGeom prst="rect">
            <a:avLst/>
          </a:prstGeom>
          <a:noFill/>
          <a:ln/>
        </p:spPr>
        <p:txBody>
          <a:bodyPr wrap="square" lIns="0" tIns="0" rIns="0" bIns="0" rtlCol="0" anchor="ctr"/>
          <a:lstStyle/>
          <a:p>
            <a:pPr indent="0" marL="0">
              <a:buNone/>
            </a:pPr>
            <a:r>
              <a:rPr lang="en-US" sz="1400" b="1" dirty="0">
                <a:solidFill>
                  <a:srgbClr val="C0892E"/>
                </a:solidFill>
                <a:latin typeface="Cambria" pitchFamily="34" charset="0"/>
                <a:ea typeface="Cambria" pitchFamily="34" charset="-122"/>
                <a:cs typeface="Cambria" pitchFamily="34" charset="-120"/>
              </a:rPr>
              <a:t>✦ Why the 1979–82 layoffs were rational</a:t>
            </a:r>
            <a:endParaRPr lang="en-US" sz="1400" dirty="0"/>
          </a:p>
        </p:txBody>
      </p:sp>
      <p:sp>
        <p:nvSpPr>
          <p:cNvPr id="16" name="Text 13"/>
          <p:cNvSpPr/>
          <p:nvPr/>
        </p:nvSpPr>
        <p:spPr>
          <a:xfrm>
            <a:off x="7936992" y="5340096"/>
            <a:ext cx="3493008"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(1) DEMAND COLLAPSED, so P fell — and VMP = P × MP falls with it, making workers whose MP was unchanged no longer worth hiring.</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(2) At high headcount MP was already low (Phase II), so cutting the last workers cost little output.</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WHY THE FIRM STILL LOST MONEY AFTER: FIXED COSTS remain. Layoffs cut VARIABLE cost only; the mill, the furnaces and the debt were still owed at zero output.</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RAY'S WAREHOUSE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Three Phases of Production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pic>
        <p:nvPicPr>
          <p:cNvPr id="6" name="Image 0" descr="figs/m9_product.png">    </p:cNvPr>
          <p:cNvPicPr>
            <a:picLocks noChangeAspect="1"/>
          </p:cNvPicPr>
          <p:nvPr/>
        </p:nvPicPr>
        <p:blipFill>
          <a:blip r:embed="rId1"/>
          <a:stretch>
            <a:fillRect/>
          </a:stretch>
        </p:blipFill>
        <p:spPr>
          <a:xfrm>
            <a:off x="365760" y="1411142"/>
            <a:ext cx="6035040" cy="4675797"/>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29400" y="1463040"/>
          <a:ext cx="5056632" cy="914400"/>
        </p:xfrm>
        <a:graphic>
          <a:graphicData uri="http://schemas.openxmlformats.org/drawingml/2006/table">
            <a:tbl>
              <a:tblPr/>
              <a:tblGrid>
                <a:gridCol w="640080"/>
                <a:gridCol w="822960"/>
                <a:gridCol w="914400"/>
                <a:gridCol w="1005840"/>
                <a:gridCol w="1673352"/>
              </a:tblGrid>
              <a:tr h="256032">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PHASE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56032">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20.00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56032">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25.00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I  — MP peaks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25.00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II</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56032">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22.50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II</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19.60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II</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56032">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16.67</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II  — TP peaks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14.00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III</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6629400" y="3977640"/>
          <a:ext cx="5056632" cy="914400"/>
        </p:xfrm>
        <a:graphic>
          <a:graphicData uri="http://schemas.openxmlformats.org/drawingml/2006/table">
            <a:tbl>
              <a:tblPr/>
              <a:tblGrid>
                <a:gridCol w="1554480"/>
                <a:gridCol w="3502152"/>
              </a:tblGrid>
              <a:tr h="329184">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PHASE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DEFINITION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2918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 — Increasing marginal returns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MP is RISING. Each worker adds MORE than the last. TP rises at an INCREASING rate.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II — Decreasing marginal returns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MP &gt; 0 but FALLING. Each worker adds LESS than the last. TP rises at a DECREASING rate. This is the LAW OF DIMINISHING MARGINAL RETURNS.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2918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III — Negative marginal returns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MP &lt; 0. Adding workers REDUCES total output — overcrowding, workers interfering with one another. A rational firm NEVER produces in Phase III.</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9" name="Shape 4"/>
          <p:cNvSpPr/>
          <p:nvPr/>
        </p:nvSpPr>
        <p:spPr>
          <a:xfrm>
            <a:off x="6629400" y="5532120"/>
            <a:ext cx="5056632" cy="594360"/>
          </a:xfrm>
          <a:prstGeom prst="rect">
            <a:avLst/>
          </a:prstGeom>
          <a:solidFill>
            <a:srgbClr val="1A2E4A"/>
          </a:solidFill>
          <a:ln/>
        </p:spPr>
      </p:sp>
      <p:sp>
        <p:nvSpPr>
          <p:cNvPr id="10" name="Text 5"/>
          <p:cNvSpPr/>
          <p:nvPr/>
        </p:nvSpPr>
        <p:spPr>
          <a:xfrm>
            <a:off x="6885432" y="5660136"/>
            <a:ext cx="454456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TWO ANSWERS</a:t>
            </a:r>
            <a:endParaRPr lang="en-US" sz="1050" dirty="0"/>
          </a:p>
        </p:txBody>
      </p:sp>
      <p:sp>
        <p:nvSpPr>
          <p:cNvPr id="11" name="Text 6"/>
          <p:cNvSpPr/>
          <p:nvPr/>
        </p:nvSpPr>
        <p:spPr>
          <a:xfrm>
            <a:off x="6885432" y="5861304"/>
            <a:ext cx="454456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Diminishing returns set in after worker 2.  Negative returns begin after worker 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WORKSHEET ✦1</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Does Diminishing Returns Disappear in the Long Run?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Shape 4"/>
          <p:cNvSpPr/>
          <p:nvPr/>
        </p:nvSpPr>
        <p:spPr>
          <a:xfrm>
            <a:off x="502920" y="1417320"/>
            <a:ext cx="11183112" cy="77724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law of diminishing returns applies in the SHORT RUN — when capital is fixed. What happens to the production function in the LONG RUN, when Ray can expand the warehouse itself? Does diminishing returns disappear, or does it re-emerge at a higher level?</a:t>
            </a:r>
            <a:endParaRPr lang="en-US" sz="850" dirty="0"/>
          </a:p>
        </p:txBody>
      </p:sp>
      <p:sp>
        <p:nvSpPr>
          <p:cNvPr id="9" name="Shape 7"/>
          <p:cNvSpPr/>
          <p:nvPr/>
        </p:nvSpPr>
        <p:spPr>
          <a:xfrm>
            <a:off x="502920" y="2331720"/>
            <a:ext cx="3611880" cy="2194560"/>
          </a:xfrm>
          <a:prstGeom prst="rect">
            <a:avLst/>
          </a:prstGeom>
          <a:solidFill>
            <a:srgbClr val="E8EDF3"/>
          </a:solidFill>
          <a:ln/>
        </p:spPr>
      </p:sp>
      <p:sp>
        <p:nvSpPr>
          <p:cNvPr id="10" name="Shape 8"/>
          <p:cNvSpPr/>
          <p:nvPr/>
        </p:nvSpPr>
        <p:spPr>
          <a:xfrm>
            <a:off x="704088" y="2532888"/>
            <a:ext cx="457200" cy="457200"/>
          </a:xfrm>
          <a:prstGeom prst="ellipse">
            <a:avLst/>
          </a:prstGeom>
          <a:solidFill>
            <a:srgbClr val="1A2E4A"/>
          </a:solidFill>
          <a:ln/>
        </p:spPr>
      </p:sp>
      <p:sp>
        <p:nvSpPr>
          <p:cNvPr id="11" name="Text 9"/>
          <p:cNvSpPr/>
          <p:nvPr/>
        </p:nvSpPr>
        <p:spPr>
          <a:xfrm>
            <a:off x="704088" y="2532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253288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IT DOES NOT DISAPPEAR — IT RE-EMERGES</a:t>
            </a:r>
            <a:endParaRPr lang="en-US" sz="1450" dirty="0"/>
          </a:p>
        </p:txBody>
      </p:sp>
      <p:sp>
        <p:nvSpPr>
          <p:cNvPr id="13" name="Text 11"/>
          <p:cNvSpPr/>
          <p:nvPr/>
        </p:nvSpPr>
        <p:spPr>
          <a:xfrm>
            <a:off x="722376" y="3081528"/>
            <a:ext cx="3154680" cy="123444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Expanding the warehouse RELAXES the binding constraint, so the entire TP curve shifts UP: the same labor now produces more, and MP at every L is higher.</a:t>
            </a:r>
            <a:endParaRPr lang="en-US" sz="950" dirty="0"/>
          </a:p>
          <a:p>
            <a:pPr indent="0" marL="0">
              <a:lnSpc>
                <a:spcPts val="1300"/>
              </a:lnSpc>
              <a:buNone/>
            </a:pP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But the new, larger warehouse is ALSO FIXED once built. Diminishing returns simply begin at a HIGHER headcount, on a HIGHER curve.</a:t>
            </a:r>
            <a:endParaRPr lang="en-US" sz="950" dirty="0"/>
          </a:p>
        </p:txBody>
      </p:sp>
      <p:sp>
        <p:nvSpPr>
          <p:cNvPr id="14" name="Shape 12"/>
          <p:cNvSpPr/>
          <p:nvPr/>
        </p:nvSpPr>
        <p:spPr>
          <a:xfrm>
            <a:off x="4315968" y="2331720"/>
            <a:ext cx="3611880" cy="2194560"/>
          </a:xfrm>
          <a:prstGeom prst="rect">
            <a:avLst/>
          </a:prstGeom>
          <a:solidFill>
            <a:srgbClr val="E8EDF3"/>
          </a:solidFill>
          <a:ln/>
        </p:spPr>
      </p:sp>
      <p:sp>
        <p:nvSpPr>
          <p:cNvPr id="15" name="Shape 13"/>
          <p:cNvSpPr/>
          <p:nvPr/>
        </p:nvSpPr>
        <p:spPr>
          <a:xfrm>
            <a:off x="4517136" y="2532888"/>
            <a:ext cx="457200" cy="457200"/>
          </a:xfrm>
          <a:prstGeom prst="ellipse">
            <a:avLst/>
          </a:prstGeom>
          <a:solidFill>
            <a:srgbClr val="C0892E"/>
          </a:solidFill>
          <a:ln/>
        </p:spPr>
      </p:sp>
      <p:sp>
        <p:nvSpPr>
          <p:cNvPr id="16" name="Text 14"/>
          <p:cNvSpPr/>
          <p:nvPr/>
        </p:nvSpPr>
        <p:spPr>
          <a:xfrm>
            <a:off x="4517136" y="2532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93208" y="253288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PRECISE REASON WHY</a:t>
            </a:r>
            <a:endParaRPr lang="en-US" sz="1600" dirty="0"/>
          </a:p>
        </p:txBody>
      </p:sp>
      <p:sp>
        <p:nvSpPr>
          <p:cNvPr id="18" name="Text 16"/>
          <p:cNvSpPr/>
          <p:nvPr/>
        </p:nvSpPr>
        <p:spPr>
          <a:xfrm>
            <a:off x="4535424" y="3081528"/>
            <a:ext cx="3154680" cy="12344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law of diminishing returns is a statement about VARYING ONE INPUT AGAINST A FIXED ONE. It is logically inseparable from the existence of a fixed factor.</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In the true long run NOTHING is fixed, so the law does not apply at all. What applies instead is RETURNS TO SCALE — what happens when you vary ALL inputs together (Part 6).</a:t>
            </a:r>
            <a:endParaRPr lang="en-US" sz="900" dirty="0"/>
          </a:p>
        </p:txBody>
      </p:sp>
      <p:sp>
        <p:nvSpPr>
          <p:cNvPr id="19" name="Shape 17"/>
          <p:cNvSpPr/>
          <p:nvPr/>
        </p:nvSpPr>
        <p:spPr>
          <a:xfrm>
            <a:off x="8119872" y="2331720"/>
            <a:ext cx="3566160" cy="2194560"/>
          </a:xfrm>
          <a:prstGeom prst="rect">
            <a:avLst/>
          </a:prstGeom>
          <a:solidFill>
            <a:srgbClr val="E8EDF3"/>
          </a:solidFill>
          <a:ln/>
        </p:spPr>
      </p:sp>
      <p:sp>
        <p:nvSpPr>
          <p:cNvPr id="20" name="Shape 18"/>
          <p:cNvSpPr/>
          <p:nvPr/>
        </p:nvSpPr>
        <p:spPr>
          <a:xfrm>
            <a:off x="8321040" y="2532888"/>
            <a:ext cx="457200" cy="457200"/>
          </a:xfrm>
          <a:prstGeom prst="ellipse">
            <a:avLst/>
          </a:prstGeom>
          <a:solidFill>
            <a:srgbClr val="9E2A2B"/>
          </a:solidFill>
          <a:ln/>
        </p:spPr>
      </p:sp>
      <p:sp>
        <p:nvSpPr>
          <p:cNvPr id="21" name="Text 19"/>
          <p:cNvSpPr/>
          <p:nvPr/>
        </p:nvSpPr>
        <p:spPr>
          <a:xfrm>
            <a:off x="8321040" y="2532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97112" y="2532888"/>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THE TWO ARE DIFFERENT CLAIMS</a:t>
            </a:r>
            <a:endParaRPr lang="en-US" sz="1450" dirty="0"/>
          </a:p>
        </p:txBody>
      </p:sp>
      <p:sp>
        <p:nvSpPr>
          <p:cNvPr id="23" name="Text 21"/>
          <p:cNvSpPr/>
          <p:nvPr/>
        </p:nvSpPr>
        <p:spPr>
          <a:xfrm>
            <a:off x="8339328" y="3081528"/>
            <a:ext cx="3108960" cy="12344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DIMINISHING RETURNS: vary ONE input, hold others fixed. Always eventually true. A short-run statement.</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RETURNS TO SCALE: vary ALL inputs proportionally. Can be increasing, constant OR decreasing. A long-run statement.</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Confusing them is the most common error in this module.</a:t>
            </a:r>
            <a:endParaRPr lang="en-US" sz="900" dirty="0"/>
          </a:p>
        </p:txBody>
      </p:sp>
      <p:sp>
        <p:nvSpPr>
          <p:cNvPr id="24" name="Shape 22"/>
          <p:cNvSpPr/>
          <p:nvPr/>
        </p:nvSpPr>
        <p:spPr>
          <a:xfrm>
            <a:off x="502920" y="4754880"/>
            <a:ext cx="11183112" cy="1371600"/>
          </a:xfrm>
          <a:prstGeom prst="rect">
            <a:avLst/>
          </a:prstGeom>
          <a:solidFill>
            <a:srgbClr val="1A2E4A"/>
          </a:solidFill>
          <a:ln/>
        </p:spPr>
      </p:sp>
      <p:sp>
        <p:nvSpPr>
          <p:cNvPr id="25" name="Text 23"/>
          <p:cNvSpPr/>
          <p:nvPr/>
        </p:nvSpPr>
        <p:spPr>
          <a:xfrm>
            <a:off x="685800" y="4882896"/>
            <a:ext cx="10817352" cy="80467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Short run:  double L, hold K̄  →  DIMINISHING RETURNS (always, eventually)</a:t>
            </a:r>
            <a:endParaRPr lang="en-US" sz="2000" dirty="0"/>
          </a:p>
          <a:p>
            <a:pPr algn="ctr" indent="0" marL="0">
              <a:buNone/>
            </a:pPr>
            <a:r>
              <a:rPr lang="en-US" sz="2000" b="1" dirty="0">
                <a:solidFill>
                  <a:srgbClr val="FFFFFF"/>
                </a:solidFill>
                <a:latin typeface="Cambria" pitchFamily="34" charset="0"/>
                <a:ea typeface="Cambria" pitchFamily="34" charset="-122"/>
                <a:cs typeface="Cambria" pitchFamily="34" charset="-120"/>
              </a:rPr>
              <a:t>Long run:  double L AND K  →  RETURNS TO SCALE (increasing, constant, or decreasing)</a:t>
            </a:r>
            <a:endParaRPr lang="en-US" sz="2000" dirty="0"/>
          </a:p>
        </p:txBody>
      </p:sp>
      <p:sp>
        <p:nvSpPr>
          <p:cNvPr id="26" name="Text 24"/>
          <p:cNvSpPr/>
          <p:nvPr/>
        </p:nvSpPr>
        <p:spPr>
          <a:xfrm>
            <a:off x="685800" y="56144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Part 6 will show that the succession of short-run curves, each on a bigger plant, traces out the long-run curve as an ENVELOPE.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05</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Fixed, Variable &amp; Total Cost</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 and the Per-Unit Family</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Build the short-run cost curves; explain the U-shaped ATC; derive the MP–MC relationship; apply the shutdown rule.</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THE FULL APPARATUS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Seven Cost Concepts, Seven Formulas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194560"/>
                <a:gridCol w="2377440"/>
                <a:gridCol w="2651760"/>
                <a:gridCol w="3959352"/>
              </a:tblGrid>
              <a:tr h="27432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TERM</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FORMULA</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CURVE SHAPE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1982 FLINT PLANT EXAMPLE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TFC — total fixed cost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TFC = constant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FLAT horizontal line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Factory lease: $1,200/day regardless of output — owed even at Q = 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TVC — total variable cost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TVC = f(Q)</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Rises, S-SHAPED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Labor and materials at each output level. Zero at Q = 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TC — total cost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TC = TFC + TVC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Upward; STARTS AT TFC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TC = 1,200 + TVC. The vertical gap between TC and TVC is always TFC.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AFC — average fixed cost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AFC = TFC / Q</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Falls CONTINUOUSLY toward zero (a hyperbola)</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Higher output → the same fixed cost is spread over more units. 'Spreading the overhead'.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AVC — average variable cost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AVC = TVC / Q</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U-SHAPED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Falls, then rises with diminishing returns.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ATC — average total cost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ATC = TC / Q = AFC + AVC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U-SHAPED, always ABOVE AVC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Its MINIMUM is the most efficient output level. The gap to AVC is AFC, which shrinks as Q rises.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MC — marginal cost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MC = ΔTC / ΔQ = ΔTVC / ΔQ</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U-shaped; the MIRROR IMAGE of the MP curve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Rises sharply once diminishing returns set in. Note MC does not depend on TFC at all.</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526280"/>
            <a:ext cx="11183112" cy="914400"/>
          </a:xfrm>
          <a:prstGeom prst="rect">
            <a:avLst/>
          </a:prstGeom>
          <a:solidFill>
            <a:srgbClr val="1A2E4A"/>
          </a:solidFill>
          <a:ln/>
        </p:spPr>
      </p:sp>
      <p:sp>
        <p:nvSpPr>
          <p:cNvPr id="8" name="Text 5"/>
          <p:cNvSpPr/>
          <p:nvPr/>
        </p:nvSpPr>
        <p:spPr>
          <a:xfrm>
            <a:off x="685800" y="4654296"/>
            <a:ext cx="10817352"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MC  =  W / MP</a:t>
            </a:r>
            <a:endParaRPr lang="en-US" sz="2000" dirty="0"/>
          </a:p>
        </p:txBody>
      </p:sp>
      <p:sp>
        <p:nvSpPr>
          <p:cNvPr id="9" name="Text 6"/>
          <p:cNvSpPr/>
          <p:nvPr/>
        </p:nvSpPr>
        <p:spPr>
          <a:xfrm>
            <a:off x="685800" y="49286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THE MP–MC RELATIONSHIP. When MP is at its MAXIMUM, MC is at its MINIMUM. When MP falls, MC rises. The U-shape of the cost curves is nothing but the production function turned upside down.</a:t>
            </a:r>
            <a:endParaRPr lang="en-US" sz="1150" dirty="0"/>
          </a:p>
        </p:txBody>
      </p:sp>
      <p:sp>
        <p:nvSpPr>
          <p:cNvPr id="10" name="Shape 7"/>
          <p:cNvSpPr/>
          <p:nvPr/>
        </p:nvSpPr>
        <p:spPr>
          <a:xfrm>
            <a:off x="502920" y="5577840"/>
            <a:ext cx="11183112" cy="548640"/>
          </a:xfrm>
          <a:prstGeom prst="rect">
            <a:avLst/>
          </a:prstGeom>
          <a:solidFill>
            <a:srgbClr val="1A2E4A"/>
          </a:solidFill>
          <a:ln/>
        </p:spPr>
      </p:sp>
      <p:sp>
        <p:nvSpPr>
          <p:cNvPr id="11" name="Text 8"/>
          <p:cNvSpPr/>
          <p:nvPr/>
        </p:nvSpPr>
        <p:spPr>
          <a:xfrm>
            <a:off x="758952" y="57058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MC IGNORES FIXED COST</a:t>
            </a:r>
            <a:endParaRPr lang="en-US" sz="1050" dirty="0"/>
          </a:p>
        </p:txBody>
      </p:sp>
      <p:sp>
        <p:nvSpPr>
          <p:cNvPr id="12" name="Text 9"/>
          <p:cNvSpPr/>
          <p:nvPr/>
        </p:nvSpPr>
        <p:spPr>
          <a:xfrm>
            <a:off x="758952" y="5907024"/>
            <a:ext cx="10671048" cy="256032"/>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Because TC = TFC + TVC and TFC is constant, ΔTC = ΔTVC. The fixed cost differentiates to zero. This single fact is why the SHUTDOWN rule compares price to AVC and not to ATC.</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THE TWO PICTURES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Total Curves and the Per-Unit Family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pic>
        <p:nvPicPr>
          <p:cNvPr id="6" name="Image 0" descr="figs/m9_totalcost.png">    </p:cNvPr>
          <p:cNvPicPr>
            <a:picLocks noChangeAspect="1"/>
          </p:cNvPicPr>
          <p:nvPr/>
        </p:nvPicPr>
        <p:blipFill>
          <a:blip r:embed="rId1"/>
          <a:stretch>
            <a:fillRect/>
          </a:stretch>
        </p:blipFill>
        <p:spPr>
          <a:xfrm>
            <a:off x="411480" y="1466275"/>
            <a:ext cx="5577840" cy="3376811"/>
          </a:xfrm>
          <a:prstGeom prst="rect">
            <a:avLst/>
          </a:prstGeom>
        </p:spPr>
      </p:pic>
      <p:pic>
        <p:nvPicPr>
          <p:cNvPr id="7" name="Image 1" descr="figs/m9_unitcost.png">    </p:cNvPr>
          <p:cNvPicPr>
            <a:picLocks noChangeAspect="1"/>
          </p:cNvPicPr>
          <p:nvPr/>
        </p:nvPicPr>
        <p:blipFill>
          <a:blip r:embed="rId2"/>
          <a:stretch>
            <a:fillRect/>
          </a:stretch>
        </p:blipFill>
        <p:spPr>
          <a:xfrm>
            <a:off x="6126480" y="1390426"/>
            <a:ext cx="5623560" cy="3528508"/>
          </a:xfrm>
          <a:prstGeom prst="rect">
            <a:avLst/>
          </a:prstGeom>
        </p:spPr>
      </p:pic>
      <p:sp>
        <p:nvSpPr>
          <p:cNvPr id="8" name="Shape 4"/>
          <p:cNvSpPr/>
          <p:nvPr/>
        </p:nvSpPr>
        <p:spPr>
          <a:xfrm>
            <a:off x="502920" y="5074920"/>
            <a:ext cx="5486400" cy="1051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9" name="Text 5"/>
          <p:cNvSpPr/>
          <p:nvPr/>
        </p:nvSpPr>
        <p:spPr>
          <a:xfrm>
            <a:off x="758952" y="525780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READING THE TOTAL PANEL</a:t>
            </a:r>
            <a:endParaRPr lang="en-US" sz="1550" dirty="0"/>
          </a:p>
        </p:txBody>
      </p:sp>
      <p:sp>
        <p:nvSpPr>
          <p:cNvPr id="10" name="Text 6"/>
          <p:cNvSpPr/>
          <p:nvPr/>
        </p:nvSpPr>
        <p:spPr>
          <a:xfrm>
            <a:off x="758952" y="5660136"/>
            <a:ext cx="4974336" cy="2286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TC and TVC are PARALLEL — separated everywhere by the vertical distance TFC. TC starts at TFC because fixed costs are owed even at zero output. The SLOPE of either curve, at any point, is MARGINAL COST.</a:t>
            </a:r>
            <a:endParaRPr lang="en-US" sz="850" dirty="0"/>
          </a:p>
        </p:txBody>
      </p:sp>
      <p:sp>
        <p:nvSpPr>
          <p:cNvPr id="11" name="Shape 7"/>
          <p:cNvSpPr/>
          <p:nvPr/>
        </p:nvSpPr>
        <p:spPr>
          <a:xfrm>
            <a:off x="6199632" y="5074920"/>
            <a:ext cx="5486400" cy="1051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2" name="Text 8"/>
          <p:cNvSpPr/>
          <p:nvPr/>
        </p:nvSpPr>
        <p:spPr>
          <a:xfrm>
            <a:off x="6455664" y="525780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READING THE PER-UNIT PANEL</a:t>
            </a:r>
            <a:endParaRPr lang="en-US" sz="1550" dirty="0"/>
          </a:p>
        </p:txBody>
      </p:sp>
      <p:sp>
        <p:nvSpPr>
          <p:cNvPr id="13" name="Text 9"/>
          <p:cNvSpPr/>
          <p:nvPr/>
        </p:nvSpPr>
        <p:spPr>
          <a:xfrm>
            <a:off x="6455664" y="5660136"/>
            <a:ext cx="4974336" cy="2286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MC cuts AVC at MINIMUM AVC and cuts ATC at MINIMUM ATC — and it always cuts AVC first, because ATC is still being pulled down by falling AFC after AVC has begun to rise.</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WORKED TABLE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Marcus's Food Cart &amp; the Fixed-Cost Cost Schedule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5440680" cy="914400"/>
        </p:xfrm>
        <a:graphic>
          <a:graphicData uri="http://schemas.openxmlformats.org/drawingml/2006/table">
            <a:tbl>
              <a:tblPr/>
              <a:tblGrid>
                <a:gridCol w="1051560"/>
                <a:gridCol w="822960"/>
                <a:gridCol w="1005840"/>
                <a:gridCol w="1371600"/>
                <a:gridCol w="1188720"/>
              </a:tblGrid>
              <a:tr h="29260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MEALS (Q)</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VC = 4Q</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TC = FC + VC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ATC = TC/Q</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800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800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undefined</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800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$20.00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800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1,200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$12.00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800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800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1,600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$8.00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800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1,600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2,400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$6.00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3520440"/>
            <a:ext cx="5440680" cy="1143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58952" y="3703320"/>
            <a:ext cx="49286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TWO ANSWERS FROM THIS TABLE</a:t>
            </a:r>
            <a:endParaRPr lang="en-US" sz="1550" dirty="0"/>
          </a:p>
        </p:txBody>
      </p:sp>
      <p:sp>
        <p:nvSpPr>
          <p:cNvPr id="9" name="Text 6"/>
          <p:cNvSpPr/>
          <p:nvPr/>
        </p:nvSpPr>
        <p:spPr>
          <a:xfrm>
            <a:off x="758952" y="4105656"/>
            <a:ext cx="4928616" cy="320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At Q = 0, TC = FC = $800, because fixed costs are owed WHETHER OR NOT ANYTHING IS PRODUCED.</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SLOPE of TC equals $4 — the variable cost per unit — which is also equal to MARGINAL COST. Here MC is CONSTANT, so there is no U-shape: a linear VC assumes no diminishing returns.</a:t>
            </a:r>
            <a:endParaRPr lang="en-US" sz="850" dirty="0"/>
          </a:p>
        </p:txBody>
      </p:sp>
      <p:sp>
        <p:nvSpPr>
          <p:cNvPr id="10" name="Shape 7"/>
          <p:cNvSpPr/>
          <p:nvPr/>
        </p:nvSpPr>
        <p:spPr>
          <a:xfrm>
            <a:off x="502920" y="4800600"/>
            <a:ext cx="5440680" cy="1325880"/>
          </a:xfrm>
          <a:prstGeom prst="rect">
            <a:avLst/>
          </a:prstGeom>
          <a:solidFill>
            <a:srgbClr val="1A2E4A"/>
          </a:solidFill>
          <a:ln/>
        </p:spPr>
      </p:sp>
      <p:sp>
        <p:nvSpPr>
          <p:cNvPr id="11" name="Text 8"/>
          <p:cNvSpPr/>
          <p:nvPr/>
        </p:nvSpPr>
        <p:spPr>
          <a:xfrm>
            <a:off x="758952" y="4928616"/>
            <a:ext cx="492861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✦2  WHY ATC IS U-SHAPED IN GENERAL</a:t>
            </a:r>
            <a:endParaRPr lang="en-US" sz="1050" dirty="0"/>
          </a:p>
        </p:txBody>
      </p:sp>
      <p:sp>
        <p:nvSpPr>
          <p:cNvPr id="12" name="Text 9"/>
          <p:cNvSpPr/>
          <p:nvPr/>
        </p:nvSpPr>
        <p:spPr>
          <a:xfrm>
            <a:off x="758952" y="5202936"/>
            <a:ext cx="4928616" cy="79552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PULLED DOWN ON THE LEFT by falling AFC — the fixed cost is spread over ever more units, and at low Q this effect is enormous.</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PUSHED UP ON THE RIGHT by rising AVC — diminishing returns mean each extra unit takes more labor.</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AT MINIMUM ATC: MC = ATC exactly. This is the EFFICIENT SCALE, because it is the lowest possible average cost of producing this good with this plant.</a:t>
            </a:r>
            <a:endParaRPr lang="en-US" sz="85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217920" y="1481328"/>
          <a:ext cx="5468112" cy="914400"/>
        </p:xfrm>
        <a:graphic>
          <a:graphicData uri="http://schemas.openxmlformats.org/drawingml/2006/table">
            <a:tbl>
              <a:tblPr/>
              <a:tblGrid>
                <a:gridCol w="457200"/>
                <a:gridCol w="731520"/>
                <a:gridCol w="594360"/>
                <a:gridCol w="594360"/>
                <a:gridCol w="777240"/>
                <a:gridCol w="731520"/>
                <a:gridCol w="777240"/>
                <a:gridCol w="804672"/>
              </a:tblGrid>
              <a:tr h="256032">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Q</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TC</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FC</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VC</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AFC</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AVC</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ATC</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MC</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56032">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900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800.00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900.00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960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160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400.00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80.00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480.00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60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56032">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990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190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266.67</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63.33</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330.00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30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1,010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210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200.00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52.50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252.50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20  ← min MC</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56032">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1,050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250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160.00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50.00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210.00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40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1,120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320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133.33</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53.33</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186.67</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70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56032">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1,225</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425</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114.29</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60.71</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175.00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105</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1,380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580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72.50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172.50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850" dirty="0">
                          <a:solidFill>
                            <a:srgbClr val="1A2E4A"/>
                          </a:solidFill>
                          <a:latin typeface="Calibri" pitchFamily="34" charset="0"/>
                          <a:ea typeface="Calibri" pitchFamily="34" charset="-122"/>
                          <a:cs typeface="Calibri" pitchFamily="34" charset="-120"/>
                        </a:rPr>
                        <a:t>155</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14" name="Shape 10"/>
          <p:cNvSpPr/>
          <p:nvPr/>
        </p:nvSpPr>
        <p:spPr>
          <a:xfrm>
            <a:off x="6217920" y="3977640"/>
            <a:ext cx="5468112" cy="2148840"/>
          </a:xfrm>
          <a:prstGeom prst="rect">
            <a:avLst/>
          </a:prstGeom>
          <a:solidFill>
            <a:srgbClr val="1A2E4A"/>
          </a:solidFill>
          <a:ln/>
        </p:spPr>
      </p:sp>
      <p:sp>
        <p:nvSpPr>
          <p:cNvPr id="15" name="Text 11"/>
          <p:cNvSpPr/>
          <p:nvPr/>
        </p:nvSpPr>
        <p:spPr>
          <a:xfrm>
            <a:off x="6473952" y="4105656"/>
            <a:ext cx="4956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READING THIS TABLE HONESTLY</a:t>
            </a:r>
            <a:endParaRPr lang="en-US" sz="1050" dirty="0"/>
          </a:p>
        </p:txBody>
      </p:sp>
      <p:sp>
        <p:nvSpPr>
          <p:cNvPr id="16" name="Text 12"/>
          <p:cNvSpPr/>
          <p:nvPr/>
        </p:nvSpPr>
        <p:spPr>
          <a:xfrm>
            <a:off x="6473952" y="4379976"/>
            <a:ext cx="4956048" cy="16184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AFC FALLS CONTINUOUSLY because a constant $800 is divided by an ever-larger Q.</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When MC is BELOW ATC, ATC is FALLING; when MC is ABOVE ATC, ATC is RISING.</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AVC reaches its MINIMUM at Q = 5 ($50.00), and MC crosses AVC right there — MC(5) = 40 &lt; 50, MC(6) = 70 &gt; 53.33. That is the crossing rule working exactly as advertised.</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ATC is STILL FALLING at Q = 8, because AFC is still large enough to dominate. MC ($155) has not yet caught ATC ($172.50), so minimum ATC lies just BEYOND this table. Do not force a minimum that is not there — state where it must occur and why.</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FLINT AUTO PARTS SUPPLIER, 1982</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Applying the Shutdown Rule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457200"/>
                <a:gridCol w="868680"/>
                <a:gridCol w="868680"/>
                <a:gridCol w="914400"/>
                <a:gridCol w="777240"/>
                <a:gridCol w="868680"/>
                <a:gridCol w="2011680"/>
                <a:gridCol w="1005840"/>
                <a:gridCol w="3410712"/>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TFC</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TVC</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TC</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AFC</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AVC</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ATC</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MC</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AVG PROFIT (P−ATC) at P=$600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1,600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400.00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1,600.00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−1,000.00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1,900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350.00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950.00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−350.00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950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2,150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316.67</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716.67</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−116.67</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1,260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2,460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315.00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615.00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310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1,700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2,900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240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340.00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580.00  ← min ATC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440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+20.00   PRODUCE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2,300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3,500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383.33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583.33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600  = 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+16.67   PRODUCE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3703320"/>
            <a:ext cx="5486400" cy="1051560"/>
          </a:xfrm>
          <a:prstGeom prst="rect">
            <a:avLst/>
          </a:prstGeom>
          <a:solidFill>
            <a:srgbClr val="1A2E4A"/>
          </a:solidFill>
          <a:ln/>
        </p:spPr>
      </p:sp>
      <p:sp>
        <p:nvSpPr>
          <p:cNvPr id="8" name="Text 5"/>
          <p:cNvSpPr/>
          <p:nvPr/>
        </p:nvSpPr>
        <p:spPr>
          <a:xfrm>
            <a:off x="685800" y="3831336"/>
            <a:ext cx="5120640" cy="48463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SHUT DOWN if  P &lt; min AVC        EXIT if  P &lt; min ATC</a:t>
            </a:r>
            <a:endParaRPr lang="en-US" sz="1500" dirty="0"/>
          </a:p>
        </p:txBody>
      </p:sp>
      <p:sp>
        <p:nvSpPr>
          <p:cNvPr id="9" name="Text 6"/>
          <p:cNvSpPr/>
          <p:nvPr/>
        </p:nvSpPr>
        <p:spPr>
          <a:xfrm>
            <a:off x="685800" y="4242816"/>
            <a:ext cx="512064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Short-run shutdown compares price to AVC. Long-run exit compares price to ATC.</a:t>
            </a:r>
            <a:endParaRPr lang="en-US" sz="1150" dirty="0"/>
          </a:p>
        </p:txBody>
      </p:sp>
      <p:sp>
        <p:nvSpPr>
          <p:cNvPr id="10" name="Shape 7"/>
          <p:cNvSpPr/>
          <p:nvPr/>
        </p:nvSpPr>
        <p:spPr>
          <a:xfrm>
            <a:off x="6199632" y="3703320"/>
            <a:ext cx="5486400" cy="1051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6455664" y="388620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AT P = $600 — the profit-maximizing output</a:t>
            </a:r>
            <a:endParaRPr lang="en-US" sz="1550" dirty="0"/>
          </a:p>
        </p:txBody>
      </p:sp>
      <p:sp>
        <p:nvSpPr>
          <p:cNvPr id="12" name="Text 9"/>
          <p:cNvSpPr/>
          <p:nvPr/>
        </p:nvSpPr>
        <p:spPr>
          <a:xfrm>
            <a:off x="6455664" y="4288536"/>
            <a:ext cx="4974336" cy="2286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MR = P = $600 = MC at Q = 6, so Q* = 6.  Total profit = (600 − 583.33) × 6 = $100/day.</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Note Q = 5 also yields $100 — a tie, because MC(6) exactly equals P. Either answer is defensible if you show the arithmetic.</a:t>
            </a:r>
            <a:endParaRPr lang="en-US" sz="850" dirty="0"/>
          </a:p>
        </p:txBody>
      </p:sp>
      <p:sp>
        <p:nvSpPr>
          <p:cNvPr id="13" name="Shape 10"/>
          <p:cNvSpPr/>
          <p:nvPr/>
        </p:nvSpPr>
        <p:spPr>
          <a:xfrm>
            <a:off x="502920" y="4892040"/>
            <a:ext cx="3611880" cy="1234440"/>
          </a:xfrm>
          <a:prstGeom prst="rect">
            <a:avLst/>
          </a:prstGeom>
          <a:solidFill>
            <a:srgbClr val="E8EDF3"/>
          </a:solidFill>
          <a:ln/>
        </p:spPr>
      </p:sp>
      <p:sp>
        <p:nvSpPr>
          <p:cNvPr id="14" name="Shape 11"/>
          <p:cNvSpPr/>
          <p:nvPr/>
        </p:nvSpPr>
        <p:spPr>
          <a:xfrm>
            <a:off x="704088" y="5093208"/>
            <a:ext cx="457200" cy="457200"/>
          </a:xfrm>
          <a:prstGeom prst="ellipse">
            <a:avLst/>
          </a:prstGeom>
          <a:solidFill>
            <a:srgbClr val="C0892E"/>
          </a:solidFill>
          <a:ln/>
        </p:spPr>
      </p:sp>
      <p:sp>
        <p:nvSpPr>
          <p:cNvPr id="15" name="Text 12"/>
          <p:cNvSpPr/>
          <p:nvPr/>
        </p:nvSpPr>
        <p:spPr>
          <a:xfrm>
            <a:off x="704088" y="5093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1280160" y="509320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IF PRICE FALLS TO $400 (the Volcker recession)</a:t>
            </a:r>
            <a:endParaRPr lang="en-US" sz="1450" dirty="0"/>
          </a:p>
        </p:txBody>
      </p:sp>
      <p:sp>
        <p:nvSpPr>
          <p:cNvPr id="17" name="Text 14"/>
          <p:cNvSpPr/>
          <p:nvPr/>
        </p:nvSpPr>
        <p:spPr>
          <a:xfrm>
            <a:off x="722376" y="5641848"/>
            <a:ext cx="3154680" cy="2743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AVC(3) = $316.67. Is P &gt; AVC? YES — $400 &gt; $316.67.</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SO: KEEP PRODUCING. The firm loses money but loses LESS than by shutting down, because revenue still covers all variable cost plus $83 per unit toward the fixed cost.</a:t>
            </a:r>
            <a:endParaRPr lang="en-US" sz="900" dirty="0"/>
          </a:p>
        </p:txBody>
      </p:sp>
      <p:sp>
        <p:nvSpPr>
          <p:cNvPr id="18" name="Shape 15"/>
          <p:cNvSpPr/>
          <p:nvPr/>
        </p:nvSpPr>
        <p:spPr>
          <a:xfrm>
            <a:off x="4315968" y="4892040"/>
            <a:ext cx="3611880" cy="1234440"/>
          </a:xfrm>
          <a:prstGeom prst="rect">
            <a:avLst/>
          </a:prstGeom>
          <a:solidFill>
            <a:srgbClr val="E8EDF3"/>
          </a:solidFill>
          <a:ln/>
        </p:spPr>
      </p:sp>
      <p:sp>
        <p:nvSpPr>
          <p:cNvPr id="19" name="Shape 16"/>
          <p:cNvSpPr/>
          <p:nvPr/>
        </p:nvSpPr>
        <p:spPr>
          <a:xfrm>
            <a:off x="4517136" y="5093208"/>
            <a:ext cx="457200" cy="457200"/>
          </a:xfrm>
          <a:prstGeom prst="ellipse">
            <a:avLst/>
          </a:prstGeom>
          <a:solidFill>
            <a:srgbClr val="9E2A2B"/>
          </a:solidFill>
          <a:ln/>
        </p:spPr>
      </p:sp>
      <p:sp>
        <p:nvSpPr>
          <p:cNvPr id="20" name="Text 17"/>
          <p:cNvSpPr/>
          <p:nvPr/>
        </p:nvSpPr>
        <p:spPr>
          <a:xfrm>
            <a:off x="4517136" y="5093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8"/>
          <p:cNvSpPr/>
          <p:nvPr/>
        </p:nvSpPr>
        <p:spPr>
          <a:xfrm>
            <a:off x="5093208" y="5093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IF PRICE FALLS TO $200</a:t>
            </a:r>
            <a:endParaRPr lang="en-US" sz="1600" dirty="0"/>
          </a:p>
        </p:txBody>
      </p:sp>
      <p:sp>
        <p:nvSpPr>
          <p:cNvPr id="22" name="Text 19"/>
          <p:cNvSpPr/>
          <p:nvPr/>
        </p:nvSpPr>
        <p:spPr>
          <a:xfrm>
            <a:off x="4535424" y="5641848"/>
            <a:ext cx="3154680" cy="2743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AVC(1) = $400. P = $200 &lt; $400 → SHUT DOWN.</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Producing would lose $200 per unit on VARIABLE cost alone, before a cent of the lease. Shutting down caps the loss at TFC = $1,200/day.</a:t>
            </a:r>
            <a:endParaRPr lang="en-US" sz="900" dirty="0"/>
          </a:p>
        </p:txBody>
      </p:sp>
      <p:sp>
        <p:nvSpPr>
          <p:cNvPr id="23" name="Shape 20"/>
          <p:cNvSpPr/>
          <p:nvPr/>
        </p:nvSpPr>
        <p:spPr>
          <a:xfrm>
            <a:off x="8119872" y="4892040"/>
            <a:ext cx="3566160" cy="1234440"/>
          </a:xfrm>
          <a:prstGeom prst="rect">
            <a:avLst/>
          </a:prstGeom>
          <a:solidFill>
            <a:srgbClr val="E8EDF3"/>
          </a:solidFill>
          <a:ln/>
        </p:spPr>
      </p:sp>
      <p:sp>
        <p:nvSpPr>
          <p:cNvPr id="24" name="Shape 21"/>
          <p:cNvSpPr/>
          <p:nvPr/>
        </p:nvSpPr>
        <p:spPr>
          <a:xfrm>
            <a:off x="8321040" y="5093208"/>
            <a:ext cx="457200" cy="457200"/>
          </a:xfrm>
          <a:prstGeom prst="ellipse">
            <a:avLst/>
          </a:prstGeom>
          <a:solidFill>
            <a:srgbClr val="2A7F84"/>
          </a:solidFill>
          <a:ln/>
        </p:spPr>
      </p:sp>
      <p:sp>
        <p:nvSpPr>
          <p:cNvPr id="25" name="Text 22"/>
          <p:cNvSpPr/>
          <p:nvPr/>
        </p:nvSpPr>
        <p:spPr>
          <a:xfrm>
            <a:off x="8321040" y="5093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3"/>
          <p:cNvSpPr/>
          <p:nvPr/>
        </p:nvSpPr>
        <p:spPr>
          <a:xfrm>
            <a:off x="8897112" y="5093208"/>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1982 → 2020: THE SAME RULE</a:t>
            </a:r>
            <a:endParaRPr lang="en-US" sz="1450" dirty="0"/>
          </a:p>
        </p:txBody>
      </p:sp>
      <p:sp>
        <p:nvSpPr>
          <p:cNvPr id="27" name="Text 24"/>
          <p:cNvSpPr/>
          <p:nvPr/>
        </p:nvSpPr>
        <p:spPr>
          <a:xfrm>
            <a:off x="8339328" y="5641848"/>
            <a:ext cx="3108960" cy="2743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1982: plants shut and capital was mothballed; many never reopened — a short-run shutdown that became a long-run EXIT.</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2020–24: chip shortages pushed P below AVC briefly, but FIXED COSTS REMAINED — losses even at zero output.</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THE PICTURE AND WORKSHEET ✦3</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Three Price Bands — Temporary vs. Permanent Closure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pic>
        <p:nvPicPr>
          <p:cNvPr id="6" name="Image 0" descr="figs/m9_shutdown.png">    </p:cNvPr>
          <p:cNvPicPr>
            <a:picLocks noChangeAspect="1"/>
          </p:cNvPicPr>
          <p:nvPr/>
        </p:nvPicPr>
        <p:blipFill>
          <a:blip r:embed="rId1"/>
          <a:stretch>
            <a:fillRect/>
          </a:stretch>
        </p:blipFill>
        <p:spPr>
          <a:xfrm>
            <a:off x="502920" y="1572350"/>
            <a:ext cx="6035040" cy="3621860"/>
          </a:xfrm>
          <a:prstGeom prst="rect">
            <a:avLst/>
          </a:prstGeom>
        </p:spPr>
      </p:pic>
      <p:sp>
        <p:nvSpPr>
          <p:cNvPr id="7" name="Shape 4"/>
          <p:cNvSpPr/>
          <p:nvPr/>
        </p:nvSpPr>
        <p:spPr>
          <a:xfrm>
            <a:off x="6812280" y="1444752"/>
            <a:ext cx="4873752" cy="2194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068312" y="1627632"/>
            <a:ext cx="4361688" cy="384048"/>
          </a:xfrm>
          <a:prstGeom prst="rect">
            <a:avLst/>
          </a:prstGeom>
          <a:noFill/>
          <a:ln/>
        </p:spPr>
        <p:txBody>
          <a:bodyPr wrap="square" lIns="0" tIns="0" rIns="0" bIns="0" rtlCol="0" anchor="ctr"/>
          <a:lstStyle/>
          <a:p>
            <a:pPr indent="0" marL="0">
              <a:buNone/>
            </a:pPr>
            <a:r>
              <a:rPr lang="en-US" sz="1300" b="1" dirty="0">
                <a:solidFill>
                  <a:srgbClr val="1A2E4A"/>
                </a:solidFill>
                <a:latin typeface="Cambria" pitchFamily="34" charset="0"/>
                <a:ea typeface="Cambria" pitchFamily="34" charset="-122"/>
                <a:cs typeface="Cambria" pitchFamily="34" charset="-120"/>
              </a:rPr>
              <a:t>✦3  WHY SOME RESTAURANTS REOPENED AND SOME DID NOT</a:t>
            </a:r>
            <a:endParaRPr lang="en-US" sz="1300" dirty="0"/>
          </a:p>
        </p:txBody>
      </p:sp>
      <p:sp>
        <p:nvSpPr>
          <p:cNvPr id="9" name="Text 6"/>
          <p:cNvSpPr/>
          <p:nvPr/>
        </p:nvSpPr>
        <p:spPr>
          <a:xfrm>
            <a:off x="7068312" y="2029968"/>
            <a:ext cx="4361688" cy="13716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TEMPORARY CLOSURE (P &lt; AVC, but expected future P &gt; ATC): the shutdown rule says stop serving NOW, because you cannot cover food and wages. But the business is still viable, so you keep the lease and reopen. Firms with low fixed costs, patient landlords, or PPP support could wait.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PERMANENT CLOSURE (expected future P &lt; ATC): the LONG-RUN EXIT condition. If you do not expect price ever to cover FULL average cost again, there is no point holding the lease. Firms with high rent, thin margins, or an office-district customer base that was not coming back exited outright.</a:t>
            </a:r>
            <a:endParaRPr lang="en-US" sz="850" dirty="0"/>
          </a:p>
        </p:txBody>
      </p:sp>
      <p:sp>
        <p:nvSpPr>
          <p:cNvPr id="10" name="Shape 7"/>
          <p:cNvSpPr/>
          <p:nvPr/>
        </p:nvSpPr>
        <p:spPr>
          <a:xfrm>
            <a:off x="6812280" y="3794760"/>
            <a:ext cx="4873752"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068312" y="3977640"/>
            <a:ext cx="436168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WHY RESTAURANT PRICES ARE HIGHER TODAY</a:t>
            </a:r>
            <a:endParaRPr lang="en-US" sz="1550" dirty="0"/>
          </a:p>
        </p:txBody>
      </p:sp>
      <p:sp>
        <p:nvSpPr>
          <p:cNvPr id="12" name="Text 9"/>
          <p:cNvSpPr/>
          <p:nvPr/>
        </p:nvSpPr>
        <p:spPr>
          <a:xfrm>
            <a:off x="7068312" y="4379976"/>
            <a:ext cx="4361688"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COST CURVES SHIFTED UP. Wages, food inputs, insurance and rent all rose, so AVC and ATC are higher at every Q — and the minimum of ATC is higher too.</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EXIT ALSO SHIFTED SUPPLY LEFT (Module 3): fewer firms in the market. Both forces push equilibrium price up. A higher price here is not a windfall; it is the new minimum ATC.</a:t>
            </a:r>
            <a:endParaRPr lang="en-US" sz="850" dirty="0"/>
          </a:p>
        </p:txBody>
      </p:sp>
      <p:sp>
        <p:nvSpPr>
          <p:cNvPr id="13" name="Shape 10"/>
          <p:cNvSpPr/>
          <p:nvPr/>
        </p:nvSpPr>
        <p:spPr>
          <a:xfrm>
            <a:off x="502920" y="5486400"/>
            <a:ext cx="6035040" cy="640080"/>
          </a:xfrm>
          <a:prstGeom prst="rect">
            <a:avLst/>
          </a:prstGeom>
          <a:solidFill>
            <a:srgbClr val="1A2E4A"/>
          </a:solidFill>
          <a:ln/>
        </p:spPr>
      </p:sp>
      <p:sp>
        <p:nvSpPr>
          <p:cNvPr id="14" name="Text 11"/>
          <p:cNvSpPr/>
          <p:nvPr/>
        </p:nvSpPr>
        <p:spPr>
          <a:xfrm>
            <a:off x="758952" y="5614416"/>
            <a:ext cx="552297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RULE IN ONE LINE</a:t>
            </a:r>
            <a:endParaRPr lang="en-US" sz="1050" dirty="0"/>
          </a:p>
        </p:txBody>
      </p:sp>
      <p:sp>
        <p:nvSpPr>
          <p:cNvPr id="15" name="Text 12"/>
          <p:cNvSpPr/>
          <p:nvPr/>
        </p:nvSpPr>
        <p:spPr>
          <a:xfrm>
            <a:off x="758952" y="5815584"/>
            <a:ext cx="5522976" cy="256032"/>
          </a:xfrm>
          <a:prstGeom prst="rect">
            <a:avLst/>
          </a:prstGeom>
          <a:noFill/>
          <a:ln/>
        </p:spPr>
        <p:txBody>
          <a:bodyPr wrap="square" lIns="0" tIns="0" rIns="0" bIns="0" rtlCol="0" anchor="t"/>
          <a:lstStyle/>
          <a:p>
            <a:pPr indent="0" marL="0">
              <a:lnSpc>
                <a:spcPts val="1500"/>
              </a:lnSpc>
              <a:buNone/>
            </a:pPr>
            <a:r>
              <a:rPr lang="en-US" sz="1050" dirty="0">
                <a:solidFill>
                  <a:srgbClr val="FFFFFF"/>
                </a:solidFill>
                <a:latin typeface="Calibri" pitchFamily="34" charset="0"/>
                <a:ea typeface="Calibri" pitchFamily="34" charset="-122"/>
                <a:cs typeface="Calibri" pitchFamily="34" charset="-120"/>
              </a:rPr>
              <a:t>AVC decides whether to OPERATE TODAY. ATC decides whether to STAY IN THE INDUSTRY.</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06</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Long Run:</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Returns to Scale &amp; the LRAC</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Analyze long-run production — economies of scale, the LRAC envelope, and minimum efficient scale.</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6 · THE ENVELOPE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Long-Run Average Cost &amp; Minimum Efficient Scale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pic>
        <p:nvPicPr>
          <p:cNvPr id="6" name="Image 0" descr="figs/m9_lrac.png">    </p:cNvPr>
          <p:cNvPicPr>
            <a:picLocks noChangeAspect="1"/>
          </p:cNvPicPr>
          <p:nvPr/>
        </p:nvPicPr>
        <p:blipFill>
          <a:blip r:embed="rId1"/>
          <a:stretch>
            <a:fillRect/>
          </a:stretch>
        </p:blipFill>
        <p:spPr>
          <a:xfrm>
            <a:off x="502920" y="1615234"/>
            <a:ext cx="6035040" cy="3536092"/>
          </a:xfrm>
          <a:prstGeom prst="rect">
            <a:avLst/>
          </a:prstGeom>
        </p:spPr>
      </p:pic>
      <p:sp>
        <p:nvSpPr>
          <p:cNvPr id="7" name="Shape 4"/>
          <p:cNvSpPr/>
          <p:nvPr/>
        </p:nvSpPr>
        <p:spPr>
          <a:xfrm>
            <a:off x="6812280" y="1444752"/>
            <a:ext cx="4873752"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068312" y="1627632"/>
            <a:ext cx="4361688"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LONG RUN — the definition again</a:t>
            </a:r>
            <a:endParaRPr lang="en-US" sz="1550" dirty="0"/>
          </a:p>
        </p:txBody>
      </p:sp>
      <p:sp>
        <p:nvSpPr>
          <p:cNvPr id="9" name="Text 6"/>
          <p:cNvSpPr/>
          <p:nvPr/>
        </p:nvSpPr>
        <p:spPr>
          <a:xfrm>
            <a:off x="7068312" y="2029968"/>
            <a:ext cx="4361688" cy="411480"/>
          </a:xfrm>
          <a:prstGeom prst="rect">
            <a:avLst/>
          </a:prstGeom>
          <a:noFill/>
          <a:ln/>
        </p:spPr>
        <p:txBody>
          <a:bodyPr wrap="square" lIns="0" tIns="0" rIns="0" bIns="0" rtlCol="0" anchor="t"/>
          <a:lstStyle/>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ALL inputs — including CAPITAL — are variable. Q = f(L, K). Firms can build new plants, adopt new technologies, or EXIT the industry.</a:t>
            </a:r>
            <a:endParaRPr lang="en-US" sz="1000" dirty="0"/>
          </a:p>
        </p:txBody>
      </p:sp>
      <p:sp>
        <p:nvSpPr>
          <p:cNvPr id="10" name="Shape 7"/>
          <p:cNvSpPr/>
          <p:nvPr/>
        </p:nvSpPr>
        <p:spPr>
          <a:xfrm>
            <a:off x="6812280" y="2770632"/>
            <a:ext cx="4873752"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068312" y="2953512"/>
            <a:ext cx="436168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LRAC — the envelope</a:t>
            </a:r>
            <a:endParaRPr lang="en-US" sz="1550" dirty="0"/>
          </a:p>
        </p:txBody>
      </p:sp>
      <p:sp>
        <p:nvSpPr>
          <p:cNvPr id="12" name="Text 9"/>
          <p:cNvSpPr/>
          <p:nvPr/>
        </p:nvSpPr>
        <p:spPr>
          <a:xfrm>
            <a:off x="7068312" y="3355848"/>
            <a:ext cx="4361688" cy="411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LOWEST possible average cost at each output level, when the firm can choose its OPTIMAL scale of production.</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Geometrically it is the ENVELOPE of all the short-run average cost curves — one SRAC per possible plant size.</a:t>
            </a:r>
            <a:endParaRPr lang="en-US" sz="850" dirty="0"/>
          </a:p>
        </p:txBody>
      </p:sp>
      <p:sp>
        <p:nvSpPr>
          <p:cNvPr id="13" name="Shape 10"/>
          <p:cNvSpPr/>
          <p:nvPr/>
        </p:nvSpPr>
        <p:spPr>
          <a:xfrm>
            <a:off x="6812280" y="4096512"/>
            <a:ext cx="4873752"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7068312" y="4279392"/>
            <a:ext cx="436168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MINIMUM EFFICIENT SCALE (MES)</a:t>
            </a:r>
            <a:endParaRPr lang="en-US" sz="1550" dirty="0"/>
          </a:p>
        </p:txBody>
      </p:sp>
      <p:sp>
        <p:nvSpPr>
          <p:cNvPr id="15" name="Text 12"/>
          <p:cNvSpPr/>
          <p:nvPr/>
        </p:nvSpPr>
        <p:spPr>
          <a:xfrm>
            <a:off x="7068312" y="4681728"/>
            <a:ext cx="4361688" cy="411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output level at which long-run ATC is MINIMIZED — the smallest scale at which a firm achieves the lowest attainable average cost.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MES is the single most important number in an industry's structure.</a:t>
            </a:r>
            <a:endParaRPr lang="en-US" sz="850" dirty="0"/>
          </a:p>
        </p:txBody>
      </p:sp>
      <p:sp>
        <p:nvSpPr>
          <p:cNvPr id="16" name="Shape 13"/>
          <p:cNvSpPr/>
          <p:nvPr/>
        </p:nvSpPr>
        <p:spPr>
          <a:xfrm>
            <a:off x="6812280" y="5422392"/>
            <a:ext cx="4873752" cy="704088"/>
          </a:xfrm>
          <a:prstGeom prst="rect">
            <a:avLst/>
          </a:prstGeom>
          <a:solidFill>
            <a:srgbClr val="1A2E4A"/>
          </a:solidFill>
          <a:ln/>
        </p:spPr>
      </p:sp>
      <p:sp>
        <p:nvSpPr>
          <p:cNvPr id="17" name="Text 14"/>
          <p:cNvSpPr/>
          <p:nvPr/>
        </p:nvSpPr>
        <p:spPr>
          <a:xfrm>
            <a:off x="7068312" y="5550408"/>
            <a:ext cx="436168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NATURAL MONOPOLY</a:t>
            </a:r>
            <a:endParaRPr lang="en-US" sz="1050" dirty="0"/>
          </a:p>
        </p:txBody>
      </p:sp>
      <p:sp>
        <p:nvSpPr>
          <p:cNvPr id="18" name="Text 15"/>
          <p:cNvSpPr/>
          <p:nvPr/>
        </p:nvSpPr>
        <p:spPr>
          <a:xfrm>
            <a:off x="7068312" y="5751576"/>
            <a:ext cx="436168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Exists when MES is LARGE relative to market demand — one firm can serve the whole market at lower ATC than two could. AT&amp;T, 1970.</a:t>
            </a:r>
            <a:endParaRPr lang="en-US" sz="8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5486400"/>
          <a:ext cx="6035040" cy="914400"/>
        </p:xfrm>
        <a:graphic>
          <a:graphicData uri="http://schemas.openxmlformats.org/drawingml/2006/table">
            <a:tbl>
              <a:tblPr/>
              <a:tblGrid>
                <a:gridCol w="1737360"/>
                <a:gridCol w="1645920"/>
                <a:gridCol w="2651760"/>
              </a:tblGrid>
              <a:tr h="201168">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THREE REGIONS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LRAC</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CAUSES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01168">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ECONOMIES OF SCALE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FALLS as output rises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Specialization, indivisible technology, bulk buying, managerial and technological complementarities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01168">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CONSTANT RETURNS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FLAT / unchanged</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No further advantage to growing; the flat stretch can be wide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01168">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DISECONOMIES OF SCALE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RISES as output rises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Coordination problems, communication costs, worker alienation, bureaucracy</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6 · THE MECHANISMS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Five Sources of Economies of Scale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377440"/>
                <a:gridCol w="3840480"/>
                <a:gridCol w="4965192"/>
              </a:tblGrid>
              <a:tr h="27432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MECHANISM</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EXPLANATION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HISTORICAL EXAMPLE, 1920s–PRESENT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SPECIALIZATION OF LABOR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Workers focus on narrow tasks → higher MP per worker. Adam Smith's pin factory, at industrial scale.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Ford's River Rouge plant, 1928: ~100,000 workers, each on one task. RESULT: assembly time per Model T fell from 12 hours to 93 minutes, and the price fell with 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INDIVISIBLE TECHNOLOGIES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 fixed capital cost is the same whether the plant runs at 60% or 100% of capacity — so AFC falls as output rises.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 blast furnace costs the same whether run at 60% or 100%. Larger output → lower AFC. You cannot buy 60% of a blast furnace.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BULK PURCHASING POWER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Large buyers negotiate lower input prices — and note this is MONOPSONY power in the input market (Module 7).</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WALMART negotiates wholesale prices no small retailer can match, then passes part of the saving to consumers and keeps the rest.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MANAGERIAL EFFICIENCIES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Specialized managers and specialized functions are affordable only at scale.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 $200,000 CFO is 0.001% of GM's costs but would BANKRUPT a small firm. Same is true of a legal department, an in-house lab, a data team.</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TECHNOLOGY COMPLEMENTARITIES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Automation only pays at high volume, because the fixed investment must be spread over many units.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Toyota Production System required HIGH AND STEADY VOLUME to justify robotic investment. Below that volume, manual assembly is cheaper.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502920" y="4206240"/>
          <a:ext cx="11183112" cy="914400"/>
        </p:xfrm>
        <a:graphic>
          <a:graphicData uri="http://schemas.openxmlformats.org/drawingml/2006/table">
            <a:tbl>
              <a:tblPr/>
              <a:tblGrid>
                <a:gridCol w="3840480"/>
                <a:gridCol w="3840480"/>
                <a:gridCol w="3502152"/>
              </a:tblGrid>
              <a:tr h="27432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SCALE CHANGE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OUTCOME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CLASSIFICATION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Output doubles; TC LESS than doubles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Economies of scale — ATC FALLS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INCREASING returns to scale (IRS)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Output doubles; TC EXACTLY doubles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Constant returns to scale — ATC unchanged</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CONSTANT returns to scale (CRS)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Output doubles; TC MORE than doubles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Diseconomies of scale — ATC RISES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DECREASING returns to scale (DRS)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5440680"/>
            <a:ext cx="11183112" cy="685800"/>
          </a:xfrm>
          <a:prstGeom prst="rect">
            <a:avLst/>
          </a:prstGeom>
          <a:solidFill>
            <a:srgbClr val="1A2E4A"/>
          </a:solidFill>
          <a:ln/>
        </p:spPr>
      </p:sp>
      <p:sp>
        <p:nvSpPr>
          <p:cNvPr id="9" name="Text 5"/>
          <p:cNvSpPr/>
          <p:nvPr/>
        </p:nvSpPr>
        <p:spPr>
          <a:xfrm>
            <a:off x="758952" y="55686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RAY'S WAREHOUSE EXPANSION — THE TWO SCENARIOS</a:t>
            </a:r>
            <a:endParaRPr lang="en-US" sz="1050" dirty="0"/>
          </a:p>
        </p:txBody>
      </p:sp>
      <p:sp>
        <p:nvSpPr>
          <p:cNvPr id="10" name="Text 6"/>
          <p:cNvSpPr/>
          <p:nvPr/>
        </p:nvSpPr>
        <p:spPr>
          <a:xfrm>
            <a:off x="758952" y="576986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SCENARIO A (specialization and shared equipment lower per-unit cost as output doubles) describes INCREASING returns to scale — economies of scale.   ·   SCENARIO B (management complexity grows faster than output) describes DECREASING returns to scale — diseconomies of scale.</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NAFTA, 1994</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Ford's Engine Plant Decision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Text 4"/>
          <p:cNvSpPr/>
          <p:nvPr/>
        </p:nvSpPr>
        <p:spPr>
          <a:xfrm>
            <a:off x="502920" y="1417320"/>
            <a:ext cx="11155680" cy="50292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After NAFTA passes, Ford must decide where to build an engine plant. OPTION A — Michigan: 500 engines/day, ATC = $210, fixed costs $60M. OPTION B — Mexico: 2,000 engines/day at scale, ATC = $145, fixed costs $150M. Current U.S. demand: 1,000 engines/day. Projected NAFTA demand: 3,500/day.</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2920" y="2057400"/>
          <a:ext cx="11183112" cy="914400"/>
        </p:xfrm>
        <a:graphic>
          <a:graphicData uri="http://schemas.openxmlformats.org/drawingml/2006/table">
            <a:tbl>
              <a:tblPr/>
              <a:tblGrid>
                <a:gridCol w="3291840"/>
                <a:gridCol w="4114800"/>
                <a:gridCol w="3776472"/>
              </a:tblGrid>
              <a:tr h="310896">
                <a:tc>
                  <a:txBody>
                    <a:bodyPr/>
                    <a:lstStyle/>
                    <a:p>
                      <a:pPr algn="l" indent="0" marL="0">
                        <a:buNone/>
                      </a:pP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MICHIGAN PLANT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MEXICO PLANT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Minimum efficient scale (MES)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500 engines/day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2,000 engines/day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ATC at its MES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$145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Can it reach NAFTA demand of 3,500/day?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NO — it would take SEVEN plants, forgoing every scale advantage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YES — 3,500 is comfortably past its MES of 2,000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Which LRAC region at 1,000 units?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Operating at TWICE its MES → DISECONOMIES OF SCALE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Below MES at 1,000 → still in ECONOMIES OF SCALE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ATC at NAFTA demand (3,500/day)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 $210 or higher, replicated across plants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$145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Cost saving per engine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$210 − $145 = $65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5"/>
          <p:cNvSpPr/>
          <p:nvPr/>
        </p:nvSpPr>
        <p:spPr>
          <a:xfrm>
            <a:off x="502920" y="4251960"/>
            <a:ext cx="5486400" cy="1097280"/>
          </a:xfrm>
          <a:prstGeom prst="rect">
            <a:avLst/>
          </a:prstGeom>
          <a:solidFill>
            <a:srgbClr val="1A2E4A"/>
          </a:solidFill>
          <a:ln/>
        </p:spPr>
      </p:sp>
      <p:sp>
        <p:nvSpPr>
          <p:cNvPr id="9" name="Text 6"/>
          <p:cNvSpPr/>
          <p:nvPr/>
        </p:nvSpPr>
        <p:spPr>
          <a:xfrm>
            <a:off x="685800" y="4379976"/>
            <a:ext cx="512064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$65  ×  3,500 engines/day  =  $227,500 per day</a:t>
            </a:r>
            <a:endParaRPr lang="en-US" sz="1600" dirty="0"/>
          </a:p>
        </p:txBody>
      </p:sp>
      <p:sp>
        <p:nvSpPr>
          <p:cNvPr id="10" name="Text 7"/>
          <p:cNvSpPr/>
          <p:nvPr/>
        </p:nvSpPr>
        <p:spPr>
          <a:xfrm>
            <a:off x="685800" y="4837176"/>
            <a:ext cx="512064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LONG-RUN RECOMMENDATION: BUILD IN MEXICO. At NAFTA scale the higher fixed cost is dominated by the lower ATC.</a:t>
            </a:r>
            <a:endParaRPr lang="en-US" sz="1150" dirty="0"/>
          </a:p>
        </p:txBody>
      </p:sp>
      <p:sp>
        <p:nvSpPr>
          <p:cNvPr id="11" name="Shape 8"/>
          <p:cNvSpPr/>
          <p:nvPr/>
        </p:nvSpPr>
        <p:spPr>
          <a:xfrm>
            <a:off x="6199632" y="4251960"/>
            <a:ext cx="5486400" cy="1097280"/>
          </a:xfrm>
          <a:prstGeom prst="rect">
            <a:avLst/>
          </a:prstGeom>
          <a:solidFill>
            <a:srgbClr val="1A2E4A"/>
          </a:solidFill>
          <a:ln/>
        </p:spPr>
      </p:sp>
      <p:sp>
        <p:nvSpPr>
          <p:cNvPr id="12" name="Text 9"/>
          <p:cNvSpPr/>
          <p:nvPr/>
        </p:nvSpPr>
        <p:spPr>
          <a:xfrm>
            <a:off x="6455664" y="437997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HISTORICAL NOTE</a:t>
            </a:r>
            <a:endParaRPr lang="en-US" sz="1050" dirty="0"/>
          </a:p>
        </p:txBody>
      </p:sp>
      <p:sp>
        <p:nvSpPr>
          <p:cNvPr id="13" name="Text 10"/>
          <p:cNvSpPr/>
          <p:nvPr/>
        </p:nvSpPr>
        <p:spPr>
          <a:xfrm>
            <a:off x="6455664" y="4654296"/>
            <a:ext cx="4974336" cy="566928"/>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This is exactly the decision Ford and GM made from 1994 to 2005. The Economic Policy Institute (Scott, 2011) estimates NAFTA displaced roughly 700,000 net U.S. jobs, primarily in manufacturing.</a:t>
            </a:r>
            <a:endParaRPr lang="en-US" sz="1000" dirty="0"/>
          </a:p>
        </p:txBody>
      </p:sp>
      <p:sp>
        <p:nvSpPr>
          <p:cNvPr id="14" name="Shape 11"/>
          <p:cNvSpPr/>
          <p:nvPr/>
        </p:nvSpPr>
        <p:spPr>
          <a:xfrm>
            <a:off x="502920" y="5440680"/>
            <a:ext cx="11183112" cy="6858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5" name="Text 12"/>
          <p:cNvSpPr/>
          <p:nvPr/>
        </p:nvSpPr>
        <p:spPr>
          <a:xfrm>
            <a:off x="758952" y="5623560"/>
            <a:ext cx="1067104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UNCOMFORTABLE POINT</a:t>
            </a:r>
            <a:endParaRPr lang="en-US" sz="1550" dirty="0"/>
          </a:p>
        </p:txBody>
      </p:sp>
      <p:sp>
        <p:nvSpPr>
          <p:cNvPr id="16" name="Text 13"/>
          <p:cNvSpPr/>
          <p:nvPr/>
        </p:nvSpPr>
        <p:spPr>
          <a:xfrm>
            <a:off x="758952" y="6025896"/>
            <a:ext cx="10671048" cy="-1371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CORRECT application of cost theory. The model says build in Mexico, and it is right about cost. It says NOTHING about who bears the adjustment — the green-transition gap of Module 8, twenty years earlier.</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6 · THE NEW ECONOMY OF SCALE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Platform Firms — When LRAC Never Turns Up</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pic>
        <p:nvPicPr>
          <p:cNvPr id="6" name="Image 0" descr="figs/m9_platform.png">    </p:cNvPr>
          <p:cNvPicPr>
            <a:picLocks noChangeAspect="1"/>
          </p:cNvPicPr>
          <p:nvPr/>
        </p:nvPicPr>
        <p:blipFill>
          <a:blip r:embed="rId1"/>
          <a:stretch>
            <a:fillRect/>
          </a:stretch>
        </p:blipFill>
        <p:spPr>
          <a:xfrm>
            <a:off x="2306482" y="1417320"/>
            <a:ext cx="7548557" cy="3200400"/>
          </a:xfrm>
          <a:prstGeom prst="rect">
            <a:avLst/>
          </a:prstGeom>
        </p:spPr>
      </p:pic>
      <p:sp>
        <p:nvSpPr>
          <p:cNvPr id="7" name="Shape 4"/>
          <p:cNvSpPr/>
          <p:nvPr/>
        </p:nvSpPr>
        <p:spPr>
          <a:xfrm>
            <a:off x="502920" y="4800600"/>
            <a:ext cx="3611880" cy="1325880"/>
          </a:xfrm>
          <a:prstGeom prst="rect">
            <a:avLst/>
          </a:prstGeom>
          <a:solidFill>
            <a:srgbClr val="E8EDF3"/>
          </a:solidFill>
          <a:ln/>
        </p:spPr>
      </p:sp>
      <p:sp>
        <p:nvSpPr>
          <p:cNvPr id="8" name="Shape 5"/>
          <p:cNvSpPr/>
          <p:nvPr/>
        </p:nvSpPr>
        <p:spPr>
          <a:xfrm>
            <a:off x="704088" y="5001768"/>
            <a:ext cx="457200" cy="457200"/>
          </a:xfrm>
          <a:prstGeom prst="ellipse">
            <a:avLst/>
          </a:prstGeom>
          <a:solidFill>
            <a:srgbClr val="1A2E4A"/>
          </a:solidFill>
          <a:ln/>
        </p:spPr>
      </p:sp>
      <p:sp>
        <p:nvSpPr>
          <p:cNvPr id="9" name="Text 6"/>
          <p:cNvSpPr/>
          <p:nvPr/>
        </p:nvSpPr>
        <p:spPr>
          <a:xfrm>
            <a:off x="704088" y="50017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280160" y="500176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THE FIXED / MARGINAL SPLIT</a:t>
            </a:r>
            <a:endParaRPr lang="en-US" sz="1450" dirty="0"/>
          </a:p>
        </p:txBody>
      </p:sp>
      <p:sp>
        <p:nvSpPr>
          <p:cNvPr id="11" name="Text 8"/>
          <p:cNvSpPr/>
          <p:nvPr/>
        </p:nvSpPr>
        <p:spPr>
          <a:xfrm>
            <a:off x="722376" y="5550408"/>
            <a:ext cx="3154680" cy="36576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For Netflix, the main FIXED COSTS are content licensing and production, servers and CDN infrastructure, software engineering, and now AI training.</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MARGINAL COST of adding one more subscriber is essentially ZERO — a few cents of bandwidth.</a:t>
            </a:r>
            <a:endParaRPr lang="en-US" sz="900" dirty="0"/>
          </a:p>
        </p:txBody>
      </p:sp>
      <p:sp>
        <p:nvSpPr>
          <p:cNvPr id="12" name="Shape 9"/>
          <p:cNvSpPr/>
          <p:nvPr/>
        </p:nvSpPr>
        <p:spPr>
          <a:xfrm>
            <a:off x="4315968" y="4800600"/>
            <a:ext cx="3611880" cy="1325880"/>
          </a:xfrm>
          <a:prstGeom prst="rect">
            <a:avLst/>
          </a:prstGeom>
          <a:solidFill>
            <a:srgbClr val="E8EDF3"/>
          </a:solidFill>
          <a:ln/>
        </p:spPr>
      </p:sp>
      <p:sp>
        <p:nvSpPr>
          <p:cNvPr id="13" name="Shape 10"/>
          <p:cNvSpPr/>
          <p:nvPr/>
        </p:nvSpPr>
        <p:spPr>
          <a:xfrm>
            <a:off x="4517136" y="5001768"/>
            <a:ext cx="457200" cy="457200"/>
          </a:xfrm>
          <a:prstGeom prst="ellipse">
            <a:avLst/>
          </a:prstGeom>
          <a:solidFill>
            <a:srgbClr val="C0892E"/>
          </a:solidFill>
          <a:ln/>
        </p:spPr>
      </p:sp>
      <p:sp>
        <p:nvSpPr>
          <p:cNvPr id="14" name="Text 11"/>
          <p:cNvSpPr/>
          <p:nvPr/>
        </p:nvSpPr>
        <p:spPr>
          <a:xfrm>
            <a:off x="4517136" y="50017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5093208" y="500176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WHAT HAPPENS TO ATC FROM 10M TO 200M</a:t>
            </a:r>
            <a:endParaRPr lang="en-US" sz="1450" dirty="0"/>
          </a:p>
        </p:txBody>
      </p:sp>
      <p:sp>
        <p:nvSpPr>
          <p:cNvPr id="16" name="Text 13"/>
          <p:cNvSpPr/>
          <p:nvPr/>
        </p:nvSpPr>
        <p:spPr>
          <a:xfrm>
            <a:off x="4535424" y="5550408"/>
            <a:ext cx="3154680" cy="36576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ATC FALLS — steeply and continuously. With MC ≈ 0, ATC ≈ AFC = TFC/Q, which is a hyperbola falling toward zero.</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There is no rising AVC to turn the curve back up, because there is essentially no variable cost at all.</a:t>
            </a:r>
            <a:endParaRPr lang="en-US" sz="900" dirty="0"/>
          </a:p>
        </p:txBody>
      </p:sp>
      <p:sp>
        <p:nvSpPr>
          <p:cNvPr id="17" name="Shape 14"/>
          <p:cNvSpPr/>
          <p:nvPr/>
        </p:nvSpPr>
        <p:spPr>
          <a:xfrm>
            <a:off x="8119872" y="4800600"/>
            <a:ext cx="3566160" cy="1325880"/>
          </a:xfrm>
          <a:prstGeom prst="rect">
            <a:avLst/>
          </a:prstGeom>
          <a:solidFill>
            <a:srgbClr val="E8EDF3"/>
          </a:solidFill>
          <a:ln/>
        </p:spPr>
      </p:sp>
      <p:sp>
        <p:nvSpPr>
          <p:cNvPr id="18" name="Shape 15"/>
          <p:cNvSpPr/>
          <p:nvPr/>
        </p:nvSpPr>
        <p:spPr>
          <a:xfrm>
            <a:off x="8321040" y="5001768"/>
            <a:ext cx="457200" cy="457200"/>
          </a:xfrm>
          <a:prstGeom prst="ellipse">
            <a:avLst/>
          </a:prstGeom>
          <a:solidFill>
            <a:srgbClr val="9E2A2B"/>
          </a:solidFill>
          <a:ln/>
        </p:spPr>
      </p:sp>
      <p:sp>
        <p:nvSpPr>
          <p:cNvPr id="19" name="Text 16"/>
          <p:cNvSpPr/>
          <p:nvPr/>
        </p:nvSpPr>
        <p:spPr>
          <a:xfrm>
            <a:off x="8321040" y="50017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p:nvPr/>
        </p:nvSpPr>
        <p:spPr>
          <a:xfrm>
            <a:off x="8897112" y="5001768"/>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WHAT IT DOES TO COMPETITION</a:t>
            </a:r>
            <a:endParaRPr lang="en-US" sz="1450" dirty="0"/>
          </a:p>
        </p:txBody>
      </p:sp>
      <p:sp>
        <p:nvSpPr>
          <p:cNvPr id="21" name="Text 18"/>
          <p:cNvSpPr/>
          <p:nvPr/>
        </p:nvSpPr>
        <p:spPr>
          <a:xfrm>
            <a:off x="8339328" y="5550408"/>
            <a:ext cx="3108960" cy="36576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Traditional antitrust ASSUMED firms eventually hit diseconomies, which is what leaves room for entrants. If LRAC falls forever, the largest firm is always the lowest-cost firm — a NATURAL MONOPOLY at global scale.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Entry cannot discipline it, so the remedy must be regulatory. Module 11 and Module 12.</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07</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Application:</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Marcus's Food Cart Launch</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Apply every Module 9 cost concept to Marcus's business plan; identify the break-even quantity; evaluate the sunk cost fallacy.</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MARCUS'S FOOD CART, MONTH 1</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Break-Even, Profit and the Sunk Cost Fallacy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Text 4"/>
          <p:cNvSpPr/>
          <p:nvPr/>
        </p:nvSpPr>
        <p:spPr>
          <a:xfrm>
            <a:off x="502920" y="1417320"/>
            <a:ext cx="11155680" cy="365760"/>
          </a:xfrm>
          <a:prstGeom prst="rect">
            <a:avLst/>
          </a:prstGeom>
          <a:noFill/>
          <a:ln/>
        </p:spPr>
        <p:txBody>
          <a:bodyPr wrap="square" lIns="0" tIns="0" rIns="0" bIns="0" rtlCol="0" anchor="ctr"/>
          <a:lstStyle/>
          <a:p>
            <a:pPr indent="0" marL="0">
              <a:buNone/>
            </a:pPr>
            <a:r>
              <a:rPr lang="en-US" sz="1250" dirty="0">
                <a:solidFill>
                  <a:srgbClr val="4A6180"/>
                </a:solidFill>
                <a:latin typeface="Calibri" pitchFamily="34" charset="0"/>
                <a:ea typeface="Calibri" pitchFamily="34" charset="-122"/>
                <a:cs typeface="Calibri" pitchFamily="34" charset="-120"/>
              </a:rPr>
              <a:t>Marcus invests $2,400 in equipment (sunk after purchase). Monthly fixed costs: $800. Variable cost: $4 per meal. Price: $12 per meal. Market research suggests demand of 150 meals/month.</a:t>
            </a:r>
            <a:endParaRPr lang="en-US" sz="1250" dirty="0"/>
          </a:p>
        </p:txBody>
      </p:sp>
      <p:sp>
        <p:nvSpPr>
          <p:cNvPr id="7" name="Shape 5"/>
          <p:cNvSpPr/>
          <p:nvPr/>
        </p:nvSpPr>
        <p:spPr>
          <a:xfrm>
            <a:off x="502920" y="1874520"/>
            <a:ext cx="5486400" cy="2148840"/>
          </a:xfrm>
          <a:prstGeom prst="rect">
            <a:avLst/>
          </a:prstGeom>
          <a:solidFill>
            <a:srgbClr val="1A2E4A"/>
          </a:solidFill>
          <a:ln/>
        </p:spPr>
      </p:sp>
      <p:sp>
        <p:nvSpPr>
          <p:cNvPr id="8" name="Text 6"/>
          <p:cNvSpPr/>
          <p:nvPr/>
        </p:nvSpPr>
        <p:spPr>
          <a:xfrm>
            <a:off x="685800" y="1874520"/>
            <a:ext cx="5120640" cy="21488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TR at 150 meals  =  $12 × 150  =  $1,800</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TC at 150 meals  =  $800 + $4(150)  =  $1,400</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ECONOMIC PROFIT  =  $1,800 − $1,400  =  +$400</a:t>
            </a:r>
            <a:endParaRPr lang="en-US" sz="1600" dirty="0"/>
          </a:p>
          <a:p>
            <a:pPr algn="ctr" indent="0" marL="0">
              <a:buNone/>
            </a:pP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BREAK-EVEN:  12Q = 800 + 4Q  →  8Q = 800  →  Q* = 100 meals</a:t>
            </a:r>
            <a:endParaRPr lang="en-US" sz="1600" dirty="0"/>
          </a:p>
        </p:txBody>
      </p:sp>
      <p:sp>
        <p:nvSpPr>
          <p:cNvPr id="9" name="Shape 7"/>
          <p:cNvSpPr/>
          <p:nvPr/>
        </p:nvSpPr>
        <p:spPr>
          <a:xfrm>
            <a:off x="502920" y="4206240"/>
            <a:ext cx="5486400" cy="10058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438912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READING THE BREAK-EVEN ALGEBRA</a:t>
            </a:r>
            <a:endParaRPr lang="en-US" sz="1550" dirty="0"/>
          </a:p>
        </p:txBody>
      </p:sp>
      <p:sp>
        <p:nvSpPr>
          <p:cNvPr id="11" name="Text 9"/>
          <p:cNvSpPr/>
          <p:nvPr/>
        </p:nvSpPr>
        <p:spPr>
          <a:xfrm>
            <a:off x="758952" y="4791456"/>
            <a:ext cx="4974336" cy="1828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$8 in 8Q is the CONTRIBUTION MARGIN — price minus variable cost per unit, the amount each meal contributes toward the fixed cost. Break-even quantity is always FC ÷ contribution margin: 800 ÷ 8 = 100.</a:t>
            </a:r>
            <a:endParaRPr lang="en-US" sz="850" dirty="0"/>
          </a:p>
        </p:txBody>
      </p:sp>
      <p:sp>
        <p:nvSpPr>
          <p:cNvPr id="12" name="Shape 10"/>
          <p:cNvSpPr/>
          <p:nvPr/>
        </p:nvSpPr>
        <p:spPr>
          <a:xfrm>
            <a:off x="502920" y="5349240"/>
            <a:ext cx="5486400" cy="777240"/>
          </a:xfrm>
          <a:prstGeom prst="rect">
            <a:avLst/>
          </a:prstGeom>
          <a:solidFill>
            <a:srgbClr val="1A2E4A"/>
          </a:solidFill>
          <a:ln/>
        </p:spPr>
      </p:sp>
      <p:sp>
        <p:nvSpPr>
          <p:cNvPr id="13" name="Text 11"/>
          <p:cNvSpPr/>
          <p:nvPr/>
        </p:nvSpPr>
        <p:spPr>
          <a:xfrm>
            <a:off x="758952" y="547725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WHERE MARCUS STANDS</a:t>
            </a:r>
            <a:endParaRPr lang="en-US" sz="1050" dirty="0"/>
          </a:p>
        </p:txBody>
      </p:sp>
      <p:sp>
        <p:nvSpPr>
          <p:cNvPr id="14" name="Text 12"/>
          <p:cNvSpPr/>
          <p:nvPr/>
        </p:nvSpPr>
        <p:spPr>
          <a:xfrm>
            <a:off x="758952" y="5751576"/>
            <a:ext cx="4974336"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At 150 meals he is 50 units above break-even and earning $400 of economic profit. The venture clears its opportunity cost.</a:t>
            </a:r>
            <a:endParaRPr lang="en-US" sz="850" dirty="0"/>
          </a:p>
        </p:txBody>
      </p:sp>
      <p:sp>
        <p:nvSpPr>
          <p:cNvPr id="15" name="Shape 13"/>
          <p:cNvSpPr/>
          <p:nvPr/>
        </p:nvSpPr>
        <p:spPr>
          <a:xfrm>
            <a:off x="6199632" y="1874520"/>
            <a:ext cx="5486400" cy="14630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6" name="Text 14"/>
          <p:cNvSpPr/>
          <p:nvPr/>
        </p:nvSpPr>
        <p:spPr>
          <a:xfrm>
            <a:off x="6455664" y="205740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WHY THE $2,400 IS A SUNK COST</a:t>
            </a:r>
            <a:endParaRPr lang="en-US" sz="1550" dirty="0"/>
          </a:p>
        </p:txBody>
      </p:sp>
      <p:sp>
        <p:nvSpPr>
          <p:cNvPr id="17" name="Text 15"/>
          <p:cNvSpPr/>
          <p:nvPr/>
        </p:nvSpPr>
        <p:spPr>
          <a:xfrm>
            <a:off x="6455664" y="2459736"/>
            <a:ext cx="4974336" cy="6400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After purchase it CANNOT BE RECOVERED — the equipment has little or no resale value, and the money is gone whether he serves 0 meals or 400.</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cost that is IDENTICAL UNDER EVERY OPTION cannot distinguish between the options. It is therefore irrelevant to every forward-looking decision.</a:t>
            </a:r>
            <a:endParaRPr lang="en-US" sz="850" dirty="0"/>
          </a:p>
        </p:txBody>
      </p:sp>
      <p:sp>
        <p:nvSpPr>
          <p:cNvPr id="18" name="Shape 16"/>
          <p:cNvSpPr/>
          <p:nvPr/>
        </p:nvSpPr>
        <p:spPr>
          <a:xfrm>
            <a:off x="6199632" y="3474720"/>
            <a:ext cx="5486400" cy="1234440"/>
          </a:xfrm>
          <a:prstGeom prst="rect">
            <a:avLst/>
          </a:prstGeom>
          <a:solidFill>
            <a:srgbClr val="1A2E4A"/>
          </a:solidFill>
          <a:ln/>
        </p:spPr>
      </p:sp>
      <p:sp>
        <p:nvSpPr>
          <p:cNvPr id="19" name="Text 17"/>
          <p:cNvSpPr/>
          <p:nvPr/>
        </p:nvSpPr>
        <p:spPr>
          <a:xfrm>
            <a:off x="6455664" y="360273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✦4  ANSWERING THE FRIEND WHO SAYS 'GET YOUR MONEY'S WORTH'</a:t>
            </a:r>
            <a:endParaRPr lang="en-US" sz="1050" dirty="0"/>
          </a:p>
        </p:txBody>
      </p:sp>
      <p:sp>
        <p:nvSpPr>
          <p:cNvPr id="20" name="Text 18"/>
          <p:cNvSpPr/>
          <p:nvPr/>
        </p:nvSpPr>
        <p:spPr>
          <a:xfrm>
            <a:off x="6455664" y="3877056"/>
            <a:ext cx="4974336" cy="704088"/>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The $2,400 is gone under EVERY choice — continue, scale up, or quit. It appears identically on both sides of every comparison, so it cancels. Continuing in order to 'justify' it is the SUNK COST FALLACY: it converts a past, unrecoverable loss into a reason to incur a NEW, avoidable one.</a:t>
            </a:r>
            <a:endParaRPr lang="en-US" sz="950" dirty="0"/>
          </a:p>
        </p:txBody>
      </p:sp>
      <p:sp>
        <p:nvSpPr>
          <p:cNvPr id="21" name="Shape 19"/>
          <p:cNvSpPr/>
          <p:nvPr/>
        </p:nvSpPr>
        <p:spPr>
          <a:xfrm>
            <a:off x="6199632" y="4846320"/>
            <a:ext cx="5486400" cy="12801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2" name="Text 20"/>
          <p:cNvSpPr/>
          <p:nvPr/>
        </p:nvSpPr>
        <p:spPr>
          <a:xfrm>
            <a:off x="6455664" y="5029200"/>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WHAT SHOULD GOVERN MONTH 2</a:t>
            </a:r>
            <a:endParaRPr lang="en-US" sz="1550" dirty="0"/>
          </a:p>
        </p:txBody>
      </p:sp>
      <p:sp>
        <p:nvSpPr>
          <p:cNvPr id="23" name="Text 21"/>
          <p:cNvSpPr/>
          <p:nvPr/>
        </p:nvSpPr>
        <p:spPr>
          <a:xfrm>
            <a:off x="6455664" y="5431536"/>
            <a:ext cx="4974336" cy="4572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ONLY forward-looking, AVOIDABLE costs and revenues:</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Is expected P ($12) above AVC ($4)?  YES → operate. This is the shutdown rule.</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Is expected Q above break-even (100)?  If yes → continue.</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Is expected P above ATC?  If no in the long run → exit, and the $2,400 still does not change that.</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400" b="1" spc="700" kern="0" dirty="0">
                <a:solidFill>
                  <a:srgbClr val="C0892E"/>
                </a:solidFill>
                <a:latin typeface="Calibri" pitchFamily="34" charset="0"/>
                <a:ea typeface="Calibri" pitchFamily="34" charset="-122"/>
                <a:cs typeface="Calibri" pitchFamily="34" charset="-120"/>
              </a:rPr>
              <a:t>YOU TRY</a:t>
            </a:r>
            <a:endParaRPr lang="en-US" sz="1400" dirty="0"/>
          </a:p>
        </p:txBody>
      </p:sp>
      <p:sp>
        <p:nvSpPr>
          <p:cNvPr id="3" name="Text 1"/>
          <p:cNvSpPr/>
          <p:nvPr/>
        </p:nvSpPr>
        <p:spPr>
          <a:xfrm>
            <a:off x="822960" y="164592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Module 9 — Independent Practice</a:t>
            </a:r>
            <a:endParaRPr lang="en-US" sz="3400" dirty="0"/>
          </a:p>
        </p:txBody>
      </p:sp>
      <p:sp>
        <p:nvSpPr>
          <p:cNvPr id="4" name="Text 2"/>
          <p:cNvSpPr/>
          <p:nvPr/>
        </p:nvSpPr>
        <p:spPr>
          <a:xfrm>
            <a:off x="822960" y="2834640"/>
            <a:ext cx="7863840" cy="2651760"/>
          </a:xfrm>
          <a:prstGeom prst="rect">
            <a:avLst/>
          </a:prstGeom>
          <a:noFill/>
          <a:ln/>
        </p:spPr>
        <p:txBody>
          <a:bodyPr wrap="square" lIns="0" tIns="0" rIns="0" bIns="0" rtlCol="0" anchor="ctr"/>
          <a:lstStyle/>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Complete all seven Parts of the Module 9 Worksheet. This is the longest packet of the semester — start it the day it is assigned, not the night before.</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Complete every table: the two profit calculations, the Pittsburgh and Ray production schedules, Marcus's cost schedule, the per-unit family, and the Flint shutdown table.</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Draw both required diagrams by hand: the TP and MP panels with the three phases marked, and the full cost family with both MC crossings labeled.</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Khan Academy: Production Cost and the Perfect Competition Model — Quizzes 2 and 3. Reach mastery.</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Answer reflection questions ✦1 through ✦4. HOMEWORK RULE OF THUMB: above 80% → move on. Below 80% → retry. Consistently below → office hours.</a:t>
            </a:r>
            <a:endParaRPr lang="en-US" sz="1500" dirty="0"/>
          </a:p>
        </p:txBody>
      </p:sp>
      <p:sp>
        <p:nvSpPr>
          <p:cNvPr id="5" name="Shape 3"/>
          <p:cNvSpPr/>
          <p:nvPr/>
        </p:nvSpPr>
        <p:spPr>
          <a:xfrm>
            <a:off x="9326880" y="3017520"/>
            <a:ext cx="1828800" cy="1828800"/>
          </a:xfrm>
          <a:prstGeom prst="ellipse">
            <a:avLst/>
          </a:prstGeom>
          <a:solidFill>
            <a:srgbClr val="C0892E"/>
          </a:solidFill>
          <a:ln/>
        </p:spPr>
      </p:sp>
      <p:sp>
        <p:nvSpPr>
          <p:cNvPr id="6" name="Text 4"/>
          <p:cNvSpPr/>
          <p:nvPr/>
        </p:nvSpPr>
        <p:spPr>
          <a:xfrm>
            <a:off x="9326880" y="301752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25</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MIN</a:t>
            </a:r>
            <a:endParaRPr lang="en-US" sz="3000" dirty="0"/>
          </a:p>
        </p:txBody>
      </p:sp>
      <p:sp>
        <p:nvSpPr>
          <p:cNvPr id="7" name="Text 5"/>
          <p:cNvSpPr/>
          <p:nvPr/>
        </p:nvSpPr>
        <p:spPr>
          <a:xfrm>
            <a:off x="822960" y="6345936"/>
            <a:ext cx="5486400" cy="274320"/>
          </a:xfrm>
          <a:prstGeom prst="rect">
            <a:avLst/>
          </a:prstGeom>
          <a:noFill/>
          <a:ln/>
        </p:spPr>
        <p:txBody>
          <a:bodyPr wrap="square" lIns="0" tIns="0" rIns="0" bIns="0" rtlCol="0" anchor="ctr"/>
          <a:lstStyle/>
          <a:p>
            <a:pPr indent="0" marL="0">
              <a:buNone/>
            </a:pPr>
            <a:r>
              <a:rPr lang="en-US" sz="900" spc="100" kern="0" dirty="0">
                <a:solidFill>
                  <a:srgbClr val="4A6180"/>
                </a:solidFill>
                <a:latin typeface="Calibri" pitchFamily="34" charset="0"/>
                <a:ea typeface="Calibri" pitchFamily="34" charset="-122"/>
                <a:cs typeface="Calibri" pitchFamily="34" charset="-120"/>
              </a:rPr>
              <a:t>INTRO TO MICROECONOMICS  |  PROF. VELAZQUEZ</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9</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You Should Be Able to Do</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1188720"/>
                <a:gridCol w="9994392"/>
              </a:tblGrid>
              <a:tr h="457200">
                <a:tc>
                  <a:txBody>
                    <a:bodyPr/>
                    <a:lstStyle/>
                    <a:p>
                      <a:pPr algn="l" indent="0" marL="0">
                        <a:buNone/>
                      </a:pP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LEARNING OUTCOME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5720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 1</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Define explicit and implicit costs; compute accounting and economic profit from a scenario; define normal profit as zero economic profit; explain why accounting profit is the wrong signal for resource allocation and give a modern divergent case.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 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Fill the four-market-type table on every dimension and classify a described industry; state BOTH meanings of short run and say which you are using; define the long run in both senses; distinguish fixed from sunk; state Coase's transaction-cost explanation of why firms exist.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5720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 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Lay out the four-layer hierarchy and identify the principal and agent at each interface; explain how hierarchy filters information using the GM/Toyota case; explain how the Andon cord dissolves the problem and what it costs; explain the incentive problem the Shareholder Value Revolution created.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 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Compute MP, AP and VMP from a TP schedule; identify exactly where diminishing returns set in and why; classify each output level into Phase I, II or III; state the MP–AP crossing rule; apply VMP ≥ W to find optimal staffing.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5720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 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Write all seven cost formulas; explain the shape of each curve; derive MC = W/MP and explain why the cost curves are the production function inverted; construct a full per-unit table from a TC schedule; state and apply the shutdown rule (P vs. AVC) and the exit rule (P vs. ATC).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 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Define the LRAC as an envelope of SRAC curves; identify the three regions and their causes; define and locate MES; classify a scale change as IRS, CRS or DRS; name all five sources of economies of scale with an example; explain why platform firms' LRAC does not turn up and what that implies for antitrust.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5720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 7</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Compute TR, TC, economic profit and break-even quantity; explain break-even as FC ÷ contribution margin; define a sunk cost and explain precisely why it is irrelevant to a forward-looking decision; state what cost information SHOULD govern the next period's choice.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486400"/>
            <a:ext cx="11183112" cy="640080"/>
          </a:xfrm>
          <a:prstGeom prst="rect">
            <a:avLst/>
          </a:prstGeom>
          <a:solidFill>
            <a:srgbClr val="1A2E4A"/>
          </a:solidFill>
          <a:ln/>
        </p:spPr>
      </p:sp>
      <p:sp>
        <p:nvSpPr>
          <p:cNvPr id="8" name="Text 5"/>
          <p:cNvSpPr/>
          <p:nvPr/>
        </p:nvSpPr>
        <p:spPr>
          <a:xfrm>
            <a:off x="758952" y="56144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NEXT</a:t>
            </a:r>
            <a:endParaRPr lang="en-US" sz="1050" dirty="0"/>
          </a:p>
        </p:txBody>
      </p:sp>
      <p:sp>
        <p:nvSpPr>
          <p:cNvPr id="9" name="Text 6"/>
          <p:cNvSpPr/>
          <p:nvPr/>
        </p:nvSpPr>
        <p:spPr>
          <a:xfrm>
            <a:off x="758952" y="5815584"/>
            <a:ext cx="10671048" cy="256032"/>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MODULE 10 — PROFIT MAXIMIZATION. You now have the cost curves. Module 10 adds revenue, sets MR = MC, and finally derives the supply curve we have been drawing since Module 3.</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9</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9: FIRMS AND THE COST OF PRODUCTION</a:t>
            </a:r>
            <a:endParaRPr lang="en-US" sz="900" dirty="0"/>
          </a:p>
        </p:txBody>
      </p:sp>
      <p:sp>
        <p:nvSpPr>
          <p:cNvPr id="6" name="Text 4"/>
          <p:cNvSpPr/>
          <p:nvPr/>
        </p:nvSpPr>
        <p:spPr>
          <a:xfrm>
            <a:off x="502920" y="1645920"/>
            <a:ext cx="5486400" cy="4206240"/>
          </a:xfrm>
          <a:prstGeom prst="rect">
            <a:avLst/>
          </a:prstGeom>
          <a:noFill/>
          <a:ln/>
        </p:spPr>
        <p:txBody>
          <a:bodyPr wrap="square" lIns="0" tIns="0" rIns="0" bIns="0" rtlCol="0" anchor="ctr"/>
          <a:lstStyle/>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Coase, R. H. (1937). The nature of the firm. Economica, 4(16), 386–405.</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CORE Economics Education. (2023). The Economy 2.0: Microeconomics, Units 6–7.</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Jensen, M. C., &amp; Meckling, W. H. (1976). Theory of the firm: Managerial behavior, agency costs and ownership structure. Journal of Financial Economics, 3(4), 305–360.</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Mankiw, N. G. (2021). Principles of microeconomics (9th ed.), Ch. 13. Cengage.</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McConnell, C., Brue, S., &amp; Flynn, S. (2021). Economics (22nd ed.), Chs. 7–8. McGraw-Hill.</a:t>
            </a:r>
            <a:endParaRPr lang="en-US" sz="1050" dirty="0"/>
          </a:p>
        </p:txBody>
      </p:sp>
      <p:sp>
        <p:nvSpPr>
          <p:cNvPr id="7" name="Text 5"/>
          <p:cNvSpPr/>
          <p:nvPr/>
        </p:nvSpPr>
        <p:spPr>
          <a:xfrm>
            <a:off x="6199632" y="1645920"/>
            <a:ext cx="5486400" cy="4206240"/>
          </a:xfrm>
          <a:prstGeom prst="rect">
            <a:avLst/>
          </a:prstGeom>
          <a:noFill/>
          <a:ln/>
        </p:spPr>
        <p:txBody>
          <a:bodyPr wrap="square" lIns="0" tIns="0" rIns="0" bIns="0" rtlCol="0" anchor="ctr"/>
          <a:lstStyle/>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Scott, R. E. (2011). Heading south: U.S.–Mexico trade and job displacement after NAFTA. Economic Policy Institute Briefing Paper 308.</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Smith, A. (1776). An inquiry into the nature and causes of the wealth of nations, Book I, Ch. 1 (the pin factory).</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Viner, J. (1931). Cost curves and supply curves. Zeitschrift für Nationalökonomie, 3(1), 23–46. (origin of the LRAC envelope)</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Womack, J. P., Jones, D. T., &amp; Roos, D. (1990). The machine that changed the world. Rawson Associates. (GM vs. Toyota)</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Lazonick, W. (2014). Profits without prosperity. Harvard Business Review, 92(9), 46–55.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Saint Joseph's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ECN 101 — Module 9: Firms and the Cost of Production</dc:title>
  <dc:subject>Introduction to Microeconomics</dc:subject>
  <dc:creator>Professor Velazquez</dc:creator>
  <cp:lastModifiedBy>Professor Velazquez</cp:lastModifiedBy>
  <cp:revision>1</cp:revision>
  <dcterms:created xsi:type="dcterms:W3CDTF">2026-08-25T00:19:00Z</dcterms:created>
  <dcterms:modified xsi:type="dcterms:W3CDTF">2026-08-25T00:19:00Z</dcterms:modified>
</cp:coreProperties>
</file>