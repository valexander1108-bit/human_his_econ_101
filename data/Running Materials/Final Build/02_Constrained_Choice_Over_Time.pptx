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E4A"/>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A2E4A"/>
          </a:solidFill>
          <a:ln/>
        </p:spPr>
      </p:sp>
      <p:sp>
        <p:nvSpPr>
          <p:cNvPr id="3" name="Text 1"/>
          <p:cNvSpPr/>
          <p:nvPr/>
        </p:nvSpPr>
        <p:spPr>
          <a:xfrm>
            <a:off x="914400" y="1051560"/>
            <a:ext cx="10332720" cy="365760"/>
          </a:xfrm>
          <a:prstGeom prst="rect">
            <a:avLst/>
          </a:prstGeom>
          <a:noFill/>
          <a:ln/>
        </p:spPr>
        <p:txBody>
          <a:bodyPr wrap="square" lIns="0" tIns="0" rIns="0" bIns="0" rtlCol="0" anchor="ctr"/>
          <a:lstStyle/>
          <a:p>
            <a:pPr indent="0" marL="0">
              <a:buNone/>
            </a:pPr>
            <a:r>
              <a:rPr lang="en-US" sz="1400" b="1" spc="600" kern="0" dirty="0">
                <a:solidFill>
                  <a:srgbClr val="E8C87A"/>
                </a:solidFill>
                <a:latin typeface="Calibri" pitchFamily="34" charset="0"/>
                <a:ea typeface="Calibri" pitchFamily="34" charset="-122"/>
                <a:cs typeface="Calibri" pitchFamily="34" charset="-120"/>
              </a:rPr>
              <a:t>PROFESSOR VELAZQUEZ</a:t>
            </a:r>
            <a:endParaRPr lang="en-US" sz="1400" dirty="0"/>
          </a:p>
        </p:txBody>
      </p:sp>
      <p:sp>
        <p:nvSpPr>
          <p:cNvPr id="4" name="Text 2"/>
          <p:cNvSpPr/>
          <p:nvPr/>
        </p:nvSpPr>
        <p:spPr>
          <a:xfrm>
            <a:off x="914400" y="1600200"/>
            <a:ext cx="10332720" cy="2651760"/>
          </a:xfrm>
          <a:prstGeom prst="rect">
            <a:avLst/>
          </a:prstGeom>
          <a:noFill/>
          <a:ln/>
        </p:spPr>
        <p:txBody>
          <a:bodyPr wrap="square" lIns="0" tIns="0" rIns="0" bIns="0" rtlCol="0" anchor="ctr"/>
          <a:lstStyle/>
          <a:p>
            <a:pPr indent="0" marL="0">
              <a:lnSpc>
                <a:spcPts val="6200"/>
              </a:lnSpc>
              <a:buNone/>
            </a:pPr>
            <a:r>
              <a:rPr lang="en-US" sz="5400" b="1" dirty="0">
                <a:solidFill>
                  <a:srgbClr val="FFFFFF"/>
                </a:solidFill>
                <a:latin typeface="Cambria" pitchFamily="34" charset="0"/>
                <a:ea typeface="Cambria" pitchFamily="34" charset="-122"/>
                <a:cs typeface="Cambria" pitchFamily="34" charset="-120"/>
              </a:rPr>
              <a:t>INTRODUCTION</a:t>
            </a:r>
            <a:endParaRPr lang="en-US" sz="5400" dirty="0"/>
          </a:p>
          <a:p>
            <a:pPr indent="0" marL="0">
              <a:lnSpc>
                <a:spcPts val="6200"/>
              </a:lnSpc>
              <a:buNone/>
            </a:pPr>
            <a:r>
              <a:rPr lang="en-US" sz="5400" b="1" dirty="0">
                <a:solidFill>
                  <a:srgbClr val="FFFFFF"/>
                </a:solidFill>
                <a:latin typeface="Cambria" pitchFamily="34" charset="0"/>
                <a:ea typeface="Cambria" pitchFamily="34" charset="-122"/>
                <a:cs typeface="Cambria" pitchFamily="34" charset="-120"/>
              </a:rPr>
              <a:t>TO</a:t>
            </a:r>
            <a:endParaRPr lang="en-US" sz="5400" dirty="0"/>
          </a:p>
          <a:p>
            <a:pPr indent="0" marL="0">
              <a:lnSpc>
                <a:spcPts val="6200"/>
              </a:lnSpc>
              <a:buNone/>
            </a:pPr>
            <a:r>
              <a:rPr lang="en-US" sz="5400" b="1" dirty="0">
                <a:solidFill>
                  <a:srgbClr val="FFFFFF"/>
                </a:solidFill>
                <a:latin typeface="Cambria" pitchFamily="34" charset="0"/>
                <a:ea typeface="Cambria" pitchFamily="34" charset="-122"/>
                <a:cs typeface="Cambria" pitchFamily="34" charset="-120"/>
              </a:rPr>
              <a:t>MICROECONOMICS</a:t>
            </a:r>
            <a:endParaRPr lang="en-US" sz="5400" dirty="0"/>
          </a:p>
        </p:txBody>
      </p:sp>
      <p:sp>
        <p:nvSpPr>
          <p:cNvPr id="5" name="Shape 3"/>
          <p:cNvSpPr/>
          <p:nvPr/>
        </p:nvSpPr>
        <p:spPr>
          <a:xfrm>
            <a:off x="914400" y="4434840"/>
            <a:ext cx="1371600" cy="50292"/>
          </a:xfrm>
          <a:prstGeom prst="rect">
            <a:avLst/>
          </a:prstGeom>
          <a:solidFill>
            <a:srgbClr val="C0892E"/>
          </a:solidFill>
          <a:ln/>
        </p:spPr>
      </p:sp>
      <p:sp>
        <p:nvSpPr>
          <p:cNvPr id="6" name="Text 4"/>
          <p:cNvSpPr/>
          <p:nvPr/>
        </p:nvSpPr>
        <p:spPr>
          <a:xfrm>
            <a:off x="914400" y="4709160"/>
            <a:ext cx="10332720" cy="457200"/>
          </a:xfrm>
          <a:prstGeom prst="rect">
            <a:avLst/>
          </a:prstGeom>
          <a:noFill/>
          <a:ln/>
        </p:spPr>
        <p:txBody>
          <a:bodyPr wrap="square" lIns="0" tIns="0" rIns="0" bIns="0" rtlCol="0" anchor="ctr"/>
          <a:lstStyle/>
          <a:p>
            <a:pPr indent="0" marL="0">
              <a:buNone/>
            </a:pPr>
            <a:r>
              <a:rPr lang="en-US" sz="1700" spc="200" kern="0" dirty="0">
                <a:solidFill>
                  <a:srgbClr val="E8C87A"/>
                </a:solidFill>
                <a:latin typeface="Calibri" pitchFamily="34" charset="0"/>
                <a:ea typeface="Calibri" pitchFamily="34" charset="-122"/>
                <a:cs typeface="Calibri" pitchFamily="34" charset="-120"/>
              </a:rPr>
              <a:t>MODULE 02  ·  CONSTRAINED CHOICE OVER TIME</a:t>
            </a:r>
            <a:endParaRPr lang="en-US" sz="1700" dirty="0"/>
          </a:p>
        </p:txBody>
      </p:sp>
      <p:sp>
        <p:nvSpPr>
          <p:cNvPr id="7" name="Text 5"/>
          <p:cNvSpPr/>
          <p:nvPr/>
        </p:nvSpPr>
        <p:spPr>
          <a:xfrm>
            <a:off x="914400" y="5212080"/>
            <a:ext cx="10332720" cy="365760"/>
          </a:xfrm>
          <a:prstGeom prst="rect">
            <a:avLst/>
          </a:prstGeom>
          <a:noFill/>
          <a:ln/>
        </p:spPr>
        <p:txBody>
          <a:bodyPr wrap="square" lIns="0" tIns="0" rIns="0" bIns="0" rtlCol="0" anchor="ctr"/>
          <a:lstStyle/>
          <a:p>
            <a:pPr indent="0" marL="0">
              <a:buNone/>
            </a:pPr>
            <a:r>
              <a:rPr lang="en-US" sz="1300" spc="500" kern="0" dirty="0">
                <a:solidFill>
                  <a:srgbClr val="8A97A8"/>
                </a:solidFill>
                <a:latin typeface="Calibri" pitchFamily="34" charset="0"/>
                <a:ea typeface="Calibri" pitchFamily="34" charset="-122"/>
                <a:cs typeface="Calibri" pitchFamily="34" charset="-120"/>
              </a:rPr>
              <a:t>FALL 2025</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8EDF3"/>
        </a:solidFill>
      </p:bgPr>
    </p:bg>
    <p:spTree>
      <p:nvGrpSpPr>
        <p:cNvPr id="1" name=""/>
        <p:cNvGrpSpPr/>
        <p:nvPr/>
      </p:nvGrpSpPr>
      <p:grpSpPr>
        <a:xfrm>
          <a:off x="0" y="0"/>
          <a:ext cx="0" cy="0"/>
          <a:chOff x="0" y="0"/>
          <a:chExt cx="0" cy="0"/>
        </a:xfrm>
      </p:grpSpPr>
      <p:sp>
        <p:nvSpPr>
          <p:cNvPr id="2" name="Text 0"/>
          <p:cNvSpPr/>
          <p:nvPr/>
        </p:nvSpPr>
        <p:spPr>
          <a:xfrm>
            <a:off x="822960" y="1417320"/>
            <a:ext cx="3291840" cy="2743200"/>
          </a:xfrm>
          <a:prstGeom prst="rect">
            <a:avLst/>
          </a:prstGeom>
          <a:noFill/>
          <a:ln/>
        </p:spPr>
        <p:txBody>
          <a:bodyPr wrap="square" lIns="0" tIns="0" rIns="0" bIns="0" rtlCol="0" anchor="ctr"/>
          <a:lstStyle/>
          <a:p>
            <a:pPr indent="0" marL="0">
              <a:buNone/>
            </a:pPr>
            <a:r>
              <a:rPr lang="en-US" sz="19000" b="1" dirty="0">
                <a:solidFill>
                  <a:srgbClr val="E8C87A"/>
                </a:solidFill>
                <a:latin typeface="Cambria" pitchFamily="34" charset="0"/>
                <a:ea typeface="Cambria" pitchFamily="34" charset="-122"/>
                <a:cs typeface="Cambria" pitchFamily="34" charset="-120"/>
              </a:rPr>
              <a:t>02</a:t>
            </a:r>
            <a:endParaRPr lang="en-US" sz="19000" dirty="0"/>
          </a:p>
        </p:txBody>
      </p:sp>
      <p:sp>
        <p:nvSpPr>
          <p:cNvPr id="3" name="Text 1"/>
          <p:cNvSpPr/>
          <p:nvPr/>
        </p:nvSpPr>
        <p:spPr>
          <a:xfrm>
            <a:off x="960120" y="4160520"/>
            <a:ext cx="3108960" cy="365760"/>
          </a:xfrm>
          <a:prstGeom prst="rect">
            <a:avLst/>
          </a:prstGeom>
          <a:noFill/>
          <a:ln/>
        </p:spPr>
        <p:txBody>
          <a:bodyPr wrap="square" lIns="0" tIns="0" rIns="0" bIns="0" rtlCol="0" anchor="ctr"/>
          <a:lstStyle/>
          <a:p>
            <a:pPr indent="0" marL="0">
              <a:buNone/>
            </a:pPr>
            <a:r>
              <a:rPr lang="en-US" sz="1500" b="1" spc="700" kern="0" dirty="0">
                <a:solidFill>
                  <a:srgbClr val="C0892E"/>
                </a:solidFill>
                <a:latin typeface="Calibri" pitchFamily="34" charset="0"/>
                <a:ea typeface="Calibri" pitchFamily="34" charset="-122"/>
                <a:cs typeface="Calibri" pitchFamily="34" charset="-120"/>
              </a:rPr>
              <a:t>MODULE</a:t>
            </a:r>
            <a:endParaRPr lang="en-US" sz="1500" dirty="0"/>
          </a:p>
        </p:txBody>
      </p:sp>
      <p:sp>
        <p:nvSpPr>
          <p:cNvPr id="4" name="Text 2"/>
          <p:cNvSpPr/>
          <p:nvPr/>
        </p:nvSpPr>
        <p:spPr>
          <a:xfrm>
            <a:off x="4480560" y="1828800"/>
            <a:ext cx="6949440" cy="1828800"/>
          </a:xfrm>
          <a:prstGeom prst="rect">
            <a:avLst/>
          </a:prstGeom>
          <a:noFill/>
          <a:ln/>
        </p:spPr>
        <p:txBody>
          <a:bodyPr wrap="square" lIns="0" tIns="0" rIns="0" bIns="0" rtlCol="0" anchor="b"/>
          <a:lstStyle/>
          <a:p>
            <a:pPr indent="0" marL="0">
              <a:lnSpc>
                <a:spcPts val="4600"/>
              </a:lnSpc>
              <a:buNone/>
            </a:pPr>
            <a:r>
              <a:rPr lang="en-US" sz="4000" b="1" dirty="0">
                <a:solidFill>
                  <a:srgbClr val="1A2E4A"/>
                </a:solidFill>
                <a:latin typeface="Cambria" pitchFamily="34" charset="0"/>
                <a:ea typeface="Cambria" pitchFamily="34" charset="-122"/>
                <a:cs typeface="Cambria" pitchFamily="34" charset="-120"/>
              </a:rPr>
              <a:t>Constrained Choice</a:t>
            </a:r>
            <a:endParaRPr lang="en-US" sz="4000" dirty="0"/>
          </a:p>
          <a:p>
            <a:pPr indent="0" marL="0">
              <a:lnSpc>
                <a:spcPts val="4600"/>
              </a:lnSpc>
              <a:buNone/>
            </a:pPr>
            <a:r>
              <a:rPr lang="en-US" sz="4000" b="1" dirty="0">
                <a:solidFill>
                  <a:srgbClr val="1A2E4A"/>
                </a:solidFill>
                <a:latin typeface="Cambria" pitchFamily="34" charset="0"/>
                <a:ea typeface="Cambria" pitchFamily="34" charset="-122"/>
                <a:cs typeface="Cambria" pitchFamily="34" charset="-120"/>
              </a:rPr>
              <a:t>Over Time</a:t>
            </a:r>
            <a:endParaRPr lang="en-US" sz="4000" dirty="0"/>
          </a:p>
        </p:txBody>
      </p:sp>
      <p:sp>
        <p:nvSpPr>
          <p:cNvPr id="5" name="Text 3"/>
          <p:cNvSpPr/>
          <p:nvPr/>
        </p:nvSpPr>
        <p:spPr>
          <a:xfrm>
            <a:off x="4480560" y="3794760"/>
            <a:ext cx="6949440" cy="1463040"/>
          </a:xfrm>
          <a:prstGeom prst="rect">
            <a:avLst/>
          </a:prstGeom>
          <a:noFill/>
          <a:ln/>
        </p:spPr>
        <p:txBody>
          <a:bodyPr wrap="square" lIns="0" tIns="0" rIns="0" bIns="0" rtlCol="0" anchor="ctr"/>
          <a:lstStyle/>
          <a:p>
            <a:pPr indent="0" marL="0">
              <a:lnSpc>
                <a:spcPts val="2400"/>
              </a:lnSpc>
              <a:buNone/>
            </a:pPr>
            <a:r>
              <a:rPr lang="en-US" sz="1500" dirty="0">
                <a:solidFill>
                  <a:srgbClr val="4A6180"/>
                </a:solidFill>
                <a:latin typeface="Calibri" pitchFamily="34" charset="0"/>
                <a:ea typeface="Calibri" pitchFamily="34" charset="-122"/>
                <a:cs typeface="Calibri" pitchFamily="34" charset="-120"/>
              </a:rPr>
              <a:t>Section I treats consumer choice in person: utility, indifference curves, and the optimal bundle. Section II is delivered asynchronously: the labor-leisure frontier, intertemporal choice, and the behavioral critique of optimization.</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MODULE 2  ·  SECTION II IS ASYNCHRONOUS 📹</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Agenda, Big Questions &amp; Opening Inquiry</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2: CONSTRAINED CHOICE OVER TIME</a:t>
            </a:r>
            <a:endParaRPr lang="en-US" sz="900" dirty="0"/>
          </a:p>
        </p:txBody>
      </p:sp>
      <p:sp>
        <p:nvSpPr>
          <p:cNvPr id="6" name="Shape 4"/>
          <p:cNvSpPr/>
          <p:nvPr/>
        </p:nvSpPr>
        <p:spPr>
          <a:xfrm>
            <a:off x="502920" y="1481328"/>
            <a:ext cx="3611880" cy="237744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7" name="Text 5"/>
          <p:cNvSpPr/>
          <p:nvPr/>
        </p:nvSpPr>
        <p:spPr>
          <a:xfrm>
            <a:off x="758952" y="1664208"/>
            <a:ext cx="3099816" cy="384048"/>
          </a:xfrm>
          <a:prstGeom prst="rect">
            <a:avLst/>
          </a:prstGeom>
          <a:noFill/>
          <a:ln/>
        </p:spPr>
        <p:txBody>
          <a:bodyPr wrap="square" lIns="0" tIns="0" rIns="0" bIns="0" rtlCol="0" anchor="ctr"/>
          <a:lstStyle/>
          <a:p>
            <a:pPr indent="0" marL="0">
              <a:buNone/>
            </a:pPr>
            <a:r>
              <a:rPr lang="en-US" sz="1550" b="1" dirty="0">
                <a:solidFill>
                  <a:srgbClr val="C0892E"/>
                </a:solidFill>
                <a:latin typeface="Cambria" pitchFamily="34" charset="0"/>
                <a:ea typeface="Cambria" pitchFamily="34" charset="-122"/>
                <a:cs typeface="Cambria" pitchFamily="34" charset="-120"/>
              </a:rPr>
              <a:t>BIG QUESTIONS</a:t>
            </a:r>
            <a:endParaRPr lang="en-US" sz="1550" dirty="0"/>
          </a:p>
        </p:txBody>
      </p:sp>
      <p:sp>
        <p:nvSpPr>
          <p:cNvPr id="8" name="Text 6"/>
          <p:cNvSpPr/>
          <p:nvPr/>
        </p:nvSpPr>
        <p:spPr>
          <a:xfrm>
            <a:off x="758952" y="2066544"/>
            <a:ext cx="3099816" cy="155448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(1) How do economists model the tradeoff between work and leisure, and between present and future consumption?</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(2) Do individuals actually optimize — or do cognitive and institutional limits produce systematic, predictable departures from rationality?</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(3) When choice sets are shaped by institutional power rather than individual preference, who designed those constraints — and who benefits?</a:t>
            </a:r>
            <a:endParaRPr lang="en-US" sz="850" dirty="0"/>
          </a:p>
        </p:txBody>
      </p:sp>
      <p:sp>
        <p:nvSpPr>
          <p:cNvPr id="9" name="Shape 7"/>
          <p:cNvSpPr/>
          <p:nvPr/>
        </p:nvSpPr>
        <p:spPr>
          <a:xfrm>
            <a:off x="4315968" y="1481328"/>
            <a:ext cx="3611880" cy="237744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0" name="Text 8"/>
          <p:cNvSpPr/>
          <p:nvPr/>
        </p:nvSpPr>
        <p:spPr>
          <a:xfrm>
            <a:off x="4572000" y="1664208"/>
            <a:ext cx="3099816" cy="384048"/>
          </a:xfrm>
          <a:prstGeom prst="rect">
            <a:avLst/>
          </a:prstGeom>
          <a:noFill/>
          <a:ln/>
        </p:spPr>
        <p:txBody>
          <a:bodyPr wrap="square" lIns="0" tIns="0" rIns="0" bIns="0" rtlCol="0" anchor="ctr"/>
          <a:lstStyle/>
          <a:p>
            <a:pPr indent="0" marL="0">
              <a:buNone/>
            </a:pPr>
            <a:r>
              <a:rPr lang="en-US" sz="1550" b="1" dirty="0">
                <a:solidFill>
                  <a:srgbClr val="1A2E4A"/>
                </a:solidFill>
                <a:latin typeface="Cambria" pitchFamily="34" charset="0"/>
                <a:ea typeface="Cambria" pitchFamily="34" charset="-122"/>
                <a:cs typeface="Cambria" pitchFamily="34" charset="-120"/>
              </a:rPr>
              <a:t>PRE-WORK</a:t>
            </a:r>
            <a:endParaRPr lang="en-US" sz="1550" dirty="0"/>
          </a:p>
        </p:txBody>
      </p:sp>
      <p:sp>
        <p:nvSpPr>
          <p:cNvPr id="11" name="Text 9"/>
          <p:cNvSpPr/>
          <p:nvPr/>
        </p:nvSpPr>
        <p:spPr>
          <a:xfrm>
            <a:off x="4572000" y="2066544"/>
            <a:ext cx="3099816" cy="1554480"/>
          </a:xfrm>
          <a:prstGeom prst="rect">
            <a:avLst/>
          </a:prstGeom>
          <a:noFill/>
          <a:ln/>
        </p:spPr>
        <p:txBody>
          <a:bodyPr wrap="square" lIns="0" tIns="0" rIns="0" bIns="0" rtlCol="0" anchor="t"/>
          <a:lstStyle/>
          <a:p>
            <a:pPr indent="0" marL="0">
              <a:lnSpc>
                <a:spcPts val="1500"/>
              </a:lnSpc>
              <a:buNone/>
            </a:pPr>
            <a:r>
              <a:rPr lang="en-US" sz="1050" dirty="0">
                <a:solidFill>
                  <a:srgbClr val="4A6180"/>
                </a:solidFill>
                <a:latin typeface="Calibri" pitchFamily="34" charset="0"/>
                <a:ea typeface="Calibri" pitchFamily="34" charset="-122"/>
                <a:cs typeface="Calibri" pitchFamily="34" charset="-120"/>
              </a:rPr>
              <a:t>· Read Chapter 21 (Consumer Choice)</a:t>
            </a:r>
            <a:endParaRPr lang="en-US" sz="1050" dirty="0"/>
          </a:p>
          <a:p>
            <a:pPr indent="0" marL="0">
              <a:lnSpc>
                <a:spcPts val="1500"/>
              </a:lnSpc>
              <a:buNone/>
            </a:pPr>
            <a:r>
              <a:rPr lang="en-US" sz="1050" dirty="0">
                <a:solidFill>
                  <a:srgbClr val="4A6180"/>
                </a:solidFill>
                <a:latin typeface="Calibri" pitchFamily="34" charset="0"/>
                <a:ea typeface="Calibri" pitchFamily="34" charset="-122"/>
                <a:cs typeface="Calibri" pitchFamily="34" charset="-120"/>
              </a:rPr>
              <a:t>· Complete the Module 2 Vocabulary Checklist</a:t>
            </a:r>
            <a:endParaRPr lang="en-US" sz="1050" dirty="0"/>
          </a:p>
          <a:p>
            <a:pPr indent="0" marL="0">
              <a:lnSpc>
                <a:spcPts val="1500"/>
              </a:lnSpc>
              <a:buNone/>
            </a:pPr>
            <a:r>
              <a:rPr lang="en-US" sz="1050" dirty="0">
                <a:solidFill>
                  <a:srgbClr val="4A6180"/>
                </a:solidFill>
                <a:latin typeface="Calibri" pitchFamily="34" charset="0"/>
                <a:ea typeface="Calibri" pitchFamily="34" charset="-122"/>
                <a:cs typeface="Calibri" pitchFamily="34" charset="-120"/>
              </a:rPr>
              <a:t>· Khan Academy: Consumer Choice &amp; Utility</a:t>
            </a:r>
            <a:endParaRPr lang="en-US" sz="1050" dirty="0"/>
          </a:p>
          <a:p>
            <a:pPr indent="0" marL="0">
              <a:lnSpc>
                <a:spcPts val="1500"/>
              </a:lnSpc>
              <a:buNone/>
            </a:pPr>
            <a:r>
              <a:rPr lang="en-US" sz="1050" dirty="0">
                <a:solidFill>
                  <a:srgbClr val="4A6180"/>
                </a:solidFill>
                <a:latin typeface="Calibri" pitchFamily="34" charset="0"/>
                <a:ea typeface="Calibri" pitchFamily="34" charset="-122"/>
                <a:cs typeface="Calibri" pitchFamily="34" charset="-120"/>
              </a:rPr>
              <a:t>· Bring the Module 2 Worksheet</a:t>
            </a:r>
            <a:endParaRPr lang="en-US" sz="1050" dirty="0"/>
          </a:p>
          <a:p>
            <a:pPr indent="0" marL="0">
              <a:lnSpc>
                <a:spcPts val="1500"/>
              </a:lnSpc>
              <a:buNone/>
            </a:pPr>
            <a:endParaRPr lang="en-US" sz="1050" dirty="0"/>
          </a:p>
          <a:p>
            <a:pPr indent="0" marL="0">
              <a:lnSpc>
                <a:spcPts val="1500"/>
              </a:lnSpc>
              <a:buNone/>
            </a:pPr>
            <a:r>
              <a:rPr lang="en-US" sz="1050" dirty="0">
                <a:solidFill>
                  <a:srgbClr val="4A6180"/>
                </a:solidFill>
                <a:latin typeface="Calibri" pitchFamily="34" charset="0"/>
                <a:ea typeface="Calibri" pitchFamily="34" charset="-122"/>
                <a:cs typeface="Calibri" pitchFamily="34" charset="-120"/>
              </a:rPr>
              <a:t>ASYNC FORMAT: watch the recorded lecture with the worksheet at hand. Pause after each Part to complete all activities.</a:t>
            </a:r>
            <a:endParaRPr lang="en-US" sz="1050" dirty="0"/>
          </a:p>
        </p:txBody>
      </p:sp>
      <p:sp>
        <p:nvSpPr>
          <p:cNvPr id="12" name="Shape 10"/>
          <p:cNvSpPr/>
          <p:nvPr/>
        </p:nvSpPr>
        <p:spPr>
          <a:xfrm>
            <a:off x="8119872" y="1481328"/>
            <a:ext cx="3566160" cy="237744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3" name="Text 11"/>
          <p:cNvSpPr/>
          <p:nvPr/>
        </p:nvSpPr>
        <p:spPr>
          <a:xfrm>
            <a:off x="8375904" y="1664208"/>
            <a:ext cx="3054096" cy="384048"/>
          </a:xfrm>
          <a:prstGeom prst="rect">
            <a:avLst/>
          </a:prstGeom>
          <a:noFill/>
          <a:ln/>
        </p:spPr>
        <p:txBody>
          <a:bodyPr wrap="square" lIns="0" tIns="0" rIns="0" bIns="0" rtlCol="0" anchor="ctr"/>
          <a:lstStyle/>
          <a:p>
            <a:pPr indent="0" marL="0">
              <a:buNone/>
            </a:pPr>
            <a:r>
              <a:rPr lang="en-US" sz="1550" b="1" dirty="0">
                <a:solidFill>
                  <a:srgbClr val="2A7F84"/>
                </a:solidFill>
                <a:latin typeface="Cambria" pitchFamily="34" charset="0"/>
                <a:ea typeface="Cambria" pitchFamily="34" charset="-122"/>
                <a:cs typeface="Cambria" pitchFamily="34" charset="-120"/>
              </a:rPr>
              <a:t>WHAT YOU'LL NEED</a:t>
            </a:r>
            <a:endParaRPr lang="en-US" sz="1550" dirty="0"/>
          </a:p>
        </p:txBody>
      </p:sp>
      <p:sp>
        <p:nvSpPr>
          <p:cNvPr id="14" name="Text 12"/>
          <p:cNvSpPr/>
          <p:nvPr/>
        </p:nvSpPr>
        <p:spPr>
          <a:xfrm>
            <a:off x="8375904" y="2066544"/>
            <a:ext cx="3054096" cy="1554480"/>
          </a:xfrm>
          <a:prstGeom prst="rect">
            <a:avLst/>
          </a:prstGeom>
          <a:noFill/>
          <a:ln/>
        </p:spPr>
        <p:txBody>
          <a:bodyPr wrap="square" lIns="0" tIns="0" rIns="0" bIns="0" rtlCol="0" anchor="t"/>
          <a:lstStyle/>
          <a:p>
            <a:pPr indent="0" marL="0">
              <a:lnSpc>
                <a:spcPts val="1700"/>
              </a:lnSpc>
              <a:buNone/>
            </a:pPr>
            <a:r>
              <a:rPr lang="en-US" sz="1200" dirty="0">
                <a:solidFill>
                  <a:srgbClr val="4A6180"/>
                </a:solidFill>
                <a:latin typeface="Calibri" pitchFamily="34" charset="0"/>
                <a:ea typeface="Calibri" pitchFamily="34" charset="-122"/>
                <a:cs typeface="Calibri" pitchFamily="34" charset="-120"/>
              </a:rPr>
              <a:t>· Module 2 Worksheet (printed)</a:t>
            </a:r>
            <a:endParaRPr lang="en-US" sz="1200" dirty="0"/>
          </a:p>
          <a:p>
            <a:pPr indent="0" marL="0">
              <a:lnSpc>
                <a:spcPts val="1700"/>
              </a:lnSpc>
              <a:buNone/>
            </a:pPr>
            <a:r>
              <a:rPr lang="en-US" sz="1200" dirty="0">
                <a:solidFill>
                  <a:srgbClr val="4A6180"/>
                </a:solidFill>
                <a:latin typeface="Calibri" pitchFamily="34" charset="0"/>
                <a:ea typeface="Calibri" pitchFamily="34" charset="-122"/>
                <a:cs typeface="Calibri" pitchFamily="34" charset="-120"/>
              </a:rPr>
              <a:t>· Pencil, straight-edge, calculator</a:t>
            </a:r>
            <a:endParaRPr lang="en-US" sz="1200" dirty="0"/>
          </a:p>
          <a:p>
            <a:pPr indent="0" marL="0">
              <a:lnSpc>
                <a:spcPts val="1700"/>
              </a:lnSpc>
              <a:buNone/>
            </a:pPr>
            <a:r>
              <a:rPr lang="en-US" sz="1200" dirty="0">
                <a:solidFill>
                  <a:srgbClr val="4A6180"/>
                </a:solidFill>
                <a:latin typeface="Calibri" pitchFamily="34" charset="0"/>
                <a:ea typeface="Calibri" pitchFamily="34" charset="-122"/>
                <a:cs typeface="Calibri" pitchFamily="34" charset="-120"/>
              </a:rPr>
              <a:t>· Graph paper for the IC maps and the two-period constraint</a:t>
            </a:r>
            <a:endParaRPr lang="en-US" sz="1200" dirty="0"/>
          </a:p>
          <a:p>
            <a:pPr indent="0" marL="0">
              <a:lnSpc>
                <a:spcPts val="1700"/>
              </a:lnSpc>
              <a:buNone/>
            </a:pPr>
            <a:r>
              <a:rPr lang="en-US" sz="1200" dirty="0">
                <a:solidFill>
                  <a:srgbClr val="4A6180"/>
                </a:solidFill>
                <a:latin typeface="Calibri" pitchFamily="34" charset="0"/>
                <a:ea typeface="Calibri" pitchFamily="34" charset="-122"/>
                <a:cs typeface="Calibri" pitchFamily="34" charset="-120"/>
              </a:rPr>
              <a:t>· Your Module 1 budget-constraint notes — this module builds directly on them</a:t>
            </a:r>
            <a:endParaRPr lang="en-US" sz="1200" dirty="0"/>
          </a:p>
        </p:txBody>
      </p:sp>
      <p:sp>
        <p:nvSpPr>
          <p:cNvPr id="15" name="Shape 13"/>
          <p:cNvSpPr/>
          <p:nvPr/>
        </p:nvSpPr>
        <p:spPr>
          <a:xfrm>
            <a:off x="502920" y="4069080"/>
            <a:ext cx="11183112" cy="1051560"/>
          </a:xfrm>
          <a:prstGeom prst="rect">
            <a:avLst/>
          </a:prstGeom>
          <a:solidFill>
            <a:srgbClr val="1A2E4A"/>
          </a:solidFill>
          <a:ln/>
        </p:spPr>
      </p:sp>
      <p:sp>
        <p:nvSpPr>
          <p:cNvPr id="16" name="Text 14"/>
          <p:cNvSpPr/>
          <p:nvPr/>
        </p:nvSpPr>
        <p:spPr>
          <a:xfrm>
            <a:off x="758952" y="419709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OPENING INQUIRY</a:t>
            </a:r>
            <a:endParaRPr lang="en-US" sz="1050" dirty="0"/>
          </a:p>
        </p:txBody>
      </p:sp>
      <p:sp>
        <p:nvSpPr>
          <p:cNvPr id="17" name="Text 15"/>
          <p:cNvSpPr/>
          <p:nvPr/>
        </p:nvSpPr>
        <p:spPr>
          <a:xfrm>
            <a:off x="758952" y="4471416"/>
            <a:ext cx="10671048" cy="484632"/>
          </a:xfrm>
          <a:prstGeom prst="rect">
            <a:avLst/>
          </a:prstGeom>
          <a:noFill/>
          <a:ln/>
        </p:spPr>
        <p:txBody>
          <a:bodyPr wrap="square" lIns="0" tIns="0" rIns="0" bIns="0" rtlCol="0" anchor="t"/>
          <a:lstStyle/>
          <a:p>
            <a:pPr indent="0" marL="0">
              <a:lnSpc>
                <a:spcPts val="1800"/>
              </a:lnSpc>
              <a:buNone/>
            </a:pPr>
            <a:r>
              <a:rPr lang="en-US" sz="1300" dirty="0">
                <a:solidFill>
                  <a:srgbClr val="FFFFFF"/>
                </a:solidFill>
                <a:latin typeface="Calibri" pitchFamily="34" charset="0"/>
                <a:ea typeface="Calibri" pitchFamily="34" charset="-122"/>
                <a:cs typeface="Calibri" pitchFamily="34" charset="-120"/>
              </a:rPr>
              <a:t>You have exactly 24 hours in a day. Every hour devoted to work is an hour of leisure surrendered. Every dollar saved today is a dollar of present consumption deferred. How do rational agents — and real human beings — resolve these tradeoffs?</a:t>
            </a:r>
            <a:endParaRPr lang="en-US" sz="13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02920" y="5285232"/>
          <a:ext cx="11183112" cy="914400"/>
        </p:xfrm>
        <a:graphic>
          <a:graphicData uri="http://schemas.openxmlformats.org/drawingml/2006/table">
            <a:tbl>
              <a:tblPr/>
              <a:tblGrid>
                <a:gridCol w="4572000"/>
                <a:gridCol w="6611112"/>
              </a:tblGrid>
              <a:tr h="365760">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SECTION I — IN PERSON (~45 min)</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SECTION II — ASYNCHRONOUS 📹</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365760">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Part 1 · Production function, utility, marginal utility, indifference curves, the optimal bundle</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Part 2 · The labor-leisure Feasible Frontier and the monopsony preview</a:t>
                      </a:r>
                      <a:endParaRPr lang="en-US" sz="1100" dirty="0">
                        <a:latin typeface="Calibri" charset="0"/>
                        <a:ea typeface="Calibri" charset="0"/>
                        <a:cs typeface="Calibri" charset="0"/>
                      </a:endParaRPr>
                    </a:p>
                    <a:p>
                      <a:pPr algn="l" indent="0" marL="0">
                        <a:buNone/>
                      </a:pPr>
                      <a:r>
                        <a:rPr lang="en-US" sz="1100" dirty="0">
                          <a:solidFill>
                            <a:srgbClr val="1A2E4A"/>
                          </a:solidFill>
                          <a:latin typeface="Calibri" pitchFamily="34" charset="0"/>
                          <a:ea typeface="Calibri" pitchFamily="34" charset="-122"/>
                          <a:cs typeface="Calibri" pitchFamily="34" charset="-120"/>
                        </a:rPr>
                        <a:t>Part 3 · Two-period intertemporal choice: Julia, Marco, Hana</a:t>
                      </a:r>
                      <a:endParaRPr lang="en-US" sz="1100" dirty="0">
                        <a:latin typeface="Calibri" charset="0"/>
                        <a:ea typeface="Calibri" charset="0"/>
                        <a:cs typeface="Calibri" charset="0"/>
                      </a:endParaRPr>
                    </a:p>
                    <a:p>
                      <a:pPr algn="l" indent="0" marL="0">
                        <a:buNone/>
                      </a:pPr>
                      <a:r>
                        <a:rPr lang="en-US" sz="1100" dirty="0">
                          <a:solidFill>
                            <a:srgbClr val="1A2E4A"/>
                          </a:solidFill>
                          <a:latin typeface="Calibri" pitchFamily="34" charset="0"/>
                          <a:ea typeface="Calibri" pitchFamily="34" charset="-122"/>
                          <a:cs typeface="Calibri" pitchFamily="34" charset="-120"/>
                        </a:rPr>
                        <a:t>Part 4 · Behavioral economics: systematic departures from optimization</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BEFORE WE BEGIN</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Vocabulary Checklist — Module 2</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2: CONSTRAINED CHOICE OVER TIME</a:t>
            </a:r>
            <a:endParaRPr lang="en-US" sz="900" dirty="0"/>
          </a:p>
        </p:txBody>
      </p:sp>
      <p:sp>
        <p:nvSpPr>
          <p:cNvPr id="6" name="Shape 4"/>
          <p:cNvSpPr/>
          <p:nvPr/>
        </p:nvSpPr>
        <p:spPr>
          <a:xfrm>
            <a:off x="502920" y="1554480"/>
            <a:ext cx="2121408" cy="3931920"/>
          </a:xfrm>
          <a:prstGeom prst="rect">
            <a:avLst/>
          </a:prstGeom>
          <a:solidFill>
            <a:srgbClr val="E8EDF3"/>
          </a:solidFill>
          <a:ln/>
        </p:spPr>
      </p:sp>
      <p:sp>
        <p:nvSpPr>
          <p:cNvPr id="7" name="Text 5"/>
          <p:cNvSpPr/>
          <p:nvPr/>
        </p:nvSpPr>
        <p:spPr>
          <a:xfrm>
            <a:off x="685800" y="1783080"/>
            <a:ext cx="1783080" cy="3474720"/>
          </a:xfrm>
          <a:prstGeom prst="rect">
            <a:avLst/>
          </a:prstGeom>
          <a:noFill/>
          <a:ln/>
        </p:spPr>
        <p:txBody>
          <a:bodyPr wrap="square" lIns="0" tIns="0" rIns="0" bIns="0" rtlCol="0" anchor="ctr"/>
          <a:lstStyle/>
          <a:p>
            <a:pPr marL="203200" indent="-203200">
              <a:lnSpc>
                <a:spcPts val="1600"/>
              </a:lnSpc>
              <a:spcAft>
                <a:spcPts val="1400"/>
              </a:spcAft>
              <a:buSzPct val="100000"/>
              <a:buChar char="•"/>
            </a:pPr>
            <a:r>
              <a:rPr lang="en-US" sz="1100" dirty="0">
                <a:solidFill>
                  <a:srgbClr val="1A2E4A"/>
                </a:solidFill>
                <a:latin typeface="Calibri" pitchFamily="34" charset="0"/>
                <a:ea typeface="Calibri" pitchFamily="34" charset="-122"/>
                <a:cs typeface="Calibri" pitchFamily="34" charset="-120"/>
              </a:rPr>
              <a:t>Production Function</a:t>
            </a:r>
            <a:endParaRPr lang="en-US" sz="1100" dirty="0"/>
          </a:p>
          <a:p>
            <a:pPr marL="203200" indent="-203200">
              <a:lnSpc>
                <a:spcPts val="1600"/>
              </a:lnSpc>
              <a:spcAft>
                <a:spcPts val="1400"/>
              </a:spcAft>
              <a:buSzPct val="100000"/>
              <a:buChar char="•"/>
            </a:pPr>
            <a:r>
              <a:rPr lang="en-US" sz="1100" dirty="0">
                <a:solidFill>
                  <a:srgbClr val="1A2E4A"/>
                </a:solidFill>
                <a:latin typeface="Calibri" pitchFamily="34" charset="0"/>
                <a:ea typeface="Calibri" pitchFamily="34" charset="-122"/>
                <a:cs typeface="Calibri" pitchFamily="34" charset="-120"/>
              </a:rPr>
              <a:t>Marginal Product of Labor</a:t>
            </a:r>
            <a:endParaRPr lang="en-US" sz="1100" dirty="0"/>
          </a:p>
          <a:p>
            <a:pPr marL="203200" indent="-203200">
              <a:lnSpc>
                <a:spcPts val="1600"/>
              </a:lnSpc>
              <a:spcAft>
                <a:spcPts val="1400"/>
              </a:spcAft>
              <a:buSzPct val="100000"/>
              <a:buChar char="•"/>
            </a:pPr>
            <a:r>
              <a:rPr lang="en-US" sz="1100" dirty="0">
                <a:solidFill>
                  <a:srgbClr val="1A2E4A"/>
                </a:solidFill>
                <a:latin typeface="Calibri" pitchFamily="34" charset="0"/>
                <a:ea typeface="Calibri" pitchFamily="34" charset="-122"/>
                <a:cs typeface="Calibri" pitchFamily="34" charset="-120"/>
              </a:rPr>
              <a:t>Diminishing Marginal Product</a:t>
            </a:r>
            <a:endParaRPr lang="en-US" sz="1100" dirty="0"/>
          </a:p>
          <a:p>
            <a:pPr marL="203200" indent="-203200">
              <a:lnSpc>
                <a:spcPts val="1600"/>
              </a:lnSpc>
              <a:spcAft>
                <a:spcPts val="1400"/>
              </a:spcAft>
              <a:buSzPct val="100000"/>
              <a:buChar char="•"/>
            </a:pPr>
            <a:r>
              <a:rPr lang="en-US" sz="1100" dirty="0">
                <a:solidFill>
                  <a:srgbClr val="1A2E4A"/>
                </a:solidFill>
                <a:latin typeface="Calibri" pitchFamily="34" charset="0"/>
                <a:ea typeface="Calibri" pitchFamily="34" charset="-122"/>
                <a:cs typeface="Calibri" pitchFamily="34" charset="-120"/>
              </a:rPr>
              <a:t>Utility / Total Utility</a:t>
            </a:r>
            <a:endParaRPr lang="en-US" sz="1100" dirty="0"/>
          </a:p>
          <a:p>
            <a:pPr marL="203200" indent="-203200">
              <a:lnSpc>
                <a:spcPts val="1600"/>
              </a:lnSpc>
              <a:spcAft>
                <a:spcPts val="1400"/>
              </a:spcAft>
              <a:buSzPct val="100000"/>
              <a:buChar char="•"/>
            </a:pPr>
            <a:r>
              <a:rPr lang="en-US" sz="1100" dirty="0">
                <a:solidFill>
                  <a:srgbClr val="1A2E4A"/>
                </a:solidFill>
                <a:latin typeface="Calibri" pitchFamily="34" charset="0"/>
                <a:ea typeface="Calibri" pitchFamily="34" charset="-122"/>
                <a:cs typeface="Calibri" pitchFamily="34" charset="-120"/>
              </a:rPr>
              <a:t>Marginal Utility</a:t>
            </a:r>
            <a:endParaRPr lang="en-US" sz="1100" dirty="0"/>
          </a:p>
        </p:txBody>
      </p:sp>
      <p:sp>
        <p:nvSpPr>
          <p:cNvPr id="8" name="Shape 6"/>
          <p:cNvSpPr/>
          <p:nvPr/>
        </p:nvSpPr>
        <p:spPr>
          <a:xfrm>
            <a:off x="2788920" y="1554480"/>
            <a:ext cx="2121408" cy="3931920"/>
          </a:xfrm>
          <a:prstGeom prst="rect">
            <a:avLst/>
          </a:prstGeom>
          <a:solidFill>
            <a:srgbClr val="E8EDF3"/>
          </a:solidFill>
          <a:ln/>
        </p:spPr>
      </p:sp>
      <p:sp>
        <p:nvSpPr>
          <p:cNvPr id="9" name="Text 7"/>
          <p:cNvSpPr/>
          <p:nvPr/>
        </p:nvSpPr>
        <p:spPr>
          <a:xfrm>
            <a:off x="2971800" y="1783080"/>
            <a:ext cx="1783080" cy="3474720"/>
          </a:xfrm>
          <a:prstGeom prst="rect">
            <a:avLst/>
          </a:prstGeom>
          <a:noFill/>
          <a:ln/>
        </p:spPr>
        <p:txBody>
          <a:bodyPr wrap="square" lIns="0" tIns="0" rIns="0" bIns="0" rtlCol="0" anchor="ctr"/>
          <a:lstStyle/>
          <a:p>
            <a:pPr marL="203200" indent="-203200">
              <a:lnSpc>
                <a:spcPts val="1600"/>
              </a:lnSpc>
              <a:spcAft>
                <a:spcPts val="1400"/>
              </a:spcAft>
              <a:buSzPct val="100000"/>
              <a:buChar char="•"/>
            </a:pPr>
            <a:r>
              <a:rPr lang="en-US" sz="1100" dirty="0">
                <a:solidFill>
                  <a:srgbClr val="1A2E4A"/>
                </a:solidFill>
                <a:latin typeface="Calibri" pitchFamily="34" charset="0"/>
                <a:ea typeface="Calibri" pitchFamily="34" charset="-122"/>
                <a:cs typeface="Calibri" pitchFamily="34" charset="-120"/>
              </a:rPr>
              <a:t>Law of Diminishing MU</a:t>
            </a:r>
            <a:endParaRPr lang="en-US" sz="1100" dirty="0"/>
          </a:p>
          <a:p>
            <a:pPr marL="203200" indent="-203200">
              <a:lnSpc>
                <a:spcPts val="1600"/>
              </a:lnSpc>
              <a:spcAft>
                <a:spcPts val="1400"/>
              </a:spcAft>
              <a:buSzPct val="100000"/>
              <a:buChar char="•"/>
            </a:pPr>
            <a:r>
              <a:rPr lang="en-US" sz="1100" dirty="0">
                <a:solidFill>
                  <a:srgbClr val="1A2E4A"/>
                </a:solidFill>
                <a:latin typeface="Calibri" pitchFamily="34" charset="0"/>
                <a:ea typeface="Calibri" pitchFamily="34" charset="-122"/>
                <a:cs typeface="Calibri" pitchFamily="34" charset="-120"/>
              </a:rPr>
              <a:t>Indifference Curve</a:t>
            </a:r>
            <a:endParaRPr lang="en-US" sz="1100" dirty="0"/>
          </a:p>
          <a:p>
            <a:pPr marL="203200" indent="-203200">
              <a:lnSpc>
                <a:spcPts val="1600"/>
              </a:lnSpc>
              <a:spcAft>
                <a:spcPts val="1400"/>
              </a:spcAft>
              <a:buSzPct val="100000"/>
              <a:buChar char="•"/>
            </a:pPr>
            <a:r>
              <a:rPr lang="en-US" sz="1100" dirty="0">
                <a:solidFill>
                  <a:srgbClr val="1A2E4A"/>
                </a:solidFill>
                <a:latin typeface="Calibri" pitchFamily="34" charset="0"/>
                <a:ea typeface="Calibri" pitchFamily="34" charset="-122"/>
                <a:cs typeface="Calibri" pitchFamily="34" charset="-120"/>
              </a:rPr>
              <a:t>MRS</a:t>
            </a:r>
            <a:endParaRPr lang="en-US" sz="1100" dirty="0"/>
          </a:p>
          <a:p>
            <a:pPr marL="203200" indent="-203200">
              <a:lnSpc>
                <a:spcPts val="1600"/>
              </a:lnSpc>
              <a:spcAft>
                <a:spcPts val="1400"/>
              </a:spcAft>
              <a:buSzPct val="100000"/>
              <a:buChar char="•"/>
            </a:pPr>
            <a:r>
              <a:rPr lang="en-US" sz="1100" dirty="0">
                <a:solidFill>
                  <a:srgbClr val="1A2E4A"/>
                </a:solidFill>
                <a:latin typeface="Calibri" pitchFamily="34" charset="0"/>
                <a:ea typeface="Calibri" pitchFamily="34" charset="-122"/>
                <a:cs typeface="Calibri" pitchFamily="34" charset="-120"/>
              </a:rPr>
              <a:t>Optimal Consumption Rule</a:t>
            </a:r>
            <a:endParaRPr lang="en-US" sz="1100" dirty="0"/>
          </a:p>
          <a:p>
            <a:pPr marL="203200" indent="-203200">
              <a:lnSpc>
                <a:spcPts val="1600"/>
              </a:lnSpc>
              <a:spcAft>
                <a:spcPts val="1400"/>
              </a:spcAft>
              <a:buSzPct val="100000"/>
              <a:buChar char="•"/>
            </a:pPr>
            <a:r>
              <a:rPr lang="en-US" sz="1100" dirty="0">
                <a:solidFill>
                  <a:srgbClr val="1A2E4A"/>
                </a:solidFill>
                <a:latin typeface="Calibri" pitchFamily="34" charset="0"/>
                <a:ea typeface="Calibri" pitchFamily="34" charset="-122"/>
                <a:cs typeface="Calibri" pitchFamily="34" charset="-120"/>
              </a:rPr>
              <a:t>Feasible Frontier</a:t>
            </a:r>
            <a:endParaRPr lang="en-US" sz="1100" dirty="0"/>
          </a:p>
        </p:txBody>
      </p:sp>
      <p:sp>
        <p:nvSpPr>
          <p:cNvPr id="10" name="Shape 8"/>
          <p:cNvSpPr/>
          <p:nvPr/>
        </p:nvSpPr>
        <p:spPr>
          <a:xfrm>
            <a:off x="5074920" y="1554480"/>
            <a:ext cx="2121408" cy="3931920"/>
          </a:xfrm>
          <a:prstGeom prst="rect">
            <a:avLst/>
          </a:prstGeom>
          <a:solidFill>
            <a:srgbClr val="E8EDF3"/>
          </a:solidFill>
          <a:ln/>
        </p:spPr>
      </p:sp>
      <p:sp>
        <p:nvSpPr>
          <p:cNvPr id="11" name="Text 9"/>
          <p:cNvSpPr/>
          <p:nvPr/>
        </p:nvSpPr>
        <p:spPr>
          <a:xfrm>
            <a:off x="5257800" y="1783080"/>
            <a:ext cx="1783080" cy="3474720"/>
          </a:xfrm>
          <a:prstGeom prst="rect">
            <a:avLst/>
          </a:prstGeom>
          <a:noFill/>
          <a:ln/>
        </p:spPr>
        <p:txBody>
          <a:bodyPr wrap="square" lIns="0" tIns="0" rIns="0" bIns="0" rtlCol="0" anchor="ctr"/>
          <a:lstStyle/>
          <a:p>
            <a:pPr marL="203200" indent="-203200">
              <a:lnSpc>
                <a:spcPts val="1600"/>
              </a:lnSpc>
              <a:spcAft>
                <a:spcPts val="1400"/>
              </a:spcAft>
              <a:buSzPct val="100000"/>
              <a:buChar char="•"/>
            </a:pPr>
            <a:r>
              <a:rPr lang="en-US" sz="1100" dirty="0">
                <a:solidFill>
                  <a:srgbClr val="1A2E4A"/>
                </a:solidFill>
                <a:latin typeface="Calibri" pitchFamily="34" charset="0"/>
                <a:ea typeface="Calibri" pitchFamily="34" charset="-122"/>
                <a:cs typeface="Calibri" pitchFamily="34" charset="-120"/>
              </a:rPr>
              <a:t>MRT</a:t>
            </a:r>
            <a:endParaRPr lang="en-US" sz="1100" dirty="0"/>
          </a:p>
          <a:p>
            <a:pPr marL="203200" indent="-203200">
              <a:lnSpc>
                <a:spcPts val="1600"/>
              </a:lnSpc>
              <a:spcAft>
                <a:spcPts val="1400"/>
              </a:spcAft>
              <a:buSzPct val="100000"/>
              <a:buChar char="•"/>
            </a:pPr>
            <a:r>
              <a:rPr lang="en-US" sz="1100" dirty="0">
                <a:solidFill>
                  <a:srgbClr val="1A2E4A"/>
                </a:solidFill>
                <a:latin typeface="Calibri" pitchFamily="34" charset="0"/>
                <a:ea typeface="Calibri" pitchFamily="34" charset="-122"/>
                <a:cs typeface="Calibri" pitchFamily="34" charset="-120"/>
              </a:rPr>
              <a:t>Institutional Constraint</a:t>
            </a:r>
            <a:endParaRPr lang="en-US" sz="1100" dirty="0"/>
          </a:p>
          <a:p>
            <a:pPr marL="203200" indent="-203200">
              <a:lnSpc>
                <a:spcPts val="1600"/>
              </a:lnSpc>
              <a:spcAft>
                <a:spcPts val="1400"/>
              </a:spcAft>
              <a:buSzPct val="100000"/>
              <a:buChar char="•"/>
            </a:pPr>
            <a:r>
              <a:rPr lang="en-US" sz="1100" dirty="0">
                <a:solidFill>
                  <a:srgbClr val="1A2E4A"/>
                </a:solidFill>
                <a:latin typeface="Calibri" pitchFamily="34" charset="0"/>
                <a:ea typeface="Calibri" pitchFamily="34" charset="-122"/>
                <a:cs typeface="Calibri" pitchFamily="34" charset="-120"/>
              </a:rPr>
              <a:t>Monopsony</a:t>
            </a:r>
            <a:endParaRPr lang="en-US" sz="1100" dirty="0"/>
          </a:p>
          <a:p>
            <a:pPr marL="203200" indent="-203200">
              <a:lnSpc>
                <a:spcPts val="1600"/>
              </a:lnSpc>
              <a:spcAft>
                <a:spcPts val="1400"/>
              </a:spcAft>
              <a:buSzPct val="100000"/>
              <a:buChar char="•"/>
            </a:pPr>
            <a:r>
              <a:rPr lang="en-US" sz="1100" dirty="0">
                <a:solidFill>
                  <a:srgbClr val="1A2E4A"/>
                </a:solidFill>
                <a:latin typeface="Calibri" pitchFamily="34" charset="0"/>
                <a:ea typeface="Calibri" pitchFamily="34" charset="-122"/>
                <a:cs typeface="Calibri" pitchFamily="34" charset="-120"/>
              </a:rPr>
              <a:t>Intertemporal Budget Constraint</a:t>
            </a:r>
            <a:endParaRPr lang="en-US" sz="1100" dirty="0"/>
          </a:p>
          <a:p>
            <a:pPr marL="203200" indent="-203200">
              <a:lnSpc>
                <a:spcPts val="1600"/>
              </a:lnSpc>
              <a:spcAft>
                <a:spcPts val="1400"/>
              </a:spcAft>
              <a:buSzPct val="100000"/>
              <a:buChar char="•"/>
            </a:pPr>
            <a:r>
              <a:rPr lang="en-US" sz="1100" dirty="0">
                <a:solidFill>
                  <a:srgbClr val="1A2E4A"/>
                </a:solidFill>
                <a:latin typeface="Calibri" pitchFamily="34" charset="0"/>
                <a:ea typeface="Calibri" pitchFamily="34" charset="-122"/>
                <a:cs typeface="Calibri" pitchFamily="34" charset="-120"/>
              </a:rPr>
              <a:t>Two-Period Model</a:t>
            </a:r>
            <a:endParaRPr lang="en-US" sz="1100" dirty="0"/>
          </a:p>
        </p:txBody>
      </p:sp>
      <p:sp>
        <p:nvSpPr>
          <p:cNvPr id="12" name="Shape 10"/>
          <p:cNvSpPr/>
          <p:nvPr/>
        </p:nvSpPr>
        <p:spPr>
          <a:xfrm>
            <a:off x="7360920" y="1554480"/>
            <a:ext cx="2121408" cy="3931920"/>
          </a:xfrm>
          <a:prstGeom prst="rect">
            <a:avLst/>
          </a:prstGeom>
          <a:solidFill>
            <a:srgbClr val="E8EDF3"/>
          </a:solidFill>
          <a:ln/>
        </p:spPr>
      </p:sp>
      <p:sp>
        <p:nvSpPr>
          <p:cNvPr id="13" name="Text 11"/>
          <p:cNvSpPr/>
          <p:nvPr/>
        </p:nvSpPr>
        <p:spPr>
          <a:xfrm>
            <a:off x="7543800" y="1783080"/>
            <a:ext cx="1783080" cy="3474720"/>
          </a:xfrm>
          <a:prstGeom prst="rect">
            <a:avLst/>
          </a:prstGeom>
          <a:noFill/>
          <a:ln/>
        </p:spPr>
        <p:txBody>
          <a:bodyPr wrap="square" lIns="0" tIns="0" rIns="0" bIns="0" rtlCol="0" anchor="ctr"/>
          <a:lstStyle/>
          <a:p>
            <a:pPr marL="203200" indent="-203200">
              <a:lnSpc>
                <a:spcPts val="1600"/>
              </a:lnSpc>
              <a:spcAft>
                <a:spcPts val="1400"/>
              </a:spcAft>
              <a:buSzPct val="100000"/>
              <a:buChar char="•"/>
            </a:pPr>
            <a:r>
              <a:rPr lang="en-US" sz="1100" dirty="0">
                <a:solidFill>
                  <a:srgbClr val="1A2E4A"/>
                </a:solidFill>
                <a:latin typeface="Calibri" pitchFamily="34" charset="0"/>
                <a:ea typeface="Calibri" pitchFamily="34" charset="-122"/>
                <a:cs typeface="Calibri" pitchFamily="34" charset="-120"/>
              </a:rPr>
              <a:t>Discount Rate</a:t>
            </a:r>
            <a:endParaRPr lang="en-US" sz="1100" dirty="0"/>
          </a:p>
          <a:p>
            <a:pPr marL="203200" indent="-203200">
              <a:lnSpc>
                <a:spcPts val="1600"/>
              </a:lnSpc>
              <a:spcAft>
                <a:spcPts val="1400"/>
              </a:spcAft>
              <a:buSzPct val="100000"/>
              <a:buChar char="•"/>
            </a:pPr>
            <a:r>
              <a:rPr lang="en-US" sz="1100" dirty="0">
                <a:solidFill>
                  <a:srgbClr val="1A2E4A"/>
                </a:solidFill>
                <a:latin typeface="Calibri" pitchFamily="34" charset="0"/>
                <a:ea typeface="Calibri" pitchFamily="34" charset="-122"/>
                <a:cs typeface="Calibri" pitchFamily="34" charset="-120"/>
              </a:rPr>
              <a:t>Endowment</a:t>
            </a:r>
            <a:endParaRPr lang="en-US" sz="1100" dirty="0"/>
          </a:p>
          <a:p>
            <a:pPr marL="203200" indent="-203200">
              <a:lnSpc>
                <a:spcPts val="1600"/>
              </a:lnSpc>
              <a:spcAft>
                <a:spcPts val="1400"/>
              </a:spcAft>
              <a:buSzPct val="100000"/>
              <a:buChar char="•"/>
            </a:pPr>
            <a:r>
              <a:rPr lang="en-US" sz="1100" dirty="0">
                <a:solidFill>
                  <a:srgbClr val="1A2E4A"/>
                </a:solidFill>
                <a:latin typeface="Calibri" pitchFamily="34" charset="0"/>
                <a:ea typeface="Calibri" pitchFamily="34" charset="-122"/>
                <a:cs typeface="Calibri" pitchFamily="34" charset="-120"/>
              </a:rPr>
              <a:t>Julia (borrower) / Marco (lender)</a:t>
            </a:r>
            <a:endParaRPr lang="en-US" sz="1100" dirty="0"/>
          </a:p>
          <a:p>
            <a:pPr marL="203200" indent="-203200">
              <a:lnSpc>
                <a:spcPts val="1600"/>
              </a:lnSpc>
              <a:spcAft>
                <a:spcPts val="1400"/>
              </a:spcAft>
              <a:buSzPct val="100000"/>
              <a:buChar char="•"/>
            </a:pPr>
            <a:r>
              <a:rPr lang="en-US" sz="1100" dirty="0">
                <a:solidFill>
                  <a:srgbClr val="1A2E4A"/>
                </a:solidFill>
                <a:latin typeface="Calibri" pitchFamily="34" charset="0"/>
                <a:ea typeface="Calibri" pitchFamily="34" charset="-122"/>
                <a:cs typeface="Calibri" pitchFamily="34" charset="-120"/>
              </a:rPr>
              <a:t>Bounded Rationality (Simon)</a:t>
            </a:r>
            <a:endParaRPr lang="en-US" sz="1100" dirty="0"/>
          </a:p>
          <a:p>
            <a:pPr marL="203200" indent="-203200">
              <a:lnSpc>
                <a:spcPts val="1600"/>
              </a:lnSpc>
              <a:spcAft>
                <a:spcPts val="1400"/>
              </a:spcAft>
              <a:buSzPct val="100000"/>
              <a:buChar char="•"/>
            </a:pPr>
            <a:r>
              <a:rPr lang="en-US" sz="1100" dirty="0">
                <a:solidFill>
                  <a:srgbClr val="1A2E4A"/>
                </a:solidFill>
                <a:latin typeface="Calibri" pitchFamily="34" charset="0"/>
                <a:ea typeface="Calibri" pitchFamily="34" charset="-122"/>
                <a:cs typeface="Calibri" pitchFamily="34" charset="-120"/>
              </a:rPr>
              <a:t>Loss Aversion · Prospect Theory</a:t>
            </a:r>
            <a:endParaRPr lang="en-US" sz="1100" dirty="0"/>
          </a:p>
        </p:txBody>
      </p:sp>
      <p:sp>
        <p:nvSpPr>
          <p:cNvPr id="14" name="Shape 12"/>
          <p:cNvSpPr/>
          <p:nvPr/>
        </p:nvSpPr>
        <p:spPr>
          <a:xfrm>
            <a:off x="9646920" y="1554480"/>
            <a:ext cx="2121408" cy="3931920"/>
          </a:xfrm>
          <a:prstGeom prst="rect">
            <a:avLst/>
          </a:prstGeom>
          <a:solidFill>
            <a:srgbClr val="E8EDF3"/>
          </a:solidFill>
          <a:ln/>
        </p:spPr>
      </p:sp>
      <p:sp>
        <p:nvSpPr>
          <p:cNvPr id="15" name="Text 13"/>
          <p:cNvSpPr/>
          <p:nvPr/>
        </p:nvSpPr>
        <p:spPr>
          <a:xfrm>
            <a:off x="9829800" y="1783080"/>
            <a:ext cx="1783080" cy="3474720"/>
          </a:xfrm>
          <a:prstGeom prst="rect">
            <a:avLst/>
          </a:prstGeom>
          <a:noFill/>
          <a:ln/>
        </p:spPr>
        <p:txBody>
          <a:bodyPr wrap="square" lIns="0" tIns="0" rIns="0" bIns="0" rtlCol="0" anchor="ctr"/>
          <a:lstStyle/>
          <a:p>
            <a:pPr marL="203200" indent="-203200">
              <a:lnSpc>
                <a:spcPts val="1600"/>
              </a:lnSpc>
              <a:spcAft>
                <a:spcPts val="1400"/>
              </a:spcAft>
              <a:buSzPct val="100000"/>
              <a:buChar char="•"/>
            </a:pPr>
            <a:r>
              <a:rPr lang="en-US" sz="1100" dirty="0">
                <a:solidFill>
                  <a:srgbClr val="1A2E4A"/>
                </a:solidFill>
                <a:latin typeface="Calibri" pitchFamily="34" charset="0"/>
                <a:ea typeface="Calibri" pitchFamily="34" charset="-122"/>
                <a:cs typeface="Calibri" pitchFamily="34" charset="-120"/>
              </a:rPr>
              <a:t>Hyperbolic Discounting</a:t>
            </a:r>
            <a:endParaRPr lang="en-US" sz="1100" dirty="0"/>
          </a:p>
          <a:p>
            <a:pPr marL="203200" indent="-203200">
              <a:lnSpc>
                <a:spcPts val="1600"/>
              </a:lnSpc>
              <a:spcAft>
                <a:spcPts val="1400"/>
              </a:spcAft>
              <a:buSzPct val="100000"/>
              <a:buChar char="•"/>
            </a:pPr>
            <a:r>
              <a:rPr lang="en-US" sz="1100" dirty="0">
                <a:solidFill>
                  <a:srgbClr val="1A2E4A"/>
                </a:solidFill>
                <a:latin typeface="Calibri" pitchFamily="34" charset="0"/>
                <a:ea typeface="Calibri" pitchFamily="34" charset="-122"/>
                <a:cs typeface="Calibri" pitchFamily="34" charset="-120"/>
              </a:rPr>
              <a:t>Present Bias</a:t>
            </a:r>
            <a:endParaRPr lang="en-US" sz="1100" dirty="0"/>
          </a:p>
          <a:p>
            <a:pPr marL="203200" indent="-203200">
              <a:lnSpc>
                <a:spcPts val="1600"/>
              </a:lnSpc>
              <a:spcAft>
                <a:spcPts val="1400"/>
              </a:spcAft>
              <a:buSzPct val="100000"/>
              <a:buChar char="•"/>
            </a:pPr>
            <a:r>
              <a:rPr lang="en-US" sz="1100" dirty="0">
                <a:solidFill>
                  <a:srgbClr val="1A2E4A"/>
                </a:solidFill>
                <a:latin typeface="Calibri" pitchFamily="34" charset="0"/>
                <a:ea typeface="Calibri" pitchFamily="34" charset="-122"/>
                <a:cs typeface="Calibri" pitchFamily="34" charset="-120"/>
              </a:rPr>
              <a:t>Bandwidth Tax</a:t>
            </a:r>
            <a:endParaRPr lang="en-US" sz="1100" dirty="0"/>
          </a:p>
          <a:p>
            <a:pPr marL="203200" indent="-203200">
              <a:lnSpc>
                <a:spcPts val="1600"/>
              </a:lnSpc>
              <a:spcAft>
                <a:spcPts val="1400"/>
              </a:spcAft>
              <a:buSzPct val="100000"/>
              <a:buChar char="•"/>
            </a:pPr>
            <a:r>
              <a:rPr lang="en-US" sz="1100" dirty="0">
                <a:solidFill>
                  <a:srgbClr val="1A2E4A"/>
                </a:solidFill>
                <a:latin typeface="Calibri" pitchFamily="34" charset="0"/>
                <a:ea typeface="Calibri" pitchFamily="34" charset="-122"/>
                <a:cs typeface="Calibri" pitchFamily="34" charset="-120"/>
              </a:rPr>
              <a:t>Sen's Capabilities Approach</a:t>
            </a:r>
            <a:endParaRPr lang="en-US" sz="1100" dirty="0"/>
          </a:p>
          <a:p>
            <a:pPr marL="203200" indent="-203200">
              <a:lnSpc>
                <a:spcPts val="1600"/>
              </a:lnSpc>
              <a:spcAft>
                <a:spcPts val="1400"/>
              </a:spcAft>
              <a:buSzPct val="100000"/>
              <a:buChar char="•"/>
            </a:pPr>
            <a:r>
              <a:rPr lang="en-US" sz="1100" dirty="0">
                <a:solidFill>
                  <a:srgbClr val="1A2E4A"/>
                </a:solidFill>
                <a:latin typeface="Calibri" pitchFamily="34" charset="0"/>
                <a:ea typeface="Calibri" pitchFamily="34" charset="-122"/>
                <a:cs typeface="Calibri" pitchFamily="34" charset="-120"/>
              </a:rPr>
              <a:t>Income vs. Substitution Effect</a:t>
            </a:r>
            <a:endParaRPr lang="en-US" sz="1100" dirty="0"/>
          </a:p>
        </p:txBody>
      </p:sp>
      <p:sp>
        <p:nvSpPr>
          <p:cNvPr id="16" name="Shape 14"/>
          <p:cNvSpPr/>
          <p:nvPr/>
        </p:nvSpPr>
        <p:spPr>
          <a:xfrm>
            <a:off x="502920" y="5623560"/>
            <a:ext cx="11183112" cy="566928"/>
          </a:xfrm>
          <a:prstGeom prst="rect">
            <a:avLst/>
          </a:prstGeom>
          <a:solidFill>
            <a:srgbClr val="1A2E4A"/>
          </a:solidFill>
          <a:ln/>
        </p:spPr>
      </p:sp>
      <p:sp>
        <p:nvSpPr>
          <p:cNvPr id="17" name="Text 15"/>
          <p:cNvSpPr/>
          <p:nvPr/>
        </p:nvSpPr>
        <p:spPr>
          <a:xfrm>
            <a:off x="758952" y="575157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A DELIBERATE TERMINOLOGICAL NOTE</a:t>
            </a:r>
            <a:endParaRPr lang="en-US" sz="1050" dirty="0"/>
          </a:p>
        </p:txBody>
      </p:sp>
      <p:sp>
        <p:nvSpPr>
          <p:cNvPr id="18" name="Text 16"/>
          <p:cNvSpPr/>
          <p:nvPr/>
        </p:nvSpPr>
        <p:spPr>
          <a:xfrm>
            <a:off x="758952" y="6025896"/>
            <a:ext cx="10671048" cy="0"/>
          </a:xfrm>
          <a:prstGeom prst="rect">
            <a:avLst/>
          </a:prstGeom>
          <a:noFill/>
          <a:ln/>
        </p:spPr>
        <p:txBody>
          <a:bodyPr wrap="square" lIns="0" tIns="0" rIns="0" bIns="0" rtlCol="0" anchor="t"/>
          <a:lstStyle/>
          <a:p>
            <a:pPr indent="0" marL="0">
              <a:lnSpc>
                <a:spcPts val="1400"/>
              </a:lnSpc>
              <a:buNone/>
            </a:pPr>
            <a:r>
              <a:rPr lang="en-US" sz="1000" dirty="0">
                <a:solidFill>
                  <a:srgbClr val="FFFFFF"/>
                </a:solidFill>
                <a:latin typeface="Calibri" pitchFamily="34" charset="0"/>
                <a:ea typeface="Calibri" pitchFamily="34" charset="-122"/>
                <a:cs typeface="Calibri" pitchFamily="34" charset="-120"/>
              </a:rPr>
              <a:t>In Part 2 we call it the FEASIBLE FRONTIER — not the budget constraint. The structure is identical; the context differs. The formal vocabulary bridge to "budget constraint" occurs in Module 6. This distinction is analytically important.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2E4A"/>
        </a:solidFill>
      </p:bgPr>
    </p:bg>
    <p:spTree>
      <p:nvGrpSpPr>
        <p:cNvPr id="1" name=""/>
        <p:cNvGrpSpPr/>
        <p:nvPr/>
      </p:nvGrpSpPr>
      <p:grpSpPr>
        <a:xfrm>
          <a:off x="0" y="0"/>
          <a:ext cx="0" cy="0"/>
          <a:chOff x="0" y="0"/>
          <a:chExt cx="0" cy="0"/>
        </a:xfrm>
      </p:grpSpPr>
      <p:sp>
        <p:nvSpPr>
          <p:cNvPr id="2" name="Text 0"/>
          <p:cNvSpPr/>
          <p:nvPr/>
        </p:nvSpPr>
        <p:spPr>
          <a:xfrm>
            <a:off x="914400" y="1371600"/>
            <a:ext cx="10332720" cy="411480"/>
          </a:xfrm>
          <a:prstGeom prst="rect">
            <a:avLst/>
          </a:prstGeom>
          <a:noFill/>
          <a:ln/>
        </p:spPr>
        <p:txBody>
          <a:bodyPr wrap="square" lIns="0" tIns="0" rIns="0" bIns="0" rtlCol="0" anchor="ctr"/>
          <a:lstStyle/>
          <a:p>
            <a:pPr indent="0" marL="0">
              <a:buNone/>
            </a:pPr>
            <a:r>
              <a:rPr lang="en-US" sz="1500" b="1" spc="700" kern="0" dirty="0">
                <a:solidFill>
                  <a:srgbClr val="C0892E"/>
                </a:solidFill>
                <a:latin typeface="Calibri" pitchFamily="34" charset="0"/>
                <a:ea typeface="Calibri" pitchFamily="34" charset="-122"/>
                <a:cs typeface="Calibri" pitchFamily="34" charset="-120"/>
              </a:rPr>
              <a:t>SECTION I</a:t>
            </a:r>
            <a:endParaRPr lang="en-US" sz="1500" dirty="0"/>
          </a:p>
        </p:txBody>
      </p:sp>
      <p:sp>
        <p:nvSpPr>
          <p:cNvPr id="3" name="Text 1"/>
          <p:cNvSpPr/>
          <p:nvPr/>
        </p:nvSpPr>
        <p:spPr>
          <a:xfrm>
            <a:off x="914400" y="1828800"/>
            <a:ext cx="10058400" cy="118872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Consumer Theory  ·  In-Person</a:t>
            </a:r>
            <a:endParaRPr lang="en-US" sz="4600" dirty="0"/>
          </a:p>
        </p:txBody>
      </p:sp>
      <p:sp>
        <p:nvSpPr>
          <p:cNvPr id="4" name="Text 2"/>
          <p:cNvSpPr/>
          <p:nvPr/>
        </p:nvSpPr>
        <p:spPr>
          <a:xfrm>
            <a:off x="914400" y="3291840"/>
            <a:ext cx="10058400" cy="2377440"/>
          </a:xfrm>
          <a:prstGeom prst="rect">
            <a:avLst/>
          </a:prstGeom>
          <a:noFill/>
          <a:ln/>
        </p:spPr>
        <p:txBody>
          <a:bodyPr wrap="square" lIns="0" tIns="0" rIns="0" bIns="0" rtlCol="0" anchor="ctr"/>
          <a:lstStyle/>
          <a:p>
            <a:pPr indent="0" marL="0">
              <a:lnSpc>
                <a:spcPts val="2400"/>
              </a:lnSpc>
              <a:spcAft>
                <a:spcPts val="800"/>
              </a:spcAft>
              <a:buNone/>
            </a:pPr>
            <a:r>
              <a:rPr lang="en-US" sz="1500" dirty="0">
                <a:solidFill>
                  <a:srgbClr val="CFD9E5"/>
                </a:solidFill>
                <a:latin typeface="Calibri" pitchFamily="34" charset="0"/>
                <a:ea typeface="Calibri" pitchFamily="34" charset="-122"/>
                <a:cs typeface="Calibri" pitchFamily="34" charset="-120"/>
              </a:rPr>
              <a:t>Part 1  ·  Production function, marginal product, and diminishing marginal product</a:t>
            </a:r>
            <a:endParaRPr lang="en-US" sz="1500" dirty="0"/>
          </a:p>
          <a:p>
            <a:pPr indent="0" marL="0">
              <a:lnSpc>
                <a:spcPts val="2400"/>
              </a:lnSpc>
              <a:spcAft>
                <a:spcPts val="800"/>
              </a:spcAft>
              <a:buNone/>
            </a:pPr>
            <a:r>
              <a:rPr lang="en-US" sz="1500" dirty="0">
                <a:solidFill>
                  <a:srgbClr val="CFD9E5"/>
                </a:solidFill>
                <a:latin typeface="Calibri" pitchFamily="34" charset="0"/>
                <a:ea typeface="Calibri" pitchFamily="34" charset="-122"/>
                <a:cs typeface="Calibri" pitchFamily="34" charset="-120"/>
              </a:rPr>
              <a:t>Part 1  ·  Utility, total and marginal utility, and the law of diminishing marginal utility</a:t>
            </a:r>
            <a:endParaRPr lang="en-US" sz="1500" dirty="0"/>
          </a:p>
          <a:p>
            <a:pPr indent="0" marL="0">
              <a:lnSpc>
                <a:spcPts val="2400"/>
              </a:lnSpc>
              <a:spcAft>
                <a:spcPts val="800"/>
              </a:spcAft>
              <a:buNone/>
            </a:pPr>
            <a:r>
              <a:rPr lang="en-US" sz="1500" dirty="0">
                <a:solidFill>
                  <a:srgbClr val="CFD9E5"/>
                </a:solidFill>
                <a:latin typeface="Calibri" pitchFamily="34" charset="0"/>
                <a:ea typeface="Calibri" pitchFamily="34" charset="-122"/>
                <a:cs typeface="Calibri" pitchFamily="34" charset="-120"/>
              </a:rPr>
              <a:t>Part 1  ·  Indifference curves, MRS, and the optimal consumption rule  MUx/Px = MUy/Py</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60520" cy="6858000"/>
          </a:xfrm>
          <a:prstGeom prst="rect">
            <a:avLst/>
          </a:prstGeom>
          <a:solidFill>
            <a:srgbClr val="E8EDF3"/>
          </a:solidFill>
          <a:ln/>
        </p:spPr>
      </p:sp>
      <p:sp>
        <p:nvSpPr>
          <p:cNvPr id="3" name="Text 1"/>
          <p:cNvSpPr/>
          <p:nvPr/>
        </p:nvSpPr>
        <p:spPr>
          <a:xfrm>
            <a:off x="685800" y="1965960"/>
            <a:ext cx="2926080" cy="1737360"/>
          </a:xfrm>
          <a:prstGeom prst="rect">
            <a:avLst/>
          </a:prstGeom>
          <a:noFill/>
          <a:ln/>
        </p:spPr>
        <p:txBody>
          <a:bodyPr wrap="square" lIns="0" tIns="0" rIns="0" bIns="0" rtlCol="0" anchor="ctr"/>
          <a:lstStyle/>
          <a:p>
            <a:pPr indent="0" marL="0">
              <a:buNone/>
            </a:pPr>
            <a:r>
              <a:rPr lang="en-US" sz="13000" b="1" dirty="0">
                <a:solidFill>
                  <a:srgbClr val="C0892E"/>
                </a:solidFill>
                <a:latin typeface="Cambria" pitchFamily="34" charset="0"/>
                <a:ea typeface="Cambria" pitchFamily="34" charset="-122"/>
                <a:cs typeface="Cambria" pitchFamily="34" charset="-120"/>
              </a:rPr>
              <a:t>01</a:t>
            </a:r>
            <a:endParaRPr lang="en-US" sz="13000" dirty="0"/>
          </a:p>
        </p:txBody>
      </p:sp>
      <p:sp>
        <p:nvSpPr>
          <p:cNvPr id="4" name="Text 2"/>
          <p:cNvSpPr/>
          <p:nvPr/>
        </p:nvSpPr>
        <p:spPr>
          <a:xfrm>
            <a:off x="777240" y="3703320"/>
            <a:ext cx="2743200" cy="365760"/>
          </a:xfrm>
          <a:prstGeom prst="rect">
            <a:avLst/>
          </a:prstGeom>
          <a:noFill/>
          <a:ln/>
        </p:spPr>
        <p:txBody>
          <a:bodyPr wrap="square" lIns="0" tIns="0" rIns="0" bIns="0" rtlCol="0" anchor="ctr"/>
          <a:lstStyle/>
          <a:p>
            <a:pPr indent="0" marL="0">
              <a:buNone/>
            </a:pPr>
            <a:r>
              <a:rPr lang="en-US" sz="1400" b="1" spc="700" kern="0" dirty="0">
                <a:solidFill>
                  <a:srgbClr val="4A6180"/>
                </a:solidFill>
                <a:latin typeface="Calibri" pitchFamily="34" charset="0"/>
                <a:ea typeface="Calibri" pitchFamily="34" charset="-122"/>
                <a:cs typeface="Calibri" pitchFamily="34" charset="-120"/>
              </a:rPr>
              <a:t>PART</a:t>
            </a:r>
            <a:endParaRPr lang="en-US" sz="1400" dirty="0"/>
          </a:p>
        </p:txBody>
      </p:sp>
      <p:sp>
        <p:nvSpPr>
          <p:cNvPr id="5" name="Text 3"/>
          <p:cNvSpPr/>
          <p:nvPr/>
        </p:nvSpPr>
        <p:spPr>
          <a:xfrm>
            <a:off x="4937760" y="1965960"/>
            <a:ext cx="6675120" cy="1554480"/>
          </a:xfrm>
          <a:prstGeom prst="rect">
            <a:avLst/>
          </a:prstGeom>
          <a:noFill/>
          <a:ln/>
        </p:spPr>
        <p:txBody>
          <a:bodyPr wrap="square" lIns="0" tIns="0" rIns="0" bIns="0" rtlCol="0" anchor="b"/>
          <a:lstStyle/>
          <a:p>
            <a:pPr indent="0" marL="0">
              <a:lnSpc>
                <a:spcPts val="4000"/>
              </a:lnSpc>
              <a:buNone/>
            </a:pPr>
            <a:r>
              <a:rPr lang="en-US" sz="3300" b="1" dirty="0">
                <a:solidFill>
                  <a:srgbClr val="1A2E4A"/>
                </a:solidFill>
                <a:latin typeface="Cambria" pitchFamily="34" charset="0"/>
                <a:ea typeface="Cambria" pitchFamily="34" charset="-122"/>
                <a:cs typeface="Cambria" pitchFamily="34" charset="-120"/>
              </a:rPr>
              <a:t>Labor Trade-offs, Utility,</a:t>
            </a:r>
            <a:endParaRPr lang="en-US" sz="3300" dirty="0"/>
          </a:p>
          <a:p>
            <a:pPr indent="0" marL="0">
              <a:lnSpc>
                <a:spcPts val="4000"/>
              </a:lnSpc>
              <a:buNone/>
            </a:pPr>
            <a:r>
              <a:rPr lang="en-US" sz="3300" b="1" dirty="0">
                <a:solidFill>
                  <a:srgbClr val="1A2E4A"/>
                </a:solidFill>
                <a:latin typeface="Cambria" pitchFamily="34" charset="0"/>
                <a:ea typeface="Cambria" pitchFamily="34" charset="-122"/>
                <a:cs typeface="Cambria" pitchFamily="34" charset="-120"/>
              </a:rPr>
              <a:t>the Optimal Bundle &amp; Temporality</a:t>
            </a:r>
            <a:endParaRPr lang="en-US" sz="3300" dirty="0"/>
          </a:p>
        </p:txBody>
      </p:sp>
      <p:sp>
        <p:nvSpPr>
          <p:cNvPr id="6" name="Text 4"/>
          <p:cNvSpPr/>
          <p:nvPr/>
        </p:nvSpPr>
        <p:spPr>
          <a:xfrm>
            <a:off x="4937760" y="3657600"/>
            <a:ext cx="6675120" cy="1554480"/>
          </a:xfrm>
          <a:prstGeom prst="rect">
            <a:avLst/>
          </a:prstGeom>
          <a:noFill/>
          <a:ln/>
        </p:spPr>
        <p:txBody>
          <a:bodyPr wrap="square" lIns="0" tIns="0" rIns="0" bIns="0" rtlCol="0" anchor="ctr"/>
          <a:lstStyle/>
          <a:p>
            <a:pPr indent="0" marL="0">
              <a:lnSpc>
                <a:spcPts val="2400"/>
              </a:lnSpc>
              <a:buNone/>
            </a:pPr>
            <a:r>
              <a:rPr lang="en-US" sz="1200" b="1" spc="200" kern="0" dirty="0">
                <a:solidFill>
                  <a:srgbClr val="C0892E"/>
                </a:solidFill>
                <a:latin typeface="Calibri" pitchFamily="34" charset="0"/>
                <a:ea typeface="Calibri" pitchFamily="34" charset="-122"/>
                <a:cs typeface="Calibri" pitchFamily="34" charset="-120"/>
              </a:rPr>
              <a:t>OBJECTIVE   </a:t>
            </a:r>
            <a:pPr indent="0" marL="0">
              <a:lnSpc>
                <a:spcPts val="2400"/>
              </a:lnSpc>
              <a:buNone/>
            </a:pPr>
            <a:r>
              <a:rPr lang="en-US" sz="1500" dirty="0">
                <a:solidFill>
                  <a:srgbClr val="4A6180"/>
                </a:solidFill>
                <a:latin typeface="Calibri" pitchFamily="34" charset="0"/>
                <a:ea typeface="Calibri" pitchFamily="34" charset="-122"/>
                <a:cs typeface="Calibri" pitchFamily="34" charset="-120"/>
              </a:rPr>
              <a:t>Define the production function, marginal product, utility and marginal utility; apply the law of diminishing marginal utility; use the optimal consumption rule; locate the optimal bundle where MRS = Px/Py.</a:t>
            </a:r>
            <a:endParaRPr lang="en-US" sz="1200" dirty="0"/>
          </a:p>
        </p:txBody>
      </p:sp>
      <p:sp>
        <p:nvSpPr>
          <p:cNvPr id="7" name="Text 5"/>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8" name="Text 6"/>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2: CONSTRAINED CHOICE OVER TIME</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1 · FORMAL DEFINITIONS</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The Production Function &amp; Marginal Product</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2: CONSTRAINED CHOICE OVER TIME</a:t>
            </a:r>
            <a:endParaRPr lang="en-US" sz="900" dirty="0"/>
          </a:p>
        </p:txBody>
      </p:sp>
      <p:sp>
        <p:nvSpPr>
          <p:cNvPr id="6" name="Shape 4"/>
          <p:cNvSpPr/>
          <p:nvPr/>
        </p:nvSpPr>
        <p:spPr>
          <a:xfrm>
            <a:off x="502920" y="1444752"/>
            <a:ext cx="11183112" cy="914400"/>
          </a:xfrm>
          <a:prstGeom prst="rect">
            <a:avLst/>
          </a:prstGeom>
          <a:solidFill>
            <a:srgbClr val="1A2E4A"/>
          </a:solidFill>
          <a:ln/>
        </p:spPr>
      </p:sp>
      <p:sp>
        <p:nvSpPr>
          <p:cNvPr id="7" name="Text 5"/>
          <p:cNvSpPr/>
          <p:nvPr/>
        </p:nvSpPr>
        <p:spPr>
          <a:xfrm>
            <a:off x="685800" y="1572768"/>
            <a:ext cx="10817352" cy="347472"/>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Q  =  f ( L,  K̄ )</a:t>
            </a:r>
            <a:endParaRPr lang="en-US" sz="2000" dirty="0"/>
          </a:p>
        </p:txBody>
      </p:sp>
      <p:sp>
        <p:nvSpPr>
          <p:cNvPr id="8" name="Text 6"/>
          <p:cNvSpPr/>
          <p:nvPr/>
        </p:nvSpPr>
        <p:spPr>
          <a:xfrm>
            <a:off x="685800" y="1847088"/>
            <a:ext cx="10817352" cy="402336"/>
          </a:xfrm>
          <a:prstGeom prst="rect">
            <a:avLst/>
          </a:prstGeom>
          <a:noFill/>
          <a:ln/>
        </p:spPr>
        <p:txBody>
          <a:bodyPr wrap="square" lIns="0" tIns="0" rIns="0" bIns="0" rtlCol="0" anchor="ctr"/>
          <a:lstStyle/>
          <a:p>
            <a:pPr algn="ctr" indent="0" marL="0">
              <a:buNone/>
            </a:pPr>
            <a:r>
              <a:rPr lang="en-US" sz="1150" i="1" dirty="0">
                <a:solidFill>
                  <a:srgbClr val="E8C87A"/>
                </a:solidFill>
                <a:latin typeface="Calibri" pitchFamily="34" charset="0"/>
                <a:ea typeface="Calibri" pitchFamily="34" charset="-122"/>
                <a:cs typeface="Calibri" pitchFamily="34" charset="-120"/>
              </a:rPr>
              <a:t>Output as a function of variable labor L, holding capital K fixed (the bar denotes a fixed factor — the SHORT RUN, from Module 1).</a:t>
            </a:r>
            <a:endParaRPr lang="en-US" sz="1150" dirty="0"/>
          </a:p>
        </p:txBody>
      </p:sp>
      <p:pic>
        <p:nvPicPr>
          <p:cNvPr id="9" name="Image 0" descr="figs/m2_prodfn.png">    </p:cNvPr>
          <p:cNvPicPr>
            <a:picLocks noChangeAspect="1"/>
          </p:cNvPicPr>
          <p:nvPr/>
        </p:nvPicPr>
        <p:blipFill>
          <a:blip r:embed="rId1"/>
          <a:stretch>
            <a:fillRect/>
          </a:stretch>
        </p:blipFill>
        <p:spPr>
          <a:xfrm>
            <a:off x="502920" y="2589380"/>
            <a:ext cx="6949440" cy="2730800"/>
          </a:xfrm>
          <a:prstGeom prst="rect">
            <a:avLst/>
          </a:prstGeom>
        </p:spPr>
      </p:pic>
      <p:sp>
        <p:nvSpPr>
          <p:cNvPr id="10" name="Shape 7"/>
          <p:cNvSpPr/>
          <p:nvPr/>
        </p:nvSpPr>
        <p:spPr>
          <a:xfrm>
            <a:off x="7680960" y="2487168"/>
            <a:ext cx="4005072" cy="141732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1" name="Text 8"/>
          <p:cNvSpPr/>
          <p:nvPr/>
        </p:nvSpPr>
        <p:spPr>
          <a:xfrm>
            <a:off x="7936992" y="2670048"/>
            <a:ext cx="3493008" cy="384048"/>
          </a:xfrm>
          <a:prstGeom prst="rect">
            <a:avLst/>
          </a:prstGeom>
          <a:noFill/>
          <a:ln/>
        </p:spPr>
        <p:txBody>
          <a:bodyPr wrap="square" lIns="0" tIns="0" rIns="0" bIns="0" rtlCol="0" anchor="ctr"/>
          <a:lstStyle/>
          <a:p>
            <a:pPr indent="0" marL="0">
              <a:buNone/>
            </a:pPr>
            <a:r>
              <a:rPr lang="en-US" sz="1550" b="1" dirty="0">
                <a:solidFill>
                  <a:srgbClr val="1A2E4A"/>
                </a:solidFill>
                <a:latin typeface="Cambria" pitchFamily="34" charset="0"/>
                <a:ea typeface="Cambria" pitchFamily="34" charset="-122"/>
                <a:cs typeface="Cambria" pitchFamily="34" charset="-120"/>
              </a:rPr>
              <a:t>PRODUCTION FUNCTION</a:t>
            </a:r>
            <a:endParaRPr lang="en-US" sz="1550" dirty="0"/>
          </a:p>
        </p:txBody>
      </p:sp>
      <p:sp>
        <p:nvSpPr>
          <p:cNvPr id="12" name="Text 9"/>
          <p:cNvSpPr/>
          <p:nvPr/>
        </p:nvSpPr>
        <p:spPr>
          <a:xfrm>
            <a:off x="7936992" y="3072384"/>
            <a:ext cx="3493008" cy="594360"/>
          </a:xfrm>
          <a:prstGeom prst="rect">
            <a:avLst/>
          </a:prstGeom>
          <a:noFill/>
          <a:ln/>
        </p:spPr>
        <p:txBody>
          <a:bodyPr wrap="square" lIns="0" tIns="0" rIns="0" bIns="0" rtlCol="0" anchor="t"/>
          <a:lstStyle/>
          <a:p>
            <a:pPr indent="0" marL="0">
              <a:lnSpc>
                <a:spcPts val="1500"/>
              </a:lnSpc>
              <a:buNone/>
            </a:pPr>
            <a:r>
              <a:rPr lang="en-US" sz="1050" dirty="0">
                <a:solidFill>
                  <a:srgbClr val="4A6180"/>
                </a:solidFill>
                <a:latin typeface="Calibri" pitchFamily="34" charset="0"/>
                <a:ea typeface="Calibri" pitchFamily="34" charset="-122"/>
                <a:cs typeface="Calibri" pitchFamily="34" charset="-120"/>
              </a:rPr>
              <a:t>The technological relationship specifying the MAXIMUM output obtainable from each combination of inputs, given the state of technology.</a:t>
            </a:r>
            <a:endParaRPr lang="en-US" sz="1050" dirty="0"/>
          </a:p>
        </p:txBody>
      </p:sp>
      <p:sp>
        <p:nvSpPr>
          <p:cNvPr id="13" name="Shape 10"/>
          <p:cNvSpPr/>
          <p:nvPr/>
        </p:nvSpPr>
        <p:spPr>
          <a:xfrm>
            <a:off x="7680960" y="4023360"/>
            <a:ext cx="4005072" cy="141732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4" name="Text 11"/>
          <p:cNvSpPr/>
          <p:nvPr/>
        </p:nvSpPr>
        <p:spPr>
          <a:xfrm>
            <a:off x="7936992" y="4206240"/>
            <a:ext cx="3493008" cy="384048"/>
          </a:xfrm>
          <a:prstGeom prst="rect">
            <a:avLst/>
          </a:prstGeom>
          <a:noFill/>
          <a:ln/>
        </p:spPr>
        <p:txBody>
          <a:bodyPr wrap="square" lIns="0" tIns="0" rIns="0" bIns="0" rtlCol="0" anchor="ctr"/>
          <a:lstStyle/>
          <a:p>
            <a:pPr indent="0" marL="0">
              <a:buNone/>
            </a:pPr>
            <a:r>
              <a:rPr lang="en-US" sz="1550" b="1" dirty="0">
                <a:solidFill>
                  <a:srgbClr val="C0892E"/>
                </a:solidFill>
                <a:latin typeface="Cambria" pitchFamily="34" charset="0"/>
                <a:ea typeface="Cambria" pitchFamily="34" charset="-122"/>
                <a:cs typeface="Cambria" pitchFamily="34" charset="-120"/>
              </a:rPr>
              <a:t>MARGINAL PRODUCT OF LABOR</a:t>
            </a:r>
            <a:endParaRPr lang="en-US" sz="1550" dirty="0"/>
          </a:p>
        </p:txBody>
      </p:sp>
      <p:sp>
        <p:nvSpPr>
          <p:cNvPr id="15" name="Text 12"/>
          <p:cNvSpPr/>
          <p:nvPr/>
        </p:nvSpPr>
        <p:spPr>
          <a:xfrm>
            <a:off x="7936992" y="4608576"/>
            <a:ext cx="3493008" cy="594360"/>
          </a:xfrm>
          <a:prstGeom prst="rect">
            <a:avLst/>
          </a:prstGeom>
          <a:noFill/>
          <a:ln/>
        </p:spPr>
        <p:txBody>
          <a:bodyPr wrap="square" lIns="0" tIns="0" rIns="0" bIns="0" rtlCol="0" anchor="t"/>
          <a:lstStyle/>
          <a:p>
            <a:pPr indent="0" marL="0">
              <a:lnSpc>
                <a:spcPts val="1500"/>
              </a:lnSpc>
              <a:buNone/>
            </a:pPr>
            <a:r>
              <a:rPr lang="en-US" sz="1050" dirty="0">
                <a:solidFill>
                  <a:srgbClr val="4A6180"/>
                </a:solidFill>
                <a:latin typeface="Calibri" pitchFamily="34" charset="0"/>
                <a:ea typeface="Calibri" pitchFamily="34" charset="-122"/>
                <a:cs typeface="Calibri" pitchFamily="34" charset="-120"/>
              </a:rPr>
              <a:t>MP_L = ΔQ / ΔL — the additional output produced by ONE more unit of labor, holding all other inputs constant.</a:t>
            </a:r>
            <a:endParaRPr lang="en-US" sz="1050" dirty="0"/>
          </a:p>
        </p:txBody>
      </p:sp>
      <p:sp>
        <p:nvSpPr>
          <p:cNvPr id="16" name="Shape 13"/>
          <p:cNvSpPr/>
          <p:nvPr/>
        </p:nvSpPr>
        <p:spPr>
          <a:xfrm>
            <a:off x="502920" y="5532120"/>
            <a:ext cx="11183112" cy="621792"/>
          </a:xfrm>
          <a:prstGeom prst="rect">
            <a:avLst/>
          </a:prstGeom>
          <a:solidFill>
            <a:srgbClr val="1A2E4A"/>
          </a:solidFill>
          <a:ln/>
        </p:spPr>
      </p:sp>
      <p:sp>
        <p:nvSpPr>
          <p:cNvPr id="17" name="Text 14"/>
          <p:cNvSpPr/>
          <p:nvPr/>
        </p:nvSpPr>
        <p:spPr>
          <a:xfrm>
            <a:off x="758952" y="566013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LAW OF DIMINISHING MARGINAL PRODUCT</a:t>
            </a:r>
            <a:endParaRPr lang="en-US" sz="1050" dirty="0"/>
          </a:p>
        </p:txBody>
      </p:sp>
      <p:sp>
        <p:nvSpPr>
          <p:cNvPr id="18" name="Text 15"/>
          <p:cNvSpPr/>
          <p:nvPr/>
        </p:nvSpPr>
        <p:spPr>
          <a:xfrm>
            <a:off x="758952" y="5934456"/>
            <a:ext cx="10671048" cy="54864"/>
          </a:xfrm>
          <a:prstGeom prst="rect">
            <a:avLst/>
          </a:prstGeom>
          <a:noFill/>
          <a:ln/>
        </p:spPr>
        <p:txBody>
          <a:bodyPr wrap="square" lIns="0" tIns="0" rIns="0" bIns="0" rtlCol="0" anchor="t"/>
          <a:lstStyle/>
          <a:p>
            <a:pPr indent="0" marL="0">
              <a:lnSpc>
                <a:spcPts val="1400"/>
              </a:lnSpc>
              <a:buNone/>
            </a:pPr>
            <a:r>
              <a:rPr lang="en-US" sz="1000" dirty="0">
                <a:solidFill>
                  <a:srgbClr val="FFFFFF"/>
                </a:solidFill>
                <a:latin typeface="Calibri" pitchFamily="34" charset="0"/>
                <a:ea typeface="Calibri" pitchFamily="34" charset="-122"/>
                <a:cs typeface="Calibri" pitchFamily="34" charset="-120"/>
              </a:rPr>
              <a:t>Beyond some point, adding successive units of a variable input to a FIXED input yields smaller and smaller increments of output. This is the production-side twin of the law of diminishing marginal utility — and the engine of the U-shaped cost curves in Module 9.</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1 · ACTIVITY</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Production Function Activity — GPA and Study Hours</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2: CONSTRAINED CHOICE OVER TIME</a:t>
            </a:r>
            <a:endParaRPr lang="en-US" sz="9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02920" y="1481328"/>
          <a:ext cx="11183112" cy="914400"/>
        </p:xfrm>
        <a:graphic>
          <a:graphicData uri="http://schemas.openxmlformats.org/drawingml/2006/table">
            <a:tbl>
              <a:tblPr/>
              <a:tblGrid>
                <a:gridCol w="3291840"/>
                <a:gridCol w="2743200"/>
                <a:gridCol w="2743200"/>
                <a:gridCol w="2404872"/>
              </a:tblGrid>
              <a:tr h="438912">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STUDY ENVIRONMENT</a:t>
                      </a:r>
                      <a:endParaRPr lang="en-US" sz="12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HIGH STUDY TIME → GPA</a:t>
                      </a:r>
                      <a:endParaRPr lang="en-US" sz="12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LOW STUDY TIME → GPA</a:t>
                      </a:r>
                      <a:endParaRPr lang="en-US" sz="12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DIFFERENCE</a:t>
                      </a:r>
                      <a:endParaRPr lang="en-US" sz="12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438912">
                <a:tc>
                  <a:txBody>
                    <a:bodyPr/>
                    <a:lstStyle/>
                    <a:p>
                      <a:pPr algn="l" indent="0" marL="0">
                        <a:buNone/>
                      </a:pPr>
                      <a:r>
                        <a:rPr lang="en-US" sz="1250" dirty="0">
                          <a:solidFill>
                            <a:srgbClr val="1A2E4A"/>
                          </a:solidFill>
                          <a:latin typeface="Calibri" pitchFamily="34" charset="0"/>
                          <a:ea typeface="Calibri" pitchFamily="34" charset="-122"/>
                          <a:cs typeface="Calibri" pitchFamily="34" charset="-120"/>
                        </a:rPr>
                        <a:t>Good Environment</a:t>
                      </a:r>
                      <a:endParaRPr lang="en-US" sz="12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A2E4A"/>
                          </a:solidFill>
                          <a:latin typeface="Calibri" pitchFamily="34" charset="0"/>
                          <a:ea typeface="Calibri" pitchFamily="34" charset="-122"/>
                          <a:cs typeface="Calibri" pitchFamily="34" charset="-120"/>
                        </a:rPr>
                        <a:t>3.63</a:t>
                      </a:r>
                      <a:endParaRPr lang="en-US" sz="12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A2E4A"/>
                          </a:solidFill>
                          <a:latin typeface="Calibri" pitchFamily="34" charset="0"/>
                          <a:ea typeface="Calibri" pitchFamily="34" charset="-122"/>
                          <a:cs typeface="Calibri" pitchFamily="34" charset="-120"/>
                        </a:rPr>
                        <a:t>3.43</a:t>
                      </a:r>
                      <a:endParaRPr lang="en-US" sz="12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A2E4A"/>
                          </a:solidFill>
                          <a:latin typeface="Calibri" pitchFamily="34" charset="0"/>
                          <a:ea typeface="Calibri" pitchFamily="34" charset="-122"/>
                          <a:cs typeface="Calibri" pitchFamily="34" charset="-120"/>
                        </a:rPr>
                        <a:t>+0.20</a:t>
                      </a:r>
                      <a:endParaRPr lang="en-US" sz="12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438912">
                <a:tc>
                  <a:txBody>
                    <a:bodyPr/>
                    <a:lstStyle/>
                    <a:p>
                      <a:pPr algn="l" indent="0" marL="0">
                        <a:buNone/>
                      </a:pPr>
                      <a:r>
                        <a:rPr lang="en-US" sz="1250" dirty="0">
                          <a:solidFill>
                            <a:srgbClr val="1A2E4A"/>
                          </a:solidFill>
                          <a:latin typeface="Calibri" pitchFamily="34" charset="0"/>
                          <a:ea typeface="Calibri" pitchFamily="34" charset="-122"/>
                          <a:cs typeface="Calibri" pitchFamily="34" charset="-120"/>
                        </a:rPr>
                        <a:t>Poor Environment</a:t>
                      </a:r>
                      <a:endParaRPr lang="en-US" sz="12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250" dirty="0">
                          <a:solidFill>
                            <a:srgbClr val="1A2E4A"/>
                          </a:solidFill>
                          <a:latin typeface="Calibri" pitchFamily="34" charset="0"/>
                          <a:ea typeface="Calibri" pitchFamily="34" charset="-122"/>
                          <a:cs typeface="Calibri" pitchFamily="34" charset="-120"/>
                        </a:rPr>
                        <a:t>3.36</a:t>
                      </a:r>
                      <a:endParaRPr lang="en-US" sz="12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250" dirty="0">
                          <a:solidFill>
                            <a:srgbClr val="1A2E4A"/>
                          </a:solidFill>
                          <a:latin typeface="Calibri" pitchFamily="34" charset="0"/>
                          <a:ea typeface="Calibri" pitchFamily="34" charset="-122"/>
                          <a:cs typeface="Calibri" pitchFamily="34" charset="-120"/>
                        </a:rPr>
                        <a:t>3.17</a:t>
                      </a:r>
                      <a:endParaRPr lang="en-US" sz="12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250" dirty="0">
                          <a:solidFill>
                            <a:srgbClr val="1A2E4A"/>
                          </a:solidFill>
                          <a:latin typeface="Calibri" pitchFamily="34" charset="0"/>
                          <a:ea typeface="Calibri" pitchFamily="34" charset="-122"/>
                          <a:cs typeface="Calibri" pitchFamily="34" charset="-120"/>
                        </a:rPr>
                        <a:t>+0.19</a:t>
                      </a:r>
                      <a:endParaRPr lang="en-US" sz="12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438912">
                <a:tc>
                  <a:txBody>
                    <a:bodyPr/>
                    <a:lstStyle/>
                    <a:p>
                      <a:pPr algn="l" indent="0" marL="0">
                        <a:buNone/>
                      </a:pPr>
                      <a:r>
                        <a:rPr lang="en-US" sz="1250" dirty="0">
                          <a:solidFill>
                            <a:srgbClr val="1A2E4A"/>
                          </a:solidFill>
                          <a:latin typeface="Calibri" pitchFamily="34" charset="0"/>
                          <a:ea typeface="Calibri" pitchFamily="34" charset="-122"/>
                          <a:cs typeface="Calibri" pitchFamily="34" charset="-120"/>
                        </a:rPr>
                        <a:t>Difference (environment effect)</a:t>
                      </a:r>
                      <a:endParaRPr lang="en-US" sz="12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A2E4A"/>
                          </a:solidFill>
                          <a:latin typeface="Calibri" pitchFamily="34" charset="0"/>
                          <a:ea typeface="Calibri" pitchFamily="34" charset="-122"/>
                          <a:cs typeface="Calibri" pitchFamily="34" charset="-120"/>
                        </a:rPr>
                        <a:t>+0.27</a:t>
                      </a:r>
                      <a:endParaRPr lang="en-US" sz="12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A2E4A"/>
                          </a:solidFill>
                          <a:latin typeface="Calibri" pitchFamily="34" charset="0"/>
                          <a:ea typeface="Calibri" pitchFamily="34" charset="-122"/>
                          <a:cs typeface="Calibri" pitchFamily="34" charset="-120"/>
                        </a:rPr>
                        <a:t>+0.26</a:t>
                      </a:r>
                      <a:endParaRPr lang="en-US" sz="12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endParaRPr lang="en-US" sz="12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bl>
          </a:graphicData>
        </a:graphic>
      </p:graphicFrame>
      <p:sp>
        <p:nvSpPr>
          <p:cNvPr id="7" name="Shape 4"/>
          <p:cNvSpPr/>
          <p:nvPr/>
        </p:nvSpPr>
        <p:spPr>
          <a:xfrm>
            <a:off x="502920" y="3520440"/>
            <a:ext cx="5486400" cy="137160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8" name="Text 5"/>
          <p:cNvSpPr/>
          <p:nvPr/>
        </p:nvSpPr>
        <p:spPr>
          <a:xfrm>
            <a:off x="758952" y="3703320"/>
            <a:ext cx="4974336" cy="384048"/>
          </a:xfrm>
          <a:prstGeom prst="rect">
            <a:avLst/>
          </a:prstGeom>
          <a:noFill/>
          <a:ln/>
        </p:spPr>
        <p:txBody>
          <a:bodyPr wrap="square" lIns="0" tIns="0" rIns="0" bIns="0" rtlCol="0" anchor="ctr"/>
          <a:lstStyle/>
          <a:p>
            <a:pPr indent="0" marL="0">
              <a:buNone/>
            </a:pPr>
            <a:r>
              <a:rPr lang="en-US" sz="1550" b="1" dirty="0">
                <a:solidFill>
                  <a:srgbClr val="1A2E4A"/>
                </a:solidFill>
                <a:latin typeface="Cambria" pitchFamily="34" charset="0"/>
                <a:ea typeface="Cambria" pitchFamily="34" charset="-122"/>
                <a:cs typeface="Cambria" pitchFamily="34" charset="-120"/>
              </a:rPr>
              <a:t>1. WHAT IS THE RELATIONSHIP?</a:t>
            </a:r>
            <a:endParaRPr lang="en-US" sz="1550" dirty="0"/>
          </a:p>
        </p:txBody>
      </p:sp>
      <p:sp>
        <p:nvSpPr>
          <p:cNvPr id="9" name="Text 6"/>
          <p:cNvSpPr/>
          <p:nvPr/>
        </p:nvSpPr>
        <p:spPr>
          <a:xfrm>
            <a:off x="758952" y="4105656"/>
            <a:ext cx="4974336" cy="54864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POSITIVE. Within each environment, moving from low to high study time raises GPA by roughly 0.20 points. Study hours are a productive input: L ↑ → Q ↑. Note also that the environment effect (+0.27) is LARGER than the study-time effect (+0.20) — inputs are not equally productive.</a:t>
            </a:r>
            <a:endParaRPr lang="en-US" sz="850" dirty="0"/>
          </a:p>
        </p:txBody>
      </p:sp>
      <p:sp>
        <p:nvSpPr>
          <p:cNvPr id="10" name="Shape 7"/>
          <p:cNvSpPr/>
          <p:nvPr/>
        </p:nvSpPr>
        <p:spPr>
          <a:xfrm>
            <a:off x="6199632" y="3520440"/>
            <a:ext cx="5486400" cy="137160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1" name="Text 8"/>
          <p:cNvSpPr/>
          <p:nvPr/>
        </p:nvSpPr>
        <p:spPr>
          <a:xfrm>
            <a:off x="6455664" y="3703320"/>
            <a:ext cx="4974336" cy="384048"/>
          </a:xfrm>
          <a:prstGeom prst="rect">
            <a:avLst/>
          </a:prstGeom>
          <a:noFill/>
          <a:ln/>
        </p:spPr>
        <p:txBody>
          <a:bodyPr wrap="square" lIns="0" tIns="0" rIns="0" bIns="0" rtlCol="0" anchor="ctr"/>
          <a:lstStyle/>
          <a:p>
            <a:pPr indent="0" marL="0">
              <a:buNone/>
            </a:pPr>
            <a:r>
              <a:rPr lang="en-US" sz="1550" b="1" dirty="0">
                <a:solidFill>
                  <a:srgbClr val="C0892E"/>
                </a:solidFill>
                <a:latin typeface="Cambria" pitchFamily="34" charset="0"/>
                <a:ea typeface="Cambria" pitchFamily="34" charset="-122"/>
                <a:cs typeface="Cambria" pitchFamily="34" charset="-120"/>
              </a:rPr>
              <a:t>2. WHAT IS HELD CONSTANT?</a:t>
            </a:r>
            <a:endParaRPr lang="en-US" sz="1550" dirty="0"/>
          </a:p>
        </p:txBody>
      </p:sp>
      <p:sp>
        <p:nvSpPr>
          <p:cNvPr id="12" name="Text 9"/>
          <p:cNvSpPr/>
          <p:nvPr/>
        </p:nvSpPr>
        <p:spPr>
          <a:xfrm>
            <a:off x="6455664" y="4105656"/>
            <a:ext cx="4974336" cy="548640"/>
          </a:xfrm>
          <a:prstGeom prst="rect">
            <a:avLst/>
          </a:prstGeom>
          <a:noFill/>
          <a:ln/>
        </p:spPr>
        <p:txBody>
          <a:bodyPr wrap="square" lIns="0" tIns="0" rIns="0" bIns="0" rtlCol="0" anchor="t"/>
          <a:lstStyle/>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Within each ROW, the study environment is held constant (ceteris paribus) while study time varies. What is NOT held constant across the table is the environment itself — which is precisely why we must read the table by row before comparing across rows.</a:t>
            </a:r>
            <a:endParaRPr lang="en-US" sz="900" dirty="0"/>
          </a:p>
        </p:txBody>
      </p:sp>
      <p:sp>
        <p:nvSpPr>
          <p:cNvPr id="13" name="Shape 10"/>
          <p:cNvSpPr/>
          <p:nvPr/>
        </p:nvSpPr>
        <p:spPr>
          <a:xfrm>
            <a:off x="502920" y="5029200"/>
            <a:ext cx="11183112" cy="1051560"/>
          </a:xfrm>
          <a:prstGeom prst="rect">
            <a:avLst/>
          </a:prstGeom>
          <a:solidFill>
            <a:srgbClr val="1A2E4A"/>
          </a:solidFill>
          <a:ln/>
        </p:spPr>
      </p:sp>
      <p:sp>
        <p:nvSpPr>
          <p:cNvPr id="14" name="Text 11"/>
          <p:cNvSpPr/>
          <p:nvPr/>
        </p:nvSpPr>
        <p:spPr>
          <a:xfrm>
            <a:off x="758952" y="515721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WHY THIS IS A PRODUCTION FUNCTION</a:t>
            </a:r>
            <a:endParaRPr lang="en-US" sz="1050" dirty="0"/>
          </a:p>
        </p:txBody>
      </p:sp>
      <p:sp>
        <p:nvSpPr>
          <p:cNvPr id="15" name="Text 12"/>
          <p:cNvSpPr/>
          <p:nvPr/>
        </p:nvSpPr>
        <p:spPr>
          <a:xfrm>
            <a:off x="758952" y="5431536"/>
            <a:ext cx="10671048" cy="484632"/>
          </a:xfrm>
          <a:prstGeom prst="rect">
            <a:avLst/>
          </a:prstGeom>
          <a:noFill/>
          <a:ln/>
        </p:spPr>
        <p:txBody>
          <a:bodyPr wrap="square" lIns="0" tIns="0" rIns="0" bIns="0" rtlCol="0" anchor="t"/>
          <a:lstStyle/>
          <a:p>
            <a:pPr indent="0" marL="0">
              <a:lnSpc>
                <a:spcPts val="1500"/>
              </a:lnSpc>
              <a:buNone/>
            </a:pPr>
            <a:r>
              <a:rPr lang="en-US" sz="1050" dirty="0">
                <a:solidFill>
                  <a:srgbClr val="FFFFFF"/>
                </a:solidFill>
                <a:latin typeface="Calibri" pitchFamily="34" charset="0"/>
                <a:ea typeface="Calibri" pitchFamily="34" charset="-122"/>
                <a:cs typeface="Calibri" pitchFamily="34" charset="-120"/>
              </a:rPr>
              <a:t>GPA is the output Q. Study hours are the variable input L. The study environment is the fixed capital K̄ — the quality of the desk, the quiet, the internet, the absence of a second job. Two students with identical effort produce different output because they hold different K̄. Hold that thought until Modules 6 and 8.</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1 · FORMAL DEFINITIONS</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Utility, Total Utility &amp; Marginal Utility</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2: CONSTRAINED CHOICE OVER TIME</a:t>
            </a:r>
            <a:endParaRPr lang="en-US" sz="900" dirty="0"/>
          </a:p>
        </p:txBody>
      </p:sp>
      <p:sp>
        <p:nvSpPr>
          <p:cNvPr id="6" name="Shape 4"/>
          <p:cNvSpPr/>
          <p:nvPr/>
        </p:nvSpPr>
        <p:spPr>
          <a:xfrm>
            <a:off x="502920" y="1444752"/>
            <a:ext cx="3611880" cy="196596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7" name="Text 5"/>
          <p:cNvSpPr/>
          <p:nvPr/>
        </p:nvSpPr>
        <p:spPr>
          <a:xfrm>
            <a:off x="758952" y="1627632"/>
            <a:ext cx="3099816" cy="384048"/>
          </a:xfrm>
          <a:prstGeom prst="rect">
            <a:avLst/>
          </a:prstGeom>
          <a:noFill/>
          <a:ln/>
        </p:spPr>
        <p:txBody>
          <a:bodyPr wrap="square" lIns="0" tIns="0" rIns="0" bIns="0" rtlCol="0" anchor="ctr"/>
          <a:lstStyle/>
          <a:p>
            <a:pPr indent="0" marL="0">
              <a:buNone/>
            </a:pPr>
            <a:r>
              <a:rPr lang="en-US" sz="1550" b="1" dirty="0">
                <a:solidFill>
                  <a:srgbClr val="1A2E4A"/>
                </a:solidFill>
                <a:latin typeface="Cambria" pitchFamily="34" charset="0"/>
                <a:ea typeface="Cambria" pitchFamily="34" charset="-122"/>
                <a:cs typeface="Cambria" pitchFamily="34" charset="-120"/>
              </a:rPr>
              <a:t>UTILITY</a:t>
            </a:r>
            <a:endParaRPr lang="en-US" sz="1550" dirty="0"/>
          </a:p>
        </p:txBody>
      </p:sp>
      <p:sp>
        <p:nvSpPr>
          <p:cNvPr id="8" name="Text 6"/>
          <p:cNvSpPr/>
          <p:nvPr/>
        </p:nvSpPr>
        <p:spPr>
          <a:xfrm>
            <a:off x="758952" y="2029968"/>
            <a:ext cx="3099816" cy="1143000"/>
          </a:xfrm>
          <a:prstGeom prst="rect">
            <a:avLst/>
          </a:prstGeom>
          <a:noFill/>
          <a:ln/>
        </p:spPr>
        <p:txBody>
          <a:bodyPr wrap="square" lIns="0" tIns="0" rIns="0" bIns="0" rtlCol="0" anchor="t"/>
          <a:lstStyle/>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A THEORETICAL INDEX used to represent and rank preferences across bundles of goods.</a:t>
            </a:r>
            <a:endParaRPr lang="en-US" sz="900" dirty="0"/>
          </a:p>
          <a:p>
            <a:pPr indent="0" marL="0">
              <a:lnSpc>
                <a:spcPts val="1300"/>
              </a:lnSpc>
              <a:buNone/>
            </a:pPr>
            <a:endParaRPr lang="en-US" sz="900" dirty="0"/>
          </a:p>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It provides an ORDERING, not a measurable quantity like dollars or degrees. It does NOT directly measure happiness or satisfaction — a point worth remembering when we get to welfare economics in Module 5.</a:t>
            </a:r>
            <a:endParaRPr lang="en-US" sz="900" dirty="0"/>
          </a:p>
        </p:txBody>
      </p:sp>
      <p:sp>
        <p:nvSpPr>
          <p:cNvPr id="9" name="Shape 7"/>
          <p:cNvSpPr/>
          <p:nvPr/>
        </p:nvSpPr>
        <p:spPr>
          <a:xfrm>
            <a:off x="4315968" y="1444752"/>
            <a:ext cx="3611880" cy="196596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0" name="Text 8"/>
          <p:cNvSpPr/>
          <p:nvPr/>
        </p:nvSpPr>
        <p:spPr>
          <a:xfrm>
            <a:off x="4572000" y="1627632"/>
            <a:ext cx="3099816" cy="384048"/>
          </a:xfrm>
          <a:prstGeom prst="rect">
            <a:avLst/>
          </a:prstGeom>
          <a:noFill/>
          <a:ln/>
        </p:spPr>
        <p:txBody>
          <a:bodyPr wrap="square" lIns="0" tIns="0" rIns="0" bIns="0" rtlCol="0" anchor="ctr"/>
          <a:lstStyle/>
          <a:p>
            <a:pPr indent="0" marL="0">
              <a:buNone/>
            </a:pPr>
            <a:r>
              <a:rPr lang="en-US" sz="1550" b="1" dirty="0">
                <a:solidFill>
                  <a:srgbClr val="C0892E"/>
                </a:solidFill>
                <a:latin typeface="Cambria" pitchFamily="34" charset="0"/>
                <a:ea typeface="Cambria" pitchFamily="34" charset="-122"/>
                <a:cs typeface="Cambria" pitchFamily="34" charset="-120"/>
              </a:rPr>
              <a:t>TOTAL UTILITY (TU)</a:t>
            </a:r>
            <a:endParaRPr lang="en-US" sz="1550" dirty="0"/>
          </a:p>
        </p:txBody>
      </p:sp>
      <p:sp>
        <p:nvSpPr>
          <p:cNvPr id="11" name="Text 9"/>
          <p:cNvSpPr/>
          <p:nvPr/>
        </p:nvSpPr>
        <p:spPr>
          <a:xfrm>
            <a:off x="4572000" y="2029968"/>
            <a:ext cx="3099816" cy="1143000"/>
          </a:xfrm>
          <a:prstGeom prst="rect">
            <a:avLst/>
          </a:prstGeom>
          <a:noFill/>
          <a:ln/>
        </p:spPr>
        <p:txBody>
          <a:bodyPr wrap="square" lIns="0" tIns="0" rIns="0" bIns="0" rtlCol="0" anchor="t"/>
          <a:lstStyle/>
          <a:p>
            <a:pPr indent="0" marL="0">
              <a:lnSpc>
                <a:spcPts val="1500"/>
              </a:lnSpc>
              <a:buNone/>
            </a:pPr>
            <a:r>
              <a:rPr lang="en-US" sz="1050" dirty="0">
                <a:solidFill>
                  <a:srgbClr val="4A6180"/>
                </a:solidFill>
                <a:latin typeface="Calibri" pitchFamily="34" charset="0"/>
                <a:ea typeface="Calibri" pitchFamily="34" charset="-122"/>
                <a:cs typeface="Calibri" pitchFamily="34" charset="-120"/>
              </a:rPr>
              <a:t>The total satisfaction — total index value — derived from consuming a given quantity of a good, or from a given bundle of goods.</a:t>
            </a:r>
            <a:endParaRPr lang="en-US" sz="1050" dirty="0"/>
          </a:p>
          <a:p>
            <a:pPr indent="0" marL="0">
              <a:lnSpc>
                <a:spcPts val="1500"/>
              </a:lnSpc>
              <a:buNone/>
            </a:pPr>
            <a:endParaRPr lang="en-US" sz="1050" dirty="0"/>
          </a:p>
          <a:p>
            <a:pPr indent="0" marL="0">
              <a:lnSpc>
                <a:spcPts val="1500"/>
              </a:lnSpc>
              <a:buNone/>
            </a:pPr>
            <a:r>
              <a:rPr lang="en-US" sz="1050" dirty="0">
                <a:solidFill>
                  <a:srgbClr val="4A6180"/>
                </a:solidFill>
                <a:latin typeface="Calibri" pitchFamily="34" charset="0"/>
                <a:ea typeface="Calibri" pitchFamily="34" charset="-122"/>
                <a:cs typeface="Calibri" pitchFamily="34" charset="-120"/>
              </a:rPr>
              <a:t>TU rises as consumption rises, but at a decreasing rate.</a:t>
            </a:r>
            <a:endParaRPr lang="en-US" sz="1050" dirty="0"/>
          </a:p>
        </p:txBody>
      </p:sp>
      <p:sp>
        <p:nvSpPr>
          <p:cNvPr id="12" name="Shape 10"/>
          <p:cNvSpPr/>
          <p:nvPr/>
        </p:nvSpPr>
        <p:spPr>
          <a:xfrm>
            <a:off x="8119872" y="1444752"/>
            <a:ext cx="3566160" cy="196596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3" name="Text 11"/>
          <p:cNvSpPr/>
          <p:nvPr/>
        </p:nvSpPr>
        <p:spPr>
          <a:xfrm>
            <a:off x="8375904" y="1627632"/>
            <a:ext cx="3054096" cy="384048"/>
          </a:xfrm>
          <a:prstGeom prst="rect">
            <a:avLst/>
          </a:prstGeom>
          <a:noFill/>
          <a:ln/>
        </p:spPr>
        <p:txBody>
          <a:bodyPr wrap="square" lIns="0" tIns="0" rIns="0" bIns="0" rtlCol="0" anchor="ctr"/>
          <a:lstStyle/>
          <a:p>
            <a:pPr indent="0" marL="0">
              <a:buNone/>
            </a:pPr>
            <a:r>
              <a:rPr lang="en-US" sz="1550" b="1" dirty="0">
                <a:solidFill>
                  <a:srgbClr val="2A7F84"/>
                </a:solidFill>
                <a:latin typeface="Cambria" pitchFamily="34" charset="0"/>
                <a:ea typeface="Cambria" pitchFamily="34" charset="-122"/>
                <a:cs typeface="Cambria" pitchFamily="34" charset="-120"/>
              </a:rPr>
              <a:t>MARGINAL UTILITY (MU)</a:t>
            </a:r>
            <a:endParaRPr lang="en-US" sz="1550" dirty="0"/>
          </a:p>
        </p:txBody>
      </p:sp>
      <p:sp>
        <p:nvSpPr>
          <p:cNvPr id="14" name="Text 12"/>
          <p:cNvSpPr/>
          <p:nvPr/>
        </p:nvSpPr>
        <p:spPr>
          <a:xfrm>
            <a:off x="8375904" y="2029968"/>
            <a:ext cx="3054096" cy="1143000"/>
          </a:xfrm>
          <a:prstGeom prst="rect">
            <a:avLst/>
          </a:prstGeom>
          <a:noFill/>
          <a:ln/>
        </p:spPr>
        <p:txBody>
          <a:bodyPr wrap="square" lIns="0" tIns="0" rIns="0" bIns="0" rtlCol="0" anchor="t"/>
          <a:lstStyle/>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MU = ΔTU / ΔQ</a:t>
            </a:r>
            <a:endParaRPr lang="en-US" sz="900" dirty="0"/>
          </a:p>
          <a:p>
            <a:pPr indent="0" marL="0">
              <a:lnSpc>
                <a:spcPts val="1300"/>
              </a:lnSpc>
              <a:buNone/>
            </a:pPr>
            <a:endParaRPr lang="en-US" sz="900" dirty="0"/>
          </a:p>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The change in total utility from a SINGLE additional unit of a good consumed.</a:t>
            </a:r>
            <a:endParaRPr lang="en-US" sz="900" dirty="0"/>
          </a:p>
          <a:p>
            <a:pPr indent="0" marL="0">
              <a:lnSpc>
                <a:spcPts val="1300"/>
              </a:lnSpc>
              <a:buNone/>
            </a:pPr>
            <a:endParaRPr lang="en-US" sz="900" dirty="0"/>
          </a:p>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MU is the slope of the total utility curve — the derivative, if you have calculus.</a:t>
            </a:r>
            <a:endParaRPr lang="en-US" sz="900" dirty="0"/>
          </a:p>
        </p:txBody>
      </p:sp>
      <p:pic>
        <p:nvPicPr>
          <p:cNvPr id="15" name="Image 0" descr="figs/m2_dmu.png">    </p:cNvPr>
          <p:cNvPicPr>
            <a:picLocks noChangeAspect="1"/>
          </p:cNvPicPr>
          <p:nvPr/>
        </p:nvPicPr>
        <p:blipFill>
          <a:blip r:embed="rId1"/>
          <a:stretch>
            <a:fillRect/>
          </a:stretch>
        </p:blipFill>
        <p:spPr>
          <a:xfrm>
            <a:off x="1293391" y="3566160"/>
            <a:ext cx="6282897" cy="2468880"/>
          </a:xfrm>
          <a:prstGeom prst="rect">
            <a:avLst/>
          </a:prstGeom>
        </p:spPr>
      </p:pic>
      <p:sp>
        <p:nvSpPr>
          <p:cNvPr id="16" name="Shape 13"/>
          <p:cNvSpPr/>
          <p:nvPr/>
        </p:nvSpPr>
        <p:spPr>
          <a:xfrm>
            <a:off x="8595360" y="3566160"/>
            <a:ext cx="3090672" cy="1417320"/>
          </a:xfrm>
          <a:prstGeom prst="rect">
            <a:avLst/>
          </a:prstGeom>
          <a:solidFill>
            <a:srgbClr val="1A2E4A"/>
          </a:solidFill>
          <a:ln/>
        </p:spPr>
      </p:sp>
      <p:sp>
        <p:nvSpPr>
          <p:cNvPr id="17" name="Text 14"/>
          <p:cNvSpPr/>
          <p:nvPr/>
        </p:nvSpPr>
        <p:spPr>
          <a:xfrm>
            <a:off x="8851392" y="3694176"/>
            <a:ext cx="257860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LAW OF DIMINISHING MU</a:t>
            </a:r>
            <a:endParaRPr lang="en-US" sz="1050" dirty="0"/>
          </a:p>
        </p:txBody>
      </p:sp>
      <p:sp>
        <p:nvSpPr>
          <p:cNvPr id="18" name="Text 15"/>
          <p:cNvSpPr/>
          <p:nvPr/>
        </p:nvSpPr>
        <p:spPr>
          <a:xfrm>
            <a:off x="8851392" y="3968496"/>
            <a:ext cx="2578608" cy="850392"/>
          </a:xfrm>
          <a:prstGeom prst="rect">
            <a:avLst/>
          </a:prstGeom>
          <a:noFill/>
          <a:ln/>
        </p:spPr>
        <p:txBody>
          <a:bodyPr wrap="square" lIns="0" tIns="0" rIns="0" bIns="0" rtlCol="0" anchor="t"/>
          <a:lstStyle/>
          <a:p>
            <a:pPr indent="0" marL="0">
              <a:lnSpc>
                <a:spcPts val="1600"/>
              </a:lnSpc>
              <a:buNone/>
            </a:pPr>
            <a:r>
              <a:rPr lang="en-US" sz="1150" dirty="0">
                <a:solidFill>
                  <a:srgbClr val="FFFFFF"/>
                </a:solidFill>
                <a:latin typeface="Calibri" pitchFamily="34" charset="0"/>
                <a:ea typeface="Calibri" pitchFamily="34" charset="-122"/>
                <a:cs typeface="Calibri" pitchFamily="34" charset="-120"/>
              </a:rPr>
              <a:t>As consumption of a good INCREASES (all else constant), the marginal utility of each additional unit DECREASES.</a:t>
            </a:r>
            <a:endParaRPr lang="en-US" sz="1150" dirty="0"/>
          </a:p>
        </p:txBody>
      </p:sp>
      <p:sp>
        <p:nvSpPr>
          <p:cNvPr id="19" name="Shape 16"/>
          <p:cNvSpPr/>
          <p:nvPr/>
        </p:nvSpPr>
        <p:spPr>
          <a:xfrm>
            <a:off x="8595360" y="5120640"/>
            <a:ext cx="3090672" cy="100584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20" name="Text 17"/>
          <p:cNvSpPr/>
          <p:nvPr/>
        </p:nvSpPr>
        <p:spPr>
          <a:xfrm>
            <a:off x="8851392" y="5303520"/>
            <a:ext cx="2578608" cy="384048"/>
          </a:xfrm>
          <a:prstGeom prst="rect">
            <a:avLst/>
          </a:prstGeom>
          <a:noFill/>
          <a:ln/>
        </p:spPr>
        <p:txBody>
          <a:bodyPr wrap="square" lIns="0" tIns="0" rIns="0" bIns="0" rtlCol="0" anchor="ctr"/>
          <a:lstStyle/>
          <a:p>
            <a:pPr indent="0" marL="0">
              <a:buNone/>
            </a:pPr>
            <a:r>
              <a:rPr lang="en-US" sz="1550" b="1" dirty="0">
                <a:solidFill>
                  <a:srgbClr val="9E2A2B"/>
                </a:solidFill>
                <a:latin typeface="Cambria" pitchFamily="34" charset="0"/>
                <a:ea typeface="Cambria" pitchFamily="34" charset="-122"/>
                <a:cs typeface="Cambria" pitchFamily="34" charset="-120"/>
              </a:rPr>
              <a:t>WHEN DOES A CONSUMER STOP?</a:t>
            </a:r>
            <a:endParaRPr lang="en-US" sz="1550" dirty="0"/>
          </a:p>
        </p:txBody>
      </p:sp>
      <p:sp>
        <p:nvSpPr>
          <p:cNvPr id="21" name="Text 18"/>
          <p:cNvSpPr/>
          <p:nvPr/>
        </p:nvSpPr>
        <p:spPr>
          <a:xfrm>
            <a:off x="8851392" y="5705856"/>
            <a:ext cx="2578608" cy="18288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Where MU = 0 — total utility is at its maximum. With a price and a budget, they stop earlier: where MU/P is equalized across goods.</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1 · THE CORE GEOMETRY</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Indifference Curves &amp; the Marginal Rate of Substitution</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2: CONSTRAINED CHOICE OVER TIME</a:t>
            </a:r>
            <a:endParaRPr lang="en-US" sz="900" dirty="0"/>
          </a:p>
        </p:txBody>
      </p:sp>
      <p:sp>
        <p:nvSpPr>
          <p:cNvPr id="6" name="Shape 4"/>
          <p:cNvSpPr/>
          <p:nvPr/>
        </p:nvSpPr>
        <p:spPr>
          <a:xfrm>
            <a:off x="502920" y="1444752"/>
            <a:ext cx="5486400" cy="182880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7" name="Text 5"/>
          <p:cNvSpPr/>
          <p:nvPr/>
        </p:nvSpPr>
        <p:spPr>
          <a:xfrm>
            <a:off x="758952" y="1627632"/>
            <a:ext cx="4974336" cy="384048"/>
          </a:xfrm>
          <a:prstGeom prst="rect">
            <a:avLst/>
          </a:prstGeom>
          <a:noFill/>
          <a:ln/>
        </p:spPr>
        <p:txBody>
          <a:bodyPr wrap="square" lIns="0" tIns="0" rIns="0" bIns="0" rtlCol="0" anchor="ctr"/>
          <a:lstStyle/>
          <a:p>
            <a:pPr indent="0" marL="0">
              <a:buNone/>
            </a:pPr>
            <a:r>
              <a:rPr lang="en-US" sz="1550" b="1" dirty="0">
                <a:solidFill>
                  <a:srgbClr val="1A2E4A"/>
                </a:solidFill>
                <a:latin typeface="Cambria" pitchFamily="34" charset="0"/>
                <a:ea typeface="Cambria" pitchFamily="34" charset="-122"/>
                <a:cs typeface="Cambria" pitchFamily="34" charset="-120"/>
              </a:rPr>
              <a:t>INDIFFERENCE CURVE (IC)</a:t>
            </a:r>
            <a:endParaRPr lang="en-US" sz="1550" dirty="0"/>
          </a:p>
        </p:txBody>
      </p:sp>
      <p:sp>
        <p:nvSpPr>
          <p:cNvPr id="8" name="Text 6"/>
          <p:cNvSpPr/>
          <p:nvPr/>
        </p:nvSpPr>
        <p:spPr>
          <a:xfrm>
            <a:off x="758952" y="2029968"/>
            <a:ext cx="4974336" cy="1005840"/>
          </a:xfrm>
          <a:prstGeom prst="rect">
            <a:avLst/>
          </a:prstGeom>
          <a:noFill/>
          <a:ln/>
        </p:spPr>
        <p:txBody>
          <a:bodyPr wrap="square" lIns="0" tIns="0" rIns="0" bIns="0" rtlCol="0" anchor="t"/>
          <a:lstStyle/>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A graph of ALL bundles of goods that yield the SAME level of utility — the consumer is indifferent among every point on one curve.</a:t>
            </a:r>
            <a:endParaRPr lang="en-US" sz="900" dirty="0"/>
          </a:p>
          <a:p>
            <a:pPr indent="0" marL="0">
              <a:lnSpc>
                <a:spcPts val="1300"/>
              </a:lnSpc>
              <a:buNone/>
            </a:pPr>
            <a:endParaRPr lang="en-US" sz="900" dirty="0"/>
          </a:p>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It shows trade-offs: consume more of Good X and you must give up some Good Y to remain equally satisfied. Each curve is one utility LEVEL; higher curves = higher utility.</a:t>
            </a:r>
            <a:endParaRPr lang="en-US" sz="900" dirty="0"/>
          </a:p>
        </p:txBody>
      </p:sp>
      <p:sp>
        <p:nvSpPr>
          <p:cNvPr id="9" name="Shape 7"/>
          <p:cNvSpPr/>
          <p:nvPr/>
        </p:nvSpPr>
        <p:spPr>
          <a:xfrm>
            <a:off x="6199632" y="1444752"/>
            <a:ext cx="5486400" cy="182880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0" name="Text 8"/>
          <p:cNvSpPr/>
          <p:nvPr/>
        </p:nvSpPr>
        <p:spPr>
          <a:xfrm>
            <a:off x="6455664" y="1627632"/>
            <a:ext cx="4974336" cy="384048"/>
          </a:xfrm>
          <a:prstGeom prst="rect">
            <a:avLst/>
          </a:prstGeom>
          <a:noFill/>
          <a:ln/>
        </p:spPr>
        <p:txBody>
          <a:bodyPr wrap="square" lIns="0" tIns="0" rIns="0" bIns="0" rtlCol="0" anchor="ctr"/>
          <a:lstStyle/>
          <a:p>
            <a:pPr indent="0" marL="0">
              <a:buNone/>
            </a:pPr>
            <a:r>
              <a:rPr lang="en-US" sz="1550" b="1" dirty="0">
                <a:solidFill>
                  <a:srgbClr val="C0892E"/>
                </a:solidFill>
                <a:latin typeface="Cambria" pitchFamily="34" charset="0"/>
                <a:ea typeface="Cambria" pitchFamily="34" charset="-122"/>
                <a:cs typeface="Cambria" pitchFamily="34" charset="-120"/>
              </a:rPr>
              <a:t>MARGINAL RATE OF SUBSTITUTION (MRS)</a:t>
            </a:r>
            <a:endParaRPr lang="en-US" sz="1550" dirty="0"/>
          </a:p>
        </p:txBody>
      </p:sp>
      <p:sp>
        <p:nvSpPr>
          <p:cNvPr id="11" name="Text 9"/>
          <p:cNvSpPr/>
          <p:nvPr/>
        </p:nvSpPr>
        <p:spPr>
          <a:xfrm>
            <a:off x="6455664" y="2029968"/>
            <a:ext cx="4974336" cy="1005840"/>
          </a:xfrm>
          <a:prstGeom prst="rect">
            <a:avLst/>
          </a:prstGeom>
          <a:noFill/>
          <a:ln/>
        </p:spPr>
        <p:txBody>
          <a:bodyPr wrap="square" lIns="0" tIns="0" rIns="0" bIns="0" rtlCol="0" anchor="t"/>
          <a:lstStyle/>
          <a:p>
            <a:pPr indent="0" marL="0">
              <a:lnSpc>
                <a:spcPts val="1400"/>
              </a:lnSpc>
              <a:buNone/>
            </a:pPr>
            <a:r>
              <a:rPr lang="en-US" sz="1000" dirty="0">
                <a:solidFill>
                  <a:srgbClr val="4A6180"/>
                </a:solidFill>
                <a:latin typeface="Calibri" pitchFamily="34" charset="0"/>
                <a:ea typeface="Calibri" pitchFamily="34" charset="-122"/>
                <a:cs typeface="Calibri" pitchFamily="34" charset="-120"/>
              </a:rPr>
              <a:t>MRS = −ΔY/ΔX = MUx / MUy — the rate at which a consumer is WILLING to trade Y for X while remaining indifferent. It is the slope of the indifference curve.</a:t>
            </a:r>
            <a:endParaRPr lang="en-US" sz="1000" dirty="0"/>
          </a:p>
          <a:p>
            <a:pPr indent="0" marL="0">
              <a:lnSpc>
                <a:spcPts val="1400"/>
              </a:lnSpc>
              <a:buNone/>
            </a:pPr>
            <a:endParaRPr lang="en-US" sz="1000" dirty="0"/>
          </a:p>
          <a:p>
            <a:pPr indent="0" marL="0">
              <a:lnSpc>
                <a:spcPts val="1400"/>
              </a:lnSpc>
              <a:buNone/>
            </a:pPr>
            <a:r>
              <a:rPr lang="en-US" sz="1000" dirty="0">
                <a:solidFill>
                  <a:srgbClr val="4A6180"/>
                </a:solidFill>
                <a:latin typeface="Calibri" pitchFamily="34" charset="0"/>
                <a:ea typeface="Calibri" pitchFamily="34" charset="-122"/>
                <a:cs typeface="Calibri" pitchFamily="34" charset="-120"/>
              </a:rPr>
              <a:t>DIMINISHING MRS: as consumption of X rises, the consumer is willing to give up LESS Y per additional X. This is what makes the IC convex to the origin.</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3401568"/>
          <a:ext cx="11183112" cy="914400"/>
        </p:xfrm>
        <a:graphic>
          <a:graphicData uri="http://schemas.openxmlformats.org/drawingml/2006/table">
            <a:tbl>
              <a:tblPr/>
              <a:tblGrid>
                <a:gridCol w="5029200"/>
                <a:gridCol w="6153912"/>
              </a:tblGrid>
              <a:tr h="402336">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THE FOUR STANDARD PROPERTIES OF INDIFFERENCE CURVES</a:t>
                      </a:r>
                      <a:endParaRPr lang="en-US" sz="11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WHY</a:t>
                      </a:r>
                      <a:endParaRPr lang="en-US" sz="11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402336">
                <a:tc>
                  <a:txBody>
                    <a:bodyPr/>
                    <a:lstStyle/>
                    <a:p>
                      <a:pPr algn="l" indent="0" marL="0">
                        <a:buNone/>
                      </a:pPr>
                      <a:r>
                        <a:rPr lang="en-US" sz="1200" dirty="0">
                          <a:solidFill>
                            <a:srgbClr val="1A2E4A"/>
                          </a:solidFill>
                          <a:latin typeface="Calibri" pitchFamily="34" charset="0"/>
                          <a:ea typeface="Calibri" pitchFamily="34" charset="-122"/>
                          <a:cs typeface="Calibri" pitchFamily="34" charset="-120"/>
                        </a:rPr>
                        <a:t>Higher curves are preferred to lower curves</a:t>
                      </a:r>
                      <a:endParaRPr lang="en-US" sz="12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2E4A"/>
                          </a:solidFill>
                          <a:latin typeface="Calibri" pitchFamily="34" charset="0"/>
                          <a:ea typeface="Calibri" pitchFamily="34" charset="-122"/>
                          <a:cs typeface="Calibri" pitchFamily="34" charset="-120"/>
                        </a:rPr>
                        <a:t>More is better (monotonicity).</a:t>
                      </a:r>
                      <a:endParaRPr lang="en-US" sz="12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402336">
                <a:tc>
                  <a:txBody>
                    <a:bodyPr/>
                    <a:lstStyle/>
                    <a:p>
                      <a:pPr algn="l" indent="0" marL="0">
                        <a:buNone/>
                      </a:pPr>
                      <a:r>
                        <a:rPr lang="en-US" sz="1200" dirty="0">
                          <a:solidFill>
                            <a:srgbClr val="1A2E4A"/>
                          </a:solidFill>
                          <a:latin typeface="Calibri" pitchFamily="34" charset="0"/>
                          <a:ea typeface="Calibri" pitchFamily="34" charset="-122"/>
                          <a:cs typeface="Calibri" pitchFamily="34" charset="-120"/>
                        </a:rPr>
                        <a:t>Indifference curves are downward-sloping</a:t>
                      </a:r>
                      <a:endParaRPr lang="en-US" sz="12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200" dirty="0">
                          <a:solidFill>
                            <a:srgbClr val="1A2E4A"/>
                          </a:solidFill>
                          <a:latin typeface="Calibri" pitchFamily="34" charset="0"/>
                          <a:ea typeface="Calibri" pitchFamily="34" charset="-122"/>
                          <a:cs typeface="Calibri" pitchFamily="34" charset="-120"/>
                        </a:rPr>
                        <a:t>To stay equally satisfied with more X, you must have less Y.</a:t>
                      </a:r>
                      <a:endParaRPr lang="en-US" sz="12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402336">
                <a:tc>
                  <a:txBody>
                    <a:bodyPr/>
                    <a:lstStyle/>
                    <a:p>
                      <a:pPr algn="l" indent="0" marL="0">
                        <a:buNone/>
                      </a:pPr>
                      <a:r>
                        <a:rPr lang="en-US" sz="1200" dirty="0">
                          <a:solidFill>
                            <a:srgbClr val="1A2E4A"/>
                          </a:solidFill>
                          <a:latin typeface="Calibri" pitchFamily="34" charset="0"/>
                          <a:ea typeface="Calibri" pitchFamily="34" charset="-122"/>
                          <a:cs typeface="Calibri" pitchFamily="34" charset="-120"/>
                        </a:rPr>
                        <a:t>Indifference curves never cross</a:t>
                      </a:r>
                      <a:endParaRPr lang="en-US" sz="12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2E4A"/>
                          </a:solidFill>
                          <a:latin typeface="Calibri" pitchFamily="34" charset="0"/>
                          <a:ea typeface="Calibri" pitchFamily="34" charset="-122"/>
                          <a:cs typeface="Calibri" pitchFamily="34" charset="-120"/>
                        </a:rPr>
                        <a:t>Crossing would violate transitivity of preferences.</a:t>
                      </a:r>
                      <a:endParaRPr lang="en-US" sz="12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402336">
                <a:tc>
                  <a:txBody>
                    <a:bodyPr/>
                    <a:lstStyle/>
                    <a:p>
                      <a:pPr algn="l" indent="0" marL="0">
                        <a:buNone/>
                      </a:pPr>
                      <a:r>
                        <a:rPr lang="en-US" sz="1200" dirty="0">
                          <a:solidFill>
                            <a:srgbClr val="1A2E4A"/>
                          </a:solidFill>
                          <a:latin typeface="Calibri" pitchFamily="34" charset="0"/>
                          <a:ea typeface="Calibri" pitchFamily="34" charset="-122"/>
                          <a:cs typeface="Calibri" pitchFamily="34" charset="-120"/>
                        </a:rPr>
                        <a:t>Indifference curves are bowed inward (convex)</a:t>
                      </a:r>
                      <a:endParaRPr lang="en-US" sz="12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200" dirty="0">
                          <a:solidFill>
                            <a:srgbClr val="1A2E4A"/>
                          </a:solidFill>
                          <a:latin typeface="Calibri" pitchFamily="34" charset="0"/>
                          <a:ea typeface="Calibri" pitchFamily="34" charset="-122"/>
                          <a:cs typeface="Calibri" pitchFamily="34" charset="-120"/>
                        </a:rPr>
                        <a:t>Diminishing MRS — people prefer balanced bundles to extreme ones.</a:t>
                      </a:r>
                      <a:endParaRPr lang="en-US" sz="12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bl>
          </a:graphicData>
        </a:graphic>
      </p:graphicFrame>
      <p:sp>
        <p:nvSpPr>
          <p:cNvPr id="13" name="Shape 10"/>
          <p:cNvSpPr/>
          <p:nvPr/>
        </p:nvSpPr>
        <p:spPr>
          <a:xfrm>
            <a:off x="502920" y="5413248"/>
            <a:ext cx="11183112" cy="731520"/>
          </a:xfrm>
          <a:prstGeom prst="rect">
            <a:avLst/>
          </a:prstGeom>
          <a:solidFill>
            <a:srgbClr val="1A2E4A"/>
          </a:solidFill>
          <a:ln/>
        </p:spPr>
      </p:sp>
      <p:sp>
        <p:nvSpPr>
          <p:cNvPr id="14" name="Text 11"/>
          <p:cNvSpPr/>
          <p:nvPr/>
        </p:nvSpPr>
        <p:spPr>
          <a:xfrm>
            <a:off x="758952" y="5541264"/>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TWO DIFFERENT SLOPES, TWO DIFFERENT MATHEMATICS</a:t>
            </a:r>
            <a:endParaRPr lang="en-US" sz="1050" dirty="0"/>
          </a:p>
        </p:txBody>
      </p:sp>
      <p:sp>
        <p:nvSpPr>
          <p:cNvPr id="15" name="Text 12"/>
          <p:cNvSpPr/>
          <p:nvPr/>
        </p:nvSpPr>
        <p:spPr>
          <a:xfrm>
            <a:off x="758952" y="5815584"/>
            <a:ext cx="10671048" cy="164592"/>
          </a:xfrm>
          <a:prstGeom prst="rect">
            <a:avLst/>
          </a:prstGeom>
          <a:noFill/>
          <a:ln/>
        </p:spPr>
        <p:txBody>
          <a:bodyPr wrap="square" lIns="0" tIns="0" rIns="0" bIns="0" rtlCol="0" anchor="t"/>
          <a:lstStyle/>
          <a:p>
            <a:pPr indent="0" marL="0">
              <a:lnSpc>
                <a:spcPts val="1400"/>
              </a:lnSpc>
              <a:buNone/>
            </a:pPr>
            <a:r>
              <a:rPr lang="en-US" sz="1000" dirty="0">
                <a:solidFill>
                  <a:srgbClr val="FFFFFF"/>
                </a:solidFill>
                <a:latin typeface="Calibri" pitchFamily="34" charset="0"/>
                <a:ea typeface="Calibri" pitchFamily="34" charset="-122"/>
                <a:cs typeface="Calibri" pitchFamily="34" charset="-120"/>
              </a:rPr>
              <a:t>The BUDGET line is LINEAR — its slope is constant along the line, so algebra suffices. PREFERENCE is NONLINEAR — its slope changes along the entire curve, so the honest tool is the derivative. Optimization sets the two slopes equal.</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SCENARIO · MESOPOTAMIA, C. 2000 BCE</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The Optimal Bundle — Where Two Slopes Meet</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2: CONSTRAINED CHOICE OVER TIME</a:t>
            </a:r>
            <a:endParaRPr lang="en-US" sz="900" dirty="0"/>
          </a:p>
        </p:txBody>
      </p:sp>
      <p:sp>
        <p:nvSpPr>
          <p:cNvPr id="6" name="Text 4"/>
          <p:cNvSpPr/>
          <p:nvPr/>
        </p:nvSpPr>
        <p:spPr>
          <a:xfrm>
            <a:off x="502920" y="1417320"/>
            <a:ext cx="5394960" cy="548640"/>
          </a:xfrm>
          <a:prstGeom prst="rect">
            <a:avLst/>
          </a:prstGeom>
          <a:noFill/>
          <a:ln/>
        </p:spPr>
        <p:txBody>
          <a:bodyPr wrap="square" lIns="0" tIns="0" rIns="0" bIns="0" rtlCol="0" anchor="ctr"/>
          <a:lstStyle/>
          <a:p>
            <a:pPr indent="0" marL="0">
              <a:lnSpc>
                <a:spcPts val="1850"/>
              </a:lnSpc>
              <a:buNone/>
            </a:pPr>
            <a:r>
              <a:rPr lang="en-US" sz="1250" dirty="0">
                <a:solidFill>
                  <a:srgbClr val="4A6180"/>
                </a:solidFill>
                <a:latin typeface="Calibri" pitchFamily="34" charset="0"/>
                <a:ea typeface="Calibri" pitchFamily="34" charset="-122"/>
                <a:cs typeface="Calibri" pitchFamily="34" charset="-120"/>
              </a:rPr>
              <a:t>A farmer allocates 30 shekels between barley (B, price = 2 shekels) and wool (W, price = 3 shekels). Identify where he maximizes utility subject to his budget.</a:t>
            </a:r>
            <a:endParaRPr lang="en-US" sz="12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02920" y="2084832"/>
          <a:ext cx="5394960" cy="914400"/>
        </p:xfrm>
        <a:graphic>
          <a:graphicData uri="http://schemas.openxmlformats.org/drawingml/2006/table">
            <a:tbl>
              <a:tblPr/>
              <a:tblGrid>
                <a:gridCol w="914400"/>
                <a:gridCol w="868680"/>
                <a:gridCol w="822960"/>
                <a:gridCol w="1417320"/>
                <a:gridCol w="1371600"/>
              </a:tblGrid>
              <a:tr h="292608">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BARLEY</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WOOL</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TU</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COST CHECK</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ON BUDGET?</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292608">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10</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80</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0 + 30 = 30</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292608">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8</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110</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6 + 24 = 30</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292608">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7.5</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≈120</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15 + 15 = 30</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Yes — OPTIMAL</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292608">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10</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120</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20 + 9 = 29</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Nearly — 1 unspent</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292608">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15</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90</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30 + 0 = 30</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bl>
          </a:graphicData>
        </a:graphic>
      </p:graphicFrame>
      <p:sp>
        <p:nvSpPr>
          <p:cNvPr id="8" name="Shape 5"/>
          <p:cNvSpPr/>
          <p:nvPr/>
        </p:nvSpPr>
        <p:spPr>
          <a:xfrm>
            <a:off x="502920" y="3977640"/>
            <a:ext cx="5394960" cy="1188720"/>
          </a:xfrm>
          <a:prstGeom prst="rect">
            <a:avLst/>
          </a:prstGeom>
          <a:solidFill>
            <a:srgbClr val="1A2E4A"/>
          </a:solidFill>
          <a:ln/>
        </p:spPr>
      </p:sp>
      <p:sp>
        <p:nvSpPr>
          <p:cNvPr id="9" name="Text 6"/>
          <p:cNvSpPr/>
          <p:nvPr/>
        </p:nvSpPr>
        <p:spPr>
          <a:xfrm>
            <a:off x="685800" y="4105656"/>
            <a:ext cx="5029200" cy="621792"/>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MU_B / P_B  =  MU_W / P_W</a:t>
            </a:r>
            <a:endParaRPr lang="en-US" sz="2200" dirty="0"/>
          </a:p>
        </p:txBody>
      </p:sp>
      <p:sp>
        <p:nvSpPr>
          <p:cNvPr id="10" name="Text 7"/>
          <p:cNvSpPr/>
          <p:nvPr/>
        </p:nvSpPr>
        <p:spPr>
          <a:xfrm>
            <a:off x="685800" y="4654296"/>
            <a:ext cx="5029200" cy="402336"/>
          </a:xfrm>
          <a:prstGeom prst="rect">
            <a:avLst/>
          </a:prstGeom>
          <a:noFill/>
          <a:ln/>
        </p:spPr>
        <p:txBody>
          <a:bodyPr wrap="square" lIns="0" tIns="0" rIns="0" bIns="0" rtlCol="0" anchor="ctr"/>
          <a:lstStyle/>
          <a:p>
            <a:pPr algn="ctr" indent="0" marL="0">
              <a:buNone/>
            </a:pPr>
            <a:r>
              <a:rPr lang="en-US" sz="1150" i="1" dirty="0">
                <a:solidFill>
                  <a:srgbClr val="E8C87A"/>
                </a:solidFill>
                <a:latin typeface="Calibri" pitchFamily="34" charset="0"/>
                <a:ea typeface="Calibri" pitchFamily="34" charset="-122"/>
                <a:cs typeface="Calibri" pitchFamily="34" charset="-120"/>
              </a:rPr>
              <a:t>OPTIMAL CONSUMPTION RULE — the last shekel spent on barley must</a:t>
            </a:r>
            <a:endParaRPr lang="en-US" sz="1150" dirty="0"/>
          </a:p>
          <a:p>
            <a:pPr algn="ctr" indent="0" marL="0">
              <a:buNone/>
            </a:pPr>
            <a:r>
              <a:rPr lang="en-US" sz="1150" i="1" dirty="0">
                <a:solidFill>
                  <a:srgbClr val="E8C87A"/>
                </a:solidFill>
                <a:latin typeface="Calibri" pitchFamily="34" charset="0"/>
                <a:ea typeface="Calibri" pitchFamily="34" charset="-122"/>
                <a:cs typeface="Calibri" pitchFamily="34" charset="-120"/>
              </a:rPr>
              <a:t>buy the same utility as the last shekel spent on wool.</a:t>
            </a:r>
            <a:endParaRPr lang="en-US" sz="1150" dirty="0"/>
          </a:p>
        </p:txBody>
      </p:sp>
      <p:sp>
        <p:nvSpPr>
          <p:cNvPr id="11" name="Shape 8"/>
          <p:cNvSpPr/>
          <p:nvPr/>
        </p:nvSpPr>
        <p:spPr>
          <a:xfrm>
            <a:off x="502920" y="5303520"/>
            <a:ext cx="5394960" cy="82296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2" name="Text 9"/>
          <p:cNvSpPr/>
          <p:nvPr/>
        </p:nvSpPr>
        <p:spPr>
          <a:xfrm>
            <a:off x="758952" y="5486400"/>
            <a:ext cx="4882896" cy="384048"/>
          </a:xfrm>
          <a:prstGeom prst="rect">
            <a:avLst/>
          </a:prstGeom>
          <a:noFill/>
          <a:ln/>
        </p:spPr>
        <p:txBody>
          <a:bodyPr wrap="square" lIns="0" tIns="0" rIns="0" bIns="0" rtlCol="0" anchor="ctr"/>
          <a:lstStyle/>
          <a:p>
            <a:pPr indent="0" marL="0">
              <a:buNone/>
            </a:pPr>
            <a:r>
              <a:rPr lang="en-US" sz="1550" b="1" dirty="0">
                <a:solidFill>
                  <a:srgbClr val="9E2A2B"/>
                </a:solidFill>
                <a:latin typeface="Cambria" pitchFamily="34" charset="0"/>
                <a:ea typeface="Cambria" pitchFamily="34" charset="-122"/>
                <a:cs typeface="Cambria" pitchFamily="34" charset="-120"/>
              </a:rPr>
              <a:t>WHY THE RULE MUST HOLD</a:t>
            </a:r>
            <a:endParaRPr lang="en-US" sz="1550" dirty="0"/>
          </a:p>
        </p:txBody>
      </p:sp>
      <p:sp>
        <p:nvSpPr>
          <p:cNvPr id="13" name="Text 10"/>
          <p:cNvSpPr/>
          <p:nvPr/>
        </p:nvSpPr>
        <p:spPr>
          <a:xfrm>
            <a:off x="758952" y="5888736"/>
            <a:ext cx="4882896" cy="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If MU_B/P_B &gt; MU_W/P_W, shifting one shekel from wool to barley raises total utility at no cost. Any inequality is an unexploited gain — so at the optimum the ratios must be equal.</a:t>
            </a:r>
            <a:endParaRPr lang="en-US" sz="850" dirty="0"/>
          </a:p>
        </p:txBody>
      </p:sp>
      <p:pic>
        <p:nvPicPr>
          <p:cNvPr id="14" name="Image 0" descr="figs/m2_optimal.png">    </p:cNvPr>
          <p:cNvPicPr>
            <a:picLocks noChangeAspect="1"/>
          </p:cNvPicPr>
          <p:nvPr/>
        </p:nvPicPr>
        <p:blipFill>
          <a:blip r:embed="rId1"/>
          <a:stretch>
            <a:fillRect/>
          </a:stretch>
        </p:blipFill>
        <p:spPr>
          <a:xfrm>
            <a:off x="6126480" y="1842121"/>
            <a:ext cx="5577840" cy="381383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1 · WORKSHEET ✦1</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Why Tangency — and Not Crossing</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2: CONSTRAINED CHOICE OVER TIME</a:t>
            </a:r>
            <a:endParaRPr lang="en-US" sz="900" dirty="0"/>
          </a:p>
        </p:txBody>
      </p:sp>
      <p:sp>
        <p:nvSpPr>
          <p:cNvPr id="6" name="Shape 4"/>
          <p:cNvSpPr/>
          <p:nvPr/>
        </p:nvSpPr>
        <p:spPr>
          <a:xfrm>
            <a:off x="502920" y="1463040"/>
            <a:ext cx="3611880" cy="2377440"/>
          </a:xfrm>
          <a:prstGeom prst="rect">
            <a:avLst/>
          </a:prstGeom>
          <a:solidFill>
            <a:srgbClr val="E8EDF3"/>
          </a:solidFill>
          <a:ln/>
        </p:spPr>
      </p:sp>
      <p:sp>
        <p:nvSpPr>
          <p:cNvPr id="7" name="Shape 5"/>
          <p:cNvSpPr/>
          <p:nvPr/>
        </p:nvSpPr>
        <p:spPr>
          <a:xfrm>
            <a:off x="704088" y="1664208"/>
            <a:ext cx="457200" cy="457200"/>
          </a:xfrm>
          <a:prstGeom prst="ellipse">
            <a:avLst/>
          </a:prstGeom>
          <a:solidFill>
            <a:srgbClr val="1A2E4A"/>
          </a:solidFill>
          <a:ln/>
        </p:spPr>
      </p:sp>
      <p:sp>
        <p:nvSpPr>
          <p:cNvPr id="8" name="Text 6"/>
          <p:cNvSpPr/>
          <p:nvPr/>
        </p:nvSpPr>
        <p:spPr>
          <a:xfrm>
            <a:off x="704088" y="166420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1280160" y="1664208"/>
            <a:ext cx="2606040" cy="457200"/>
          </a:xfrm>
          <a:prstGeom prst="rect">
            <a:avLst/>
          </a:prstGeom>
          <a:noFill/>
          <a:ln/>
        </p:spPr>
        <p:txBody>
          <a:bodyPr wrap="square" lIns="0" tIns="0" rIns="0" bIns="0" rtlCol="0" anchor="ctr"/>
          <a:lstStyle/>
          <a:p>
            <a:pPr indent="0" marL="0">
              <a:buNone/>
            </a:pPr>
            <a:r>
              <a:rPr lang="en-US" sz="1600" b="1" dirty="0">
                <a:solidFill>
                  <a:srgbClr val="1A2E4A"/>
                </a:solidFill>
                <a:latin typeface="Cambria" pitchFamily="34" charset="0"/>
                <a:ea typeface="Cambria" pitchFamily="34" charset="-122"/>
                <a:cs typeface="Cambria" pitchFamily="34" charset="-120"/>
              </a:rPr>
              <a:t>GEOMETRICALLY</a:t>
            </a:r>
            <a:endParaRPr lang="en-US" sz="1600" dirty="0"/>
          </a:p>
        </p:txBody>
      </p:sp>
      <p:sp>
        <p:nvSpPr>
          <p:cNvPr id="10" name="Text 8"/>
          <p:cNvSpPr/>
          <p:nvPr/>
        </p:nvSpPr>
        <p:spPr>
          <a:xfrm>
            <a:off x="722376" y="2212848"/>
            <a:ext cx="3154680" cy="1417320"/>
          </a:xfrm>
          <a:prstGeom prst="rect">
            <a:avLst/>
          </a:prstGeom>
          <a:noFill/>
          <a:ln/>
        </p:spPr>
        <p:txBody>
          <a:bodyPr wrap="square" lIns="0" tIns="0" rIns="0" bIns="0" rtlCol="0" anchor="t"/>
          <a:lstStyle/>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At a tangency the two curves share a single point and an identical slope: the slope of the budget line (−Px/Py) equals the slope of the indifference curve (−MRS).</a:t>
            </a:r>
            <a:endParaRPr lang="en-US" sz="900" dirty="0"/>
          </a:p>
          <a:p>
            <a:pPr indent="0" marL="0">
              <a:lnSpc>
                <a:spcPts val="1300"/>
              </a:lnSpc>
              <a:buNone/>
            </a:pPr>
            <a:endParaRPr lang="en-US" sz="900" dirty="0"/>
          </a:p>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If the budget line CROSSED an indifference curve, it would enter the region above that curve — meaning a strictly higher indifference curve is still affordable. The consumer has not yet maximized.</a:t>
            </a:r>
            <a:endParaRPr lang="en-US" sz="900" dirty="0"/>
          </a:p>
        </p:txBody>
      </p:sp>
      <p:sp>
        <p:nvSpPr>
          <p:cNvPr id="11" name="Shape 9"/>
          <p:cNvSpPr/>
          <p:nvPr/>
        </p:nvSpPr>
        <p:spPr>
          <a:xfrm>
            <a:off x="4315968" y="1463040"/>
            <a:ext cx="3611880" cy="2377440"/>
          </a:xfrm>
          <a:prstGeom prst="rect">
            <a:avLst/>
          </a:prstGeom>
          <a:solidFill>
            <a:srgbClr val="E8EDF3"/>
          </a:solidFill>
          <a:ln/>
        </p:spPr>
      </p:sp>
      <p:sp>
        <p:nvSpPr>
          <p:cNvPr id="12" name="Shape 10"/>
          <p:cNvSpPr/>
          <p:nvPr/>
        </p:nvSpPr>
        <p:spPr>
          <a:xfrm>
            <a:off x="4517136" y="1664208"/>
            <a:ext cx="457200" cy="457200"/>
          </a:xfrm>
          <a:prstGeom prst="ellipse">
            <a:avLst/>
          </a:prstGeom>
          <a:solidFill>
            <a:srgbClr val="C0892E"/>
          </a:solidFill>
          <a:ln/>
        </p:spPr>
      </p:sp>
      <p:sp>
        <p:nvSpPr>
          <p:cNvPr id="13" name="Text 11"/>
          <p:cNvSpPr/>
          <p:nvPr/>
        </p:nvSpPr>
        <p:spPr>
          <a:xfrm>
            <a:off x="4517136" y="166420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p:nvPr/>
        </p:nvSpPr>
        <p:spPr>
          <a:xfrm>
            <a:off x="5093208" y="1664208"/>
            <a:ext cx="2606040" cy="457200"/>
          </a:xfrm>
          <a:prstGeom prst="rect">
            <a:avLst/>
          </a:prstGeom>
          <a:noFill/>
          <a:ln/>
        </p:spPr>
        <p:txBody>
          <a:bodyPr wrap="square" lIns="0" tIns="0" rIns="0" bIns="0" rtlCol="0" anchor="ctr"/>
          <a:lstStyle/>
          <a:p>
            <a:pPr indent="0" marL="0">
              <a:buNone/>
            </a:pPr>
            <a:r>
              <a:rPr lang="en-US" sz="1600" b="1" dirty="0">
                <a:solidFill>
                  <a:srgbClr val="1A2E4A"/>
                </a:solidFill>
                <a:latin typeface="Cambria" pitchFamily="34" charset="0"/>
                <a:ea typeface="Cambria" pitchFamily="34" charset="-122"/>
                <a:cs typeface="Cambria" pitchFamily="34" charset="-120"/>
              </a:rPr>
              <a:t>INTUITIVELY</a:t>
            </a:r>
            <a:endParaRPr lang="en-US" sz="1600" dirty="0"/>
          </a:p>
        </p:txBody>
      </p:sp>
      <p:sp>
        <p:nvSpPr>
          <p:cNvPr id="15" name="Text 13"/>
          <p:cNvSpPr/>
          <p:nvPr/>
        </p:nvSpPr>
        <p:spPr>
          <a:xfrm>
            <a:off x="4535424" y="2212848"/>
            <a:ext cx="3154680" cy="1417320"/>
          </a:xfrm>
          <a:prstGeom prst="rect">
            <a:avLst/>
          </a:prstGeom>
          <a:noFill/>
          <a:ln/>
        </p:spPr>
        <p:txBody>
          <a:bodyPr wrap="square" lIns="0" tIns="0" rIns="0" bIns="0" rtlCol="0" anchor="t"/>
          <a:lstStyle/>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MRS is what the consumer is WILLING to trade. Px/Py is what the market REQUIRES them to trade.</a:t>
            </a:r>
            <a:endParaRPr lang="en-US" sz="900" dirty="0"/>
          </a:p>
          <a:p>
            <a:pPr indent="0" marL="0">
              <a:lnSpc>
                <a:spcPts val="1300"/>
              </a:lnSpc>
              <a:buNone/>
            </a:pPr>
            <a:endParaRPr lang="en-US" sz="900" dirty="0"/>
          </a:p>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When willingness exceeds the market rate, the consumer should buy more X — the trade makes them better off. Only when the two rates are equal is there no remaining profitable trade. Optimization ends where the private exchange rate meets the market exchange rate.</a:t>
            </a:r>
            <a:endParaRPr lang="en-US" sz="900" dirty="0"/>
          </a:p>
        </p:txBody>
      </p:sp>
      <p:sp>
        <p:nvSpPr>
          <p:cNvPr id="16" name="Shape 14"/>
          <p:cNvSpPr/>
          <p:nvPr/>
        </p:nvSpPr>
        <p:spPr>
          <a:xfrm>
            <a:off x="8119872" y="1463040"/>
            <a:ext cx="3566160" cy="2377440"/>
          </a:xfrm>
          <a:prstGeom prst="rect">
            <a:avLst/>
          </a:prstGeom>
          <a:solidFill>
            <a:srgbClr val="E8EDF3"/>
          </a:solidFill>
          <a:ln/>
        </p:spPr>
      </p:sp>
      <p:sp>
        <p:nvSpPr>
          <p:cNvPr id="17" name="Shape 15"/>
          <p:cNvSpPr/>
          <p:nvPr/>
        </p:nvSpPr>
        <p:spPr>
          <a:xfrm>
            <a:off x="8321040" y="1664208"/>
            <a:ext cx="457200" cy="457200"/>
          </a:xfrm>
          <a:prstGeom prst="ellipse">
            <a:avLst/>
          </a:prstGeom>
          <a:solidFill>
            <a:srgbClr val="9E2A2B"/>
          </a:solidFill>
          <a:ln/>
        </p:spPr>
      </p:sp>
      <p:sp>
        <p:nvSpPr>
          <p:cNvPr id="18" name="Text 16"/>
          <p:cNvSpPr/>
          <p:nvPr/>
        </p:nvSpPr>
        <p:spPr>
          <a:xfrm>
            <a:off x="8321040" y="166420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p:nvPr/>
        </p:nvSpPr>
        <p:spPr>
          <a:xfrm>
            <a:off x="8897112" y="1664208"/>
            <a:ext cx="2560320" cy="457200"/>
          </a:xfrm>
          <a:prstGeom prst="rect">
            <a:avLst/>
          </a:prstGeom>
          <a:noFill/>
          <a:ln/>
        </p:spPr>
        <p:txBody>
          <a:bodyPr wrap="square" lIns="0" tIns="0" rIns="0" bIns="0" rtlCol="0" anchor="ctr"/>
          <a:lstStyle/>
          <a:p>
            <a:pPr indent="0" marL="0">
              <a:buNone/>
            </a:pPr>
            <a:r>
              <a:rPr lang="en-US" sz="1600" b="1" dirty="0">
                <a:solidFill>
                  <a:srgbClr val="1A2E4A"/>
                </a:solidFill>
                <a:latin typeface="Cambria" pitchFamily="34" charset="0"/>
                <a:ea typeface="Cambria" pitchFamily="34" charset="-122"/>
                <a:cs typeface="Cambria" pitchFamily="34" charset="-120"/>
              </a:rPr>
              <a:t>WHAT CROSSING WOULD MEAN</a:t>
            </a:r>
            <a:endParaRPr lang="en-US" sz="1600" dirty="0"/>
          </a:p>
        </p:txBody>
      </p:sp>
      <p:sp>
        <p:nvSpPr>
          <p:cNvPr id="20" name="Text 18"/>
          <p:cNvSpPr/>
          <p:nvPr/>
        </p:nvSpPr>
        <p:spPr>
          <a:xfrm>
            <a:off x="8339328" y="2212848"/>
            <a:ext cx="3108960" cy="1417320"/>
          </a:xfrm>
          <a:prstGeom prst="rect">
            <a:avLst/>
          </a:prstGeom>
          <a:noFill/>
          <a:ln/>
        </p:spPr>
        <p:txBody>
          <a:bodyPr wrap="square" lIns="0" tIns="0" rIns="0" bIns="0" rtlCol="0" anchor="t"/>
          <a:lstStyle/>
          <a:p>
            <a:pPr indent="0" marL="0">
              <a:lnSpc>
                <a:spcPts val="1300"/>
              </a:lnSpc>
              <a:buNone/>
            </a:pPr>
            <a:r>
              <a:rPr lang="en-US" sz="950" dirty="0">
                <a:solidFill>
                  <a:srgbClr val="4A6180"/>
                </a:solidFill>
                <a:latin typeface="Calibri" pitchFamily="34" charset="0"/>
                <a:ea typeface="Calibri" pitchFamily="34" charset="-122"/>
                <a:cs typeface="Calibri" pitchFamily="34" charset="-120"/>
              </a:rPr>
              <a:t>A crossing point is FEASIBLE but not OPTIMAL — the consumer is spending their whole income while reaching a lower utility level than they could.</a:t>
            </a:r>
            <a:endParaRPr lang="en-US" sz="950" dirty="0"/>
          </a:p>
          <a:p>
            <a:pPr indent="0" marL="0">
              <a:lnSpc>
                <a:spcPts val="1300"/>
              </a:lnSpc>
              <a:buNone/>
            </a:pPr>
            <a:endParaRPr lang="en-US" sz="950" dirty="0"/>
          </a:p>
          <a:p>
            <a:pPr indent="0" marL="0">
              <a:lnSpc>
                <a:spcPts val="1300"/>
              </a:lnSpc>
              <a:buNone/>
            </a:pPr>
            <a:r>
              <a:rPr lang="en-US" sz="950" dirty="0">
                <a:solidFill>
                  <a:srgbClr val="4A6180"/>
                </a:solidFill>
                <a:latin typeface="Calibri" pitchFamily="34" charset="0"/>
                <a:ea typeface="Calibri" pitchFamily="34" charset="-122"/>
                <a:cs typeface="Calibri" pitchFamily="34" charset="-120"/>
              </a:rPr>
              <a:t>This is exactly the Module 1 distinction between points ON the budget line (efficient in the budget sense) and the single point that is also optimal in the preference sense.</a:t>
            </a:r>
            <a:endParaRPr lang="en-US" sz="950" dirty="0"/>
          </a:p>
        </p:txBody>
      </p:sp>
      <p:sp>
        <p:nvSpPr>
          <p:cNvPr id="21" name="Shape 19"/>
          <p:cNvSpPr/>
          <p:nvPr/>
        </p:nvSpPr>
        <p:spPr>
          <a:xfrm>
            <a:off x="502920" y="4041648"/>
            <a:ext cx="11183112" cy="1051560"/>
          </a:xfrm>
          <a:prstGeom prst="rect">
            <a:avLst/>
          </a:prstGeom>
          <a:solidFill>
            <a:srgbClr val="1A2E4A"/>
          </a:solidFill>
          <a:ln/>
        </p:spPr>
      </p:sp>
      <p:sp>
        <p:nvSpPr>
          <p:cNvPr id="22" name="Text 20"/>
          <p:cNvSpPr/>
          <p:nvPr/>
        </p:nvSpPr>
        <p:spPr>
          <a:xfrm>
            <a:off x="685800" y="4169664"/>
            <a:ext cx="10817352" cy="484632"/>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MRS  =  MUx / MUy  =  Px / Py        ⟺        MUx / Px  =  MUy / Py</a:t>
            </a:r>
            <a:endParaRPr lang="en-US" sz="2200" dirty="0"/>
          </a:p>
        </p:txBody>
      </p:sp>
      <p:sp>
        <p:nvSpPr>
          <p:cNvPr id="23" name="Text 21"/>
          <p:cNvSpPr/>
          <p:nvPr/>
        </p:nvSpPr>
        <p:spPr>
          <a:xfrm>
            <a:off x="685800" y="4581144"/>
            <a:ext cx="10817352" cy="402336"/>
          </a:xfrm>
          <a:prstGeom prst="rect">
            <a:avLst/>
          </a:prstGeom>
          <a:noFill/>
          <a:ln/>
        </p:spPr>
        <p:txBody>
          <a:bodyPr wrap="square" lIns="0" tIns="0" rIns="0" bIns="0" rtlCol="0" anchor="ctr"/>
          <a:lstStyle/>
          <a:p>
            <a:pPr algn="ctr" indent="0" marL="0">
              <a:buNone/>
            </a:pPr>
            <a:r>
              <a:rPr lang="en-US" sz="1150" i="1" dirty="0">
                <a:solidFill>
                  <a:srgbClr val="E8C87A"/>
                </a:solidFill>
                <a:latin typeface="Calibri" pitchFamily="34" charset="0"/>
                <a:ea typeface="Calibri" pitchFamily="34" charset="-122"/>
                <a:cs typeface="Calibri" pitchFamily="34" charset="-120"/>
              </a:rPr>
              <a:t>These are the same condition written two ways. The left form is geometric (slopes are equal); the right form is arithmetic (utility per dollar is equalized). Know both — assessments ask for either.</a:t>
            </a:r>
            <a:endParaRPr lang="en-US" sz="1150" dirty="0"/>
          </a:p>
        </p:txBody>
      </p:sp>
      <p:sp>
        <p:nvSpPr>
          <p:cNvPr id="24" name="Shape 22"/>
          <p:cNvSpPr/>
          <p:nvPr/>
        </p:nvSpPr>
        <p:spPr>
          <a:xfrm>
            <a:off x="502920" y="5303520"/>
            <a:ext cx="11183112" cy="822960"/>
          </a:xfrm>
          <a:prstGeom prst="rect">
            <a:avLst/>
          </a:prstGeom>
          <a:solidFill>
            <a:srgbClr val="1A2E4A"/>
          </a:solidFill>
          <a:ln/>
        </p:spPr>
      </p:sp>
      <p:sp>
        <p:nvSpPr>
          <p:cNvPr id="25" name="Text 23"/>
          <p:cNvSpPr/>
          <p:nvPr/>
        </p:nvSpPr>
        <p:spPr>
          <a:xfrm>
            <a:off x="758952" y="543153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THE BRIDGE TO MODULE 3</a:t>
            </a:r>
            <a:endParaRPr lang="en-US" sz="1050" dirty="0"/>
          </a:p>
        </p:txBody>
      </p:sp>
      <p:sp>
        <p:nvSpPr>
          <p:cNvPr id="26" name="Text 24"/>
          <p:cNvSpPr/>
          <p:nvPr/>
        </p:nvSpPr>
        <p:spPr>
          <a:xfrm>
            <a:off x="758952" y="5705856"/>
            <a:ext cx="10671048" cy="256032"/>
          </a:xfrm>
          <a:prstGeom prst="rect">
            <a:avLst/>
          </a:prstGeom>
          <a:noFill/>
          <a:ln/>
        </p:spPr>
        <p:txBody>
          <a:bodyPr wrap="square" lIns="0" tIns="0" rIns="0" bIns="0" rtlCol="0" anchor="t"/>
          <a:lstStyle/>
          <a:p>
            <a:pPr indent="0" marL="0">
              <a:lnSpc>
                <a:spcPts val="1400"/>
              </a:lnSpc>
              <a:buNone/>
            </a:pPr>
            <a:r>
              <a:rPr lang="en-US" sz="1000" dirty="0">
                <a:solidFill>
                  <a:srgbClr val="FFFFFF"/>
                </a:solidFill>
                <a:latin typeface="Calibri" pitchFamily="34" charset="0"/>
                <a:ea typeface="Calibri" pitchFamily="34" charset="-122"/>
                <a:cs typeface="Calibri" pitchFamily="34" charset="-120"/>
              </a:rPr>
              <a:t>This tangency, repeated across every consumer in a market and summed horizontally, IS the market demand curve. Module 3 will simply assume the result and draw the line — but this is where the line comes from.</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A2E4A"/>
        </a:solidFill>
      </p:bgPr>
    </p:bg>
    <p:spTree>
      <p:nvGrpSpPr>
        <p:cNvPr id="1" name=""/>
        <p:cNvGrpSpPr/>
        <p:nvPr/>
      </p:nvGrpSpPr>
      <p:grpSpPr>
        <a:xfrm>
          <a:off x="0" y="0"/>
          <a:ext cx="0" cy="0"/>
          <a:chOff x="0" y="0"/>
          <a:chExt cx="0" cy="0"/>
        </a:xfrm>
      </p:grpSpPr>
      <p:sp>
        <p:nvSpPr>
          <p:cNvPr id="2" name="Text 0"/>
          <p:cNvSpPr/>
          <p:nvPr/>
        </p:nvSpPr>
        <p:spPr>
          <a:xfrm>
            <a:off x="914400" y="1371600"/>
            <a:ext cx="10332720" cy="411480"/>
          </a:xfrm>
          <a:prstGeom prst="rect">
            <a:avLst/>
          </a:prstGeom>
          <a:noFill/>
          <a:ln/>
        </p:spPr>
        <p:txBody>
          <a:bodyPr wrap="square" lIns="0" tIns="0" rIns="0" bIns="0" rtlCol="0" anchor="ctr"/>
          <a:lstStyle/>
          <a:p>
            <a:pPr indent="0" marL="0">
              <a:buNone/>
            </a:pPr>
            <a:r>
              <a:rPr lang="en-US" sz="1500" b="1" spc="700" kern="0" dirty="0">
                <a:solidFill>
                  <a:srgbClr val="C0892E"/>
                </a:solidFill>
                <a:latin typeface="Calibri" pitchFamily="34" charset="0"/>
                <a:ea typeface="Calibri" pitchFamily="34" charset="-122"/>
                <a:cs typeface="Calibri" pitchFamily="34" charset="-120"/>
              </a:rPr>
              <a:t>SECTION II</a:t>
            </a:r>
            <a:endParaRPr lang="en-US" sz="1500" dirty="0"/>
          </a:p>
        </p:txBody>
      </p:sp>
      <p:sp>
        <p:nvSpPr>
          <p:cNvPr id="3" name="Text 1"/>
          <p:cNvSpPr/>
          <p:nvPr/>
        </p:nvSpPr>
        <p:spPr>
          <a:xfrm>
            <a:off x="914400" y="1828800"/>
            <a:ext cx="10058400" cy="118872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Consumer Theory  ·  Asynchronous 📹</a:t>
            </a:r>
            <a:endParaRPr lang="en-US" sz="4600" dirty="0"/>
          </a:p>
        </p:txBody>
      </p:sp>
      <p:sp>
        <p:nvSpPr>
          <p:cNvPr id="4" name="Text 2"/>
          <p:cNvSpPr/>
          <p:nvPr/>
        </p:nvSpPr>
        <p:spPr>
          <a:xfrm>
            <a:off x="914400" y="3291840"/>
            <a:ext cx="10058400" cy="2377440"/>
          </a:xfrm>
          <a:prstGeom prst="rect">
            <a:avLst/>
          </a:prstGeom>
          <a:noFill/>
          <a:ln/>
        </p:spPr>
        <p:txBody>
          <a:bodyPr wrap="square" lIns="0" tIns="0" rIns="0" bIns="0" rtlCol="0" anchor="ctr"/>
          <a:lstStyle/>
          <a:p>
            <a:pPr indent="0" marL="0">
              <a:lnSpc>
                <a:spcPts val="2400"/>
              </a:lnSpc>
              <a:spcAft>
                <a:spcPts val="800"/>
              </a:spcAft>
              <a:buNone/>
            </a:pPr>
            <a:r>
              <a:rPr lang="en-US" sz="1500" dirty="0">
                <a:solidFill>
                  <a:srgbClr val="CFD9E5"/>
                </a:solidFill>
                <a:latin typeface="Calibri" pitchFamily="34" charset="0"/>
                <a:ea typeface="Calibri" pitchFamily="34" charset="-122"/>
                <a:cs typeface="Calibri" pitchFamily="34" charset="-120"/>
              </a:rPr>
              <a:t>Part 2  ·  The labor-leisure Feasible Frontier, MRT, and the monopsony preview</a:t>
            </a:r>
            <a:endParaRPr lang="en-US" sz="1500" dirty="0"/>
          </a:p>
          <a:p>
            <a:pPr indent="0" marL="0">
              <a:lnSpc>
                <a:spcPts val="2400"/>
              </a:lnSpc>
              <a:spcAft>
                <a:spcPts val="800"/>
              </a:spcAft>
              <a:buNone/>
            </a:pPr>
            <a:r>
              <a:rPr lang="en-US" sz="1500" dirty="0">
                <a:solidFill>
                  <a:srgbClr val="CFD9E5"/>
                </a:solidFill>
                <a:latin typeface="Calibri" pitchFamily="34" charset="0"/>
                <a:ea typeface="Calibri" pitchFamily="34" charset="-122"/>
                <a:cs typeface="Calibri" pitchFamily="34" charset="-120"/>
              </a:rPr>
              <a:t>Part 3  ·  Intertemporal choice: the two-period model, borrowers, lenders and the interest rate</a:t>
            </a:r>
            <a:endParaRPr lang="en-US" sz="1500" dirty="0"/>
          </a:p>
          <a:p>
            <a:pPr indent="0" marL="0">
              <a:lnSpc>
                <a:spcPts val="2400"/>
              </a:lnSpc>
              <a:spcAft>
                <a:spcPts val="800"/>
              </a:spcAft>
              <a:buNone/>
            </a:pPr>
            <a:r>
              <a:rPr lang="en-US" sz="1500" dirty="0">
                <a:solidFill>
                  <a:srgbClr val="CFD9E5"/>
                </a:solidFill>
                <a:latin typeface="Calibri" pitchFamily="34" charset="0"/>
                <a:ea typeface="Calibri" pitchFamily="34" charset="-122"/>
                <a:cs typeface="Calibri" pitchFamily="34" charset="-120"/>
              </a:rPr>
              <a:t>Part 4  ·  Behavioral economics: bounded rationality, loss aversion, present bias and the bandwidth tax</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60520" cy="6858000"/>
          </a:xfrm>
          <a:prstGeom prst="rect">
            <a:avLst/>
          </a:prstGeom>
          <a:solidFill>
            <a:srgbClr val="E8EDF3"/>
          </a:solidFill>
          <a:ln/>
        </p:spPr>
      </p:sp>
      <p:sp>
        <p:nvSpPr>
          <p:cNvPr id="3" name="Text 1"/>
          <p:cNvSpPr/>
          <p:nvPr/>
        </p:nvSpPr>
        <p:spPr>
          <a:xfrm>
            <a:off x="685800" y="1965960"/>
            <a:ext cx="2926080" cy="1737360"/>
          </a:xfrm>
          <a:prstGeom prst="rect">
            <a:avLst/>
          </a:prstGeom>
          <a:noFill/>
          <a:ln/>
        </p:spPr>
        <p:txBody>
          <a:bodyPr wrap="square" lIns="0" tIns="0" rIns="0" bIns="0" rtlCol="0" anchor="ctr"/>
          <a:lstStyle/>
          <a:p>
            <a:pPr indent="0" marL="0">
              <a:buNone/>
            </a:pPr>
            <a:r>
              <a:rPr lang="en-US" sz="13000" b="1" dirty="0">
                <a:solidFill>
                  <a:srgbClr val="C0892E"/>
                </a:solidFill>
                <a:latin typeface="Cambria" pitchFamily="34" charset="0"/>
                <a:ea typeface="Cambria" pitchFamily="34" charset="-122"/>
                <a:cs typeface="Cambria" pitchFamily="34" charset="-120"/>
              </a:rPr>
              <a:t>02</a:t>
            </a:r>
            <a:endParaRPr lang="en-US" sz="13000" dirty="0"/>
          </a:p>
        </p:txBody>
      </p:sp>
      <p:sp>
        <p:nvSpPr>
          <p:cNvPr id="4" name="Text 2"/>
          <p:cNvSpPr/>
          <p:nvPr/>
        </p:nvSpPr>
        <p:spPr>
          <a:xfrm>
            <a:off x="777240" y="3703320"/>
            <a:ext cx="2743200" cy="365760"/>
          </a:xfrm>
          <a:prstGeom prst="rect">
            <a:avLst/>
          </a:prstGeom>
          <a:noFill/>
          <a:ln/>
        </p:spPr>
        <p:txBody>
          <a:bodyPr wrap="square" lIns="0" tIns="0" rIns="0" bIns="0" rtlCol="0" anchor="ctr"/>
          <a:lstStyle/>
          <a:p>
            <a:pPr indent="0" marL="0">
              <a:buNone/>
            </a:pPr>
            <a:r>
              <a:rPr lang="en-US" sz="1400" b="1" spc="700" kern="0" dirty="0">
                <a:solidFill>
                  <a:srgbClr val="4A6180"/>
                </a:solidFill>
                <a:latin typeface="Calibri" pitchFamily="34" charset="0"/>
                <a:ea typeface="Calibri" pitchFamily="34" charset="-122"/>
                <a:cs typeface="Calibri" pitchFamily="34" charset="-120"/>
              </a:rPr>
              <a:t>PART</a:t>
            </a:r>
            <a:endParaRPr lang="en-US" sz="1400" dirty="0"/>
          </a:p>
        </p:txBody>
      </p:sp>
      <p:sp>
        <p:nvSpPr>
          <p:cNvPr id="5" name="Text 3"/>
          <p:cNvSpPr/>
          <p:nvPr/>
        </p:nvSpPr>
        <p:spPr>
          <a:xfrm>
            <a:off x="4937760" y="1965960"/>
            <a:ext cx="6675120" cy="1554480"/>
          </a:xfrm>
          <a:prstGeom prst="rect">
            <a:avLst/>
          </a:prstGeom>
          <a:noFill/>
          <a:ln/>
        </p:spPr>
        <p:txBody>
          <a:bodyPr wrap="square" lIns="0" tIns="0" rIns="0" bIns="0" rtlCol="0" anchor="b"/>
          <a:lstStyle/>
          <a:p>
            <a:pPr indent="0" marL="0">
              <a:lnSpc>
                <a:spcPts val="4000"/>
              </a:lnSpc>
              <a:buNone/>
            </a:pPr>
            <a:r>
              <a:rPr lang="en-US" sz="3300" b="1" dirty="0">
                <a:solidFill>
                  <a:srgbClr val="1A2E4A"/>
                </a:solidFill>
                <a:latin typeface="Cambria" pitchFamily="34" charset="0"/>
                <a:ea typeface="Cambria" pitchFamily="34" charset="-122"/>
                <a:cs typeface="Cambria" pitchFamily="34" charset="-120"/>
              </a:rPr>
              <a:t>The Labor-Leisure</a:t>
            </a:r>
            <a:endParaRPr lang="en-US" sz="3300" dirty="0"/>
          </a:p>
          <a:p>
            <a:pPr indent="0" marL="0">
              <a:lnSpc>
                <a:spcPts val="4000"/>
              </a:lnSpc>
              <a:buNone/>
            </a:pPr>
            <a:r>
              <a:rPr lang="en-US" sz="3300" b="1" dirty="0">
                <a:solidFill>
                  <a:srgbClr val="1A2E4A"/>
                </a:solidFill>
                <a:latin typeface="Cambria" pitchFamily="34" charset="0"/>
                <a:ea typeface="Cambria" pitchFamily="34" charset="-122"/>
                <a:cs typeface="Cambria" pitchFamily="34" charset="-120"/>
              </a:rPr>
              <a:t>Feasible Frontier</a:t>
            </a:r>
            <a:endParaRPr lang="en-US" sz="3300" dirty="0"/>
          </a:p>
        </p:txBody>
      </p:sp>
      <p:sp>
        <p:nvSpPr>
          <p:cNvPr id="6" name="Text 4"/>
          <p:cNvSpPr/>
          <p:nvPr/>
        </p:nvSpPr>
        <p:spPr>
          <a:xfrm>
            <a:off x="4937760" y="3657600"/>
            <a:ext cx="6675120" cy="1554480"/>
          </a:xfrm>
          <a:prstGeom prst="rect">
            <a:avLst/>
          </a:prstGeom>
          <a:noFill/>
          <a:ln/>
        </p:spPr>
        <p:txBody>
          <a:bodyPr wrap="square" lIns="0" tIns="0" rIns="0" bIns="0" rtlCol="0" anchor="ctr"/>
          <a:lstStyle/>
          <a:p>
            <a:pPr indent="0" marL="0">
              <a:lnSpc>
                <a:spcPts val="2400"/>
              </a:lnSpc>
              <a:buNone/>
            </a:pPr>
            <a:r>
              <a:rPr lang="en-US" sz="1200" b="1" spc="200" kern="0" dirty="0">
                <a:solidFill>
                  <a:srgbClr val="C0892E"/>
                </a:solidFill>
                <a:latin typeface="Calibri" pitchFamily="34" charset="0"/>
                <a:ea typeface="Calibri" pitchFamily="34" charset="-122"/>
                <a:cs typeface="Calibri" pitchFamily="34" charset="-120"/>
              </a:rPr>
              <a:t>OBJECTIVE   </a:t>
            </a:r>
            <a:pPr indent="0" marL="0">
              <a:lnSpc>
                <a:spcPts val="2400"/>
              </a:lnSpc>
              <a:buNone/>
            </a:pPr>
            <a:r>
              <a:rPr lang="en-US" sz="1500" dirty="0">
                <a:solidFill>
                  <a:srgbClr val="4A6180"/>
                </a:solidFill>
                <a:latin typeface="Calibri" pitchFamily="34" charset="0"/>
                <a:ea typeface="Calibri" pitchFamily="34" charset="-122"/>
                <a:cs typeface="Calibri" pitchFamily="34" charset="-120"/>
              </a:rPr>
              <a:t>Construct the labor-leisure Feasible Frontier; define MRT (wage = opportunity cost of leisure); identify the optimal allocation where MRS = MRT; apply the Marcus &amp; Ray case.</a:t>
            </a:r>
            <a:endParaRPr lang="en-US" sz="1200" dirty="0"/>
          </a:p>
        </p:txBody>
      </p:sp>
      <p:sp>
        <p:nvSpPr>
          <p:cNvPr id="7" name="Text 5"/>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8" name="Text 6"/>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2: CONSTRAINED CHOICE OVER TIME</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2 · FORMAL DEFINITIONS</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The Feasible Frontier &amp; the Marginal Rate of Transformation</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2: CONSTRAINED CHOICE OVER TIME</a:t>
            </a:r>
            <a:endParaRPr lang="en-US" sz="900" dirty="0"/>
          </a:p>
        </p:txBody>
      </p:sp>
      <p:sp>
        <p:nvSpPr>
          <p:cNvPr id="6" name="Shape 4"/>
          <p:cNvSpPr/>
          <p:nvPr/>
        </p:nvSpPr>
        <p:spPr>
          <a:xfrm>
            <a:off x="502920" y="1444752"/>
            <a:ext cx="3611880" cy="196596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7" name="Text 5"/>
          <p:cNvSpPr/>
          <p:nvPr/>
        </p:nvSpPr>
        <p:spPr>
          <a:xfrm>
            <a:off x="758952" y="1627632"/>
            <a:ext cx="3099816" cy="384048"/>
          </a:xfrm>
          <a:prstGeom prst="rect">
            <a:avLst/>
          </a:prstGeom>
          <a:noFill/>
          <a:ln/>
        </p:spPr>
        <p:txBody>
          <a:bodyPr wrap="square" lIns="0" tIns="0" rIns="0" bIns="0" rtlCol="0" anchor="ctr"/>
          <a:lstStyle/>
          <a:p>
            <a:pPr indent="0" marL="0">
              <a:buNone/>
            </a:pPr>
            <a:r>
              <a:rPr lang="en-US" sz="1550" b="1" dirty="0">
                <a:solidFill>
                  <a:srgbClr val="1A2E4A"/>
                </a:solidFill>
                <a:latin typeface="Cambria" pitchFamily="34" charset="0"/>
                <a:ea typeface="Cambria" pitchFamily="34" charset="-122"/>
                <a:cs typeface="Cambria" pitchFamily="34" charset="-120"/>
              </a:rPr>
              <a:t>FEASIBLE FRONTIER</a:t>
            </a:r>
            <a:endParaRPr lang="en-US" sz="1550" dirty="0"/>
          </a:p>
        </p:txBody>
      </p:sp>
      <p:sp>
        <p:nvSpPr>
          <p:cNvPr id="8" name="Text 6"/>
          <p:cNvSpPr/>
          <p:nvPr/>
        </p:nvSpPr>
        <p:spPr>
          <a:xfrm>
            <a:off x="758952" y="2029968"/>
            <a:ext cx="3099816" cy="1143000"/>
          </a:xfrm>
          <a:prstGeom prst="rect">
            <a:avLst/>
          </a:prstGeom>
          <a:noFill/>
          <a:ln/>
        </p:spPr>
        <p:txBody>
          <a:bodyPr wrap="square" lIns="0" tIns="0" rIns="0" bIns="0" rtlCol="0" anchor="t"/>
          <a:lstStyle/>
          <a:p>
            <a:pPr indent="0" marL="0">
              <a:lnSpc>
                <a:spcPts val="1500"/>
              </a:lnSpc>
              <a:buNone/>
            </a:pPr>
            <a:r>
              <a:rPr lang="en-US" sz="1050" dirty="0">
                <a:solidFill>
                  <a:srgbClr val="4A6180"/>
                </a:solidFill>
                <a:latin typeface="Calibri" pitchFamily="34" charset="0"/>
                <a:ea typeface="Calibri" pitchFamily="34" charset="-122"/>
                <a:cs typeface="Calibri" pitchFamily="34" charset="-120"/>
              </a:rPr>
              <a:t>The boundary of the set of combinations of leisure and income an agent can attain, given the wage rate and the total hours available. Structurally identical to a budget constraint — but the constraint here is TIME converted into income, not income allocated across goods.</a:t>
            </a:r>
            <a:endParaRPr lang="en-US" sz="1050" dirty="0"/>
          </a:p>
        </p:txBody>
      </p:sp>
      <p:sp>
        <p:nvSpPr>
          <p:cNvPr id="9" name="Shape 7"/>
          <p:cNvSpPr/>
          <p:nvPr/>
        </p:nvSpPr>
        <p:spPr>
          <a:xfrm>
            <a:off x="4315968" y="1444752"/>
            <a:ext cx="3611880" cy="196596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0" name="Text 8"/>
          <p:cNvSpPr/>
          <p:nvPr/>
        </p:nvSpPr>
        <p:spPr>
          <a:xfrm>
            <a:off x="4572000" y="1627632"/>
            <a:ext cx="3099816" cy="384048"/>
          </a:xfrm>
          <a:prstGeom prst="rect">
            <a:avLst/>
          </a:prstGeom>
          <a:noFill/>
          <a:ln/>
        </p:spPr>
        <p:txBody>
          <a:bodyPr wrap="square" lIns="0" tIns="0" rIns="0" bIns="0" rtlCol="0" anchor="ctr"/>
          <a:lstStyle/>
          <a:p>
            <a:pPr indent="0" marL="0">
              <a:buNone/>
            </a:pPr>
            <a:r>
              <a:rPr lang="en-US" sz="1300" b="1" dirty="0">
                <a:solidFill>
                  <a:srgbClr val="C0892E"/>
                </a:solidFill>
                <a:latin typeface="Cambria" pitchFamily="34" charset="0"/>
                <a:ea typeface="Cambria" pitchFamily="34" charset="-122"/>
                <a:cs typeface="Cambria" pitchFamily="34" charset="-120"/>
              </a:rPr>
              <a:t>MRT — MARGINAL RATE OF TRANSFORMATION</a:t>
            </a:r>
            <a:endParaRPr lang="en-US" sz="1300" dirty="0"/>
          </a:p>
        </p:txBody>
      </p:sp>
      <p:sp>
        <p:nvSpPr>
          <p:cNvPr id="11" name="Text 9"/>
          <p:cNvSpPr/>
          <p:nvPr/>
        </p:nvSpPr>
        <p:spPr>
          <a:xfrm>
            <a:off x="4572000" y="2029968"/>
            <a:ext cx="3099816" cy="1143000"/>
          </a:xfrm>
          <a:prstGeom prst="rect">
            <a:avLst/>
          </a:prstGeom>
          <a:noFill/>
          <a:ln/>
        </p:spPr>
        <p:txBody>
          <a:bodyPr wrap="square" lIns="0" tIns="0" rIns="0" bIns="0" rtlCol="0" anchor="t"/>
          <a:lstStyle/>
          <a:p>
            <a:pPr indent="0" marL="0">
              <a:lnSpc>
                <a:spcPts val="1500"/>
              </a:lnSpc>
              <a:buNone/>
            </a:pPr>
            <a:r>
              <a:rPr lang="en-US" sz="1050" dirty="0">
                <a:solidFill>
                  <a:srgbClr val="4A6180"/>
                </a:solidFill>
                <a:latin typeface="Calibri" pitchFamily="34" charset="0"/>
                <a:ea typeface="Calibri" pitchFamily="34" charset="-122"/>
                <a:cs typeface="Calibri" pitchFamily="34" charset="-120"/>
              </a:rPr>
              <a:t>The slope of the feasible frontier: the rate at which the agent can TRANSFORM leisure into income. It equals the OPPORTUNITY COST of consuming one more hour of leisure.</a:t>
            </a:r>
            <a:endParaRPr lang="en-US" sz="1050" dirty="0"/>
          </a:p>
          <a:p>
            <a:pPr indent="0" marL="0">
              <a:lnSpc>
                <a:spcPts val="1500"/>
              </a:lnSpc>
              <a:buNone/>
            </a:pPr>
            <a:endParaRPr lang="en-US" sz="1050" dirty="0"/>
          </a:p>
          <a:p>
            <a:pPr indent="0" marL="0">
              <a:lnSpc>
                <a:spcPts val="1500"/>
              </a:lnSpc>
              <a:buNone/>
            </a:pPr>
            <a:r>
              <a:rPr lang="en-US" sz="1050" dirty="0">
                <a:solidFill>
                  <a:srgbClr val="4A6180"/>
                </a:solidFill>
                <a:latin typeface="Calibri" pitchFamily="34" charset="0"/>
                <a:ea typeface="Calibri" pitchFamily="34" charset="-122"/>
                <a:cs typeface="Calibri" pitchFamily="34" charset="-120"/>
              </a:rPr>
              <a:t>MRT = the wage rate w.</a:t>
            </a:r>
            <a:endParaRPr lang="en-US" sz="1050" dirty="0"/>
          </a:p>
        </p:txBody>
      </p:sp>
      <p:sp>
        <p:nvSpPr>
          <p:cNvPr id="12" name="Shape 10"/>
          <p:cNvSpPr/>
          <p:nvPr/>
        </p:nvSpPr>
        <p:spPr>
          <a:xfrm>
            <a:off x="8119872" y="1444752"/>
            <a:ext cx="3566160" cy="196596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3" name="Text 11"/>
          <p:cNvSpPr/>
          <p:nvPr/>
        </p:nvSpPr>
        <p:spPr>
          <a:xfrm>
            <a:off x="8375904" y="1627632"/>
            <a:ext cx="3054096" cy="384048"/>
          </a:xfrm>
          <a:prstGeom prst="rect">
            <a:avLst/>
          </a:prstGeom>
          <a:noFill/>
          <a:ln/>
        </p:spPr>
        <p:txBody>
          <a:bodyPr wrap="square" lIns="0" tIns="0" rIns="0" bIns="0" rtlCol="0" anchor="ctr"/>
          <a:lstStyle/>
          <a:p>
            <a:pPr indent="0" marL="0">
              <a:buNone/>
            </a:pPr>
            <a:r>
              <a:rPr lang="en-US" sz="1550" b="1" dirty="0">
                <a:solidFill>
                  <a:srgbClr val="2A7F84"/>
                </a:solidFill>
                <a:latin typeface="Cambria" pitchFamily="34" charset="0"/>
                <a:ea typeface="Cambria" pitchFamily="34" charset="-122"/>
                <a:cs typeface="Cambria" pitchFamily="34" charset="-120"/>
              </a:rPr>
              <a:t>WAGE = OC OF LEISURE</a:t>
            </a:r>
            <a:endParaRPr lang="en-US" sz="1550" dirty="0"/>
          </a:p>
        </p:txBody>
      </p:sp>
      <p:sp>
        <p:nvSpPr>
          <p:cNvPr id="14" name="Text 12"/>
          <p:cNvSpPr/>
          <p:nvPr/>
        </p:nvSpPr>
        <p:spPr>
          <a:xfrm>
            <a:off x="8375904" y="2029968"/>
            <a:ext cx="3054096" cy="1143000"/>
          </a:xfrm>
          <a:prstGeom prst="rect">
            <a:avLst/>
          </a:prstGeom>
          <a:noFill/>
          <a:ln/>
        </p:spPr>
        <p:txBody>
          <a:bodyPr wrap="square" lIns="0" tIns="0" rIns="0" bIns="0" rtlCol="0" anchor="t"/>
          <a:lstStyle/>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Each hour NOT worked costs exactly one hour of wages. At w = $15, an hour of leisure costs $15 in forgone earnings.</a:t>
            </a:r>
            <a:endParaRPr lang="en-US" sz="900" dirty="0"/>
          </a:p>
          <a:p>
            <a:pPr indent="0" marL="0">
              <a:lnSpc>
                <a:spcPts val="1300"/>
              </a:lnSpc>
              <a:buNone/>
            </a:pPr>
            <a:endParaRPr lang="en-US" sz="900" dirty="0"/>
          </a:p>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The wage is therefore the PRICE OF LEISURE — which is why leisure obeys the same logic as any other good.</a:t>
            </a:r>
            <a:endParaRPr lang="en-US" sz="900" dirty="0"/>
          </a:p>
        </p:txBody>
      </p:sp>
      <p:sp>
        <p:nvSpPr>
          <p:cNvPr id="15" name="Shape 13"/>
          <p:cNvSpPr/>
          <p:nvPr/>
        </p:nvSpPr>
        <p:spPr>
          <a:xfrm>
            <a:off x="502920" y="3584448"/>
            <a:ext cx="11183112" cy="1143000"/>
          </a:xfrm>
          <a:prstGeom prst="rect">
            <a:avLst/>
          </a:prstGeom>
          <a:solidFill>
            <a:srgbClr val="1A2E4A"/>
          </a:solidFill>
          <a:ln/>
        </p:spPr>
      </p:sp>
      <p:sp>
        <p:nvSpPr>
          <p:cNvPr id="16" name="Text 14"/>
          <p:cNvSpPr/>
          <p:nvPr/>
        </p:nvSpPr>
        <p:spPr>
          <a:xfrm>
            <a:off x="685800" y="3712464"/>
            <a:ext cx="10817352" cy="576072"/>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Optimal allocation:      MRS   =   MRT   =   w</a:t>
            </a:r>
            <a:endParaRPr lang="en-US" sz="2200" dirty="0"/>
          </a:p>
        </p:txBody>
      </p:sp>
      <p:sp>
        <p:nvSpPr>
          <p:cNvPr id="17" name="Text 15"/>
          <p:cNvSpPr/>
          <p:nvPr/>
        </p:nvSpPr>
        <p:spPr>
          <a:xfrm>
            <a:off x="685800" y="4215384"/>
            <a:ext cx="10817352" cy="402336"/>
          </a:xfrm>
          <a:prstGeom prst="rect">
            <a:avLst/>
          </a:prstGeom>
          <a:noFill/>
          <a:ln/>
        </p:spPr>
        <p:txBody>
          <a:bodyPr wrap="square" lIns="0" tIns="0" rIns="0" bIns="0" rtlCol="0" anchor="ctr"/>
          <a:lstStyle/>
          <a:p>
            <a:pPr algn="ctr" indent="0" marL="0">
              <a:buNone/>
            </a:pPr>
            <a:r>
              <a:rPr lang="en-US" sz="1150" i="1" dirty="0">
                <a:solidFill>
                  <a:srgbClr val="E8C87A"/>
                </a:solidFill>
                <a:latin typeface="Calibri" pitchFamily="34" charset="0"/>
                <a:ea typeface="Calibri" pitchFamily="34" charset="-122"/>
                <a:cs typeface="Calibri" pitchFamily="34" charset="-120"/>
              </a:rPr>
              <a:t>The rate at which the worker is WILLING to trade leisure for income equals the rate at which the labor market lets them.</a:t>
            </a:r>
            <a:endParaRPr lang="en-US" sz="1150" dirty="0"/>
          </a:p>
          <a:p>
            <a:pPr algn="ctr" indent="0" marL="0">
              <a:buNone/>
            </a:pPr>
            <a:r>
              <a:rPr lang="en-US" sz="1150" i="1" dirty="0">
                <a:solidFill>
                  <a:srgbClr val="E8C87A"/>
                </a:solidFill>
                <a:latin typeface="Calibri" pitchFamily="34" charset="0"/>
                <a:ea typeface="Calibri" pitchFamily="34" charset="-122"/>
                <a:cs typeface="Calibri" pitchFamily="34" charset="-120"/>
              </a:rPr>
              <a:t>This is the same tangency condition as Part 1 — the goods are simply leisure and income instead of barley and wool.</a:t>
            </a:r>
            <a:endParaRPr lang="en-US" sz="11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02920" y="4937760"/>
          <a:ext cx="11183112" cy="914400"/>
        </p:xfrm>
        <a:graphic>
          <a:graphicData uri="http://schemas.openxmlformats.org/drawingml/2006/table">
            <a:tbl>
              <a:tblPr/>
              <a:tblGrid>
                <a:gridCol w="2194560"/>
                <a:gridCol w="2194560"/>
                <a:gridCol w="2560320"/>
                <a:gridCol w="2194560"/>
                <a:gridCol w="2039112"/>
              </a:tblGrid>
              <a:tr h="182880">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LEISURE HOURS</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WORK HOURS</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WEEKLY EARNINGS ($)</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FEASIBLE?</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SLOPE / MRT</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182880">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60</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Yes — corner</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−15</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182880">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45</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15</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225</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Yes</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−15</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182880">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30</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30</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450</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Yes</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−15</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182880">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15</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45</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675</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Yes</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−15</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182880">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60</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900</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Yes — corner</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−15</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SCENARIO · PHILADELPHIA, PRESENT DAY</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Marcus at Ray's Warehouse — and the Monopsony Preview</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2: CONSTRAINED CHOICE OVER TIME</a:t>
            </a:r>
            <a:endParaRPr lang="en-US" sz="900" dirty="0"/>
          </a:p>
        </p:txBody>
      </p:sp>
      <p:sp>
        <p:nvSpPr>
          <p:cNvPr id="6" name="Text 4"/>
          <p:cNvSpPr/>
          <p:nvPr/>
        </p:nvSpPr>
        <p:spPr>
          <a:xfrm>
            <a:off x="502920" y="1417320"/>
            <a:ext cx="5303520" cy="548640"/>
          </a:xfrm>
          <a:prstGeom prst="rect">
            <a:avLst/>
          </a:prstGeom>
          <a:noFill/>
          <a:ln/>
        </p:spPr>
        <p:txBody>
          <a:bodyPr wrap="square" lIns="0" tIns="0" rIns="0" bIns="0" rtlCol="0" anchor="ctr"/>
          <a:lstStyle/>
          <a:p>
            <a:pPr indent="0" marL="0">
              <a:lnSpc>
                <a:spcPts val="1850"/>
              </a:lnSpc>
              <a:buNone/>
            </a:pPr>
            <a:r>
              <a:rPr lang="en-US" sz="1250" dirty="0">
                <a:solidFill>
                  <a:srgbClr val="4A6180"/>
                </a:solidFill>
                <a:latin typeface="Calibri" pitchFamily="34" charset="0"/>
                <a:ea typeface="Calibri" pitchFamily="34" charset="-122"/>
                <a:cs typeface="Calibri" pitchFamily="34" charset="-120"/>
              </a:rPr>
              <a:t>Marcus can work up to 60 hours per week at Ray's warehouse, earning $15 per hour. Each hour of work yields $15 in income; each hour of leisure costs $15 in forgone earnings.</a:t>
            </a:r>
            <a:endParaRPr lang="en-US" sz="1250" dirty="0"/>
          </a:p>
        </p:txBody>
      </p:sp>
      <p:sp>
        <p:nvSpPr>
          <p:cNvPr id="7" name="Shape 5"/>
          <p:cNvSpPr/>
          <p:nvPr/>
        </p:nvSpPr>
        <p:spPr>
          <a:xfrm>
            <a:off x="502920" y="2057400"/>
            <a:ext cx="5303520" cy="1051560"/>
          </a:xfrm>
          <a:prstGeom prst="rect">
            <a:avLst/>
          </a:prstGeom>
          <a:solidFill>
            <a:srgbClr val="1A2E4A"/>
          </a:solidFill>
          <a:ln/>
        </p:spPr>
      </p:sp>
      <p:sp>
        <p:nvSpPr>
          <p:cNvPr id="8" name="Text 6"/>
          <p:cNvSpPr/>
          <p:nvPr/>
        </p:nvSpPr>
        <p:spPr>
          <a:xfrm>
            <a:off x="685800" y="2185416"/>
            <a:ext cx="4937760" cy="484632"/>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Earnings  =  w · (60 − L)  =  900 − 15L</a:t>
            </a:r>
            <a:endParaRPr lang="en-US" sz="1800" dirty="0"/>
          </a:p>
        </p:txBody>
      </p:sp>
      <p:sp>
        <p:nvSpPr>
          <p:cNvPr id="9" name="Text 7"/>
          <p:cNvSpPr/>
          <p:nvPr/>
        </p:nvSpPr>
        <p:spPr>
          <a:xfrm>
            <a:off x="685800" y="2596896"/>
            <a:ext cx="4937760" cy="402336"/>
          </a:xfrm>
          <a:prstGeom prst="rect">
            <a:avLst/>
          </a:prstGeom>
          <a:noFill/>
          <a:ln/>
        </p:spPr>
        <p:txBody>
          <a:bodyPr wrap="square" lIns="0" tIns="0" rIns="0" bIns="0" rtlCol="0" anchor="ctr"/>
          <a:lstStyle/>
          <a:p>
            <a:pPr algn="ctr" indent="0" marL="0">
              <a:buNone/>
            </a:pPr>
            <a:r>
              <a:rPr lang="en-US" sz="900" i="1" dirty="0">
                <a:solidFill>
                  <a:srgbClr val="E8C87A"/>
                </a:solidFill>
                <a:latin typeface="Calibri" pitchFamily="34" charset="0"/>
                <a:ea typeface="Calibri" pitchFamily="34" charset="-122"/>
                <a:cs typeface="Calibri" pitchFamily="34" charset="-120"/>
              </a:rPr>
              <a:t>Vertical intercept = 900 (all 60 hours worked).  Horizontal intercept = 60 (all hours as leisure).</a:t>
            </a:r>
            <a:endParaRPr lang="en-US" sz="900" dirty="0"/>
          </a:p>
          <a:p>
            <a:pPr algn="ctr" indent="0" marL="0">
              <a:buNone/>
            </a:pPr>
            <a:r>
              <a:rPr lang="en-US" sz="900" i="1" dirty="0">
                <a:solidFill>
                  <a:srgbClr val="E8C87A"/>
                </a:solidFill>
                <a:latin typeface="Calibri" pitchFamily="34" charset="0"/>
                <a:ea typeface="Calibri" pitchFamily="34" charset="-122"/>
                <a:cs typeface="Calibri" pitchFamily="34" charset="-120"/>
              </a:rPr>
              <a:t>Slope = −w = −15.</a:t>
            </a:r>
            <a:endParaRPr lang="en-US" sz="900" dirty="0"/>
          </a:p>
        </p:txBody>
      </p:sp>
      <p:sp>
        <p:nvSpPr>
          <p:cNvPr id="10" name="Shape 8"/>
          <p:cNvSpPr/>
          <p:nvPr/>
        </p:nvSpPr>
        <p:spPr>
          <a:xfrm>
            <a:off x="502920" y="3246120"/>
            <a:ext cx="5303520" cy="137160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1" name="Text 9"/>
          <p:cNvSpPr/>
          <p:nvPr/>
        </p:nvSpPr>
        <p:spPr>
          <a:xfrm>
            <a:off x="758952" y="3429000"/>
            <a:ext cx="4791456" cy="384048"/>
          </a:xfrm>
          <a:prstGeom prst="rect">
            <a:avLst/>
          </a:prstGeom>
          <a:noFill/>
          <a:ln/>
        </p:spPr>
        <p:txBody>
          <a:bodyPr wrap="square" lIns="0" tIns="0" rIns="0" bIns="0" rtlCol="0" anchor="ctr"/>
          <a:lstStyle/>
          <a:p>
            <a:pPr indent="0" marL="0">
              <a:buNone/>
            </a:pPr>
            <a:r>
              <a:rPr lang="en-US" sz="1550" b="1" dirty="0">
                <a:solidFill>
                  <a:srgbClr val="9E2A2B"/>
                </a:solidFill>
                <a:latin typeface="Cambria" pitchFamily="34" charset="0"/>
                <a:ea typeface="Cambria" pitchFamily="34" charset="-122"/>
                <a:cs typeface="Cambria" pitchFamily="34" charset="-120"/>
              </a:rPr>
              <a:t>MONOPSONY — the preview</a:t>
            </a:r>
            <a:endParaRPr lang="en-US" sz="1550" dirty="0"/>
          </a:p>
        </p:txBody>
      </p:sp>
      <p:sp>
        <p:nvSpPr>
          <p:cNvPr id="12" name="Text 10"/>
          <p:cNvSpPr/>
          <p:nvPr/>
        </p:nvSpPr>
        <p:spPr>
          <a:xfrm>
            <a:off x="758952" y="3831336"/>
            <a:ext cx="4791456" cy="54864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A market with a single (or dominant) BUYER. In a monopsonistic labor market the employer sets the wage unilaterally rather than taking it from the market.</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If Ray, as the neighborhood's dominant employer, pays $12/hr instead of $15/hr, Marcus's frontier ROTATES INWARD about the leisure intercept: max earnings fall from $900 to $720.</a:t>
            </a:r>
            <a:endParaRPr lang="en-US" sz="850" dirty="0"/>
          </a:p>
        </p:txBody>
      </p:sp>
      <p:sp>
        <p:nvSpPr>
          <p:cNvPr id="13" name="Shape 11"/>
          <p:cNvSpPr/>
          <p:nvPr/>
        </p:nvSpPr>
        <p:spPr>
          <a:xfrm>
            <a:off x="502920" y="4754880"/>
            <a:ext cx="5303520" cy="1371600"/>
          </a:xfrm>
          <a:prstGeom prst="rect">
            <a:avLst/>
          </a:prstGeom>
          <a:solidFill>
            <a:srgbClr val="1A2E4A"/>
          </a:solidFill>
          <a:ln/>
        </p:spPr>
      </p:sp>
      <p:sp>
        <p:nvSpPr>
          <p:cNvPr id="14" name="Text 12"/>
          <p:cNvSpPr/>
          <p:nvPr/>
        </p:nvSpPr>
        <p:spPr>
          <a:xfrm>
            <a:off x="758952" y="4882896"/>
            <a:ext cx="4791456"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✦2  THE LIMITS OF "INDIVIDUAL DECISION-MAKING"</a:t>
            </a:r>
            <a:endParaRPr lang="en-US" sz="1050" dirty="0"/>
          </a:p>
        </p:txBody>
      </p:sp>
      <p:sp>
        <p:nvSpPr>
          <p:cNvPr id="15" name="Text 13"/>
          <p:cNvSpPr/>
          <p:nvPr/>
        </p:nvSpPr>
        <p:spPr>
          <a:xfrm>
            <a:off x="758952" y="5157216"/>
            <a:ext cx="4791456" cy="804672"/>
          </a:xfrm>
          <a:prstGeom prst="rect">
            <a:avLst/>
          </a:prstGeom>
          <a:noFill/>
          <a:ln/>
        </p:spPr>
        <p:txBody>
          <a:bodyPr wrap="square" lIns="0" tIns="0" rIns="0" bIns="0" rtlCol="0" anchor="t"/>
          <a:lstStyle/>
          <a:p>
            <a:pPr indent="0" marL="0">
              <a:lnSpc>
                <a:spcPts val="1400"/>
              </a:lnSpc>
              <a:buNone/>
            </a:pPr>
            <a:r>
              <a:rPr lang="en-US" sz="1000" dirty="0">
                <a:solidFill>
                  <a:srgbClr val="FFFFFF"/>
                </a:solidFill>
                <a:latin typeface="Calibri" pitchFamily="34" charset="0"/>
                <a:ea typeface="Calibri" pitchFamily="34" charset="-122"/>
                <a:cs typeface="Calibri" pitchFamily="34" charset="-120"/>
              </a:rPr>
              <a:t>Ray's market power constrains Marcus's attainable income BEFORE Marcus has made a single choice. The model of optimization is intact — Marcus still picks the best point on his frontier — but WHICH frontier he faces was decided by someone else. Optimization explains behavior within a choice set; it does not explain who drew the choice set.</a:t>
            </a:r>
            <a:endParaRPr lang="en-US" sz="1000" dirty="0"/>
          </a:p>
        </p:txBody>
      </p:sp>
      <p:pic>
        <p:nvPicPr>
          <p:cNvPr id="16" name="Image 0" descr="figs/m2_labor.png">    </p:cNvPr>
          <p:cNvPicPr>
            <a:picLocks noChangeAspect="1"/>
          </p:cNvPicPr>
          <p:nvPr/>
        </p:nvPicPr>
        <p:blipFill>
          <a:blip r:embed="rId1"/>
          <a:stretch>
            <a:fillRect/>
          </a:stretch>
        </p:blipFill>
        <p:spPr>
          <a:xfrm>
            <a:off x="6035040" y="1976959"/>
            <a:ext cx="5669280" cy="3635602"/>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2 · ASYNC PERSONAL APPLICATION</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Build Your Own Feasible Frontier</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2: CONSTRAINED CHOICE OVER TIME</a:t>
            </a:r>
            <a:endParaRPr lang="en-US" sz="900" dirty="0"/>
          </a:p>
        </p:txBody>
      </p:sp>
      <p:sp>
        <p:nvSpPr>
          <p:cNvPr id="6" name="Shape 4"/>
          <p:cNvSpPr/>
          <p:nvPr/>
        </p:nvSpPr>
        <p:spPr>
          <a:xfrm>
            <a:off x="502920" y="1463040"/>
            <a:ext cx="3611880" cy="2286000"/>
          </a:xfrm>
          <a:prstGeom prst="rect">
            <a:avLst/>
          </a:prstGeom>
          <a:solidFill>
            <a:srgbClr val="E8EDF3"/>
          </a:solidFill>
          <a:ln/>
        </p:spPr>
      </p:sp>
      <p:sp>
        <p:nvSpPr>
          <p:cNvPr id="7" name="Shape 5"/>
          <p:cNvSpPr/>
          <p:nvPr/>
        </p:nvSpPr>
        <p:spPr>
          <a:xfrm>
            <a:off x="704088" y="1664208"/>
            <a:ext cx="457200" cy="457200"/>
          </a:xfrm>
          <a:prstGeom prst="ellipse">
            <a:avLst/>
          </a:prstGeom>
          <a:solidFill>
            <a:srgbClr val="1A2E4A"/>
          </a:solidFill>
          <a:ln/>
        </p:spPr>
      </p:sp>
      <p:sp>
        <p:nvSpPr>
          <p:cNvPr id="8" name="Text 6"/>
          <p:cNvSpPr/>
          <p:nvPr/>
        </p:nvSpPr>
        <p:spPr>
          <a:xfrm>
            <a:off x="704088" y="166420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1280160" y="1664208"/>
            <a:ext cx="2606040" cy="457200"/>
          </a:xfrm>
          <a:prstGeom prst="rect">
            <a:avLst/>
          </a:prstGeom>
          <a:noFill/>
          <a:ln/>
        </p:spPr>
        <p:txBody>
          <a:bodyPr wrap="square" lIns="0" tIns="0" rIns="0" bIns="0" rtlCol="0" anchor="ctr"/>
          <a:lstStyle/>
          <a:p>
            <a:pPr indent="0" marL="0">
              <a:buNone/>
            </a:pPr>
            <a:r>
              <a:rPr lang="en-US" sz="1600" b="1" dirty="0">
                <a:solidFill>
                  <a:srgbClr val="1A2E4A"/>
                </a:solidFill>
                <a:latin typeface="Cambria" pitchFamily="34" charset="0"/>
                <a:ea typeface="Cambria" pitchFamily="34" charset="-122"/>
                <a:cs typeface="Cambria" pitchFamily="34" charset="-120"/>
              </a:rPr>
              <a:t>CONSTRUCT IT</a:t>
            </a:r>
            <a:endParaRPr lang="en-US" sz="1600" dirty="0"/>
          </a:p>
        </p:txBody>
      </p:sp>
      <p:sp>
        <p:nvSpPr>
          <p:cNvPr id="10" name="Text 8"/>
          <p:cNvSpPr/>
          <p:nvPr/>
        </p:nvSpPr>
        <p:spPr>
          <a:xfrm>
            <a:off x="722376" y="2212848"/>
            <a:ext cx="3154680" cy="1325880"/>
          </a:xfrm>
          <a:prstGeom prst="rect">
            <a:avLst/>
          </a:prstGeom>
          <a:noFill/>
          <a:ln/>
        </p:spPr>
        <p:txBody>
          <a:bodyPr wrap="square" lIns="0" tIns="0" rIns="0" bIns="0" rtlCol="0" anchor="t"/>
          <a:lstStyle/>
          <a:p>
            <a:pPr indent="0" marL="0">
              <a:lnSpc>
                <a:spcPts val="1500"/>
              </a:lnSpc>
              <a:buNone/>
            </a:pPr>
            <a:r>
              <a:rPr lang="en-US" sz="1050" dirty="0">
                <a:solidFill>
                  <a:srgbClr val="4A6180"/>
                </a:solidFill>
                <a:latin typeface="Calibri" pitchFamily="34" charset="0"/>
                <a:ea typeface="Calibri" pitchFamily="34" charset="-122"/>
                <a:cs typeface="Calibri" pitchFamily="34" charset="-120"/>
              </a:rPr>
              <a:t>Build your own labor-leisure OR saving-spending feasible frontier. Use real numbers: your actual available hours, your actual wage or your actual weekly income.</a:t>
            </a:r>
            <a:endParaRPr lang="en-US" sz="1050" dirty="0"/>
          </a:p>
          <a:p>
            <a:pPr indent="0" marL="0">
              <a:lnSpc>
                <a:spcPts val="1500"/>
              </a:lnSpc>
              <a:buNone/>
            </a:pPr>
            <a:endParaRPr lang="en-US" sz="1050" dirty="0"/>
          </a:p>
          <a:p>
            <a:pPr indent="0" marL="0">
              <a:lnSpc>
                <a:spcPts val="1500"/>
              </a:lnSpc>
              <a:buNone/>
            </a:pPr>
            <a:r>
              <a:rPr lang="en-US" sz="1050" dirty="0">
                <a:solidFill>
                  <a:srgbClr val="4A6180"/>
                </a:solidFill>
                <a:latin typeface="Calibri" pitchFamily="34" charset="0"/>
                <a:ea typeface="Calibri" pitchFamily="34" charset="-122"/>
                <a:cs typeface="Calibri" pitchFamily="34" charset="-120"/>
              </a:rPr>
              <a:t>Label both intercepts, the slope, and the point you currently occupy.</a:t>
            </a:r>
            <a:endParaRPr lang="en-US" sz="1050" dirty="0"/>
          </a:p>
        </p:txBody>
      </p:sp>
      <p:sp>
        <p:nvSpPr>
          <p:cNvPr id="11" name="Shape 9"/>
          <p:cNvSpPr/>
          <p:nvPr/>
        </p:nvSpPr>
        <p:spPr>
          <a:xfrm>
            <a:off x="4315968" y="1463040"/>
            <a:ext cx="3611880" cy="2286000"/>
          </a:xfrm>
          <a:prstGeom prst="rect">
            <a:avLst/>
          </a:prstGeom>
          <a:solidFill>
            <a:srgbClr val="E8EDF3"/>
          </a:solidFill>
          <a:ln/>
        </p:spPr>
      </p:sp>
      <p:sp>
        <p:nvSpPr>
          <p:cNvPr id="12" name="Shape 10"/>
          <p:cNvSpPr/>
          <p:nvPr/>
        </p:nvSpPr>
        <p:spPr>
          <a:xfrm>
            <a:off x="4517136" y="1664208"/>
            <a:ext cx="457200" cy="457200"/>
          </a:xfrm>
          <a:prstGeom prst="ellipse">
            <a:avLst/>
          </a:prstGeom>
          <a:solidFill>
            <a:srgbClr val="C0892E"/>
          </a:solidFill>
          <a:ln/>
        </p:spPr>
      </p:sp>
      <p:sp>
        <p:nvSpPr>
          <p:cNvPr id="13" name="Text 11"/>
          <p:cNvSpPr/>
          <p:nvPr/>
        </p:nvSpPr>
        <p:spPr>
          <a:xfrm>
            <a:off x="4517136" y="166420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p:nvPr/>
        </p:nvSpPr>
        <p:spPr>
          <a:xfrm>
            <a:off x="5093208" y="1664208"/>
            <a:ext cx="2606040" cy="457200"/>
          </a:xfrm>
          <a:prstGeom prst="rect">
            <a:avLst/>
          </a:prstGeom>
          <a:noFill/>
          <a:ln/>
        </p:spPr>
        <p:txBody>
          <a:bodyPr wrap="square" lIns="0" tIns="0" rIns="0" bIns="0" rtlCol="0" anchor="ctr"/>
          <a:lstStyle/>
          <a:p>
            <a:pPr indent="0" marL="0">
              <a:buNone/>
            </a:pPr>
            <a:r>
              <a:rPr lang="en-US" sz="1600" b="1" dirty="0">
                <a:solidFill>
                  <a:srgbClr val="1A2E4A"/>
                </a:solidFill>
                <a:latin typeface="Cambria" pitchFamily="34" charset="0"/>
                <a:ea typeface="Cambria" pitchFamily="34" charset="-122"/>
                <a:cs typeface="Cambria" pitchFamily="34" charset="-120"/>
              </a:rPr>
              <a:t>FIND THE CONSTRAINT</a:t>
            </a:r>
            <a:endParaRPr lang="en-US" sz="1600" dirty="0"/>
          </a:p>
        </p:txBody>
      </p:sp>
      <p:sp>
        <p:nvSpPr>
          <p:cNvPr id="15" name="Text 13"/>
          <p:cNvSpPr/>
          <p:nvPr/>
        </p:nvSpPr>
        <p:spPr>
          <a:xfrm>
            <a:off x="4535424" y="2212848"/>
            <a:ext cx="3154680" cy="1325880"/>
          </a:xfrm>
          <a:prstGeom prst="rect">
            <a:avLst/>
          </a:prstGeom>
          <a:noFill/>
          <a:ln/>
        </p:spPr>
        <p:txBody>
          <a:bodyPr wrap="square" lIns="0" tIns="0" rIns="0" bIns="0" rtlCol="0" anchor="t"/>
          <a:lstStyle/>
          <a:p>
            <a:pPr indent="0" marL="0">
              <a:lnSpc>
                <a:spcPts val="1700"/>
              </a:lnSpc>
              <a:buNone/>
            </a:pPr>
            <a:r>
              <a:rPr lang="en-US" sz="1200" dirty="0">
                <a:solidFill>
                  <a:srgbClr val="4A6180"/>
                </a:solidFill>
                <a:latin typeface="Calibri" pitchFamily="34" charset="0"/>
                <a:ea typeface="Calibri" pitchFamily="34" charset="-122"/>
                <a:cs typeface="Calibri" pitchFamily="34" charset="-120"/>
              </a:rPr>
              <a:t>Identify at least ONE institutional constraint that shapes your feasible set. Candidates: a minimum wage, a maximum course load, a scholarship hour cap, a lease, a visa work restriction, a family obligation, transit schedules.</a:t>
            </a:r>
            <a:endParaRPr lang="en-US" sz="1200" dirty="0"/>
          </a:p>
        </p:txBody>
      </p:sp>
      <p:sp>
        <p:nvSpPr>
          <p:cNvPr id="16" name="Shape 14"/>
          <p:cNvSpPr/>
          <p:nvPr/>
        </p:nvSpPr>
        <p:spPr>
          <a:xfrm>
            <a:off x="8119872" y="1463040"/>
            <a:ext cx="3566160" cy="2286000"/>
          </a:xfrm>
          <a:prstGeom prst="rect">
            <a:avLst/>
          </a:prstGeom>
          <a:solidFill>
            <a:srgbClr val="E8EDF3"/>
          </a:solidFill>
          <a:ln/>
        </p:spPr>
      </p:sp>
      <p:sp>
        <p:nvSpPr>
          <p:cNvPr id="17" name="Shape 15"/>
          <p:cNvSpPr/>
          <p:nvPr/>
        </p:nvSpPr>
        <p:spPr>
          <a:xfrm>
            <a:off x="8321040" y="1664208"/>
            <a:ext cx="457200" cy="457200"/>
          </a:xfrm>
          <a:prstGeom prst="ellipse">
            <a:avLst/>
          </a:prstGeom>
          <a:solidFill>
            <a:srgbClr val="9E2A2B"/>
          </a:solidFill>
          <a:ln/>
        </p:spPr>
      </p:sp>
      <p:sp>
        <p:nvSpPr>
          <p:cNvPr id="18" name="Text 16"/>
          <p:cNvSpPr/>
          <p:nvPr/>
        </p:nvSpPr>
        <p:spPr>
          <a:xfrm>
            <a:off x="8321040" y="166420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p:nvPr/>
        </p:nvSpPr>
        <p:spPr>
          <a:xfrm>
            <a:off x="8897112" y="1664208"/>
            <a:ext cx="2560320" cy="457200"/>
          </a:xfrm>
          <a:prstGeom prst="rect">
            <a:avLst/>
          </a:prstGeom>
          <a:noFill/>
          <a:ln/>
        </p:spPr>
        <p:txBody>
          <a:bodyPr wrap="square" lIns="0" tIns="0" rIns="0" bIns="0" rtlCol="0" anchor="ctr"/>
          <a:lstStyle/>
          <a:p>
            <a:pPr indent="0" marL="0">
              <a:buNone/>
            </a:pPr>
            <a:r>
              <a:rPr lang="en-US" sz="1600" b="1" dirty="0">
                <a:solidFill>
                  <a:srgbClr val="1A2E4A"/>
                </a:solidFill>
                <a:latin typeface="Cambria" pitchFamily="34" charset="0"/>
                <a:ea typeface="Cambria" pitchFamily="34" charset="-122"/>
                <a:cs typeface="Cambria" pitchFamily="34" charset="-120"/>
              </a:rPr>
              <a:t>ASK THE TWO QUESTIONS</a:t>
            </a:r>
            <a:endParaRPr lang="en-US" sz="1600" dirty="0"/>
          </a:p>
        </p:txBody>
      </p:sp>
      <p:sp>
        <p:nvSpPr>
          <p:cNvPr id="20" name="Text 18"/>
          <p:cNvSpPr/>
          <p:nvPr/>
        </p:nvSpPr>
        <p:spPr>
          <a:xfrm>
            <a:off x="8339328" y="2212848"/>
            <a:ext cx="3108960" cy="1325880"/>
          </a:xfrm>
          <a:prstGeom prst="rect">
            <a:avLst/>
          </a:prstGeom>
          <a:noFill/>
          <a:ln/>
        </p:spPr>
        <p:txBody>
          <a:bodyPr wrap="square" lIns="0" tIns="0" rIns="0" bIns="0" rtlCol="0" anchor="t"/>
          <a:lstStyle/>
          <a:p>
            <a:pPr indent="0" marL="0">
              <a:lnSpc>
                <a:spcPts val="1500"/>
              </a:lnSpc>
              <a:buNone/>
            </a:pPr>
            <a:r>
              <a:rPr lang="en-US" sz="1050" dirty="0">
                <a:solidFill>
                  <a:srgbClr val="4A6180"/>
                </a:solidFill>
                <a:latin typeface="Calibri" pitchFamily="34" charset="0"/>
                <a:ea typeface="Calibri" pitchFamily="34" charset="-122"/>
                <a:cs typeface="Calibri" pitchFamily="34" charset="-120"/>
              </a:rPr>
              <a:t>WHO DESIGNED THAT CONSTRAINT?</a:t>
            </a:r>
            <a:endParaRPr lang="en-US" sz="1050" dirty="0"/>
          </a:p>
          <a:p>
            <a:pPr indent="0" marL="0">
              <a:lnSpc>
                <a:spcPts val="1500"/>
              </a:lnSpc>
              <a:buNone/>
            </a:pPr>
            <a:r>
              <a:rPr lang="en-US" sz="1050" dirty="0">
                <a:solidFill>
                  <a:srgbClr val="4A6180"/>
                </a:solidFill>
                <a:latin typeface="Calibri" pitchFamily="34" charset="0"/>
                <a:ea typeface="Calibri" pitchFamily="34" charset="-122"/>
                <a:cs typeface="Calibri" pitchFamily="34" charset="-120"/>
              </a:rPr>
              <a:t>WHO BENEFITS FROM IT?</a:t>
            </a:r>
            <a:endParaRPr lang="en-US" sz="1050" dirty="0"/>
          </a:p>
          <a:p>
            <a:pPr indent="0" marL="0">
              <a:lnSpc>
                <a:spcPts val="1500"/>
              </a:lnSpc>
              <a:buNone/>
            </a:pPr>
            <a:endParaRPr lang="en-US" sz="1050" dirty="0"/>
          </a:p>
          <a:p>
            <a:pPr indent="0" marL="0">
              <a:lnSpc>
                <a:spcPts val="1500"/>
              </a:lnSpc>
              <a:buNone/>
            </a:pPr>
            <a:r>
              <a:rPr lang="en-US" sz="1050" dirty="0">
                <a:solidFill>
                  <a:srgbClr val="4A6180"/>
                </a:solidFill>
                <a:latin typeface="Calibri" pitchFamily="34" charset="0"/>
                <a:ea typeface="Calibri" pitchFamily="34" charset="-122"/>
                <a:cs typeface="Calibri" pitchFamily="34" charset="-120"/>
              </a:rPr>
              <a:t>Write two or three sentences. These are the questions Modules 6, 7 and 8 are built on — you are answering them now, at the scale of your own week.</a:t>
            </a:r>
            <a:endParaRPr lang="en-US" sz="1050" dirty="0"/>
          </a:p>
        </p:txBody>
      </p:sp>
      <p:sp>
        <p:nvSpPr>
          <p:cNvPr id="21" name="Shape 19"/>
          <p:cNvSpPr/>
          <p:nvPr/>
        </p:nvSpPr>
        <p:spPr>
          <a:xfrm>
            <a:off x="502920" y="3977640"/>
            <a:ext cx="11183112" cy="105156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22" name="Text 20"/>
          <p:cNvSpPr/>
          <p:nvPr/>
        </p:nvSpPr>
        <p:spPr>
          <a:xfrm>
            <a:off x="758952" y="4160520"/>
            <a:ext cx="10671048" cy="384048"/>
          </a:xfrm>
          <a:prstGeom prst="rect">
            <a:avLst/>
          </a:prstGeom>
          <a:noFill/>
          <a:ln/>
        </p:spPr>
        <p:txBody>
          <a:bodyPr wrap="square" lIns="0" tIns="0" rIns="0" bIns="0" rtlCol="0" anchor="ctr"/>
          <a:lstStyle/>
          <a:p>
            <a:pPr indent="0" marL="0">
              <a:buNone/>
            </a:pPr>
            <a:r>
              <a:rPr lang="en-US" sz="1550" b="1" dirty="0">
                <a:solidFill>
                  <a:srgbClr val="2A7F84"/>
                </a:solidFill>
                <a:latin typeface="Cambria" pitchFamily="34" charset="0"/>
                <a:ea typeface="Cambria" pitchFamily="34" charset="-122"/>
                <a:cs typeface="Cambria" pitchFamily="34" charset="-120"/>
              </a:rPr>
              <a:t>INSTITUTIONAL CONSTRAINT — formal definition</a:t>
            </a:r>
            <a:endParaRPr lang="en-US" sz="1550" dirty="0"/>
          </a:p>
        </p:txBody>
      </p:sp>
      <p:sp>
        <p:nvSpPr>
          <p:cNvPr id="23" name="Text 21"/>
          <p:cNvSpPr/>
          <p:nvPr/>
        </p:nvSpPr>
        <p:spPr>
          <a:xfrm>
            <a:off x="758952" y="4562856"/>
            <a:ext cx="10671048" cy="22860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A rule, law, contract, or structure of market power that determines the boundaries of an agent's feasible set independently of that agent's preferences or productivity. Institutional constraints are the reason two equally capable people can face entirely different opportunity sets — and the reason distributional questions cannot be settled by preference alone.</a:t>
            </a:r>
            <a:endParaRPr lang="en-US" sz="850" dirty="0"/>
          </a:p>
        </p:txBody>
      </p:sp>
      <p:sp>
        <p:nvSpPr>
          <p:cNvPr id="24" name="Shape 22"/>
          <p:cNvSpPr/>
          <p:nvPr/>
        </p:nvSpPr>
        <p:spPr>
          <a:xfrm>
            <a:off x="502920" y="5193792"/>
            <a:ext cx="11183112" cy="932688"/>
          </a:xfrm>
          <a:prstGeom prst="rect">
            <a:avLst/>
          </a:prstGeom>
          <a:solidFill>
            <a:srgbClr val="1A2E4A"/>
          </a:solidFill>
          <a:ln/>
        </p:spPr>
      </p:sp>
      <p:sp>
        <p:nvSpPr>
          <p:cNvPr id="25" name="Text 23"/>
          <p:cNvSpPr/>
          <p:nvPr/>
        </p:nvSpPr>
        <p:spPr>
          <a:xfrm>
            <a:off x="758952" y="5321808"/>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CARRY THIS FORWARD</a:t>
            </a:r>
            <a:endParaRPr lang="en-US" sz="1050" dirty="0"/>
          </a:p>
        </p:txBody>
      </p:sp>
      <p:sp>
        <p:nvSpPr>
          <p:cNvPr id="26" name="Text 24"/>
          <p:cNvSpPr/>
          <p:nvPr/>
        </p:nvSpPr>
        <p:spPr>
          <a:xfrm>
            <a:off x="758952" y="5596128"/>
            <a:ext cx="10671048" cy="365760"/>
          </a:xfrm>
          <a:prstGeom prst="rect">
            <a:avLst/>
          </a:prstGeom>
          <a:noFill/>
          <a:ln/>
        </p:spPr>
        <p:txBody>
          <a:bodyPr wrap="square" lIns="0" tIns="0" rIns="0" bIns="0" rtlCol="0" anchor="t"/>
          <a:lstStyle/>
          <a:p>
            <a:pPr indent="0" marL="0">
              <a:lnSpc>
                <a:spcPts val="1400"/>
              </a:lnSpc>
              <a:buNone/>
            </a:pPr>
            <a:r>
              <a:rPr lang="en-US" sz="1000" dirty="0">
                <a:solidFill>
                  <a:srgbClr val="FFFFFF"/>
                </a:solidFill>
                <a:latin typeface="Calibri" pitchFamily="34" charset="0"/>
                <a:ea typeface="Calibri" pitchFamily="34" charset="-122"/>
                <a:cs typeface="Calibri" pitchFamily="34" charset="-120"/>
              </a:rPr>
              <a:t>MODULE 6 will formalize the labor market as a factor market with supply and demand. MODULE 8 will show what happens when the employer has power on one side of it. Everything you write on this exercise is a data point for those modules.</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60520" cy="6858000"/>
          </a:xfrm>
          <a:prstGeom prst="rect">
            <a:avLst/>
          </a:prstGeom>
          <a:solidFill>
            <a:srgbClr val="E8EDF3"/>
          </a:solidFill>
          <a:ln/>
        </p:spPr>
      </p:sp>
      <p:sp>
        <p:nvSpPr>
          <p:cNvPr id="3" name="Text 1"/>
          <p:cNvSpPr/>
          <p:nvPr/>
        </p:nvSpPr>
        <p:spPr>
          <a:xfrm>
            <a:off x="685800" y="1965960"/>
            <a:ext cx="2926080" cy="1737360"/>
          </a:xfrm>
          <a:prstGeom prst="rect">
            <a:avLst/>
          </a:prstGeom>
          <a:noFill/>
          <a:ln/>
        </p:spPr>
        <p:txBody>
          <a:bodyPr wrap="square" lIns="0" tIns="0" rIns="0" bIns="0" rtlCol="0" anchor="ctr"/>
          <a:lstStyle/>
          <a:p>
            <a:pPr indent="0" marL="0">
              <a:buNone/>
            </a:pPr>
            <a:r>
              <a:rPr lang="en-US" sz="13000" b="1" dirty="0">
                <a:solidFill>
                  <a:srgbClr val="C0892E"/>
                </a:solidFill>
                <a:latin typeface="Cambria" pitchFamily="34" charset="0"/>
                <a:ea typeface="Cambria" pitchFamily="34" charset="-122"/>
                <a:cs typeface="Cambria" pitchFamily="34" charset="-120"/>
              </a:rPr>
              <a:t>03</a:t>
            </a:r>
            <a:endParaRPr lang="en-US" sz="13000" dirty="0"/>
          </a:p>
        </p:txBody>
      </p:sp>
      <p:sp>
        <p:nvSpPr>
          <p:cNvPr id="4" name="Text 2"/>
          <p:cNvSpPr/>
          <p:nvPr/>
        </p:nvSpPr>
        <p:spPr>
          <a:xfrm>
            <a:off x="777240" y="3703320"/>
            <a:ext cx="2743200" cy="365760"/>
          </a:xfrm>
          <a:prstGeom prst="rect">
            <a:avLst/>
          </a:prstGeom>
          <a:noFill/>
          <a:ln/>
        </p:spPr>
        <p:txBody>
          <a:bodyPr wrap="square" lIns="0" tIns="0" rIns="0" bIns="0" rtlCol="0" anchor="ctr"/>
          <a:lstStyle/>
          <a:p>
            <a:pPr indent="0" marL="0">
              <a:buNone/>
            </a:pPr>
            <a:r>
              <a:rPr lang="en-US" sz="1400" b="1" spc="700" kern="0" dirty="0">
                <a:solidFill>
                  <a:srgbClr val="4A6180"/>
                </a:solidFill>
                <a:latin typeface="Calibri" pitchFamily="34" charset="0"/>
                <a:ea typeface="Calibri" pitchFamily="34" charset="-122"/>
                <a:cs typeface="Calibri" pitchFamily="34" charset="-120"/>
              </a:rPr>
              <a:t>PART</a:t>
            </a:r>
            <a:endParaRPr lang="en-US" sz="1400" dirty="0"/>
          </a:p>
        </p:txBody>
      </p:sp>
      <p:sp>
        <p:nvSpPr>
          <p:cNvPr id="5" name="Text 3"/>
          <p:cNvSpPr/>
          <p:nvPr/>
        </p:nvSpPr>
        <p:spPr>
          <a:xfrm>
            <a:off x="4937760" y="1965960"/>
            <a:ext cx="6675120" cy="1554480"/>
          </a:xfrm>
          <a:prstGeom prst="rect">
            <a:avLst/>
          </a:prstGeom>
          <a:noFill/>
          <a:ln/>
        </p:spPr>
        <p:txBody>
          <a:bodyPr wrap="square" lIns="0" tIns="0" rIns="0" bIns="0" rtlCol="0" anchor="b"/>
          <a:lstStyle/>
          <a:p>
            <a:pPr indent="0" marL="0">
              <a:lnSpc>
                <a:spcPts val="4000"/>
              </a:lnSpc>
              <a:buNone/>
            </a:pPr>
            <a:r>
              <a:rPr lang="en-US" sz="3300" b="1" dirty="0">
                <a:solidFill>
                  <a:srgbClr val="1A2E4A"/>
                </a:solidFill>
                <a:latin typeface="Cambria" pitchFamily="34" charset="0"/>
                <a:ea typeface="Cambria" pitchFamily="34" charset="-122"/>
                <a:cs typeface="Cambria" pitchFamily="34" charset="-120"/>
              </a:rPr>
              <a:t>Intertemporal Choice:</a:t>
            </a:r>
            <a:endParaRPr lang="en-US" sz="3300" dirty="0"/>
          </a:p>
          <a:p>
            <a:pPr indent="0" marL="0">
              <a:lnSpc>
                <a:spcPts val="4000"/>
              </a:lnSpc>
              <a:buNone/>
            </a:pPr>
            <a:r>
              <a:rPr lang="en-US" sz="3300" b="1" dirty="0">
                <a:solidFill>
                  <a:srgbClr val="1A2E4A"/>
                </a:solidFill>
                <a:latin typeface="Cambria" pitchFamily="34" charset="0"/>
                <a:ea typeface="Cambria" pitchFamily="34" charset="-122"/>
                <a:cs typeface="Cambria" pitchFamily="34" charset="-120"/>
              </a:rPr>
              <a:t>Borrowers, Lenders &amp; the Interest Rate</a:t>
            </a:r>
            <a:endParaRPr lang="en-US" sz="3300" dirty="0"/>
          </a:p>
        </p:txBody>
      </p:sp>
      <p:sp>
        <p:nvSpPr>
          <p:cNvPr id="6" name="Text 4"/>
          <p:cNvSpPr/>
          <p:nvPr/>
        </p:nvSpPr>
        <p:spPr>
          <a:xfrm>
            <a:off x="4937760" y="3657600"/>
            <a:ext cx="6675120" cy="1554480"/>
          </a:xfrm>
          <a:prstGeom prst="rect">
            <a:avLst/>
          </a:prstGeom>
          <a:noFill/>
          <a:ln/>
        </p:spPr>
        <p:txBody>
          <a:bodyPr wrap="square" lIns="0" tIns="0" rIns="0" bIns="0" rtlCol="0" anchor="ctr"/>
          <a:lstStyle/>
          <a:p>
            <a:pPr indent="0" marL="0">
              <a:lnSpc>
                <a:spcPts val="2400"/>
              </a:lnSpc>
              <a:buNone/>
            </a:pPr>
            <a:r>
              <a:rPr lang="en-US" sz="1200" b="1" spc="200" kern="0" dirty="0">
                <a:solidFill>
                  <a:srgbClr val="C0892E"/>
                </a:solidFill>
                <a:latin typeface="Calibri" pitchFamily="34" charset="0"/>
                <a:ea typeface="Calibri" pitchFamily="34" charset="-122"/>
                <a:cs typeface="Calibri" pitchFamily="34" charset="-120"/>
              </a:rPr>
              <a:t>OBJECTIVE   </a:t>
            </a:r>
            <a:pPr indent="0" marL="0">
              <a:lnSpc>
                <a:spcPts val="2400"/>
              </a:lnSpc>
              <a:buNone/>
            </a:pPr>
            <a:r>
              <a:rPr lang="en-US" sz="1500" dirty="0">
                <a:solidFill>
                  <a:srgbClr val="4A6180"/>
                </a:solidFill>
                <a:latin typeface="Calibri" pitchFamily="34" charset="0"/>
                <a:ea typeface="Calibri" pitchFamily="34" charset="-122"/>
                <a:cs typeface="Calibri" pitchFamily="34" charset="-120"/>
              </a:rPr>
              <a:t>Model the two-period intertemporal budget constraint; contrast Julia (borrower) and Marco (lender); trace the consequences of interest-rate changes.</a:t>
            </a:r>
            <a:endParaRPr lang="en-US" sz="1200" dirty="0"/>
          </a:p>
        </p:txBody>
      </p:sp>
      <p:sp>
        <p:nvSpPr>
          <p:cNvPr id="7" name="Text 5"/>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8" name="Text 6"/>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2: CONSTRAINED CHOICE OVER TIME</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3 · THE TWO-PERIOD MODEL</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The Intertemporal Budget Constraint</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2: CONSTRAINED CHOICE OVER TIME</a:t>
            </a:r>
            <a:endParaRPr lang="en-US" sz="900" dirty="0"/>
          </a:p>
        </p:txBody>
      </p:sp>
      <p:sp>
        <p:nvSpPr>
          <p:cNvPr id="6" name="Shape 4"/>
          <p:cNvSpPr/>
          <p:nvPr/>
        </p:nvSpPr>
        <p:spPr>
          <a:xfrm>
            <a:off x="502920" y="1444752"/>
            <a:ext cx="11183112" cy="1097280"/>
          </a:xfrm>
          <a:prstGeom prst="rect">
            <a:avLst/>
          </a:prstGeom>
          <a:solidFill>
            <a:srgbClr val="1A2E4A"/>
          </a:solidFill>
          <a:ln/>
        </p:spPr>
      </p:sp>
      <p:sp>
        <p:nvSpPr>
          <p:cNvPr id="7" name="Text 5"/>
          <p:cNvSpPr/>
          <p:nvPr/>
        </p:nvSpPr>
        <p:spPr>
          <a:xfrm>
            <a:off x="685800" y="1572768"/>
            <a:ext cx="10817352" cy="530352"/>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C₂  =  ( Y₁ − C₁ ) ( 1 + r )  +  Y₂</a:t>
            </a:r>
            <a:endParaRPr lang="en-US" sz="2200" dirty="0"/>
          </a:p>
        </p:txBody>
      </p:sp>
      <p:sp>
        <p:nvSpPr>
          <p:cNvPr id="8" name="Text 6"/>
          <p:cNvSpPr/>
          <p:nvPr/>
        </p:nvSpPr>
        <p:spPr>
          <a:xfrm>
            <a:off x="685800" y="2029968"/>
            <a:ext cx="10817352" cy="402336"/>
          </a:xfrm>
          <a:prstGeom prst="rect">
            <a:avLst/>
          </a:prstGeom>
          <a:noFill/>
          <a:ln/>
        </p:spPr>
        <p:txBody>
          <a:bodyPr wrap="square" lIns="0" tIns="0" rIns="0" bIns="0" rtlCol="0" anchor="ctr"/>
          <a:lstStyle/>
          <a:p>
            <a:pPr algn="ctr" indent="0" marL="0">
              <a:buNone/>
            </a:pPr>
            <a:r>
              <a:rPr lang="en-US" sz="1150" i="1" dirty="0">
                <a:solidFill>
                  <a:srgbClr val="E8C87A"/>
                </a:solidFill>
                <a:latin typeface="Calibri" pitchFamily="34" charset="0"/>
                <a:ea typeface="Calibri" pitchFamily="34" charset="-122"/>
                <a:cs typeface="Calibri" pitchFamily="34" charset="-120"/>
              </a:rPr>
              <a:t>Period-2 consumption equals period-2 income plus period-1 saving carried forward at interest. If C₁ &gt; Y₁ the first term is NEGATIVE — the agent is borrowing, and repays principal plus interest out of Y₂.</a:t>
            </a:r>
            <a:endParaRPr lang="en-US" sz="11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02920" y="2724912"/>
          <a:ext cx="11183112" cy="914400"/>
        </p:xfrm>
        <a:graphic>
          <a:graphicData uri="http://schemas.openxmlformats.org/drawingml/2006/table">
            <a:tbl>
              <a:tblPr/>
              <a:tblGrid>
                <a:gridCol w="2286000"/>
                <a:gridCol w="2651760"/>
                <a:gridCol w="6245352"/>
              </a:tblGrid>
              <a:tr h="347472">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CONCEPT</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FORMULA OR RULE</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ECONOMIC INTERPRETATION</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347472">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Intertemporal constraint</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C₂ = (Y₁ − C₁)(1 + r) + Y₂</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The complete set of consumption paths reachable given income in both periods and access to credit at rate r.</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347472">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Slope of the constraint</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−(1 + r)</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To get $1 more NOW, you must give up $1 + $1×r of consumption LATER. The interest rate IS the price of present consumption.</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347472">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Endowment point</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(C₁, C₂) = (Y₁, Y₂)</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The no-borrowing, no-lending point. The constraint always passes through it, so a change in r rotates the line ABOUT this point.</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347472">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Discount rate (r)</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the market interest rate</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The rate at which future dollars are converted into present dollars. Present value of $X received next period = X / (1 + r).</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347472">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Julia — BORROWER</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C₁ &gt; Y₁</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A net BUYER of present consumption. Consumes more than current income now; repays with interest later.</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347472">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Marco — LENDER</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C₁ &lt; Y₁</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A net SELLER of present consumption. Saves now; consumes principal plus interest later.</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bl>
          </a:graphicData>
        </a:graphic>
      </p:graphicFrame>
      <p:sp>
        <p:nvSpPr>
          <p:cNvPr id="10" name="Shape 7"/>
          <p:cNvSpPr/>
          <p:nvPr/>
        </p:nvSpPr>
        <p:spPr>
          <a:xfrm>
            <a:off x="502920" y="5440680"/>
            <a:ext cx="11183112" cy="685800"/>
          </a:xfrm>
          <a:prstGeom prst="rect">
            <a:avLst/>
          </a:prstGeom>
          <a:solidFill>
            <a:srgbClr val="1A2E4A"/>
          </a:solidFill>
          <a:ln/>
        </p:spPr>
      </p:sp>
      <p:sp>
        <p:nvSpPr>
          <p:cNvPr id="11" name="Text 8"/>
          <p:cNvSpPr/>
          <p:nvPr/>
        </p:nvSpPr>
        <p:spPr>
          <a:xfrm>
            <a:off x="758952" y="556869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THE ONE SENTENCE TO REMEMBER</a:t>
            </a:r>
            <a:endParaRPr lang="en-US" sz="1050" dirty="0"/>
          </a:p>
        </p:txBody>
      </p:sp>
      <p:sp>
        <p:nvSpPr>
          <p:cNvPr id="12" name="Text 9"/>
          <p:cNvSpPr/>
          <p:nvPr/>
        </p:nvSpPr>
        <p:spPr>
          <a:xfrm>
            <a:off x="758952" y="5843016"/>
            <a:ext cx="10671048" cy="118872"/>
          </a:xfrm>
          <a:prstGeom prst="rect">
            <a:avLst/>
          </a:prstGeom>
          <a:noFill/>
          <a:ln/>
        </p:spPr>
        <p:txBody>
          <a:bodyPr wrap="square" lIns="0" tIns="0" rIns="0" bIns="0" rtlCol="0" anchor="t"/>
          <a:lstStyle/>
          <a:p>
            <a:pPr indent="0" marL="0">
              <a:lnSpc>
                <a:spcPts val="1400"/>
              </a:lnSpc>
              <a:buNone/>
            </a:pPr>
            <a:r>
              <a:rPr lang="en-US" sz="1000" dirty="0">
                <a:solidFill>
                  <a:srgbClr val="FFFFFF"/>
                </a:solidFill>
                <a:latin typeface="Calibri" pitchFamily="34" charset="0"/>
                <a:ea typeface="Calibri" pitchFamily="34" charset="-122"/>
                <a:cs typeface="Calibri" pitchFamily="34" charset="-120"/>
              </a:rPr>
              <a:t>THE INTEREST RATE IS THE OPPORTUNITY COST OF PRESENT CONSUMPTION. Everything else in Part 3 follows from that.</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SCENARIO · JULIA &amp; MARCO</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Computing the Two-Period Model</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2: CONSTRAINED CHOICE OVER TIME</a:t>
            </a:r>
            <a:endParaRPr lang="en-US" sz="900" dirty="0"/>
          </a:p>
        </p:txBody>
      </p:sp>
      <p:sp>
        <p:nvSpPr>
          <p:cNvPr id="6" name="Text 4"/>
          <p:cNvSpPr/>
          <p:nvPr/>
        </p:nvSpPr>
        <p:spPr>
          <a:xfrm>
            <a:off x="502920" y="1417320"/>
            <a:ext cx="5394960" cy="548640"/>
          </a:xfrm>
          <a:prstGeom prst="rect">
            <a:avLst/>
          </a:prstGeom>
          <a:noFill/>
          <a:ln/>
        </p:spPr>
        <p:txBody>
          <a:bodyPr wrap="square" lIns="0" tIns="0" rIns="0" bIns="0" rtlCol="0" anchor="ctr"/>
          <a:lstStyle/>
          <a:p>
            <a:pPr indent="0" marL="0">
              <a:lnSpc>
                <a:spcPts val="1850"/>
              </a:lnSpc>
              <a:buNone/>
            </a:pPr>
            <a:r>
              <a:rPr lang="en-US" sz="1250" dirty="0">
                <a:solidFill>
                  <a:srgbClr val="4A6180"/>
                </a:solidFill>
                <a:latin typeface="Calibri" pitchFamily="34" charset="0"/>
                <a:ea typeface="Calibri" pitchFamily="34" charset="-122"/>
                <a:cs typeface="Calibri" pitchFamily="34" charset="-120"/>
              </a:rPr>
              <a:t>Given: Y₁ = $40,000; Y₂ = $50,000; r = 10%. Julia chooses C₁ = $50,000 (borrows). Marco chooses C₁ = $30,000 (saves). Compute C₂ for each.</a:t>
            </a:r>
            <a:endParaRPr lang="en-US" sz="1250" dirty="0"/>
          </a:p>
        </p:txBody>
      </p:sp>
      <p:sp>
        <p:nvSpPr>
          <p:cNvPr id="7" name="Shape 5"/>
          <p:cNvSpPr/>
          <p:nvPr/>
        </p:nvSpPr>
        <p:spPr>
          <a:xfrm>
            <a:off x="502920" y="2011680"/>
            <a:ext cx="5394960" cy="146304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8" name="Text 6"/>
          <p:cNvSpPr/>
          <p:nvPr/>
        </p:nvSpPr>
        <p:spPr>
          <a:xfrm>
            <a:off x="758952" y="2194560"/>
            <a:ext cx="4882896" cy="384048"/>
          </a:xfrm>
          <a:prstGeom prst="rect">
            <a:avLst/>
          </a:prstGeom>
          <a:noFill/>
          <a:ln/>
        </p:spPr>
        <p:txBody>
          <a:bodyPr wrap="square" lIns="0" tIns="0" rIns="0" bIns="0" rtlCol="0" anchor="ctr"/>
          <a:lstStyle/>
          <a:p>
            <a:pPr indent="0" marL="0">
              <a:buNone/>
            </a:pPr>
            <a:r>
              <a:rPr lang="en-US" sz="1550" b="1" dirty="0">
                <a:solidFill>
                  <a:srgbClr val="9E2A2B"/>
                </a:solidFill>
                <a:latin typeface="Cambria" pitchFamily="34" charset="0"/>
                <a:ea typeface="Cambria" pitchFamily="34" charset="-122"/>
                <a:cs typeface="Cambria" pitchFamily="34" charset="-120"/>
              </a:rPr>
              <a:t>JULIA — THE BORROWER</a:t>
            </a:r>
            <a:endParaRPr lang="en-US" sz="1550" dirty="0"/>
          </a:p>
        </p:txBody>
      </p:sp>
      <p:sp>
        <p:nvSpPr>
          <p:cNvPr id="9" name="Text 7"/>
          <p:cNvSpPr/>
          <p:nvPr/>
        </p:nvSpPr>
        <p:spPr>
          <a:xfrm>
            <a:off x="758952" y="2596896"/>
            <a:ext cx="4882896" cy="64008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C₂ = (40,000 − 50,000)(1.10) + 50,000</a:t>
            </a: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C₂ = (−10,000)(1.10) + 50,000</a:t>
            </a: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C₂ = −11,000 + 50,000  =  $39,000</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She consumes $10,000 more today and gives up $11,000 tomorrow. The $1,000 gap is the interest — the price she paid for time.</a:t>
            </a:r>
            <a:endParaRPr lang="en-US" sz="850" dirty="0"/>
          </a:p>
        </p:txBody>
      </p:sp>
      <p:sp>
        <p:nvSpPr>
          <p:cNvPr id="10" name="Shape 8"/>
          <p:cNvSpPr/>
          <p:nvPr/>
        </p:nvSpPr>
        <p:spPr>
          <a:xfrm>
            <a:off x="502920" y="3611880"/>
            <a:ext cx="5394960" cy="146304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1" name="Text 9"/>
          <p:cNvSpPr/>
          <p:nvPr/>
        </p:nvSpPr>
        <p:spPr>
          <a:xfrm>
            <a:off x="758952" y="3794760"/>
            <a:ext cx="4882896" cy="384048"/>
          </a:xfrm>
          <a:prstGeom prst="rect">
            <a:avLst/>
          </a:prstGeom>
          <a:noFill/>
          <a:ln/>
        </p:spPr>
        <p:txBody>
          <a:bodyPr wrap="square" lIns="0" tIns="0" rIns="0" bIns="0" rtlCol="0" anchor="ctr"/>
          <a:lstStyle/>
          <a:p>
            <a:pPr indent="0" marL="0">
              <a:buNone/>
            </a:pPr>
            <a:r>
              <a:rPr lang="en-US" sz="1550" b="1" dirty="0">
                <a:solidFill>
                  <a:srgbClr val="1A2E4A"/>
                </a:solidFill>
                <a:latin typeface="Cambria" pitchFamily="34" charset="0"/>
                <a:ea typeface="Cambria" pitchFamily="34" charset="-122"/>
                <a:cs typeface="Cambria" pitchFamily="34" charset="-120"/>
              </a:rPr>
              <a:t>MARCO — THE LENDER</a:t>
            </a:r>
            <a:endParaRPr lang="en-US" sz="1550" dirty="0"/>
          </a:p>
        </p:txBody>
      </p:sp>
      <p:sp>
        <p:nvSpPr>
          <p:cNvPr id="12" name="Text 10"/>
          <p:cNvSpPr/>
          <p:nvPr/>
        </p:nvSpPr>
        <p:spPr>
          <a:xfrm>
            <a:off x="758952" y="4197096"/>
            <a:ext cx="4882896" cy="64008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C₂ = (40,000 − 30,000)(1.10) + 50,000</a:t>
            </a: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C₂ = (10,000)(1.10) + 50,000</a:t>
            </a: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C₂ = 11,000 + 50,000  =  $61,000</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He gives up $10,000 today and receives $11,000 tomorrow. The $1,000 is what he was paid for waiting.</a:t>
            </a:r>
            <a:endParaRPr lang="en-US" sz="850" dirty="0"/>
          </a:p>
        </p:txBody>
      </p:sp>
      <p:sp>
        <p:nvSpPr>
          <p:cNvPr id="13" name="Shape 11"/>
          <p:cNvSpPr/>
          <p:nvPr/>
        </p:nvSpPr>
        <p:spPr>
          <a:xfrm>
            <a:off x="502920" y="5212080"/>
            <a:ext cx="5394960" cy="914400"/>
          </a:xfrm>
          <a:prstGeom prst="rect">
            <a:avLst/>
          </a:prstGeom>
          <a:solidFill>
            <a:srgbClr val="1A2E4A"/>
          </a:solidFill>
          <a:ln/>
        </p:spPr>
      </p:sp>
      <p:sp>
        <p:nvSpPr>
          <p:cNvPr id="14" name="Text 12"/>
          <p:cNvSpPr/>
          <p:nvPr/>
        </p:nvSpPr>
        <p:spPr>
          <a:xfrm>
            <a:off x="758952" y="5340096"/>
            <a:ext cx="4882896"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CHECK YOUR WORK</a:t>
            </a:r>
            <a:endParaRPr lang="en-US" sz="1050" dirty="0"/>
          </a:p>
        </p:txBody>
      </p:sp>
      <p:sp>
        <p:nvSpPr>
          <p:cNvPr id="15" name="Text 13"/>
          <p:cNvSpPr/>
          <p:nvPr/>
        </p:nvSpPr>
        <p:spPr>
          <a:xfrm>
            <a:off x="758952" y="5614416"/>
            <a:ext cx="4882896" cy="347472"/>
          </a:xfrm>
          <a:prstGeom prst="rect">
            <a:avLst/>
          </a:prstGeom>
          <a:noFill/>
          <a:ln/>
        </p:spPr>
        <p:txBody>
          <a:bodyPr wrap="square" lIns="0" tIns="0" rIns="0" bIns="0" rtlCol="0" anchor="t"/>
          <a:lstStyle/>
          <a:p>
            <a:pPr indent="0" marL="0">
              <a:lnSpc>
                <a:spcPts val="1400"/>
              </a:lnSpc>
              <a:buNone/>
            </a:pPr>
            <a:r>
              <a:rPr lang="en-US" sz="1000" dirty="0">
                <a:solidFill>
                  <a:srgbClr val="FFFFFF"/>
                </a:solidFill>
                <a:latin typeface="Calibri" pitchFamily="34" charset="0"/>
                <a:ea typeface="Calibri" pitchFamily="34" charset="-122"/>
                <a:cs typeface="Calibri" pitchFamily="34" charset="-120"/>
              </a:rPr>
              <a:t>Both points must lie on the SAME line. Both do: the constraint runs from (0, 94,000) to (85,455, 0), passing through the endowment (40,000, 50,000).</a:t>
            </a:r>
            <a:endParaRPr lang="en-US" sz="1000" dirty="0"/>
          </a:p>
        </p:txBody>
      </p:sp>
      <p:pic>
        <p:nvPicPr>
          <p:cNvPr id="16" name="Image 0" descr="figs/m2_intertemporal.png">    </p:cNvPr>
          <p:cNvPicPr>
            <a:picLocks noChangeAspect="1"/>
          </p:cNvPicPr>
          <p:nvPr/>
        </p:nvPicPr>
        <p:blipFill>
          <a:blip r:embed="rId1"/>
          <a:stretch>
            <a:fillRect/>
          </a:stretch>
        </p:blipFill>
        <p:spPr>
          <a:xfrm>
            <a:off x="6035040" y="1905836"/>
            <a:ext cx="5669280" cy="3686409"/>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3 · COMPARATIVE STATICS</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What Happens When the Interest Rate Rises to 15%?</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2: CONSTRAINED CHOICE OVER TIME</a:t>
            </a:r>
            <a:endParaRPr lang="en-US" sz="900" dirty="0"/>
          </a:p>
        </p:txBody>
      </p:sp>
      <p:pic>
        <p:nvPicPr>
          <p:cNvPr id="6" name="Image 0" descr="figs/m2_raterise.png">    </p:cNvPr>
          <p:cNvPicPr>
            <a:picLocks noChangeAspect="1"/>
          </p:cNvPicPr>
          <p:nvPr/>
        </p:nvPicPr>
        <p:blipFill>
          <a:blip r:embed="rId1"/>
          <a:stretch>
            <a:fillRect/>
          </a:stretch>
        </p:blipFill>
        <p:spPr>
          <a:xfrm>
            <a:off x="502920" y="1666826"/>
            <a:ext cx="5577840" cy="3524347"/>
          </a:xfrm>
          <a:prstGeom prst="rect">
            <a:avLst/>
          </a:prstGeom>
        </p:spPr>
      </p:pic>
      <p:sp>
        <p:nvSpPr>
          <p:cNvPr id="7" name="Shape 4"/>
          <p:cNvSpPr/>
          <p:nvPr/>
        </p:nvSpPr>
        <p:spPr>
          <a:xfrm>
            <a:off x="6263640" y="1444752"/>
            <a:ext cx="5422392" cy="137160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8" name="Text 5"/>
          <p:cNvSpPr/>
          <p:nvPr/>
        </p:nvSpPr>
        <p:spPr>
          <a:xfrm>
            <a:off x="6519672" y="1627632"/>
            <a:ext cx="4910328" cy="384048"/>
          </a:xfrm>
          <a:prstGeom prst="rect">
            <a:avLst/>
          </a:prstGeom>
          <a:noFill/>
          <a:ln/>
        </p:spPr>
        <p:txBody>
          <a:bodyPr wrap="square" lIns="0" tIns="0" rIns="0" bIns="0" rtlCol="0" anchor="ctr"/>
          <a:lstStyle/>
          <a:p>
            <a:pPr indent="0" marL="0">
              <a:buNone/>
            </a:pPr>
            <a:r>
              <a:rPr lang="en-US" sz="1550" b="1" dirty="0">
                <a:solidFill>
                  <a:srgbClr val="9E2A2B"/>
                </a:solidFill>
                <a:latin typeface="Cambria" pitchFamily="34" charset="0"/>
                <a:ea typeface="Cambria" pitchFamily="34" charset="-122"/>
                <a:cs typeface="Cambria" pitchFamily="34" charset="-120"/>
              </a:rPr>
              <a:t>JULIA (BORROWER) — WORSE OFF</a:t>
            </a:r>
            <a:endParaRPr lang="en-US" sz="1550" dirty="0"/>
          </a:p>
        </p:txBody>
      </p:sp>
      <p:sp>
        <p:nvSpPr>
          <p:cNvPr id="9" name="Text 6"/>
          <p:cNvSpPr/>
          <p:nvPr/>
        </p:nvSpPr>
        <p:spPr>
          <a:xfrm>
            <a:off x="6519672" y="2029968"/>
            <a:ext cx="4910328" cy="548640"/>
          </a:xfrm>
          <a:prstGeom prst="rect">
            <a:avLst/>
          </a:prstGeom>
          <a:noFill/>
          <a:ln/>
        </p:spPr>
        <p:txBody>
          <a:bodyPr wrap="square" lIns="0" tIns="0" rIns="0" bIns="0" rtlCol="0" anchor="t"/>
          <a:lstStyle/>
          <a:p>
            <a:pPr indent="0" marL="0">
              <a:lnSpc>
                <a:spcPts val="1400"/>
              </a:lnSpc>
              <a:buNone/>
            </a:pPr>
            <a:r>
              <a:rPr lang="en-US" sz="1000" dirty="0">
                <a:solidFill>
                  <a:srgbClr val="4A6180"/>
                </a:solidFill>
                <a:latin typeface="Calibri" pitchFamily="34" charset="0"/>
                <a:ea typeface="Calibri" pitchFamily="34" charset="-122"/>
                <a:cs typeface="Calibri" pitchFamily="34" charset="-120"/>
              </a:rPr>
              <a:t>Borrowing becomes more EXPENSIVE. Her feasible set CONTRACTS in the region where C₁ &gt; Y₁. At C₁ = 50,000 her C₂ falls from $39,000 to (−10,000)(1.15) + 50,000 = $38,500.</a:t>
            </a:r>
            <a:endParaRPr lang="en-US" sz="1000" dirty="0"/>
          </a:p>
        </p:txBody>
      </p:sp>
      <p:sp>
        <p:nvSpPr>
          <p:cNvPr id="10" name="Shape 7"/>
          <p:cNvSpPr/>
          <p:nvPr/>
        </p:nvSpPr>
        <p:spPr>
          <a:xfrm>
            <a:off x="6263640" y="2944368"/>
            <a:ext cx="5422392" cy="137160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1" name="Text 8"/>
          <p:cNvSpPr/>
          <p:nvPr/>
        </p:nvSpPr>
        <p:spPr>
          <a:xfrm>
            <a:off x="6519672" y="3127248"/>
            <a:ext cx="4910328" cy="384048"/>
          </a:xfrm>
          <a:prstGeom prst="rect">
            <a:avLst/>
          </a:prstGeom>
          <a:noFill/>
          <a:ln/>
        </p:spPr>
        <p:txBody>
          <a:bodyPr wrap="square" lIns="0" tIns="0" rIns="0" bIns="0" rtlCol="0" anchor="ctr"/>
          <a:lstStyle/>
          <a:p>
            <a:pPr indent="0" marL="0">
              <a:buNone/>
            </a:pPr>
            <a:r>
              <a:rPr lang="en-US" sz="1550" b="1" dirty="0">
                <a:solidFill>
                  <a:srgbClr val="1A2E4A"/>
                </a:solidFill>
                <a:latin typeface="Cambria" pitchFamily="34" charset="0"/>
                <a:ea typeface="Cambria" pitchFamily="34" charset="-122"/>
                <a:cs typeface="Cambria" pitchFamily="34" charset="-120"/>
              </a:rPr>
              <a:t>MARCO (LENDER) — BETTER OFF</a:t>
            </a:r>
            <a:endParaRPr lang="en-US" sz="1550" dirty="0"/>
          </a:p>
        </p:txBody>
      </p:sp>
      <p:sp>
        <p:nvSpPr>
          <p:cNvPr id="12" name="Text 9"/>
          <p:cNvSpPr/>
          <p:nvPr/>
        </p:nvSpPr>
        <p:spPr>
          <a:xfrm>
            <a:off x="6519672" y="3529584"/>
            <a:ext cx="4910328" cy="548640"/>
          </a:xfrm>
          <a:prstGeom prst="rect">
            <a:avLst/>
          </a:prstGeom>
          <a:noFill/>
          <a:ln/>
        </p:spPr>
        <p:txBody>
          <a:bodyPr wrap="square" lIns="0" tIns="0" rIns="0" bIns="0" rtlCol="0" anchor="t"/>
          <a:lstStyle/>
          <a:p>
            <a:pPr indent="0" marL="0">
              <a:lnSpc>
                <a:spcPts val="1400"/>
              </a:lnSpc>
              <a:buNone/>
            </a:pPr>
            <a:r>
              <a:rPr lang="en-US" sz="1000" dirty="0">
                <a:solidFill>
                  <a:srgbClr val="4A6180"/>
                </a:solidFill>
                <a:latin typeface="Calibri" pitchFamily="34" charset="0"/>
                <a:ea typeface="Calibri" pitchFamily="34" charset="-122"/>
                <a:cs typeface="Calibri" pitchFamily="34" charset="-120"/>
              </a:rPr>
              <a:t>Lending earns MORE. His feasible set EXPANDS in the region where C₁ &lt; Y₁. At C₁ = 30,000 his C₂ rises from $61,000 to (10,000)(1.15) + 50,000 = $61,500.</a:t>
            </a:r>
            <a:endParaRPr lang="en-US" sz="1000" dirty="0"/>
          </a:p>
        </p:txBody>
      </p:sp>
      <p:sp>
        <p:nvSpPr>
          <p:cNvPr id="13" name="Shape 10"/>
          <p:cNvSpPr/>
          <p:nvPr/>
        </p:nvSpPr>
        <p:spPr>
          <a:xfrm>
            <a:off x="6263640" y="4443984"/>
            <a:ext cx="5422392" cy="169164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4" name="Text 11"/>
          <p:cNvSpPr/>
          <p:nvPr/>
        </p:nvSpPr>
        <p:spPr>
          <a:xfrm>
            <a:off x="6519672" y="4626864"/>
            <a:ext cx="4910328" cy="384048"/>
          </a:xfrm>
          <a:prstGeom prst="rect">
            <a:avLst/>
          </a:prstGeom>
          <a:noFill/>
          <a:ln/>
        </p:spPr>
        <p:txBody>
          <a:bodyPr wrap="square" lIns="0" tIns="0" rIns="0" bIns="0" rtlCol="0" anchor="ctr"/>
          <a:lstStyle/>
          <a:p>
            <a:pPr indent="0" marL="0">
              <a:buNone/>
            </a:pPr>
            <a:r>
              <a:rPr lang="en-US" sz="1550" b="1" dirty="0">
                <a:solidFill>
                  <a:srgbClr val="C0892E"/>
                </a:solidFill>
                <a:latin typeface="Cambria" pitchFamily="34" charset="0"/>
                <a:ea typeface="Cambria" pitchFamily="34" charset="-122"/>
                <a:cs typeface="Cambria" pitchFamily="34" charset="-120"/>
              </a:rPr>
              <a:t>INCOME vs. SUBSTITUTION EFFECT</a:t>
            </a:r>
            <a:endParaRPr lang="en-US" sz="1550" dirty="0"/>
          </a:p>
        </p:txBody>
      </p:sp>
      <p:sp>
        <p:nvSpPr>
          <p:cNvPr id="15" name="Text 12"/>
          <p:cNvSpPr/>
          <p:nvPr/>
        </p:nvSpPr>
        <p:spPr>
          <a:xfrm>
            <a:off x="6519672" y="5029200"/>
            <a:ext cx="4910328" cy="86868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SUBSTITUTION EFFECT (everyone): r ↑ → present consumption is more expensive → shift consumption TOWARD LATER.</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INCOME EFFECT (lender): r ↑ → the feasible set EXPANDS → Marco can afford more in BOTH periods, which pushes toward more present consumption too. For a lender the two effects OPPOSE each other; for a borrower they REINFORCE, so a borrower unambiguously cuts present consumption.</a:t>
            </a:r>
            <a:endParaRPr lang="en-US" sz="850" dirty="0"/>
          </a:p>
        </p:txBody>
      </p:sp>
      <p:sp>
        <p:nvSpPr>
          <p:cNvPr id="16" name="Shape 13"/>
          <p:cNvSpPr/>
          <p:nvPr/>
        </p:nvSpPr>
        <p:spPr>
          <a:xfrm>
            <a:off x="502920" y="5532120"/>
            <a:ext cx="5577840" cy="594360"/>
          </a:xfrm>
          <a:prstGeom prst="rect">
            <a:avLst/>
          </a:prstGeom>
          <a:solidFill>
            <a:srgbClr val="1A2E4A"/>
          </a:solidFill>
          <a:ln/>
        </p:spPr>
      </p:sp>
      <p:sp>
        <p:nvSpPr>
          <p:cNvPr id="17" name="Text 14"/>
          <p:cNvSpPr/>
          <p:nvPr/>
        </p:nvSpPr>
        <p:spPr>
          <a:xfrm>
            <a:off x="758952" y="5660136"/>
            <a:ext cx="5065776"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✦3  WHO BENEFITS FROM A RISING RATE?</a:t>
            </a:r>
            <a:endParaRPr lang="en-US" sz="1050" dirty="0"/>
          </a:p>
        </p:txBody>
      </p:sp>
      <p:sp>
        <p:nvSpPr>
          <p:cNvPr id="18" name="Text 15"/>
          <p:cNvSpPr/>
          <p:nvPr/>
        </p:nvSpPr>
        <p:spPr>
          <a:xfrm>
            <a:off x="758952" y="5934456"/>
            <a:ext cx="5065776" cy="27432"/>
          </a:xfrm>
          <a:prstGeom prst="rect">
            <a:avLst/>
          </a:prstGeom>
          <a:noFill/>
          <a:ln/>
        </p:spPr>
        <p:txBody>
          <a:bodyPr wrap="square" lIns="0" tIns="0" rIns="0" bIns="0" rtlCol="0" anchor="t"/>
          <a:lstStyle/>
          <a:p>
            <a:pPr indent="0" marL="0">
              <a:lnSpc>
                <a:spcPts val="1400"/>
              </a:lnSpc>
              <a:buNone/>
            </a:pPr>
            <a:r>
              <a:rPr lang="en-US" sz="1000" dirty="0">
                <a:solidFill>
                  <a:srgbClr val="FFFFFF"/>
                </a:solidFill>
                <a:latin typeface="Calibri" pitchFamily="34" charset="0"/>
                <a:ea typeface="Calibri" pitchFamily="34" charset="-122"/>
                <a:cs typeface="Calibri" pitchFamily="34" charset="-120"/>
              </a:rPr>
              <a:t>NET SELLERS of present consumption — lenders and savers. NET BUYERS — borrowers — are made worse off. The rate is a price, and a price change always helps one side of the market.</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SCENARIO · SEOUL 1968 &amp; PHILADELPHIA TODAY</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Hana, Marcus, and the Structural Credit Barrier</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2: CONSTRAINED CHOICE OVER TIME</a:t>
            </a:r>
            <a:endParaRPr lang="en-US" sz="900" dirty="0"/>
          </a:p>
        </p:txBody>
      </p:sp>
      <p:sp>
        <p:nvSpPr>
          <p:cNvPr id="6" name="Shape 4"/>
          <p:cNvSpPr/>
          <p:nvPr/>
        </p:nvSpPr>
        <p:spPr>
          <a:xfrm>
            <a:off x="502920" y="1444752"/>
            <a:ext cx="5486400" cy="219456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7" name="Text 5"/>
          <p:cNvSpPr/>
          <p:nvPr/>
        </p:nvSpPr>
        <p:spPr>
          <a:xfrm>
            <a:off x="758952" y="1627632"/>
            <a:ext cx="4974336" cy="384048"/>
          </a:xfrm>
          <a:prstGeom prst="rect">
            <a:avLst/>
          </a:prstGeom>
          <a:noFill/>
          <a:ln/>
        </p:spPr>
        <p:txBody>
          <a:bodyPr wrap="square" lIns="0" tIns="0" rIns="0" bIns="0" rtlCol="0" anchor="ctr"/>
          <a:lstStyle/>
          <a:p>
            <a:pPr indent="0" marL="0">
              <a:buNone/>
            </a:pPr>
            <a:r>
              <a:rPr lang="en-US" sz="1550" b="1" dirty="0">
                <a:solidFill>
                  <a:srgbClr val="1A2E4A"/>
                </a:solidFill>
                <a:latin typeface="Cambria" pitchFamily="34" charset="0"/>
                <a:ea typeface="Cambria" pitchFamily="34" charset="-122"/>
                <a:cs typeface="Cambria" pitchFamily="34" charset="-120"/>
              </a:rPr>
              <a:t>HANA IN SEOUL — SOUTH KOREA, 1968</a:t>
            </a:r>
            <a:endParaRPr lang="en-US" sz="1550" dirty="0"/>
          </a:p>
        </p:txBody>
      </p:sp>
      <p:sp>
        <p:nvSpPr>
          <p:cNvPr id="8" name="Text 6"/>
          <p:cNvSpPr/>
          <p:nvPr/>
        </p:nvSpPr>
        <p:spPr>
          <a:xfrm>
            <a:off x="758952" y="2029968"/>
            <a:ext cx="4974336" cy="137160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Hana works in a textile factory earning $8 per week. She wants a $100 sewing machine to establish her own enterprise. The only available credit carries 60% per annum.</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Monthly earnings ≈ $8 × 4.33 = $34.67</a:t>
            </a: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Simple interest on $100 at 60% APR = $60/year ≈ $5.00/month, plus principal. A 12-month repayment ≈ $13.33/month — roughly 38% of her monthly income before food, rent or transport.</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The loan sits at the edge of, and most likely outside, her feasible set — even though the machine would raise her productivity.</a:t>
            </a:r>
            <a:endParaRPr lang="en-US" sz="850" dirty="0"/>
          </a:p>
        </p:txBody>
      </p:sp>
      <p:sp>
        <p:nvSpPr>
          <p:cNvPr id="9" name="Shape 7"/>
          <p:cNvSpPr/>
          <p:nvPr/>
        </p:nvSpPr>
        <p:spPr>
          <a:xfrm>
            <a:off x="6199632" y="1444752"/>
            <a:ext cx="5486400" cy="219456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0" name="Text 8"/>
          <p:cNvSpPr/>
          <p:nvPr/>
        </p:nvSpPr>
        <p:spPr>
          <a:xfrm>
            <a:off x="6455664" y="1627632"/>
            <a:ext cx="4974336" cy="384048"/>
          </a:xfrm>
          <a:prstGeom prst="rect">
            <a:avLst/>
          </a:prstGeom>
          <a:noFill/>
          <a:ln/>
        </p:spPr>
        <p:txBody>
          <a:bodyPr wrap="square" lIns="0" tIns="0" rIns="0" bIns="0" rtlCol="0" anchor="ctr"/>
          <a:lstStyle/>
          <a:p>
            <a:pPr indent="0" marL="0">
              <a:buNone/>
            </a:pPr>
            <a:r>
              <a:rPr lang="en-US" sz="1550" b="1" dirty="0">
                <a:solidFill>
                  <a:srgbClr val="9E2A2B"/>
                </a:solidFill>
                <a:latin typeface="Cambria" pitchFamily="34" charset="0"/>
                <a:ea typeface="Cambria" pitchFamily="34" charset="-122"/>
                <a:cs typeface="Cambria" pitchFamily="34" charset="-120"/>
              </a:rPr>
              <a:t>MARCUS TODAY — THE $15,000 FOOD CART</a:t>
            </a:r>
            <a:endParaRPr lang="en-US" sz="1550" dirty="0"/>
          </a:p>
        </p:txBody>
      </p:sp>
      <p:sp>
        <p:nvSpPr>
          <p:cNvPr id="11" name="Text 9"/>
          <p:cNvSpPr/>
          <p:nvPr/>
        </p:nvSpPr>
        <p:spPr>
          <a:xfrm>
            <a:off x="6455664" y="2029968"/>
            <a:ext cx="4974336" cy="1371600"/>
          </a:xfrm>
          <a:prstGeom prst="rect">
            <a:avLst/>
          </a:prstGeom>
          <a:noFill/>
          <a:ln/>
        </p:spPr>
        <p:txBody>
          <a:bodyPr wrap="square" lIns="0" tIns="0" rIns="0" bIns="0" rtlCol="0" anchor="t"/>
          <a:lstStyle/>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At 6% APR, Marcus can service the debt: the investment's return exceeds the cost of capital, so borrowing is rational and welfare-improving.</a:t>
            </a:r>
            <a:endParaRPr lang="en-US" sz="900" dirty="0"/>
          </a:p>
          <a:p>
            <a:pPr indent="0" marL="0">
              <a:lnSpc>
                <a:spcPts val="1300"/>
              </a:lnSpc>
              <a:buNone/>
            </a:pPr>
            <a:endParaRPr lang="en-US" sz="900" dirty="0"/>
          </a:p>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At 300% APR (payday lending), he cannot. The identical investment, the identical person, the identical productivity — and the project is now impossible.</a:t>
            </a:r>
            <a:endParaRPr lang="en-US" sz="900" dirty="0"/>
          </a:p>
          <a:p>
            <a:pPr indent="0" marL="0">
              <a:lnSpc>
                <a:spcPts val="1300"/>
              </a:lnSpc>
              <a:buNone/>
            </a:pPr>
            <a:endParaRPr lang="en-US" sz="900" dirty="0"/>
          </a:p>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This is not a preference difference. It is a STRUCTURAL BARRIER: differential access to credit at different prices, determined by which institutions will lend to whom.</a:t>
            </a:r>
            <a:endParaRPr lang="en-US" sz="900" dirty="0"/>
          </a:p>
        </p:txBody>
      </p:sp>
      <p:sp>
        <p:nvSpPr>
          <p:cNvPr id="12" name="Shape 10"/>
          <p:cNvSpPr/>
          <p:nvPr/>
        </p:nvSpPr>
        <p:spPr>
          <a:xfrm>
            <a:off x="502920" y="3794760"/>
            <a:ext cx="11183112" cy="1051560"/>
          </a:xfrm>
          <a:prstGeom prst="rect">
            <a:avLst/>
          </a:prstGeom>
          <a:solidFill>
            <a:srgbClr val="1A2E4A"/>
          </a:solidFill>
          <a:ln/>
        </p:spPr>
      </p:sp>
      <p:sp>
        <p:nvSpPr>
          <p:cNvPr id="13" name="Text 11"/>
          <p:cNvSpPr/>
          <p:nvPr/>
        </p:nvSpPr>
        <p:spPr>
          <a:xfrm>
            <a:off x="685800" y="3922776"/>
            <a:ext cx="10817352" cy="484632"/>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Borrow if and only if:     return on investment  &gt;  r</a:t>
            </a:r>
            <a:endParaRPr lang="en-US" sz="2200" dirty="0"/>
          </a:p>
        </p:txBody>
      </p:sp>
      <p:sp>
        <p:nvSpPr>
          <p:cNvPr id="14" name="Text 12"/>
          <p:cNvSpPr/>
          <p:nvPr/>
        </p:nvSpPr>
        <p:spPr>
          <a:xfrm>
            <a:off x="685800" y="4334256"/>
            <a:ext cx="10817352" cy="402336"/>
          </a:xfrm>
          <a:prstGeom prst="rect">
            <a:avLst/>
          </a:prstGeom>
          <a:noFill/>
          <a:ln/>
        </p:spPr>
        <p:txBody>
          <a:bodyPr wrap="square" lIns="0" tIns="0" rIns="0" bIns="0" rtlCol="0" anchor="ctr"/>
          <a:lstStyle/>
          <a:p>
            <a:pPr algn="ctr" indent="0" marL="0">
              <a:buNone/>
            </a:pPr>
            <a:r>
              <a:rPr lang="en-US" sz="1050" i="1" dirty="0">
                <a:solidFill>
                  <a:srgbClr val="E8C87A"/>
                </a:solidFill>
                <a:latin typeface="Calibri" pitchFamily="34" charset="0"/>
                <a:ea typeface="Calibri" pitchFamily="34" charset="-122"/>
                <a:cs typeface="Calibri" pitchFamily="34" charset="-120"/>
              </a:rPr>
              <a:t>Marcus's risky-investment case: he borrows at 78% to repair a car, and each $1 invested returns $3 next year — a 200% return against a 78% cost. He SHOULD borrow.</a:t>
            </a:r>
            <a:endParaRPr lang="en-US" sz="1050" dirty="0"/>
          </a:p>
          <a:p>
            <a:pPr algn="ctr" indent="0" marL="0">
              <a:buNone/>
            </a:pPr>
            <a:r>
              <a:rPr lang="en-US" sz="1050" i="1" dirty="0">
                <a:solidFill>
                  <a:srgbClr val="E8C87A"/>
                </a:solidFill>
                <a:latin typeface="Calibri" pitchFamily="34" charset="0"/>
                <a:ea typeface="Calibri" pitchFamily="34" charset="-122"/>
                <a:cs typeface="Calibri" pitchFamily="34" charset="-120"/>
              </a:rPr>
              <a:t>The arithmetic does not care that 78% sounds outrageous; it cares only whether the return exceeds the rate.</a:t>
            </a:r>
            <a:endParaRPr lang="en-US" sz="1050" dirty="0"/>
          </a:p>
        </p:txBody>
      </p:sp>
      <p:sp>
        <p:nvSpPr>
          <p:cNvPr id="15" name="Shape 13"/>
          <p:cNvSpPr/>
          <p:nvPr/>
        </p:nvSpPr>
        <p:spPr>
          <a:xfrm>
            <a:off x="502920" y="5029200"/>
            <a:ext cx="11183112" cy="1097280"/>
          </a:xfrm>
          <a:prstGeom prst="rect">
            <a:avLst/>
          </a:prstGeom>
          <a:solidFill>
            <a:srgbClr val="1A2E4A"/>
          </a:solidFill>
          <a:ln/>
        </p:spPr>
      </p:sp>
      <p:sp>
        <p:nvSpPr>
          <p:cNvPr id="16" name="Text 14"/>
          <p:cNvSpPr/>
          <p:nvPr/>
        </p:nvSpPr>
        <p:spPr>
          <a:xfrm>
            <a:off x="758952" y="515721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✦4  WHAT INSTITUTION COULD CHANGE THE FEASIBLE SET?</a:t>
            </a:r>
            <a:endParaRPr lang="en-US" sz="1050" dirty="0"/>
          </a:p>
        </p:txBody>
      </p:sp>
      <p:sp>
        <p:nvSpPr>
          <p:cNvPr id="17" name="Text 15"/>
          <p:cNvSpPr/>
          <p:nvPr/>
        </p:nvSpPr>
        <p:spPr>
          <a:xfrm>
            <a:off x="758952" y="5431536"/>
            <a:ext cx="10671048" cy="530352"/>
          </a:xfrm>
          <a:prstGeom prst="rect">
            <a:avLst/>
          </a:prstGeom>
          <a:noFill/>
          <a:ln/>
        </p:spPr>
        <p:txBody>
          <a:bodyPr wrap="square" lIns="0" tIns="0" rIns="0" bIns="0" rtlCol="0" anchor="t"/>
          <a:lstStyle/>
          <a:p>
            <a:pPr indent="0" marL="0">
              <a:lnSpc>
                <a:spcPts val="1400"/>
              </a:lnSpc>
              <a:buNone/>
            </a:pPr>
            <a:r>
              <a:rPr lang="en-US" sz="1000" dirty="0">
                <a:solidFill>
                  <a:srgbClr val="FFFFFF"/>
                </a:solidFill>
                <a:latin typeface="Calibri" pitchFamily="34" charset="0"/>
                <a:ea typeface="Calibri" pitchFamily="34" charset="-122"/>
                <a:cs typeface="Calibri" pitchFamily="34" charset="-120"/>
              </a:rPr>
              <a:t>A prohibitive rate does not merely make borrowing expensive — it renders productive investment STRUCTURALLY INACCESSIBLE, making saving the only rational path even when borrowing would generate higher long-run welfare. Candidate institutions: a credit union or community development financial institution; a microfinance lender; a public loan guarantee; usury caps; a state development bank. Each one changes the line, not the preference. Return to this in Modules 6 and 8.</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60520" cy="6858000"/>
          </a:xfrm>
          <a:prstGeom prst="rect">
            <a:avLst/>
          </a:prstGeom>
          <a:solidFill>
            <a:srgbClr val="E8EDF3"/>
          </a:solidFill>
          <a:ln/>
        </p:spPr>
      </p:sp>
      <p:sp>
        <p:nvSpPr>
          <p:cNvPr id="3" name="Text 1"/>
          <p:cNvSpPr/>
          <p:nvPr/>
        </p:nvSpPr>
        <p:spPr>
          <a:xfrm>
            <a:off x="685800" y="1965960"/>
            <a:ext cx="2926080" cy="1737360"/>
          </a:xfrm>
          <a:prstGeom prst="rect">
            <a:avLst/>
          </a:prstGeom>
          <a:noFill/>
          <a:ln/>
        </p:spPr>
        <p:txBody>
          <a:bodyPr wrap="square" lIns="0" tIns="0" rIns="0" bIns="0" rtlCol="0" anchor="ctr"/>
          <a:lstStyle/>
          <a:p>
            <a:pPr indent="0" marL="0">
              <a:buNone/>
            </a:pPr>
            <a:r>
              <a:rPr lang="en-US" sz="13000" b="1" dirty="0">
                <a:solidFill>
                  <a:srgbClr val="C0892E"/>
                </a:solidFill>
                <a:latin typeface="Cambria" pitchFamily="34" charset="0"/>
                <a:ea typeface="Cambria" pitchFamily="34" charset="-122"/>
                <a:cs typeface="Cambria" pitchFamily="34" charset="-120"/>
              </a:rPr>
              <a:t>04</a:t>
            </a:r>
            <a:endParaRPr lang="en-US" sz="13000" dirty="0"/>
          </a:p>
        </p:txBody>
      </p:sp>
      <p:sp>
        <p:nvSpPr>
          <p:cNvPr id="4" name="Text 2"/>
          <p:cNvSpPr/>
          <p:nvPr/>
        </p:nvSpPr>
        <p:spPr>
          <a:xfrm>
            <a:off x="777240" y="3703320"/>
            <a:ext cx="2743200" cy="365760"/>
          </a:xfrm>
          <a:prstGeom prst="rect">
            <a:avLst/>
          </a:prstGeom>
          <a:noFill/>
          <a:ln/>
        </p:spPr>
        <p:txBody>
          <a:bodyPr wrap="square" lIns="0" tIns="0" rIns="0" bIns="0" rtlCol="0" anchor="ctr"/>
          <a:lstStyle/>
          <a:p>
            <a:pPr indent="0" marL="0">
              <a:buNone/>
            </a:pPr>
            <a:r>
              <a:rPr lang="en-US" sz="1400" b="1" spc="700" kern="0" dirty="0">
                <a:solidFill>
                  <a:srgbClr val="4A6180"/>
                </a:solidFill>
                <a:latin typeface="Calibri" pitchFamily="34" charset="0"/>
                <a:ea typeface="Calibri" pitchFamily="34" charset="-122"/>
                <a:cs typeface="Calibri" pitchFamily="34" charset="-120"/>
              </a:rPr>
              <a:t>PART</a:t>
            </a:r>
            <a:endParaRPr lang="en-US" sz="1400" dirty="0"/>
          </a:p>
        </p:txBody>
      </p:sp>
      <p:sp>
        <p:nvSpPr>
          <p:cNvPr id="5" name="Text 3"/>
          <p:cNvSpPr/>
          <p:nvPr/>
        </p:nvSpPr>
        <p:spPr>
          <a:xfrm>
            <a:off x="4937760" y="1965960"/>
            <a:ext cx="6675120" cy="1554480"/>
          </a:xfrm>
          <a:prstGeom prst="rect">
            <a:avLst/>
          </a:prstGeom>
          <a:noFill/>
          <a:ln/>
        </p:spPr>
        <p:txBody>
          <a:bodyPr wrap="square" lIns="0" tIns="0" rIns="0" bIns="0" rtlCol="0" anchor="b"/>
          <a:lstStyle/>
          <a:p>
            <a:pPr indent="0" marL="0">
              <a:lnSpc>
                <a:spcPts val="4000"/>
              </a:lnSpc>
              <a:buNone/>
            </a:pPr>
            <a:r>
              <a:rPr lang="en-US" sz="3300" b="1" dirty="0">
                <a:solidFill>
                  <a:srgbClr val="1A2E4A"/>
                </a:solidFill>
                <a:latin typeface="Cambria" pitchFamily="34" charset="0"/>
                <a:ea typeface="Cambria" pitchFamily="34" charset="-122"/>
                <a:cs typeface="Cambria" pitchFamily="34" charset="-120"/>
              </a:rPr>
              <a:t>Behavioral Economics:</a:t>
            </a:r>
            <a:endParaRPr lang="en-US" sz="3300" dirty="0"/>
          </a:p>
          <a:p>
            <a:pPr indent="0" marL="0">
              <a:lnSpc>
                <a:spcPts val="4000"/>
              </a:lnSpc>
              <a:buNone/>
            </a:pPr>
            <a:r>
              <a:rPr lang="en-US" sz="3300" b="1" dirty="0">
                <a:solidFill>
                  <a:srgbClr val="1A2E4A"/>
                </a:solidFill>
                <a:latin typeface="Cambria" pitchFamily="34" charset="0"/>
                <a:ea typeface="Cambria" pitchFamily="34" charset="-122"/>
                <a:cs typeface="Cambria" pitchFamily="34" charset="-120"/>
              </a:rPr>
              <a:t>Systematic Departures from Optimization</a:t>
            </a:r>
            <a:endParaRPr lang="en-US" sz="3300" dirty="0"/>
          </a:p>
        </p:txBody>
      </p:sp>
      <p:sp>
        <p:nvSpPr>
          <p:cNvPr id="6" name="Text 4"/>
          <p:cNvSpPr/>
          <p:nvPr/>
        </p:nvSpPr>
        <p:spPr>
          <a:xfrm>
            <a:off x="4937760" y="3657600"/>
            <a:ext cx="6675120" cy="1554480"/>
          </a:xfrm>
          <a:prstGeom prst="rect">
            <a:avLst/>
          </a:prstGeom>
          <a:noFill/>
          <a:ln/>
        </p:spPr>
        <p:txBody>
          <a:bodyPr wrap="square" lIns="0" tIns="0" rIns="0" bIns="0" rtlCol="0" anchor="ctr"/>
          <a:lstStyle/>
          <a:p>
            <a:pPr indent="0" marL="0">
              <a:lnSpc>
                <a:spcPts val="2400"/>
              </a:lnSpc>
              <a:buNone/>
            </a:pPr>
            <a:r>
              <a:rPr lang="en-US" sz="1200" b="1" spc="200" kern="0" dirty="0">
                <a:solidFill>
                  <a:srgbClr val="C0892E"/>
                </a:solidFill>
                <a:latin typeface="Calibri" pitchFamily="34" charset="0"/>
                <a:ea typeface="Calibri" pitchFamily="34" charset="-122"/>
                <a:cs typeface="Calibri" pitchFamily="34" charset="-120"/>
              </a:rPr>
              <a:t>OBJECTIVE   </a:t>
            </a:r>
            <a:pPr indent="0" marL="0">
              <a:lnSpc>
                <a:spcPts val="2400"/>
              </a:lnSpc>
              <a:buNone/>
            </a:pPr>
            <a:r>
              <a:rPr lang="en-US" sz="1500" dirty="0">
                <a:solidFill>
                  <a:srgbClr val="4A6180"/>
                </a:solidFill>
                <a:latin typeface="Calibri" pitchFamily="34" charset="0"/>
                <a:ea typeface="Calibri" pitchFamily="34" charset="-122"/>
                <a:cs typeface="Calibri" pitchFamily="34" charset="-120"/>
              </a:rPr>
              <a:t>Define bounded rationality (Simon); explain loss aversion and prospect theory (Kahneman &amp; Tversky); apply the bandwidth tax (Mullainathan &amp; Shafir); introduce Sen's capabilities approach as a normative critique.</a:t>
            </a:r>
            <a:endParaRPr lang="en-US" sz="1200" dirty="0"/>
          </a:p>
        </p:txBody>
      </p:sp>
      <p:sp>
        <p:nvSpPr>
          <p:cNvPr id="7" name="Text 5"/>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8" name="Text 6"/>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2: CONSTRAINED CHOICE OVER TIME</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4 · THE CONCEPTUAL TABLE</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Seven Departures from the Rational-Agent Model</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2: CONSTRAINED CHOICE OVER TIME</a:t>
            </a:r>
            <a:endParaRPr lang="en-US" sz="9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02920" y="1481328"/>
          <a:ext cx="11183112" cy="914400"/>
        </p:xfrm>
        <a:graphic>
          <a:graphicData uri="http://schemas.openxmlformats.org/drawingml/2006/table">
            <a:tbl>
              <a:tblPr/>
              <a:tblGrid>
                <a:gridCol w="2148840"/>
                <a:gridCol w="4937760"/>
                <a:gridCol w="4096512"/>
              </a:tblGrid>
              <a:tr h="182880">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CONCEPT &amp; THEORIST</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PRECISE DEFINITION</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APPLICATION TO MARCUS</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182880">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Bounded Rationality</a:t>
                      </a:r>
                      <a:endParaRPr lang="en-US" sz="950" dirty="0">
                        <a:latin typeface="Calibri" charset="0"/>
                        <a:ea typeface="Calibri" charset="0"/>
                        <a:cs typeface="Calibri" charset="0"/>
                      </a:endParaRPr>
                    </a:p>
                    <a:p>
                      <a:pPr algn="l" indent="0" marL="0">
                        <a:buNone/>
                      </a:pPr>
                      <a:r>
                        <a:rPr lang="en-US" sz="950" dirty="0">
                          <a:solidFill>
                            <a:srgbClr val="1A2E4A"/>
                          </a:solidFill>
                          <a:latin typeface="Calibri" pitchFamily="34" charset="0"/>
                          <a:ea typeface="Calibri" pitchFamily="34" charset="-122"/>
                          <a:cs typeface="Calibri" pitchFamily="34" charset="-120"/>
                        </a:rPr>
                        <a:t>(Simon, 1955)</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Agents optimize subject to cognitive limits of ATTENTION, INFORMATION and TIME. They SATISFICE — accept the first option meeting a threshold — rather than maximize.</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Marcus does not compare all twelve lenders. He takes the first that approves him, because searching costs hours he does not have.</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182880">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Loss Aversion</a:t>
                      </a:r>
                      <a:endParaRPr lang="en-US" sz="950" dirty="0">
                        <a:latin typeface="Calibri" charset="0"/>
                        <a:ea typeface="Calibri" charset="0"/>
                        <a:cs typeface="Calibri" charset="0"/>
                      </a:endParaRPr>
                    </a:p>
                    <a:p>
                      <a:pPr algn="l" indent="0" marL="0">
                        <a:buNone/>
                      </a:pPr>
                      <a:r>
                        <a:rPr lang="en-US" sz="950" dirty="0">
                          <a:solidFill>
                            <a:srgbClr val="1A2E4A"/>
                          </a:solidFill>
                          <a:latin typeface="Calibri" pitchFamily="34" charset="0"/>
                          <a:ea typeface="Calibri" pitchFamily="34" charset="-122"/>
                          <a:cs typeface="Calibri" pitchFamily="34" charset="-120"/>
                        </a:rPr>
                        <a:t>(Kahneman &amp; Tversky)</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Losses are weighted more heavily than equivalent gains — experimentally, by a factor of approximately 2 to 2.5.</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Losing his current $15/hr job feels roughly twice as bad as an equivalent raise feels good — so he stays with Ray.</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182880">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Prospect Theory</a:t>
                      </a:r>
                      <a:endParaRPr lang="en-US" sz="950" dirty="0">
                        <a:latin typeface="Calibri" charset="0"/>
                        <a:ea typeface="Calibri" charset="0"/>
                        <a:cs typeface="Calibri" charset="0"/>
                      </a:endParaRPr>
                    </a:p>
                    <a:p>
                      <a:pPr algn="l" indent="0" marL="0">
                        <a:buNone/>
                      </a:pPr>
                      <a:r>
                        <a:rPr lang="en-US" sz="950" dirty="0">
                          <a:solidFill>
                            <a:srgbClr val="1A2E4A"/>
                          </a:solidFill>
                          <a:latin typeface="Calibri" pitchFamily="34" charset="0"/>
                          <a:ea typeface="Calibri" pitchFamily="34" charset="-122"/>
                          <a:cs typeface="Calibri" pitchFamily="34" charset="-120"/>
                        </a:rPr>
                        <a:t>(1979)</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Outcomes are evaluated as gains and losses RELATIVE TO A REFERENCE POINT, not as absolute wealth levels; the value function is concave in gains, convex and steeper in losses.</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Whether the food cart looks like a gain or a loss depends entirely on whether Marcus frames it against his current income or his hoped-for income.</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182880">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Hyperbolic Discounting</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The discount rate is not constant: the near future is discounted very steeply, the far future barely at all — producing time-inconsistent plans.</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He plans to start saving next month, every month. The plan is sincere each time and reversed each time.</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182880">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Present Bias</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The systematic overweighting of immediate payoffs relative to delayed ones — the behavioral consequence of hyperbolic discounting.</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$50 now beats $60 next week, even though no market rate justifies it.</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182880">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Bandwidth Tax</a:t>
                      </a:r>
                      <a:endParaRPr lang="en-US" sz="950" dirty="0">
                        <a:latin typeface="Calibri" charset="0"/>
                        <a:ea typeface="Calibri" charset="0"/>
                        <a:cs typeface="Calibri" charset="0"/>
                      </a:endParaRPr>
                    </a:p>
                    <a:p>
                      <a:pPr algn="l" indent="0" marL="0">
                        <a:buNone/>
                      </a:pPr>
                      <a:r>
                        <a:rPr lang="en-US" sz="950" dirty="0">
                          <a:solidFill>
                            <a:srgbClr val="1A2E4A"/>
                          </a:solidFill>
                          <a:latin typeface="Calibri" pitchFamily="34" charset="0"/>
                          <a:ea typeface="Calibri" pitchFamily="34" charset="-122"/>
                          <a:cs typeface="Calibri" pitchFamily="34" charset="-120"/>
                        </a:rPr>
                        <a:t>(Mullainathan &amp; Shafir)</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Managing scarcity consumes cognitive resources, directly reducing capacity for PLANNING, IMPULSE CONTROL, and long-horizon decision-making.</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Juggling rent, hours and transport leaves less mental bandwidth for the very financial planning that would end the juggling.</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182880">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Sen's Capabilities</a:t>
                      </a:r>
                      <a:endParaRPr lang="en-US" sz="950" dirty="0">
                        <a:latin typeface="Calibri" charset="0"/>
                        <a:ea typeface="Calibri" charset="0"/>
                        <a:cs typeface="Calibri" charset="0"/>
                      </a:endParaRPr>
                    </a:p>
                    <a:p>
                      <a:pPr algn="l" indent="0" marL="0">
                        <a:buNone/>
                      </a:pPr>
                      <a:r>
                        <a:rPr lang="en-US" sz="950" dirty="0">
                          <a:solidFill>
                            <a:srgbClr val="1A2E4A"/>
                          </a:solidFill>
                          <a:latin typeface="Calibri" pitchFamily="34" charset="0"/>
                          <a:ea typeface="Calibri" pitchFamily="34" charset="-122"/>
                          <a:cs typeface="Calibri" pitchFamily="34" charset="-120"/>
                        </a:rPr>
                        <a:t>Approach</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Welfare should be measured by what individuals can actually DO and BE — their real freedoms — not merely by what they consume or earn.</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Marcus's income is one number. His capability set — whether he can start a business, move, or study — is the thing that actually changed.</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bl>
          </a:graphicData>
        </a:graphic>
      </p:graphicFrame>
      <p:sp>
        <p:nvSpPr>
          <p:cNvPr id="7" name="Shape 4"/>
          <p:cNvSpPr/>
          <p:nvPr/>
        </p:nvSpPr>
        <p:spPr>
          <a:xfrm>
            <a:off x="502920" y="5029200"/>
            <a:ext cx="11183112" cy="1097280"/>
          </a:xfrm>
          <a:prstGeom prst="rect">
            <a:avLst/>
          </a:prstGeom>
          <a:solidFill>
            <a:srgbClr val="1A2E4A"/>
          </a:solidFill>
          <a:ln/>
        </p:spPr>
      </p:sp>
      <p:sp>
        <p:nvSpPr>
          <p:cNvPr id="8" name="Text 5"/>
          <p:cNvSpPr/>
          <p:nvPr/>
        </p:nvSpPr>
        <p:spPr>
          <a:xfrm>
            <a:off x="758952" y="515721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THE UNIFYING CLAIM OF BEHAVIORAL ECONOMICS</a:t>
            </a:r>
            <a:endParaRPr lang="en-US" sz="1050" dirty="0"/>
          </a:p>
        </p:txBody>
      </p:sp>
      <p:sp>
        <p:nvSpPr>
          <p:cNvPr id="9" name="Text 6"/>
          <p:cNvSpPr/>
          <p:nvPr/>
        </p:nvSpPr>
        <p:spPr>
          <a:xfrm>
            <a:off x="758952" y="5431536"/>
            <a:ext cx="10671048" cy="530352"/>
          </a:xfrm>
          <a:prstGeom prst="rect">
            <a:avLst/>
          </a:prstGeom>
          <a:noFill/>
          <a:ln/>
        </p:spPr>
        <p:txBody>
          <a:bodyPr wrap="square" lIns="0" tIns="0" rIns="0" bIns="0" rtlCol="0" anchor="t"/>
          <a:lstStyle/>
          <a:p>
            <a:pPr indent="0" marL="0">
              <a:lnSpc>
                <a:spcPts val="1400"/>
              </a:lnSpc>
              <a:buNone/>
            </a:pPr>
            <a:r>
              <a:rPr lang="en-US" sz="1000" dirty="0">
                <a:solidFill>
                  <a:srgbClr val="FFFFFF"/>
                </a:solidFill>
                <a:latin typeface="Calibri" pitchFamily="34" charset="0"/>
                <a:ea typeface="Calibri" pitchFamily="34" charset="-122"/>
                <a:cs typeface="Calibri" pitchFamily="34" charset="-120"/>
              </a:rPr>
              <a:t>These are not random errors. They are SYSTEMATIC and PREDICTABLE departures from the optimizing model — which means they can be modeled, measured, and in principle corrected by institutional design. A random error would average out across a population; a systematic bias does not. That is precisely why Part 4 belongs in an economics course rather than a psychology one, and it is the foundation of the policy tools in Module 12.</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4 · THE TWO CENTRAL DIAGRAMS</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Prospect Theory &amp; Hyperbolic Discounting</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2: CONSTRAINED CHOICE OVER TIME</a:t>
            </a:r>
            <a:endParaRPr lang="en-US" sz="900" dirty="0"/>
          </a:p>
        </p:txBody>
      </p:sp>
      <p:pic>
        <p:nvPicPr>
          <p:cNvPr id="6" name="Image 0" descr="figs/m2_prospect.png">    </p:cNvPr>
          <p:cNvPicPr>
            <a:picLocks noChangeAspect="1"/>
          </p:cNvPicPr>
          <p:nvPr/>
        </p:nvPicPr>
        <p:blipFill>
          <a:blip r:embed="rId1"/>
          <a:stretch>
            <a:fillRect/>
          </a:stretch>
        </p:blipFill>
        <p:spPr>
          <a:xfrm>
            <a:off x="502920" y="1494871"/>
            <a:ext cx="5486400" cy="3502497"/>
          </a:xfrm>
          <a:prstGeom prst="rect">
            <a:avLst/>
          </a:prstGeom>
        </p:spPr>
      </p:pic>
      <p:pic>
        <p:nvPicPr>
          <p:cNvPr id="7" name="Image 1" descr="figs/m2_discount.png">    </p:cNvPr>
          <p:cNvPicPr>
            <a:picLocks noChangeAspect="1"/>
          </p:cNvPicPr>
          <p:nvPr/>
        </p:nvPicPr>
        <p:blipFill>
          <a:blip r:embed="rId2"/>
          <a:stretch>
            <a:fillRect/>
          </a:stretch>
        </p:blipFill>
        <p:spPr>
          <a:xfrm>
            <a:off x="6199632" y="1658268"/>
            <a:ext cx="5486400" cy="3175705"/>
          </a:xfrm>
          <a:prstGeom prst="rect">
            <a:avLst/>
          </a:prstGeom>
        </p:spPr>
      </p:pic>
      <p:sp>
        <p:nvSpPr>
          <p:cNvPr id="8" name="Shape 4"/>
          <p:cNvSpPr/>
          <p:nvPr/>
        </p:nvSpPr>
        <p:spPr>
          <a:xfrm>
            <a:off x="502920" y="5212080"/>
            <a:ext cx="5486400" cy="91440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9" name="Text 5"/>
          <p:cNvSpPr/>
          <p:nvPr/>
        </p:nvSpPr>
        <p:spPr>
          <a:xfrm>
            <a:off x="758952" y="5394960"/>
            <a:ext cx="4974336" cy="384048"/>
          </a:xfrm>
          <a:prstGeom prst="rect">
            <a:avLst/>
          </a:prstGeom>
          <a:noFill/>
          <a:ln/>
        </p:spPr>
        <p:txBody>
          <a:bodyPr wrap="square" lIns="0" tIns="0" rIns="0" bIns="0" rtlCol="0" anchor="ctr"/>
          <a:lstStyle/>
          <a:p>
            <a:pPr indent="0" marL="0">
              <a:buNone/>
            </a:pPr>
            <a:r>
              <a:rPr lang="en-US" sz="1550" b="1" dirty="0">
                <a:solidFill>
                  <a:srgbClr val="9E2A2B"/>
                </a:solidFill>
                <a:latin typeface="Cambria" pitchFamily="34" charset="0"/>
                <a:ea typeface="Cambria" pitchFamily="34" charset="-122"/>
                <a:cs typeface="Cambria" pitchFamily="34" charset="-120"/>
              </a:rPr>
              <a:t>LOSS AVERSION — the measurement</a:t>
            </a:r>
            <a:endParaRPr lang="en-US" sz="1550" dirty="0"/>
          </a:p>
        </p:txBody>
      </p:sp>
      <p:sp>
        <p:nvSpPr>
          <p:cNvPr id="10" name="Text 6"/>
          <p:cNvSpPr/>
          <p:nvPr/>
        </p:nvSpPr>
        <p:spPr>
          <a:xfrm>
            <a:off x="758952" y="5797296"/>
            <a:ext cx="4974336" cy="9144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Experimental evidence shows losses feel approximately 2 to 2.5 times larger than equivalent gains. The value function has a KINK at the reference point.</a:t>
            </a:r>
            <a:endParaRPr lang="en-US" sz="850" dirty="0"/>
          </a:p>
        </p:txBody>
      </p:sp>
      <p:sp>
        <p:nvSpPr>
          <p:cNvPr id="11" name="Shape 7"/>
          <p:cNvSpPr/>
          <p:nvPr/>
        </p:nvSpPr>
        <p:spPr>
          <a:xfrm>
            <a:off x="6199632" y="5212080"/>
            <a:ext cx="5486400" cy="91440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2" name="Text 8"/>
          <p:cNvSpPr/>
          <p:nvPr/>
        </p:nvSpPr>
        <p:spPr>
          <a:xfrm>
            <a:off x="6455664" y="5394960"/>
            <a:ext cx="4974336" cy="384048"/>
          </a:xfrm>
          <a:prstGeom prst="rect">
            <a:avLst/>
          </a:prstGeom>
          <a:noFill/>
          <a:ln/>
        </p:spPr>
        <p:txBody>
          <a:bodyPr wrap="square" lIns="0" tIns="0" rIns="0" bIns="0" rtlCol="0" anchor="ctr"/>
          <a:lstStyle/>
          <a:p>
            <a:pPr indent="0" marL="0">
              <a:buNone/>
            </a:pPr>
            <a:r>
              <a:rPr lang="en-US" sz="1550" b="1" dirty="0">
                <a:solidFill>
                  <a:srgbClr val="C0892E"/>
                </a:solidFill>
                <a:latin typeface="Cambria" pitchFamily="34" charset="0"/>
                <a:ea typeface="Cambria" pitchFamily="34" charset="-122"/>
                <a:cs typeface="Cambria" pitchFamily="34" charset="-120"/>
              </a:rPr>
              <a:t>TIME INCONSISTENCY — the consequence</a:t>
            </a:r>
            <a:endParaRPr lang="en-US" sz="1550" dirty="0"/>
          </a:p>
        </p:txBody>
      </p:sp>
      <p:sp>
        <p:nvSpPr>
          <p:cNvPr id="13" name="Text 9"/>
          <p:cNvSpPr/>
          <p:nvPr/>
        </p:nvSpPr>
        <p:spPr>
          <a:xfrm>
            <a:off x="6455664" y="5797296"/>
            <a:ext cx="4974336" cy="9144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Under hyperbolic discounting, the plan you make for next month is not the plan you will execute when next month arrives. Preferences reverse without any new information.</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SCENARIO · ARCTIC NORTH AMERICA, C. 1200 CE</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The Inuit Hunter — Diminishing MU and the Incentive to Trade</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2: CONSTRAINED CHOICE OVER TIME</a:t>
            </a:r>
            <a:endParaRPr lang="en-US" sz="900" dirty="0"/>
          </a:p>
        </p:txBody>
      </p:sp>
      <p:sp>
        <p:nvSpPr>
          <p:cNvPr id="6" name="Text 4"/>
          <p:cNvSpPr/>
          <p:nvPr/>
        </p:nvSpPr>
        <p:spPr>
          <a:xfrm>
            <a:off x="502920" y="1417320"/>
            <a:ext cx="5394960" cy="640080"/>
          </a:xfrm>
          <a:prstGeom prst="rect">
            <a:avLst/>
          </a:prstGeom>
          <a:noFill/>
          <a:ln/>
        </p:spPr>
        <p:txBody>
          <a:bodyPr wrap="square" lIns="0" tIns="0" rIns="0" bIns="0" rtlCol="0" anchor="ctr"/>
          <a:lstStyle/>
          <a:p>
            <a:pPr indent="0" marL="0">
              <a:lnSpc>
                <a:spcPts val="1850"/>
              </a:lnSpc>
              <a:buNone/>
            </a:pPr>
            <a:r>
              <a:rPr lang="en-US" sz="1250" dirty="0">
                <a:solidFill>
                  <a:srgbClr val="4A6180"/>
                </a:solidFill>
                <a:latin typeface="Calibri" pitchFamily="34" charset="0"/>
                <a:ea typeface="Calibri" pitchFamily="34" charset="-122"/>
                <a:cs typeface="Calibri" pitchFamily="34" charset="-120"/>
              </a:rPr>
              <a:t>A hunter takes 30 salmon in a single morning. After roughly 10 meals, each additional salmon meal yields diminishing marginal utility. This surplus creates a structural incentive for trade — but behavioral constraints complicate the decision.</a:t>
            </a:r>
            <a:endParaRPr lang="en-US" sz="125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02920" y="2148840"/>
          <a:ext cx="5394960" cy="914400"/>
        </p:xfrm>
        <a:graphic>
          <a:graphicData uri="http://schemas.openxmlformats.org/drawingml/2006/table">
            <a:tbl>
              <a:tblPr/>
              <a:tblGrid>
                <a:gridCol w="822960"/>
                <a:gridCol w="1463040"/>
                <a:gridCol w="1554480"/>
                <a:gridCol w="1554480"/>
              </a:tblGrid>
              <a:tr h="310896">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MEAL</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TOTAL UTILITY</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MARGINAL UTILITY</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INCENTIVE TO TRADE</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310896">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20</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20</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Low</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310896">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45</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25</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Low</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310896">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60</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15</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Rising</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310896">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75</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15</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Rising</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310896">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82</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7</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HIGH</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bl>
          </a:graphicData>
        </a:graphic>
      </p:graphicFrame>
      <p:sp>
        <p:nvSpPr>
          <p:cNvPr id="8" name="Shape 5"/>
          <p:cNvSpPr/>
          <p:nvPr/>
        </p:nvSpPr>
        <p:spPr>
          <a:xfrm>
            <a:off x="502920" y="4114800"/>
            <a:ext cx="5394960" cy="960120"/>
          </a:xfrm>
          <a:prstGeom prst="rect">
            <a:avLst/>
          </a:prstGeom>
          <a:solidFill>
            <a:srgbClr val="1A2E4A"/>
          </a:solidFill>
          <a:ln/>
        </p:spPr>
      </p:sp>
      <p:sp>
        <p:nvSpPr>
          <p:cNvPr id="9" name="Text 6"/>
          <p:cNvSpPr/>
          <p:nvPr/>
        </p:nvSpPr>
        <p:spPr>
          <a:xfrm>
            <a:off x="758952" y="4242816"/>
            <a:ext cx="4882896"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THE ECONOMIC LOGIC</a:t>
            </a:r>
            <a:endParaRPr lang="en-US" sz="1050" dirty="0"/>
          </a:p>
        </p:txBody>
      </p:sp>
      <p:sp>
        <p:nvSpPr>
          <p:cNvPr id="10" name="Text 7"/>
          <p:cNvSpPr/>
          <p:nvPr/>
        </p:nvSpPr>
        <p:spPr>
          <a:xfrm>
            <a:off x="758952" y="4517136"/>
            <a:ext cx="4882896" cy="393192"/>
          </a:xfrm>
          <a:prstGeom prst="rect">
            <a:avLst/>
          </a:prstGeom>
          <a:noFill/>
          <a:ln/>
        </p:spPr>
        <p:txBody>
          <a:bodyPr wrap="square" lIns="0" tIns="0" rIns="0" bIns="0" rtlCol="0" anchor="t"/>
          <a:lstStyle/>
          <a:p>
            <a:pPr indent="0" marL="0">
              <a:lnSpc>
                <a:spcPts val="1400"/>
              </a:lnSpc>
              <a:buNone/>
            </a:pPr>
            <a:r>
              <a:rPr lang="en-US" sz="1000" dirty="0">
                <a:solidFill>
                  <a:srgbClr val="FFFFFF"/>
                </a:solidFill>
                <a:latin typeface="Calibri" pitchFamily="34" charset="0"/>
                <a:ea typeface="Calibri" pitchFamily="34" charset="-122"/>
                <a:cs typeface="Calibri" pitchFamily="34" charset="-120"/>
              </a:rPr>
              <a:t>As MU of own consumption falls toward zero, the utility obtainable by TRADING the surplus for something with high MU rises. Falling marginal utility is what makes exchange mutually beneficial — the same insight that produced gains from trade in Module 1.</a:t>
            </a:r>
            <a:endParaRPr lang="en-US" sz="1000" dirty="0"/>
          </a:p>
        </p:txBody>
      </p:sp>
      <p:sp>
        <p:nvSpPr>
          <p:cNvPr id="11" name="Shape 8"/>
          <p:cNvSpPr/>
          <p:nvPr/>
        </p:nvSpPr>
        <p:spPr>
          <a:xfrm>
            <a:off x="502920" y="5212080"/>
            <a:ext cx="5394960" cy="91440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2" name="Text 9"/>
          <p:cNvSpPr/>
          <p:nvPr/>
        </p:nvSpPr>
        <p:spPr>
          <a:xfrm>
            <a:off x="758952" y="5394960"/>
            <a:ext cx="4882896" cy="384048"/>
          </a:xfrm>
          <a:prstGeom prst="rect">
            <a:avLst/>
          </a:prstGeom>
          <a:noFill/>
          <a:ln/>
        </p:spPr>
        <p:txBody>
          <a:bodyPr wrap="square" lIns="0" tIns="0" rIns="0" bIns="0" rtlCol="0" anchor="ctr"/>
          <a:lstStyle/>
          <a:p>
            <a:pPr indent="0" marL="0">
              <a:buNone/>
            </a:pPr>
            <a:r>
              <a:rPr lang="en-US" sz="1550" b="1" dirty="0">
                <a:solidFill>
                  <a:srgbClr val="9E2A2B"/>
                </a:solidFill>
                <a:latin typeface="Cambria" pitchFamily="34" charset="0"/>
                <a:ea typeface="Cambria" pitchFamily="34" charset="-122"/>
                <a:cs typeface="Cambria" pitchFamily="34" charset="-120"/>
              </a:rPr>
              <a:t>✦5  The behavioral complication</a:t>
            </a:r>
            <a:endParaRPr lang="en-US" sz="1550" dirty="0"/>
          </a:p>
        </p:txBody>
      </p:sp>
      <p:sp>
        <p:nvSpPr>
          <p:cNvPr id="13" name="Text 10"/>
          <p:cNvSpPr/>
          <p:nvPr/>
        </p:nvSpPr>
        <p:spPr>
          <a:xfrm>
            <a:off x="758952" y="5797296"/>
            <a:ext cx="4882896" cy="9144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Present bias makes the CERTAIN salmon in hand loom larger than the uncertain, delayed return from trade. The bandwidth tax of acute material scarcity narrows attention to today's meal.</a:t>
            </a:r>
            <a:endParaRPr lang="en-US" sz="850" dirty="0"/>
          </a:p>
        </p:txBody>
      </p:sp>
      <p:pic>
        <p:nvPicPr>
          <p:cNvPr id="14" name="Image 0" descr="figs/m2_inuit.png">    </p:cNvPr>
          <p:cNvPicPr>
            <a:picLocks noChangeAspect="1"/>
          </p:cNvPicPr>
          <p:nvPr/>
        </p:nvPicPr>
        <p:blipFill>
          <a:blip r:embed="rId1"/>
          <a:stretch>
            <a:fillRect/>
          </a:stretch>
        </p:blipFill>
        <p:spPr>
          <a:xfrm>
            <a:off x="6126480" y="1570878"/>
            <a:ext cx="5577840" cy="3076164"/>
          </a:xfrm>
          <a:prstGeom prst="rect">
            <a:avLst/>
          </a:prstGeom>
        </p:spPr>
      </p:pic>
      <p:sp>
        <p:nvSpPr>
          <p:cNvPr id="15" name="Shape 11"/>
          <p:cNvSpPr/>
          <p:nvPr/>
        </p:nvSpPr>
        <p:spPr>
          <a:xfrm>
            <a:off x="6126480" y="4937760"/>
            <a:ext cx="5577840" cy="118872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6" name="Text 12"/>
          <p:cNvSpPr/>
          <p:nvPr/>
        </p:nvSpPr>
        <p:spPr>
          <a:xfrm>
            <a:off x="6382512" y="5120640"/>
            <a:ext cx="5065776" cy="384048"/>
          </a:xfrm>
          <a:prstGeom prst="rect">
            <a:avLst/>
          </a:prstGeom>
          <a:noFill/>
          <a:ln/>
        </p:spPr>
        <p:txBody>
          <a:bodyPr wrap="square" lIns="0" tIns="0" rIns="0" bIns="0" rtlCol="0" anchor="ctr"/>
          <a:lstStyle/>
          <a:p>
            <a:pPr indent="0" marL="0">
              <a:buNone/>
            </a:pPr>
            <a:r>
              <a:rPr lang="en-US" sz="1550" b="1" dirty="0">
                <a:solidFill>
                  <a:srgbClr val="2A7F84"/>
                </a:solidFill>
                <a:latin typeface="Cambria" pitchFamily="34" charset="0"/>
                <a:ea typeface="Cambria" pitchFamily="34" charset="-122"/>
                <a:cs typeface="Cambria" pitchFamily="34" charset="-120"/>
              </a:rPr>
              <a:t>INSTITUTIONS THAT CORRECT THE DISTORTION</a:t>
            </a:r>
            <a:endParaRPr lang="en-US" sz="1550" dirty="0"/>
          </a:p>
        </p:txBody>
      </p:sp>
      <p:sp>
        <p:nvSpPr>
          <p:cNvPr id="17" name="Text 13"/>
          <p:cNvSpPr/>
          <p:nvPr/>
        </p:nvSpPr>
        <p:spPr>
          <a:xfrm>
            <a:off x="6382512" y="5522976"/>
            <a:ext cx="5065776" cy="36576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Storage and preservation technology (drying racks, ice caches) that make the future tangible. Reciprocal-obligation norms and kinship sharing rules that convert an uncertain future return into a socially enforced one. Regular trading gatherings that lower search costs. Each is an institution that changes the choice set rather than the person — Ostrom's insight, previewed.</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A2E4A"/>
        </a:solidFill>
      </p:bgPr>
    </p:bg>
    <p:spTree>
      <p:nvGrpSpPr>
        <p:cNvPr id="1" name=""/>
        <p:cNvGrpSpPr/>
        <p:nvPr/>
      </p:nvGrpSpPr>
      <p:grpSpPr>
        <a:xfrm>
          <a:off x="0" y="0"/>
          <a:ext cx="0" cy="0"/>
          <a:chOff x="0" y="0"/>
          <a:chExt cx="0" cy="0"/>
        </a:xfrm>
      </p:grpSpPr>
      <p:sp>
        <p:nvSpPr>
          <p:cNvPr id="2" name="Text 0"/>
          <p:cNvSpPr/>
          <p:nvPr/>
        </p:nvSpPr>
        <p:spPr>
          <a:xfrm>
            <a:off x="822960" y="1234440"/>
            <a:ext cx="10515600" cy="365760"/>
          </a:xfrm>
          <a:prstGeom prst="rect">
            <a:avLst/>
          </a:prstGeom>
          <a:noFill/>
          <a:ln/>
        </p:spPr>
        <p:txBody>
          <a:bodyPr wrap="square" lIns="0" tIns="0" rIns="0" bIns="0" rtlCol="0" anchor="ctr"/>
          <a:lstStyle/>
          <a:p>
            <a:pPr indent="0" marL="0">
              <a:buNone/>
            </a:pPr>
            <a:r>
              <a:rPr lang="en-US" sz="1400" b="1" spc="700" kern="0" dirty="0">
                <a:solidFill>
                  <a:srgbClr val="C0892E"/>
                </a:solidFill>
                <a:latin typeface="Calibri" pitchFamily="34" charset="0"/>
                <a:ea typeface="Calibri" pitchFamily="34" charset="-122"/>
                <a:cs typeface="Calibri" pitchFamily="34" charset="-120"/>
              </a:rPr>
              <a:t>YOU TRY</a:t>
            </a:r>
            <a:endParaRPr lang="en-US" sz="1400" dirty="0"/>
          </a:p>
        </p:txBody>
      </p:sp>
      <p:sp>
        <p:nvSpPr>
          <p:cNvPr id="3" name="Text 1"/>
          <p:cNvSpPr/>
          <p:nvPr/>
        </p:nvSpPr>
        <p:spPr>
          <a:xfrm>
            <a:off x="822960" y="1645920"/>
            <a:ext cx="10515600" cy="91440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Module 2 — Independent Practice</a:t>
            </a:r>
            <a:endParaRPr lang="en-US" sz="3400" dirty="0"/>
          </a:p>
        </p:txBody>
      </p:sp>
      <p:sp>
        <p:nvSpPr>
          <p:cNvPr id="4" name="Text 2"/>
          <p:cNvSpPr/>
          <p:nvPr/>
        </p:nvSpPr>
        <p:spPr>
          <a:xfrm>
            <a:off x="822960" y="2834640"/>
            <a:ext cx="7863840" cy="2651760"/>
          </a:xfrm>
          <a:prstGeom prst="rect">
            <a:avLst/>
          </a:prstGeom>
          <a:noFill/>
          <a:ln/>
        </p:spPr>
        <p:txBody>
          <a:bodyPr wrap="square" lIns="0" tIns="0" rIns="0" bIns="0" rtlCol="0" anchor="ctr"/>
          <a:lstStyle/>
          <a:p>
            <a:pPr marL="203200" indent="-203200">
              <a:lnSpc>
                <a:spcPts val="2400"/>
              </a:lnSpc>
              <a:spcAft>
                <a:spcPts val="1000"/>
              </a:spcAft>
              <a:buSzPct val="100000"/>
              <a:buChar char="•"/>
            </a:pPr>
            <a:r>
              <a:rPr lang="en-US" sz="1500" dirty="0">
                <a:solidFill>
                  <a:srgbClr val="CFD9E5"/>
                </a:solidFill>
                <a:latin typeface="Calibri" pitchFamily="34" charset="0"/>
                <a:ea typeface="Calibri" pitchFamily="34" charset="-122"/>
                <a:cs typeface="Calibri" pitchFamily="34" charset="-120"/>
              </a:rPr>
              <a:t>Complete all four Parts of the Module 2 Worksheet, including the Personal Feasible Frontier task at the end of Part 2.</a:t>
            </a:r>
            <a:endParaRPr lang="en-US" sz="1500" dirty="0"/>
          </a:p>
          <a:p>
            <a:pPr marL="203200" indent="-203200">
              <a:lnSpc>
                <a:spcPts val="2400"/>
              </a:lnSpc>
              <a:spcAft>
                <a:spcPts val="1000"/>
              </a:spcAft>
              <a:buSzPct val="100000"/>
              <a:buChar char="•"/>
            </a:pPr>
            <a:r>
              <a:rPr lang="en-US" sz="1500" dirty="0">
                <a:solidFill>
                  <a:srgbClr val="CFD9E5"/>
                </a:solidFill>
                <a:latin typeface="Calibri" pitchFamily="34" charset="0"/>
                <a:ea typeface="Calibri" pitchFamily="34" charset="-122"/>
                <a:cs typeface="Calibri" pitchFamily="34" charset="-120"/>
              </a:rPr>
              <a:t>Khan Academy: Consumer Choice — utility maximization, indifference curves, budget constraints. Reach mastery.</a:t>
            </a:r>
            <a:endParaRPr lang="en-US" sz="1500" dirty="0"/>
          </a:p>
          <a:p>
            <a:pPr marL="203200" indent="-203200">
              <a:lnSpc>
                <a:spcPts val="2400"/>
              </a:lnSpc>
              <a:spcAft>
                <a:spcPts val="1000"/>
              </a:spcAft>
              <a:buSzPct val="100000"/>
              <a:buChar char="•"/>
            </a:pPr>
            <a:r>
              <a:rPr lang="en-US" sz="1500" dirty="0">
                <a:solidFill>
                  <a:srgbClr val="CFD9E5"/>
                </a:solidFill>
                <a:latin typeface="Calibri" pitchFamily="34" charset="0"/>
                <a:ea typeface="Calibri" pitchFamily="34" charset="-122"/>
                <a:cs typeface="Calibri" pitchFamily="34" charset="-120"/>
              </a:rPr>
              <a:t>Draw all three required graphs by hand: the IC map with tangency, Marcus's labor-leisure frontier, and the two-period constraint with the endowment point labeled.</a:t>
            </a:r>
            <a:endParaRPr lang="en-US" sz="1500" dirty="0"/>
          </a:p>
          <a:p>
            <a:pPr marL="203200" indent="-203200">
              <a:lnSpc>
                <a:spcPts val="2400"/>
              </a:lnSpc>
              <a:spcAft>
                <a:spcPts val="1000"/>
              </a:spcAft>
              <a:buSzPct val="100000"/>
              <a:buChar char="•"/>
            </a:pPr>
            <a:r>
              <a:rPr lang="en-US" sz="1500" dirty="0">
                <a:solidFill>
                  <a:srgbClr val="CFD9E5"/>
                </a:solidFill>
                <a:latin typeface="Calibri" pitchFamily="34" charset="0"/>
                <a:ea typeface="Calibri" pitchFamily="34" charset="-122"/>
                <a:cs typeface="Calibri" pitchFamily="34" charset="-120"/>
              </a:rPr>
              <a:t>Answer reflection questions ✦1 through ✦5 in complete sentences.</a:t>
            </a:r>
            <a:endParaRPr lang="en-US" sz="1500" dirty="0"/>
          </a:p>
          <a:p>
            <a:pPr marL="203200" indent="-203200">
              <a:lnSpc>
                <a:spcPts val="2400"/>
              </a:lnSpc>
              <a:spcAft>
                <a:spcPts val="1000"/>
              </a:spcAft>
              <a:buSzPct val="100000"/>
              <a:buChar char="•"/>
            </a:pPr>
            <a:r>
              <a:rPr lang="en-US" sz="1500" dirty="0">
                <a:solidFill>
                  <a:srgbClr val="CFD9E5"/>
                </a:solidFill>
                <a:latin typeface="Calibri" pitchFamily="34" charset="0"/>
                <a:ea typeface="Calibri" pitchFamily="34" charset="-122"/>
                <a:cs typeface="Calibri" pitchFamily="34" charset="-120"/>
              </a:rPr>
              <a:t>HOMEWORK RULE OF THUMB: above 80% → move on. Below 80% → retry once or twice. Consistently below 80% → office hours, immediately.</a:t>
            </a:r>
            <a:endParaRPr lang="en-US" sz="1500" dirty="0"/>
          </a:p>
        </p:txBody>
      </p:sp>
      <p:sp>
        <p:nvSpPr>
          <p:cNvPr id="5" name="Shape 3"/>
          <p:cNvSpPr/>
          <p:nvPr/>
        </p:nvSpPr>
        <p:spPr>
          <a:xfrm>
            <a:off x="9326880" y="3017520"/>
            <a:ext cx="1828800" cy="1828800"/>
          </a:xfrm>
          <a:prstGeom prst="ellipse">
            <a:avLst/>
          </a:prstGeom>
          <a:solidFill>
            <a:srgbClr val="C0892E"/>
          </a:solidFill>
          <a:ln/>
        </p:spPr>
      </p:sp>
      <p:sp>
        <p:nvSpPr>
          <p:cNvPr id="6" name="Text 4"/>
          <p:cNvSpPr/>
          <p:nvPr/>
        </p:nvSpPr>
        <p:spPr>
          <a:xfrm>
            <a:off x="9326880" y="3017520"/>
            <a:ext cx="1828800" cy="182880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ASYNC</a:t>
            </a:r>
            <a:endParaRPr lang="en-US" sz="3000" dirty="0"/>
          </a:p>
        </p:txBody>
      </p:sp>
      <p:sp>
        <p:nvSpPr>
          <p:cNvPr id="7" name="Text 5"/>
          <p:cNvSpPr/>
          <p:nvPr/>
        </p:nvSpPr>
        <p:spPr>
          <a:xfrm>
            <a:off x="822960" y="6345936"/>
            <a:ext cx="5486400" cy="274320"/>
          </a:xfrm>
          <a:prstGeom prst="rect">
            <a:avLst/>
          </a:prstGeom>
          <a:noFill/>
          <a:ln/>
        </p:spPr>
        <p:txBody>
          <a:bodyPr wrap="square" lIns="0" tIns="0" rIns="0" bIns="0" rtlCol="0" anchor="ctr"/>
          <a:lstStyle/>
          <a:p>
            <a:pPr indent="0" marL="0">
              <a:buNone/>
            </a:pPr>
            <a:r>
              <a:rPr lang="en-US" sz="900" spc="100" kern="0" dirty="0">
                <a:solidFill>
                  <a:srgbClr val="4A6180"/>
                </a:solidFill>
                <a:latin typeface="Calibri" pitchFamily="34" charset="0"/>
                <a:ea typeface="Calibri" pitchFamily="34" charset="-122"/>
                <a:cs typeface="Calibri" pitchFamily="34" charset="-120"/>
              </a:rPr>
              <a:t>INTRO TO MICROECONOMICS  |  PROF. VELAZQUEZ</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MODULE 2</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What You Should Be Able to Do</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2: CONSTRAINED CHOICE OVER TIME</a:t>
            </a:r>
            <a:endParaRPr lang="en-US" sz="9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02920" y="1554480"/>
          <a:ext cx="11183112" cy="914400"/>
        </p:xfrm>
        <a:graphic>
          <a:graphicData uri="http://schemas.openxmlformats.org/drawingml/2006/table">
            <a:tbl>
              <a:tblPr/>
              <a:tblGrid>
                <a:gridCol w="1188720"/>
                <a:gridCol w="9994392"/>
              </a:tblGrid>
              <a:tr h="685800">
                <a:tc>
                  <a:txBody>
                    <a:bodyPr/>
                    <a:lstStyle/>
                    <a:p>
                      <a:pPr algn="l" indent="0" marL="0">
                        <a:buNone/>
                      </a:pP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LEARNING OUTCOME</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685800">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Part 1</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Define the production function, marginal product and diminishing marginal product; define utility, TU and MU; compute MU from a TU schedule; state and apply the law of diminishing marginal utility; draw an indifference map with the correct four properties; locate the optimal bundle and justify tangency both geometrically and arithmetically.</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685800">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Part 2</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Construct a labor-leisure feasible frontier from a wage and an hours endowment; identify the MRT and explain why it equals the wage; state the optimality condition MRS = MRT = w; show how a monopsonistic wage cut rotates the frontier; name one institutional constraint on your own feasible set and say who benefits from it.</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685800">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Part 3</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Write the two-period constraint; compute C₂ for a borrower and a lender; explain why the slope is −(1+r) and why the line rotates about the endowment; predict who gains and who loses from a rate rise; decompose the effect into income and substitution components; apply the return-vs-rate rule to Hana and Marcus.</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685800">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Part 4</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Define all seven behavioral concepts precisely and attribute each to its theorist; explain the loss-aversion ratio and the shape of the prospect-theory value function; distinguish hyperbolic from exponential discounting and explain time inconsistency; apply the bandwidth tax; state Sen's capabilities critique.</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bl>
          </a:graphicData>
        </a:graphic>
      </p:graphicFrame>
      <p:sp>
        <p:nvSpPr>
          <p:cNvPr id="7" name="Shape 4"/>
          <p:cNvSpPr/>
          <p:nvPr/>
        </p:nvSpPr>
        <p:spPr>
          <a:xfrm>
            <a:off x="502920" y="5486400"/>
            <a:ext cx="11183112" cy="640080"/>
          </a:xfrm>
          <a:prstGeom prst="rect">
            <a:avLst/>
          </a:prstGeom>
          <a:solidFill>
            <a:srgbClr val="1A2E4A"/>
          </a:solidFill>
          <a:ln/>
        </p:spPr>
      </p:sp>
      <p:sp>
        <p:nvSpPr>
          <p:cNvPr id="8" name="Text 5"/>
          <p:cNvSpPr/>
          <p:nvPr/>
        </p:nvSpPr>
        <p:spPr>
          <a:xfrm>
            <a:off x="758952" y="561441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NEXT</a:t>
            </a:r>
            <a:endParaRPr lang="en-US" sz="1050" dirty="0"/>
          </a:p>
        </p:txBody>
      </p:sp>
      <p:sp>
        <p:nvSpPr>
          <p:cNvPr id="9" name="Text 6"/>
          <p:cNvSpPr/>
          <p:nvPr/>
        </p:nvSpPr>
        <p:spPr>
          <a:xfrm>
            <a:off x="758952" y="5888736"/>
            <a:ext cx="10671048" cy="73152"/>
          </a:xfrm>
          <a:prstGeom prst="rect">
            <a:avLst/>
          </a:prstGeom>
          <a:noFill/>
          <a:ln/>
        </p:spPr>
        <p:txBody>
          <a:bodyPr wrap="square" lIns="0" tIns="0" rIns="0" bIns="0" rtlCol="0" anchor="t"/>
          <a:lstStyle/>
          <a:p>
            <a:pPr indent="0" marL="0">
              <a:lnSpc>
                <a:spcPts val="1400"/>
              </a:lnSpc>
              <a:buNone/>
            </a:pPr>
            <a:r>
              <a:rPr lang="en-US" sz="1000" dirty="0">
                <a:solidFill>
                  <a:srgbClr val="FFFFFF"/>
                </a:solidFill>
                <a:latin typeface="Calibri" pitchFamily="34" charset="0"/>
                <a:ea typeface="Calibri" pitchFamily="34" charset="-122"/>
                <a:cs typeface="Calibri" pitchFamily="34" charset="-120"/>
              </a:rPr>
              <a:t>MODULE 3 — SUPPLY AND DEMAND EQUILIBRIUM. We leave the individual and build the market: the law of demand, the law of supply, and the algebra of equilibrium price and quantity.</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MODULE 2</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References</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2: CONSTRAINED CHOICE OVER TIME</a:t>
            </a:r>
            <a:endParaRPr lang="en-US" sz="900" dirty="0"/>
          </a:p>
        </p:txBody>
      </p:sp>
      <p:sp>
        <p:nvSpPr>
          <p:cNvPr id="6" name="Text 4"/>
          <p:cNvSpPr/>
          <p:nvPr/>
        </p:nvSpPr>
        <p:spPr>
          <a:xfrm>
            <a:off x="502920" y="1645920"/>
            <a:ext cx="5486400" cy="4206240"/>
          </a:xfrm>
          <a:prstGeom prst="rect">
            <a:avLst/>
          </a:prstGeom>
          <a:noFill/>
          <a:ln/>
        </p:spPr>
        <p:txBody>
          <a:bodyPr wrap="square" lIns="0" tIns="0" rIns="0" bIns="0" rtlCol="0" anchor="ctr"/>
          <a:lstStyle/>
          <a:p>
            <a:pPr marL="203200" indent="-203200">
              <a:lnSpc>
                <a:spcPts val="1600"/>
              </a:lnSpc>
              <a:spcAft>
                <a:spcPts val="900"/>
              </a:spcAft>
              <a:buSzPct val="100000"/>
              <a:buChar char="•"/>
            </a:pPr>
            <a:r>
              <a:rPr lang="en-US" sz="1100" dirty="0">
                <a:solidFill>
                  <a:srgbClr val="4A6180"/>
                </a:solidFill>
                <a:latin typeface="Calibri" pitchFamily="34" charset="0"/>
                <a:ea typeface="Calibri" pitchFamily="34" charset="-122"/>
                <a:cs typeface="Calibri" pitchFamily="34" charset="-120"/>
              </a:rPr>
              <a:t>Becker, G. S. (1965). A theory of the allocation of time. The Economic Journal, 75(299), 493–517.</a:t>
            </a:r>
            <a:endParaRPr lang="en-US" sz="1100" dirty="0"/>
          </a:p>
          <a:p>
            <a:pPr marL="203200" indent="-203200">
              <a:lnSpc>
                <a:spcPts val="1600"/>
              </a:lnSpc>
              <a:spcAft>
                <a:spcPts val="900"/>
              </a:spcAft>
              <a:buSzPct val="100000"/>
              <a:buChar char="•"/>
            </a:pPr>
            <a:r>
              <a:rPr lang="en-US" sz="1100" dirty="0">
                <a:solidFill>
                  <a:srgbClr val="4A6180"/>
                </a:solidFill>
                <a:latin typeface="Calibri" pitchFamily="34" charset="0"/>
                <a:ea typeface="Calibri" pitchFamily="34" charset="-122"/>
                <a:cs typeface="Calibri" pitchFamily="34" charset="-120"/>
              </a:rPr>
              <a:t>Kahneman, D., &amp; Tversky, A. (1979). Prospect theory: An analysis of decision under risk. Econometrica, 47(2), 263–292.</a:t>
            </a:r>
            <a:endParaRPr lang="en-US" sz="1100" dirty="0"/>
          </a:p>
          <a:p>
            <a:pPr marL="203200" indent="-203200">
              <a:lnSpc>
                <a:spcPts val="1600"/>
              </a:lnSpc>
              <a:spcAft>
                <a:spcPts val="900"/>
              </a:spcAft>
              <a:buSzPct val="100000"/>
              <a:buChar char="•"/>
            </a:pPr>
            <a:r>
              <a:rPr lang="en-US" sz="1100" dirty="0">
                <a:solidFill>
                  <a:srgbClr val="4A6180"/>
                </a:solidFill>
                <a:latin typeface="Calibri" pitchFamily="34" charset="0"/>
                <a:ea typeface="Calibri" pitchFamily="34" charset="-122"/>
                <a:cs typeface="Calibri" pitchFamily="34" charset="-120"/>
              </a:rPr>
              <a:t>Kahneman, D. (2011). Thinking, fast and slow. Farrar, Straus and Giroux.</a:t>
            </a:r>
            <a:endParaRPr lang="en-US" sz="1100" dirty="0"/>
          </a:p>
          <a:p>
            <a:pPr marL="203200" indent="-203200">
              <a:lnSpc>
                <a:spcPts val="1600"/>
              </a:lnSpc>
              <a:spcAft>
                <a:spcPts val="900"/>
              </a:spcAft>
              <a:buSzPct val="100000"/>
              <a:buChar char="•"/>
            </a:pPr>
            <a:r>
              <a:rPr lang="en-US" sz="1100" dirty="0">
                <a:solidFill>
                  <a:srgbClr val="4A6180"/>
                </a:solidFill>
                <a:latin typeface="Calibri" pitchFamily="34" charset="0"/>
                <a:ea typeface="Calibri" pitchFamily="34" charset="-122"/>
                <a:cs typeface="Calibri" pitchFamily="34" charset="-120"/>
              </a:rPr>
              <a:t>Laibson, D. (1997). Golden eggs and hyperbolic discounting. Quarterly Journal of Economics, 112(2), 443–477.</a:t>
            </a:r>
            <a:endParaRPr lang="en-US" sz="1100" dirty="0"/>
          </a:p>
          <a:p>
            <a:pPr marL="203200" indent="-203200">
              <a:lnSpc>
                <a:spcPts val="1600"/>
              </a:lnSpc>
              <a:spcAft>
                <a:spcPts val="900"/>
              </a:spcAft>
              <a:buSzPct val="100000"/>
              <a:buChar char="•"/>
            </a:pPr>
            <a:r>
              <a:rPr lang="en-US" sz="1100" dirty="0">
                <a:solidFill>
                  <a:srgbClr val="4A6180"/>
                </a:solidFill>
                <a:latin typeface="Calibri" pitchFamily="34" charset="0"/>
                <a:ea typeface="Calibri" pitchFamily="34" charset="-122"/>
                <a:cs typeface="Calibri" pitchFamily="34" charset="-120"/>
              </a:rPr>
              <a:t>Mankiw, N. G. (2021). Principles of microeconomics (9th ed.), Ch. 21: The theory of consumer choice. Cengage.</a:t>
            </a:r>
            <a:endParaRPr lang="en-US" sz="1100" dirty="0"/>
          </a:p>
        </p:txBody>
      </p:sp>
      <p:sp>
        <p:nvSpPr>
          <p:cNvPr id="7" name="Text 5"/>
          <p:cNvSpPr/>
          <p:nvPr/>
        </p:nvSpPr>
        <p:spPr>
          <a:xfrm>
            <a:off x="6199632" y="1645920"/>
            <a:ext cx="5486400" cy="4206240"/>
          </a:xfrm>
          <a:prstGeom prst="rect">
            <a:avLst/>
          </a:prstGeom>
          <a:noFill/>
          <a:ln/>
        </p:spPr>
        <p:txBody>
          <a:bodyPr wrap="square" lIns="0" tIns="0" rIns="0" bIns="0" rtlCol="0" anchor="ctr"/>
          <a:lstStyle/>
          <a:p>
            <a:pPr marL="203200" indent="-203200">
              <a:lnSpc>
                <a:spcPts val="1600"/>
              </a:lnSpc>
              <a:spcAft>
                <a:spcPts val="900"/>
              </a:spcAft>
              <a:buSzPct val="100000"/>
              <a:buChar char="•"/>
            </a:pPr>
            <a:r>
              <a:rPr lang="en-US" sz="1100" dirty="0">
                <a:solidFill>
                  <a:srgbClr val="4A6180"/>
                </a:solidFill>
                <a:latin typeface="Calibri" pitchFamily="34" charset="0"/>
                <a:ea typeface="Calibri" pitchFamily="34" charset="-122"/>
                <a:cs typeface="Calibri" pitchFamily="34" charset="-120"/>
              </a:rPr>
              <a:t>Mullainathan, S., &amp; Shafir, E. (2013). Scarcity: Why having too little means so much. Times Books.</a:t>
            </a:r>
            <a:endParaRPr lang="en-US" sz="1100" dirty="0"/>
          </a:p>
          <a:p>
            <a:pPr marL="203200" indent="-203200">
              <a:lnSpc>
                <a:spcPts val="1600"/>
              </a:lnSpc>
              <a:spcAft>
                <a:spcPts val="900"/>
              </a:spcAft>
              <a:buSzPct val="100000"/>
              <a:buChar char="•"/>
            </a:pPr>
            <a:r>
              <a:rPr lang="en-US" sz="1100" dirty="0">
                <a:solidFill>
                  <a:srgbClr val="4A6180"/>
                </a:solidFill>
                <a:latin typeface="Calibri" pitchFamily="34" charset="0"/>
                <a:ea typeface="Calibri" pitchFamily="34" charset="-122"/>
                <a:cs typeface="Calibri" pitchFamily="34" charset="-120"/>
              </a:rPr>
              <a:t>Robinson, J. (1933). The economics of imperfect competition. London: Macmillan. (origin of the term monopsony)</a:t>
            </a:r>
            <a:endParaRPr lang="en-US" sz="1100" dirty="0"/>
          </a:p>
          <a:p>
            <a:pPr marL="203200" indent="-203200">
              <a:lnSpc>
                <a:spcPts val="1600"/>
              </a:lnSpc>
              <a:spcAft>
                <a:spcPts val="900"/>
              </a:spcAft>
              <a:buSzPct val="100000"/>
              <a:buChar char="•"/>
            </a:pPr>
            <a:r>
              <a:rPr lang="en-US" sz="1100" dirty="0">
                <a:solidFill>
                  <a:srgbClr val="4A6180"/>
                </a:solidFill>
                <a:latin typeface="Calibri" pitchFamily="34" charset="0"/>
                <a:ea typeface="Calibri" pitchFamily="34" charset="-122"/>
                <a:cs typeface="Calibri" pitchFamily="34" charset="-120"/>
              </a:rPr>
              <a:t>Sen, A. (1999). Development as freedom. Alfred A. Knopf.</a:t>
            </a:r>
            <a:endParaRPr lang="en-US" sz="1100" dirty="0"/>
          </a:p>
          <a:p>
            <a:pPr marL="203200" indent="-203200">
              <a:lnSpc>
                <a:spcPts val="1600"/>
              </a:lnSpc>
              <a:spcAft>
                <a:spcPts val="900"/>
              </a:spcAft>
              <a:buSzPct val="100000"/>
              <a:buChar char="•"/>
            </a:pPr>
            <a:r>
              <a:rPr lang="en-US" sz="1100" dirty="0">
                <a:solidFill>
                  <a:srgbClr val="4A6180"/>
                </a:solidFill>
                <a:latin typeface="Calibri" pitchFamily="34" charset="0"/>
                <a:ea typeface="Calibri" pitchFamily="34" charset="-122"/>
                <a:cs typeface="Calibri" pitchFamily="34" charset="-120"/>
              </a:rPr>
              <a:t>Simon, H. A. (1955). A behavioral model of rational choice. Quarterly Journal of Economics, 69(1), 99–118.</a:t>
            </a:r>
            <a:endParaRPr lang="en-US" sz="1100" dirty="0"/>
          </a:p>
          <a:p>
            <a:pPr marL="203200" indent="-203200">
              <a:lnSpc>
                <a:spcPts val="1600"/>
              </a:lnSpc>
              <a:spcAft>
                <a:spcPts val="900"/>
              </a:spcAft>
              <a:buSzPct val="100000"/>
              <a:buChar char="•"/>
            </a:pPr>
            <a:r>
              <a:rPr lang="en-US" sz="1100" dirty="0">
                <a:solidFill>
                  <a:srgbClr val="4A6180"/>
                </a:solidFill>
                <a:latin typeface="Calibri" pitchFamily="34" charset="0"/>
                <a:ea typeface="Calibri" pitchFamily="34" charset="-122"/>
                <a:cs typeface="Calibri" pitchFamily="34" charset="-120"/>
              </a:rPr>
              <a:t>Thaler, R. H., &amp; Sunstein, C. R. (2008). Nudge: Improving decisions about health, wealth, and happiness. Yale University Press.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Saint Joseph's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ECN 101 — Module 2: Constrained Choice Over Time</dc:title>
  <dc:subject>Introduction to Microeconomics</dc:subject>
  <dc:creator>Professor Velazquez</dc:creator>
  <cp:lastModifiedBy>Professor Velazquez</cp:lastModifiedBy>
  <cp:revision>1</cp:revision>
  <dcterms:created xsi:type="dcterms:W3CDTF">2026-08-24T19:17:56Z</dcterms:created>
  <dcterms:modified xsi:type="dcterms:W3CDTF">2026-08-24T19:17:56Z</dcterms:modified>
</cp:coreProperties>
</file>