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08  ·  STRUCTURAL INEQUALITY EXTENSIONS</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08</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Structural Inequality</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Extensions</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Module 7 built the mechanisms — poverty traps, monopsony, principal-agent failures. This module applies them to three contemporary structural crises: the digital economy, algorithmic systems, and the climate emergency. Each is a market failure, and each demands a policy response.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Shape 4"/>
          <p:cNvSpPr/>
          <p:nvPr/>
        </p:nvSpPr>
        <p:spPr>
          <a:xfrm>
            <a:off x="502920" y="1481328"/>
            <a:ext cx="361188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463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How does unequal access to digital technology amplify existing economic inequalities — and who bears the cost of the platform economy?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How can algorithmic systems produce discriminatory outcomes even without discriminatory intent — and what corrective mechanisms are available?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Who bears the greatest cost of climate change — and does the distribution of burdens match the distribution of responsibility?</a:t>
            </a:r>
            <a:endParaRPr lang="en-US" sz="850" dirty="0"/>
          </a:p>
        </p:txBody>
      </p:sp>
      <p:sp>
        <p:nvSpPr>
          <p:cNvPr id="9" name="Shape 7"/>
          <p:cNvSpPr/>
          <p:nvPr/>
        </p:nvSpPr>
        <p:spPr>
          <a:xfrm>
            <a:off x="4315968" y="1481328"/>
            <a:ext cx="361188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46304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Review Module 7 in full — every tool used today comes from it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Review Module 6, Part 6 (the externality diagram) — today is Climate Arc Part 2</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Complete the Module 8 Vocabulary Checklist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Bring the Module 8 Worksheet and graph paper for the vulnerability scatter</a:t>
            </a:r>
            <a:endParaRPr lang="en-US" sz="1100" dirty="0"/>
          </a:p>
        </p:txBody>
      </p:sp>
      <p:sp>
        <p:nvSpPr>
          <p:cNvPr id="12" name="Shape 10"/>
          <p:cNvSpPr/>
          <p:nvPr/>
        </p:nvSpPr>
        <p:spPr>
          <a:xfrm>
            <a:off x="8119872" y="1481328"/>
            <a:ext cx="356616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46304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8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for the GDP-vs-vulnerability plot</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Your Module 6 externality diagram</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Your Module 7 notes on principal-agent and statistical discrimination</a:t>
            </a:r>
            <a:endParaRPr lang="en-US" sz="1250" dirty="0"/>
          </a:p>
        </p:txBody>
      </p:sp>
      <p:sp>
        <p:nvSpPr>
          <p:cNvPr id="15" name="Shape 13"/>
          <p:cNvSpPr/>
          <p:nvPr/>
        </p:nvSpPr>
        <p:spPr>
          <a:xfrm>
            <a:off x="502920" y="3977640"/>
            <a:ext cx="11183112" cy="914400"/>
          </a:xfrm>
          <a:prstGeom prst="rect">
            <a:avLst/>
          </a:prstGeom>
          <a:solidFill>
            <a:srgbClr val="1A2E4A"/>
          </a:solidFill>
          <a:ln/>
        </p:spPr>
      </p:sp>
      <p:sp>
        <p:nvSpPr>
          <p:cNvPr id="16" name="Text 14"/>
          <p:cNvSpPr/>
          <p:nvPr/>
        </p:nvSpPr>
        <p:spPr>
          <a:xfrm>
            <a:off x="758952" y="41056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379976"/>
            <a:ext cx="10671048" cy="384048"/>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Calibri" pitchFamily="34" charset="0"/>
                <a:ea typeface="Calibri" pitchFamily="34" charset="-122"/>
                <a:cs typeface="Calibri" pitchFamily="34" charset="-120"/>
              </a:rPr>
              <a:t>Module 7 established the MECHANISMS — poverty traps, monopsony, principal-agent failures. This module applies those tools to three contemporary structural crises: the digital economy, algorithmic systems, and the climate emergency. Each reveals a MARKET FAILURE — and demands a POLICY RESPONSE.</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029200"/>
          <a:ext cx="11183112" cy="914400"/>
        </p:xfrm>
        <a:graphic>
          <a:graphicData uri="http://schemas.openxmlformats.org/drawingml/2006/table">
            <a:tbl>
              <a:tblPr/>
              <a:tblGrid>
                <a:gridCol w="3108960"/>
                <a:gridCol w="3931920"/>
                <a:gridCol w="4142232"/>
              </a:tblGrid>
              <a:tr h="31089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SECTION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WHICH MODULE 7 TOOL DOES THE WORK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 — The digital economy and its discontents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1 · The digital divide and the platform economy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Complementary goods (M3) · VMP (M5) · principal-agent and risk-shifting (M7)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II — Algorithmic bias as market failure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2 · Algorithmic systems, disparate impact and corrective mechanisms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Statistical discrimination and its self-fulfilling loop (M7) · information asymmetry (M7)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III — Climate Arc Part 2: distributional justice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3 · Climate change — who bears the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Negative externality and social cost (M6) · the Great Divergence (M6) · incidence (M4)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8</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Digital Divide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Access Gap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Digital Literacy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Platform Economy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Independent Contractor</a:t>
            </a:r>
            <a:endParaRPr lang="en-US" sz="105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Algorithmic Bias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Disparate Impact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Disparate Treatment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Proxy Discrimination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Fairness Constraint</a:t>
            </a:r>
            <a:endParaRPr lang="en-US" sz="105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Algorithmic Audit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Climate Justice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Distributional Injustice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Regulatory Failure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Climate Arc — Part 2</a:t>
            </a:r>
            <a:endParaRPr lang="en-US" sz="105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Environmental Racism</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Sacrifice Zones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Corrective Policy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Green Transition Labor Market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Just Transition Fund</a:t>
            </a:r>
            <a:endParaRPr lang="en-US" sz="105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Carbon Dividend</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Pigouvian Tax (preview)</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Cumulative Emissions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Adaptation vs. Mitigation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Loss and Damage</a:t>
            </a:r>
            <a:endParaRPr lang="en-US" sz="105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PATTERN TO WATCH FOR IN ALL THREE CASES</a:t>
            </a:r>
            <a:endParaRPr lang="en-US" sz="1050" dirty="0"/>
          </a:p>
        </p:txBody>
      </p:sp>
      <p:sp>
        <p:nvSpPr>
          <p:cNvPr id="18" name="Text 1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each one, the harm falls on people who are NOT PARTIES to the transaction that produced it, or on people whose CONSTRAINTS were set before they chose anything. That is the definition of a market failure — and it is why all three end in a policy question rather than a market answer.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Digital Economy &amp; Its Discontents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digital divide as a structural amplifier of inequality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platform economy: classification, risk-shifting and algorithmic management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Digital Divide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Platform Economy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the digital divide as an access gap with compounding economic consequences; evaluate platform economy labor conditions through Module 5's factor market models.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DATA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Digital Divide — Reading the Access Gap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pic>
        <p:nvPicPr>
          <p:cNvPr id="6" name="Image 0" descr="figs/m8_divide.png">    </p:cNvPr>
          <p:cNvPicPr>
            <a:picLocks noChangeAspect="1"/>
          </p:cNvPicPr>
          <p:nvPr/>
        </p:nvPicPr>
        <p:blipFill>
          <a:blip r:embed="rId1"/>
          <a:stretch>
            <a:fillRect/>
          </a:stretch>
        </p:blipFill>
        <p:spPr>
          <a:xfrm>
            <a:off x="2373442" y="1371600"/>
            <a:ext cx="7442069" cy="3291840"/>
          </a:xfrm>
          <a:prstGeom prst="rect">
            <a:avLst/>
          </a:prstGeom>
        </p:spPr>
      </p:pic>
      <p:sp>
        <p:nvSpPr>
          <p:cNvPr id="7" name="Shape 4"/>
          <p:cNvSpPr/>
          <p:nvPr/>
        </p:nvSpPr>
        <p:spPr>
          <a:xfrm>
            <a:off x="502920" y="4800600"/>
            <a:ext cx="3611880" cy="1325880"/>
          </a:xfrm>
          <a:prstGeom prst="rect">
            <a:avLst/>
          </a:prstGeom>
          <a:solidFill>
            <a:srgbClr val="E8EDF3"/>
          </a:solidFill>
          <a:ln/>
        </p:spPr>
      </p:sp>
      <p:sp>
        <p:nvSpPr>
          <p:cNvPr id="8" name="Shape 5"/>
          <p:cNvSpPr/>
          <p:nvPr/>
        </p:nvSpPr>
        <p:spPr>
          <a:xfrm>
            <a:off x="704088" y="5001768"/>
            <a:ext cx="457200" cy="457200"/>
          </a:xfrm>
          <a:prstGeom prst="ellipse">
            <a:avLst/>
          </a:prstGeom>
          <a:solidFill>
            <a:srgbClr val="1A2E4A"/>
          </a:solidFill>
          <a:ln/>
        </p:spPr>
      </p:sp>
      <p:sp>
        <p:nvSpPr>
          <p:cNvPr id="9" name="Text 6"/>
          <p:cNvSpPr/>
          <p:nvPr/>
        </p:nvSpPr>
        <p:spPr>
          <a:xfrm>
            <a:off x="704088"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280160" y="5001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WHICH TWO GROUPS FACE THE LARGEST GAP?</a:t>
            </a:r>
            <a:endParaRPr lang="en-US" sz="1450" dirty="0"/>
          </a:p>
        </p:txBody>
      </p:sp>
      <p:sp>
        <p:nvSpPr>
          <p:cNvPr id="11" name="Text 8"/>
          <p:cNvSpPr/>
          <p:nvPr/>
        </p:nvSpPr>
        <p:spPr>
          <a:xfrm>
            <a:off x="722376" y="5550408"/>
            <a:ext cx="315468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Households earning UNDER $30K (57% home broadband) versus households earning ABOVE $75K (94%) — a 37-point gap. On race, the largest gap is White non-Hispanic (80%) versus Hispanic (65%), 15 points. Income is the sharper divider.</a:t>
            </a:r>
            <a:endParaRPr lang="en-US" sz="900" dirty="0"/>
          </a:p>
        </p:txBody>
      </p:sp>
      <p:sp>
        <p:nvSpPr>
          <p:cNvPr id="12" name="Shape 9"/>
          <p:cNvSpPr/>
          <p:nvPr/>
        </p:nvSpPr>
        <p:spPr>
          <a:xfrm>
            <a:off x="4315968" y="4800600"/>
            <a:ext cx="3611880" cy="1325880"/>
          </a:xfrm>
          <a:prstGeom prst="rect">
            <a:avLst/>
          </a:prstGeom>
          <a:solidFill>
            <a:srgbClr val="E8EDF3"/>
          </a:solidFill>
          <a:ln/>
        </p:spPr>
      </p:sp>
      <p:sp>
        <p:nvSpPr>
          <p:cNvPr id="13" name="Shape 10"/>
          <p:cNvSpPr/>
          <p:nvPr/>
        </p:nvSpPr>
        <p:spPr>
          <a:xfrm>
            <a:off x="4517136" y="5001768"/>
            <a:ext cx="457200" cy="457200"/>
          </a:xfrm>
          <a:prstGeom prst="ellipse">
            <a:avLst/>
          </a:prstGeom>
          <a:solidFill>
            <a:srgbClr val="C0892E"/>
          </a:solidFill>
          <a:ln/>
        </p:spPr>
      </p:sp>
      <p:sp>
        <p:nvSpPr>
          <p:cNvPr id="14" name="Text 11"/>
          <p:cNvSpPr/>
          <p:nvPr/>
        </p:nvSpPr>
        <p:spPr>
          <a:xfrm>
            <a:off x="4517136"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5093208" y="5001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'SMARTPHONE ONLY' AT LOW INCOME?</a:t>
            </a:r>
            <a:endParaRPr lang="en-US" sz="1450" dirty="0"/>
          </a:p>
        </p:txBody>
      </p:sp>
      <p:sp>
        <p:nvSpPr>
          <p:cNvPr id="16" name="Text 13"/>
          <p:cNvSpPr/>
          <p:nvPr/>
        </p:nvSpPr>
        <p:spPr>
          <a:xfrm>
            <a:off x="4535424" y="5550408"/>
            <a:ext cx="315468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phone is a SUBSTITUTE at a lower price point with a lower fixed cost. Home broadband requires a credit check, a deposit, a 12-month contract and a fixed address — every one of which is a barrier the Module 7 credit desert makes binding. The budget constraint (M1), not the preference, produces the pattern.</a:t>
            </a:r>
            <a:endParaRPr lang="en-US" sz="900" dirty="0"/>
          </a:p>
        </p:txBody>
      </p:sp>
      <p:sp>
        <p:nvSpPr>
          <p:cNvPr id="17" name="Shape 14"/>
          <p:cNvSpPr/>
          <p:nvPr/>
        </p:nvSpPr>
        <p:spPr>
          <a:xfrm>
            <a:off x="8119872" y="4800600"/>
            <a:ext cx="3566160" cy="1325880"/>
          </a:xfrm>
          <a:prstGeom prst="rect">
            <a:avLst/>
          </a:prstGeom>
          <a:solidFill>
            <a:srgbClr val="E8EDF3"/>
          </a:solidFill>
          <a:ln/>
        </p:spPr>
      </p:sp>
      <p:sp>
        <p:nvSpPr>
          <p:cNvPr id="18" name="Shape 15"/>
          <p:cNvSpPr/>
          <p:nvPr/>
        </p:nvSpPr>
        <p:spPr>
          <a:xfrm>
            <a:off x="8321040" y="5001768"/>
            <a:ext cx="457200" cy="457200"/>
          </a:xfrm>
          <a:prstGeom prst="ellipse">
            <a:avLst/>
          </a:prstGeom>
          <a:solidFill>
            <a:srgbClr val="2A7F84"/>
          </a:solidFill>
          <a:ln/>
        </p:spPr>
      </p:sp>
      <p:sp>
        <p:nvSpPr>
          <p:cNvPr id="19" name="Text 16"/>
          <p:cNvSpPr/>
          <p:nvPr/>
        </p:nvSpPr>
        <p:spPr>
          <a:xfrm>
            <a:off x="8321040" y="5001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8897112" y="500176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BROADBAND AS A COMPLEMENT</a:t>
            </a:r>
            <a:endParaRPr lang="en-US" sz="1600" dirty="0"/>
          </a:p>
        </p:txBody>
      </p:sp>
      <p:sp>
        <p:nvSpPr>
          <p:cNvPr id="21" name="Text 18"/>
          <p:cNvSpPr/>
          <p:nvPr/>
        </p:nvSpPr>
        <p:spPr>
          <a:xfrm>
            <a:off x="8339328" y="5550408"/>
            <a:ext cx="3108960" cy="365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If broadband is a COMPLEMENT to education and remote work (M3: ∂D/∂P of the complement &lt; 0), then unequal access to broadband produces UNEQUAL RETURNS to schooling and job search. Human capital accumulation diverges — which is the poverty-trap loop from M7, running through a new channel.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IN THE GIG ECONOMY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Classification, Risk and the Platform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Text 4"/>
          <p:cNvSpPr/>
          <p:nvPr/>
        </p:nvSpPr>
        <p:spPr>
          <a:xfrm>
            <a:off x="502920" y="1371600"/>
            <a:ext cx="11155680" cy="365760"/>
          </a:xfrm>
          <a:prstGeom prst="rect">
            <a:avLst/>
          </a:prstGeom>
          <a:noFill/>
          <a:ln/>
        </p:spPr>
        <p:txBody>
          <a:bodyPr wrap="square" lIns="0" tIns="0" rIns="0" bIns="0" rtlCol="0" anchor="ctr"/>
          <a:lstStyle/>
          <a:p>
            <a:pPr indent="0" marL="0">
              <a:buNone/>
            </a:pPr>
            <a:r>
              <a:rPr lang="en-US" sz="1200" dirty="0">
                <a:solidFill>
                  <a:srgbClr val="4A6180"/>
                </a:solidFill>
                <a:latin typeface="Calibri" pitchFamily="34" charset="0"/>
                <a:ea typeface="Calibri" pitchFamily="34" charset="-122"/>
                <a:cs typeface="Calibri" pitchFamily="34" charset="-120"/>
              </a:rPr>
              <a:t>Marcus lacks reliable broadband; his data cap limits his use of delivery platforms and job boards. Meanwhile Ray earns platform revenue from his property on Airbnb.</a:t>
            </a:r>
            <a:endParaRPr lang="en-US" sz="1200" dirty="0"/>
          </a:p>
        </p:txBody>
      </p:sp>
      <p:pic>
        <p:nvPicPr>
          <p:cNvPr id="7" name="Image 0" descr="figs/m8_gig.png">    </p:cNvPr>
          <p:cNvPicPr>
            <a:picLocks noChangeAspect="1"/>
          </p:cNvPicPr>
          <p:nvPr/>
        </p:nvPicPr>
        <p:blipFill>
          <a:blip r:embed="rId1"/>
          <a:stretch>
            <a:fillRect/>
          </a:stretch>
        </p:blipFill>
        <p:spPr>
          <a:xfrm>
            <a:off x="2820936" y="1828800"/>
            <a:ext cx="6547080" cy="2651760"/>
          </a:xfrm>
          <a:prstGeom prst="rect">
            <a:avLst/>
          </a:prstGeom>
        </p:spPr>
      </p:pic>
      <p:sp>
        <p:nvSpPr>
          <p:cNvPr id="8" name="Shape 5"/>
          <p:cNvSpPr/>
          <p:nvPr/>
        </p:nvSpPr>
        <p:spPr>
          <a:xfrm>
            <a:off x="502920" y="4617720"/>
            <a:ext cx="3611880" cy="15087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80060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CLASSIFICATION ANSWER</a:t>
            </a:r>
            <a:endParaRPr lang="en-US" sz="1550" dirty="0"/>
          </a:p>
        </p:txBody>
      </p:sp>
      <p:sp>
        <p:nvSpPr>
          <p:cNvPr id="10" name="Text 7"/>
          <p:cNvSpPr/>
          <p:nvPr/>
        </p:nvSpPr>
        <p:spPr>
          <a:xfrm>
            <a:off x="758952" y="5202936"/>
            <a:ext cx="3099816" cy="6858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Gig workers are classified as INDEPENDENT CONTRACTORS, which means they lack employee protections. This eliminates access to ALL FOUR of: minimum wage, overtime, benefits, and unemployment insurance — the worksheet's 'circle all that apply' is a trick; the answer is all of them.</a:t>
            </a:r>
            <a:endParaRPr lang="en-US" sz="850" dirty="0"/>
          </a:p>
        </p:txBody>
      </p:sp>
      <p:sp>
        <p:nvSpPr>
          <p:cNvPr id="11" name="Shape 8"/>
          <p:cNvSpPr/>
          <p:nvPr/>
        </p:nvSpPr>
        <p:spPr>
          <a:xfrm>
            <a:off x="4315968" y="4617720"/>
            <a:ext cx="3611880" cy="15087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4572000" y="480060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TWO INCOME TYPES</a:t>
            </a:r>
            <a:endParaRPr lang="en-US" sz="1550" dirty="0"/>
          </a:p>
        </p:txBody>
      </p:sp>
      <p:sp>
        <p:nvSpPr>
          <p:cNvPr id="13" name="Text 10"/>
          <p:cNvSpPr/>
          <p:nvPr/>
        </p:nvSpPr>
        <p:spPr>
          <a:xfrm>
            <a:off x="4572000" y="5202936"/>
            <a:ext cx="3099816" cy="6858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Marcus's earnings are ORDINARY LABOR INCOME, taxed at ordinary rates plus the full self-employment payroll tax (both halves, because he is his own employer).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Ray's Airbnb receipts are PASSIVE / RENTAL income — generally taxed at LOWER effective rates after depreciation and expense deductions, with no payroll tax at all.</a:t>
            </a:r>
            <a:endParaRPr lang="en-US" sz="850" dirty="0"/>
          </a:p>
        </p:txBody>
      </p:sp>
      <p:sp>
        <p:nvSpPr>
          <p:cNvPr id="14" name="Shape 11"/>
          <p:cNvSpPr/>
          <p:nvPr/>
        </p:nvSpPr>
        <p:spPr>
          <a:xfrm>
            <a:off x="8119872" y="4617720"/>
            <a:ext cx="3566160" cy="15087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2"/>
          <p:cNvSpPr/>
          <p:nvPr/>
        </p:nvSpPr>
        <p:spPr>
          <a:xfrm>
            <a:off x="8375904" y="4800600"/>
            <a:ext cx="305409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DIVIDE IN M5 TERMS</a:t>
            </a:r>
            <a:endParaRPr lang="en-US" sz="1550" dirty="0"/>
          </a:p>
        </p:txBody>
      </p:sp>
      <p:sp>
        <p:nvSpPr>
          <p:cNvPr id="16" name="Text 13"/>
          <p:cNvSpPr/>
          <p:nvPr/>
        </p:nvSpPr>
        <p:spPr>
          <a:xfrm>
            <a:off x="8375904" y="5202936"/>
            <a:ext cx="3054096" cy="6858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Marcus lacks BROADBAND, which limits access to PLATFORMS, JOB BOARDS AND DIGITAL FINANCIAL SERVICES — reducing his effective VMP in the labor market. His marginal product is unchanged; his ability to CONVERT it into income is not.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WORKSHEET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Algorithmic Management as a Principal-Agent Problem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Shape 4"/>
          <p:cNvSpPr/>
          <p:nvPr/>
        </p:nvSpPr>
        <p:spPr>
          <a:xfrm>
            <a:off x="502920" y="1417320"/>
            <a:ext cx="11183112" cy="82296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Gig platforms use algorithmic scheduling and pay-setting. Apply the principal-agent framework from Module 7: who is the principal, who is the agent, and what is the information asymmetry? How does classification as an independent contractor shift risk from platforms to workers — and what policy intervention would rebalance it?</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914400"/>
        </p:xfrm>
        <a:graphic>
          <a:graphicData uri="http://schemas.openxmlformats.org/drawingml/2006/table">
            <a:tbl>
              <a:tblPr/>
              <a:tblGrid>
                <a:gridCol w="1554480"/>
                <a:gridCol w="4023360"/>
                <a:gridCol w="5605272"/>
              </a:tblGrid>
              <a:tr h="274320">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STANDARD FRAMING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INVERSION THAT MAKES PLATFORMS DIFFERENT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PRINCIPAL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platform. It delegates delivery to the worker and cannot directly observe effort or care.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platform observes MORE than a conventional employer: GPS trace, acceptance rate, dwell time, customer rating, second-by-second location.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worker. Classic moral hazard: hidden action after the contract.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worker is the party facing the asymmetry. They cannot see the pay algorithm, the ranking rule, the surge formula, or why an offer was withheld.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ASYMMETRY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Normally runs AGENT → PRINCIPAL (the worker knows their own effort).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Here it runs PRINCIPAL → AGENT. The platform holds the information; the worker faces an opaque counterparty and cannot price the job before accepting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CONSEQUENCE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Monitoring costs, efficiency wages, piece rates.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worker cannot compute expected earnings per hour, so they cannot make the Module 2 labor-leisure decision the model assumes they are making.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502920" y="4526280"/>
            <a:ext cx="3611880" cy="1600200"/>
          </a:xfrm>
          <a:prstGeom prst="rect">
            <a:avLst/>
          </a:prstGeom>
          <a:solidFill>
            <a:srgbClr val="E8EDF3"/>
          </a:solidFill>
          <a:ln/>
        </p:spPr>
      </p:sp>
      <p:sp>
        <p:nvSpPr>
          <p:cNvPr id="11" name="Shape 8"/>
          <p:cNvSpPr/>
          <p:nvPr/>
        </p:nvSpPr>
        <p:spPr>
          <a:xfrm>
            <a:off x="704088" y="4727448"/>
            <a:ext cx="457200" cy="457200"/>
          </a:xfrm>
          <a:prstGeom prst="ellipse">
            <a:avLst/>
          </a:prstGeom>
          <a:solidFill>
            <a:srgbClr val="9E2A2B"/>
          </a:solidFill>
          <a:ln/>
        </p:spPr>
      </p:sp>
      <p:sp>
        <p:nvSpPr>
          <p:cNvPr id="12" name="Text 9"/>
          <p:cNvSpPr/>
          <p:nvPr/>
        </p:nvSpPr>
        <p:spPr>
          <a:xfrm>
            <a:off x="704088"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0"/>
          <p:cNvSpPr/>
          <p:nvPr/>
        </p:nvSpPr>
        <p:spPr>
          <a:xfrm>
            <a:off x="1280160" y="472744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HOW RECLASSIFICATION SHIFTS RISK</a:t>
            </a:r>
            <a:endParaRPr lang="en-US" sz="1450" dirty="0"/>
          </a:p>
        </p:txBody>
      </p:sp>
      <p:sp>
        <p:nvSpPr>
          <p:cNvPr id="14" name="Text 11"/>
          <p:cNvSpPr/>
          <p:nvPr/>
        </p:nvSpPr>
        <p:spPr>
          <a:xfrm>
            <a:off x="722376" y="5276088"/>
            <a:ext cx="315468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Demand risk, idle time, vehicle depreciation, fuel, insurance, injury and the entire payroll tax move from the FIRM'S balance sheet to the WORKER'S. The firm converts a FIXED cost into a VARIABLE one and keeps the residual — which is exactly the Module 5 definition of what an entrepreneur is paid for.</a:t>
            </a:r>
            <a:endParaRPr lang="en-US" sz="900" dirty="0"/>
          </a:p>
        </p:txBody>
      </p:sp>
      <p:sp>
        <p:nvSpPr>
          <p:cNvPr id="15" name="Shape 12"/>
          <p:cNvSpPr/>
          <p:nvPr/>
        </p:nvSpPr>
        <p:spPr>
          <a:xfrm>
            <a:off x="4315968" y="4526280"/>
            <a:ext cx="3611880" cy="1600200"/>
          </a:xfrm>
          <a:prstGeom prst="rect">
            <a:avLst/>
          </a:prstGeom>
          <a:solidFill>
            <a:srgbClr val="E8EDF3"/>
          </a:solidFill>
          <a:ln/>
        </p:spPr>
      </p:sp>
      <p:sp>
        <p:nvSpPr>
          <p:cNvPr id="16" name="Shape 13"/>
          <p:cNvSpPr/>
          <p:nvPr/>
        </p:nvSpPr>
        <p:spPr>
          <a:xfrm>
            <a:off x="4517136" y="4727448"/>
            <a:ext cx="457200" cy="457200"/>
          </a:xfrm>
          <a:prstGeom prst="ellipse">
            <a:avLst/>
          </a:prstGeom>
          <a:solidFill>
            <a:srgbClr val="1A2E4A"/>
          </a:solidFill>
          <a:ln/>
        </p:spPr>
      </p:sp>
      <p:sp>
        <p:nvSpPr>
          <p:cNvPr id="17" name="Text 14"/>
          <p:cNvSpPr/>
          <p:nvPr/>
        </p:nvSpPr>
        <p:spPr>
          <a:xfrm>
            <a:off x="4517136"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5"/>
          <p:cNvSpPr/>
          <p:nvPr/>
        </p:nvSpPr>
        <p:spPr>
          <a:xfrm>
            <a:off x="5093208" y="472744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THE MODEL SAYS THIS MATTERS</a:t>
            </a:r>
            <a:endParaRPr lang="en-US" sz="1450" dirty="0"/>
          </a:p>
        </p:txBody>
      </p:sp>
      <p:sp>
        <p:nvSpPr>
          <p:cNvPr id="19" name="Text 16"/>
          <p:cNvSpPr/>
          <p:nvPr/>
        </p:nvSpPr>
        <p:spPr>
          <a:xfrm>
            <a:off x="4535424" y="5276088"/>
            <a:ext cx="315468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Risk-bearing is a factor service and it commands a return (M5). A worker who bears entrepreneurial risk but is paid a piece rate is bearing the risk WITHOUT receiving the profit that compensates it. The classification decouples the risk from its payment.</a:t>
            </a:r>
            <a:endParaRPr lang="en-US" sz="900" dirty="0"/>
          </a:p>
        </p:txBody>
      </p:sp>
      <p:sp>
        <p:nvSpPr>
          <p:cNvPr id="20" name="Shape 17"/>
          <p:cNvSpPr/>
          <p:nvPr/>
        </p:nvSpPr>
        <p:spPr>
          <a:xfrm>
            <a:off x="8119872" y="4526280"/>
            <a:ext cx="3566160" cy="1600200"/>
          </a:xfrm>
          <a:prstGeom prst="rect">
            <a:avLst/>
          </a:prstGeom>
          <a:solidFill>
            <a:srgbClr val="E8EDF3"/>
          </a:solidFill>
          <a:ln/>
        </p:spPr>
      </p:sp>
      <p:sp>
        <p:nvSpPr>
          <p:cNvPr id="21" name="Shape 18"/>
          <p:cNvSpPr/>
          <p:nvPr/>
        </p:nvSpPr>
        <p:spPr>
          <a:xfrm>
            <a:off x="8321040" y="4727448"/>
            <a:ext cx="457200" cy="457200"/>
          </a:xfrm>
          <a:prstGeom prst="ellipse">
            <a:avLst/>
          </a:prstGeom>
          <a:solidFill>
            <a:srgbClr val="2A7F84"/>
          </a:solidFill>
          <a:ln/>
        </p:spPr>
      </p:sp>
      <p:sp>
        <p:nvSpPr>
          <p:cNvPr id="22" name="Text 19"/>
          <p:cNvSpPr/>
          <p:nvPr/>
        </p:nvSpPr>
        <p:spPr>
          <a:xfrm>
            <a:off x="8321040"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p:nvPr/>
        </p:nvSpPr>
        <p:spPr>
          <a:xfrm>
            <a:off x="8897112" y="472744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POLICY INTERVENTIONS THAT REBALANCE</a:t>
            </a:r>
            <a:endParaRPr lang="en-US" sz="1450" dirty="0"/>
          </a:p>
        </p:txBody>
      </p:sp>
      <p:sp>
        <p:nvSpPr>
          <p:cNvPr id="24" name="Text 21"/>
          <p:cNvSpPr/>
          <p:nvPr/>
        </p:nvSpPr>
        <p:spPr>
          <a:xfrm>
            <a:off x="8339328" y="5276088"/>
            <a:ext cx="310896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 THIRD CATEGORY (dependent contractor) carrying a wage floor and portable benefits.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PORTABLE BENEFIT ACCOUNTS funded pro rata per engagement.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ALGORITHMIC TRANSPARENCY rules — disclose the pay formula, which removes the asymmetry directly rather than compensating for it.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ABC-style reclassification tests.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Algorithmic Bias as Market Failure</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How machine learning trained on historical data reproduces and amplifies discrimination</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Disparate impact, proxy discrimination, and why 'objective' is not the same as 'fair'</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Corrective mechanisms: fairness constraints, algorithmic audits, and data interventions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Algorithmic Systems,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Disparate Impact &amp; Correction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Examine algorithmic bias as a market failure; explain disparate impact and proxy discrimination; evaluate the available corrective mechanisms.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CREDIT SCORING IN MARCUS'S NEIGHBORHOOD</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How an Unbiased Algorithm Produces a Biased Outcome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Text 4"/>
          <p:cNvSpPr/>
          <p:nvPr/>
        </p:nvSpPr>
        <p:spPr>
          <a:xfrm>
            <a:off x="502920" y="1417320"/>
            <a:ext cx="11155680" cy="45720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A fintech lender deploys an algorithm trained on historical loan performance data. Because that data reflects decades of redlining and discriminatory lending, the algorithm assigns lower credit scores to residents of majority-Black neighborhoods — INDEPENDENTLY of individual creditworthiness.</a:t>
            </a:r>
            <a:endParaRPr lang="en-US" sz="1250" dirty="0"/>
          </a:p>
        </p:txBody>
      </p:sp>
      <p:pic>
        <p:nvPicPr>
          <p:cNvPr id="7" name="Image 0" descr="figs/m8_algo.png">    </p:cNvPr>
          <p:cNvPicPr>
            <a:picLocks noChangeAspect="1"/>
          </p:cNvPicPr>
          <p:nvPr/>
        </p:nvPicPr>
        <p:blipFill>
          <a:blip r:embed="rId1"/>
          <a:stretch>
            <a:fillRect/>
          </a:stretch>
        </p:blipFill>
        <p:spPr>
          <a:xfrm>
            <a:off x="2584249" y="1828800"/>
            <a:ext cx="7020453" cy="2743200"/>
          </a:xfrm>
          <a:prstGeom prst="rect">
            <a:avLst/>
          </a:prstGeom>
        </p:spPr>
      </p:pic>
      <p:sp>
        <p:nvSpPr>
          <p:cNvPr id="8" name="Shape 5"/>
          <p:cNvSpPr/>
          <p:nvPr/>
        </p:nvSpPr>
        <p:spPr>
          <a:xfrm>
            <a:off x="502920" y="475488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93776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DISPARATE IMPACT</a:t>
            </a:r>
            <a:endParaRPr lang="en-US" sz="1550" dirty="0"/>
          </a:p>
        </p:txBody>
      </p:sp>
      <p:sp>
        <p:nvSpPr>
          <p:cNvPr id="10" name="Text 7"/>
          <p:cNvSpPr/>
          <p:nvPr/>
        </p:nvSpPr>
        <p:spPr>
          <a:xfrm>
            <a:off x="758952" y="534009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An algorithm produces discriminatory outcomes without discriminatory INTENT, because it optimizes against data that already encodes the discrimination.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Compare DISPARATE TREATMENT — the explicit use of a protected characteristic. The law reaches both, but only treatment requires intent.</a:t>
            </a:r>
            <a:endParaRPr lang="en-US" sz="850" dirty="0"/>
          </a:p>
        </p:txBody>
      </p:sp>
      <p:sp>
        <p:nvSpPr>
          <p:cNvPr id="11" name="Shape 8"/>
          <p:cNvSpPr/>
          <p:nvPr/>
        </p:nvSpPr>
        <p:spPr>
          <a:xfrm>
            <a:off x="4315968" y="475488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4572000" y="493776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PROXY DISCRIMINATION</a:t>
            </a:r>
            <a:endParaRPr lang="en-US" sz="1550" dirty="0"/>
          </a:p>
        </p:txBody>
      </p:sp>
      <p:sp>
        <p:nvSpPr>
          <p:cNvPr id="13" name="Text 10"/>
          <p:cNvSpPr/>
          <p:nvPr/>
        </p:nvSpPr>
        <p:spPr>
          <a:xfrm>
            <a:off x="4572000" y="534009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ZIP code — or browsing history, or high-school attended, or first name — is correlated with race BECAUSE OF THE HISTORY OF SEGREGATION. Using it as a predictor therefore reproduces the racial pattern without ever naming race.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Removing the race variable does NOT remove the effect; it merely removes the audit trail.</a:t>
            </a:r>
            <a:endParaRPr lang="en-US" sz="850" dirty="0"/>
          </a:p>
        </p:txBody>
      </p:sp>
      <p:sp>
        <p:nvSpPr>
          <p:cNvPr id="14" name="Shape 11"/>
          <p:cNvSpPr/>
          <p:nvPr/>
        </p:nvSpPr>
        <p:spPr>
          <a:xfrm>
            <a:off x="8119872" y="4754880"/>
            <a:ext cx="356616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2"/>
          <p:cNvSpPr/>
          <p:nvPr/>
        </p:nvSpPr>
        <p:spPr>
          <a:xfrm>
            <a:off x="8375904" y="4937760"/>
            <a:ext cx="305409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IT IS A MARKET FAILURE</a:t>
            </a:r>
            <a:endParaRPr lang="en-US" sz="1550" dirty="0"/>
          </a:p>
        </p:txBody>
      </p:sp>
      <p:sp>
        <p:nvSpPr>
          <p:cNvPr id="16" name="Text 13"/>
          <p:cNvSpPr/>
          <p:nvPr/>
        </p:nvSpPr>
        <p:spPr>
          <a:xfrm>
            <a:off x="8375904" y="5340096"/>
            <a:ext cx="305409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Information — the historical record — is SYSTEMATICALLY BIASED, so it leads to MISPRICING. Creditworthy borrowers are charged above their true risk and denied credit whose return exceeds its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That is a real efficiency loss, not only an equity loss: productive investment goes unfunded (M2, M5).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FOUR APPLICATIONS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Where the Same Mechanism Recurs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3017520"/>
                <a:gridCol w="587959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ALGORITHMIC APPLICATION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SOURCE OF BIAS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AFFECTED POPULATION &amp; MECHANISM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Mortgage credit scoring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Historical redlining data — decades of denied loans recorded as 'no repayment history'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Residents of formerly redlined neighborhoods. Absence of a credit record is scored as RISK rather than as MISSING DATA, so the algorithm converts a historical injustice into a present-day price. Thin-file borrowers are penalized for having been excluded.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Resume screening (NLP)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Historically biased hiring records — the model learns to predict 'who was hired before'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Women and minority applicants in fields with historically skewed hiring. The model learns proxies (a college, a hobby, a name pattern, an employment gap) and reproduces the historical composition. It optimizes for RESEMBLANCE TO PAST HIRES, not for productivity.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Predictive policing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Historically biased arrest records — arrests measure ENFORCEMENT, not offending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Over-policed neighborhoods. More patrols produce more arrests, which the model reads as more crime, which justifies more patrols. This is the tightest version of the feedback loop: the model's own output becomes its next input.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Healthcare resource allocation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Proxy: historical healthcare SPENDING used as a stand-in for health NEED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Patients with less access to care. Because less was historically spent on them — for reasons of access, not of health — the algorithm infers they are healthier and allocates less care. Obermeyer et al. (2019) documented exactly this in a system covering 200 million people.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892040"/>
            <a:ext cx="11183112" cy="1234440"/>
          </a:xfrm>
          <a:prstGeom prst="rect">
            <a:avLst/>
          </a:prstGeom>
          <a:solidFill>
            <a:srgbClr val="1A2E4A"/>
          </a:solidFill>
          <a:ln/>
        </p:spPr>
      </p:sp>
      <p:sp>
        <p:nvSpPr>
          <p:cNvPr id="8" name="Text 5"/>
          <p:cNvSpPr/>
          <p:nvPr/>
        </p:nvSpPr>
        <p:spPr>
          <a:xfrm>
            <a:off x="758952" y="50200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COMMON STRUCTURE — AND THE ONE-SENTENCE VERSION</a:t>
            </a:r>
            <a:endParaRPr lang="en-US" sz="1050" dirty="0"/>
          </a:p>
        </p:txBody>
      </p:sp>
      <p:sp>
        <p:nvSpPr>
          <p:cNvPr id="9" name="Text 6"/>
          <p:cNvSpPr/>
          <p:nvPr/>
        </p:nvSpPr>
        <p:spPr>
          <a:xfrm>
            <a:off x="758952" y="5294376"/>
            <a:ext cx="1067104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every row, a variable that MEASURES A PAST INSTITUTIONAL CHOICE is treated as if it measured an INDIVIDUAL PROPERTY. Arrests are read as offending; spending is read as need; past hires are read as merit; absence of a loan record is read as unreliability.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AN ALGORITHM CANNOT DISTINGUISH A PATTERN CAUSED BY THE WORLD FROM A PATTERN CAUSED BY THE INJUSTICE THAT PRODUCED THE DATA. That distinction is a causal claim, and causal claims come from theory and history — not from optimization.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Evaluating Two Corrective Mechanisms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Shape 4"/>
          <p:cNvSpPr/>
          <p:nvPr/>
        </p:nvSpPr>
        <p:spPr>
          <a:xfrm>
            <a:off x="502920" y="1417320"/>
            <a:ext cx="11183112" cy="82296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Algorithmic systems are often presented as objective — but 'objective' optimization of biased historical data systematically reproduces past injustice. Identify the specific mechanism by which historical redlining data produces present-day credit score disparities. Then evaluate FAIRNESS CONSTRAINTS and ALGORITHMIC AUDITS in terms of both effectiveness and feasibility.</a:t>
            </a:r>
            <a:endParaRPr lang="en-US" sz="850" dirty="0"/>
          </a:p>
        </p:txBody>
      </p:sp>
      <p:sp>
        <p:nvSpPr>
          <p:cNvPr id="9" name="Shape 7"/>
          <p:cNvSpPr/>
          <p:nvPr/>
        </p:nvSpPr>
        <p:spPr>
          <a:xfrm>
            <a:off x="502920" y="2377440"/>
            <a:ext cx="548640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56032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FAIRNESS CONSTRAINTS</a:t>
            </a:r>
            <a:endParaRPr lang="en-US" sz="1550" dirty="0"/>
          </a:p>
        </p:txBody>
      </p:sp>
      <p:sp>
        <p:nvSpPr>
          <p:cNvPr id="11" name="Text 9"/>
          <p:cNvSpPr/>
          <p:nvPr/>
        </p:nvSpPr>
        <p:spPr>
          <a:xfrm>
            <a:off x="758952" y="2962656"/>
            <a:ext cx="4974336" cy="1463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WHAT IT IS: a mathematical condition imposed on the model — equalized odds, demographic parity, or calibration within groups — enforced during training.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EFFECTIVENESS: HIGH and direct. It changes the model's output, not merely our knowledge of it, and it works ex ante rather than after harm.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FEASIBILITY PROBLEMS: (1) the fairness definitions are MUTUALLY INCOMPATIBLE — Kleinberg et al. (2016) proved you cannot satisfy calibration and equalized odds simultaneously when base rates differ, so a normative choice is unavoidable and cannot be delegated to the engineer; (2) enforcing them may require USING the protected attribute, which is legally fraught; (3) it usually costs some predictive accuracy, and someone must decide how much is acceptable.</a:t>
            </a:r>
            <a:endParaRPr lang="en-US" sz="850" dirty="0"/>
          </a:p>
        </p:txBody>
      </p:sp>
      <p:sp>
        <p:nvSpPr>
          <p:cNvPr id="12" name="Shape 10"/>
          <p:cNvSpPr/>
          <p:nvPr/>
        </p:nvSpPr>
        <p:spPr>
          <a:xfrm>
            <a:off x="6199632" y="2377440"/>
            <a:ext cx="548640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6455664" y="256032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ALGORITHMIC AUDITS</a:t>
            </a:r>
            <a:endParaRPr lang="en-US" sz="1550" dirty="0"/>
          </a:p>
        </p:txBody>
      </p:sp>
      <p:sp>
        <p:nvSpPr>
          <p:cNvPr id="14" name="Text 12"/>
          <p:cNvSpPr/>
          <p:nvPr/>
        </p:nvSpPr>
        <p:spPr>
          <a:xfrm>
            <a:off x="6455664" y="2962656"/>
            <a:ext cx="4974336" cy="1463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WHAT IT IS: systematic ex-post testing of outcomes by group — paired testing, disparity ratios, adverse-impact ratios — conducted internally or by a regulator.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EFFECTIVENESS: MODERATE. An audit DETECTS disparate impact but does not by itself REMOVE it; it must be coupled to an enforcement remedy or it is documentation.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FEASIBILITY: HIGHER than constraints. It requires no change to proprietary model internals, fits existing disparate-impact law, and can be mandated by a regulator without technical prescription. NYC Local Law 144 (2023) requires exactly this for automated hiring tools.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CATCH: audits need demographic data the firm often does not legally hold.</a:t>
            </a:r>
            <a:endParaRPr lang="en-US" sz="850" dirty="0"/>
          </a:p>
        </p:txBody>
      </p:sp>
      <p:sp>
        <p:nvSpPr>
          <p:cNvPr id="15" name="Shape 13"/>
          <p:cNvSpPr/>
          <p:nvPr/>
        </p:nvSpPr>
        <p:spPr>
          <a:xfrm>
            <a:off x="502920" y="4846320"/>
            <a:ext cx="11183112" cy="1280160"/>
          </a:xfrm>
          <a:prstGeom prst="rect">
            <a:avLst/>
          </a:prstGeom>
          <a:solidFill>
            <a:srgbClr val="1A2E4A"/>
          </a:solidFill>
          <a:ln/>
        </p:spPr>
      </p:sp>
      <p:sp>
        <p:nvSpPr>
          <p:cNvPr id="16" name="Text 14"/>
          <p:cNvSpPr/>
          <p:nvPr/>
        </p:nvSpPr>
        <p:spPr>
          <a:xfrm>
            <a:off x="685800" y="4974336"/>
            <a:ext cx="1081735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The honest summary:  CONSTRAINTS are more EFFECTIVE and less FEASIBLE.  AUDITS are more FEASIBLE and less EFFECTIVE.</a:t>
            </a:r>
            <a:endParaRPr lang="en-US" sz="2000" dirty="0"/>
          </a:p>
        </p:txBody>
      </p:sp>
      <p:sp>
        <p:nvSpPr>
          <p:cNvPr id="17" name="Text 15"/>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050" i="1" dirty="0">
                <a:solidFill>
                  <a:srgbClr val="E8C87A"/>
                </a:solidFill>
                <a:latin typeface="Calibri" pitchFamily="34" charset="0"/>
                <a:ea typeface="Calibri" pitchFamily="34" charset="-122"/>
                <a:cs typeface="Calibri" pitchFamily="34" charset="-120"/>
              </a:rPr>
              <a:t>A serious policy uses both — audits to create the obligation and the evidence, constraints to satisfy it. And note that neither touches the underlying cause:</a:t>
            </a:r>
            <a:endParaRPr lang="en-US" sz="1050" dirty="0"/>
          </a:p>
          <a:p>
            <a:pPr algn="ctr" indent="0" marL="0">
              <a:buNone/>
            </a:pPr>
            <a:r>
              <a:rPr lang="en-US" sz="1050" i="1" dirty="0">
                <a:solidFill>
                  <a:srgbClr val="E8C87A"/>
                </a:solidFill>
                <a:latin typeface="Calibri" pitchFamily="34" charset="0"/>
                <a:ea typeface="Calibri" pitchFamily="34" charset="-122"/>
                <a:cs typeface="Calibri" pitchFamily="34" charset="-120"/>
              </a:rPr>
              <a:t>the DATA is biased because the WORLD was. Debiasing the model is treatment; changing what generates the data is the cure.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Climate Arc Part 2  ·  Distributional Justice</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Who bears the cost of climate change — and does it match who caused it?</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Environmental racism, sacrifice zones, and the green transition labor market</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Recall  ·  Module 6 established the MECHANISM. Module 12 evaluates the POLICY.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Climate Change —</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Who Bears the Cost?</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the distributional injustice of climate change; connect it to environmental racism and to policy design; evaluate two corrective instruments.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MARCUS'S NEIGHBORHOOD &amp; THE GLOBAL SOUTH</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Environmental Racism and Sacrifice Zones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Text 4"/>
          <p:cNvSpPr/>
          <p:nvPr/>
        </p:nvSpPr>
        <p:spPr>
          <a:xfrm>
            <a:off x="502920" y="1417320"/>
            <a:ext cx="11155680" cy="45720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Marcus's neighborhood sits adjacent to an industrial facility; residents experience higher rates of asthma, lead exposure and heat-island effects. Simultaneously, Pacific Island communities facing existential sea-level rise have contributed a negligible fraction of cumulative global carbon emissions.</a:t>
            </a:r>
            <a:endParaRPr lang="en-US" sz="1250" dirty="0"/>
          </a:p>
        </p:txBody>
      </p:sp>
      <p:sp>
        <p:nvSpPr>
          <p:cNvPr id="7" name="Shape 5"/>
          <p:cNvSpPr/>
          <p:nvPr/>
        </p:nvSpPr>
        <p:spPr>
          <a:xfrm>
            <a:off x="502920" y="1965960"/>
            <a:ext cx="361188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6"/>
          <p:cNvSpPr/>
          <p:nvPr/>
        </p:nvSpPr>
        <p:spPr>
          <a:xfrm>
            <a:off x="758952" y="214884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ENVIRONMENTAL RACISM</a:t>
            </a:r>
            <a:endParaRPr lang="en-US" sz="1550" dirty="0"/>
          </a:p>
        </p:txBody>
      </p:sp>
      <p:sp>
        <p:nvSpPr>
          <p:cNvPr id="9" name="Text 7"/>
          <p:cNvSpPr/>
          <p:nvPr/>
        </p:nvSpPr>
        <p:spPr>
          <a:xfrm>
            <a:off x="758952" y="2551176"/>
            <a:ext cx="3099816" cy="1234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systematic siting of hazardous facilities and infrastructure in low-income and minority communities.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ECONOMIC MECHANISM: land is cheapest where incomes are lowest (M5), and political resistance is weakest where political power is least. A firm minimizing cost will site there — no animus required, exactly as with statistical discrimination.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Causation also runs the other way: siting depresses land values, which sorts lower-income residents in. Bullard (1990).</a:t>
            </a:r>
            <a:endParaRPr lang="en-US" sz="850" dirty="0"/>
          </a:p>
        </p:txBody>
      </p:sp>
      <p:sp>
        <p:nvSpPr>
          <p:cNvPr id="10" name="Shape 8"/>
          <p:cNvSpPr/>
          <p:nvPr/>
        </p:nvSpPr>
        <p:spPr>
          <a:xfrm>
            <a:off x="4315968" y="1965960"/>
            <a:ext cx="361188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9"/>
          <p:cNvSpPr/>
          <p:nvPr/>
        </p:nvSpPr>
        <p:spPr>
          <a:xfrm>
            <a:off x="4572000" y="214884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SACRIFICE ZONES</a:t>
            </a:r>
            <a:endParaRPr lang="en-US" sz="1550" dirty="0"/>
          </a:p>
        </p:txBody>
      </p:sp>
      <p:sp>
        <p:nvSpPr>
          <p:cNvPr id="12" name="Text 10"/>
          <p:cNvSpPr/>
          <p:nvPr/>
        </p:nvSpPr>
        <p:spPr>
          <a:xfrm>
            <a:off x="4572000" y="2551176"/>
            <a:ext cx="3099816" cy="1234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Communities located near EXTRACTIVE OR POLLUTING INFRASTRUCTURE that bear CONCENTRATED environmental costs which are diffused as DISPERSED economic benefits across the wider society.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the externality diagram of Module 6 with a MAP attached. The DWL triangle you drew has an address — and it is not the address of the people consuming the output.</a:t>
            </a:r>
            <a:endParaRPr lang="en-US" sz="850" dirty="0"/>
          </a:p>
        </p:txBody>
      </p:sp>
      <p:sp>
        <p:nvSpPr>
          <p:cNvPr id="13" name="Shape 11"/>
          <p:cNvSpPr/>
          <p:nvPr/>
        </p:nvSpPr>
        <p:spPr>
          <a:xfrm>
            <a:off x="8119872" y="1965960"/>
            <a:ext cx="356616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2"/>
          <p:cNvSpPr/>
          <p:nvPr/>
        </p:nvSpPr>
        <p:spPr>
          <a:xfrm>
            <a:off x="8375904" y="2148840"/>
            <a:ext cx="305409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THE MARKET CANNOT FIX IT</a:t>
            </a:r>
            <a:endParaRPr lang="en-US" sz="1550" dirty="0"/>
          </a:p>
        </p:txBody>
      </p:sp>
      <p:sp>
        <p:nvSpPr>
          <p:cNvPr id="15" name="Text 13"/>
          <p:cNvSpPr/>
          <p:nvPr/>
        </p:nvSpPr>
        <p:spPr>
          <a:xfrm>
            <a:off x="8375904" y="2551176"/>
            <a:ext cx="3054096" cy="1234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affected residents are NOT PARTIES to the transaction between the refinery and its customers. They have no price at which to refuse, and no standing in the market that produced the harm.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Coasean bargain (M12) requires clearly assigned rights and low transaction costs. Here there are thousands of affected parties, diffuse harms and contested causation — the three conditions under which Coase explicitly said bargaining fails.</a:t>
            </a:r>
            <a:endParaRPr lang="en-US" sz="850" dirty="0"/>
          </a:p>
        </p:txBody>
      </p:sp>
      <p:pic>
        <p:nvPicPr>
          <p:cNvPr id="16" name="Image 0" descr="figs/m8_respburden.png">    </p:cNvPr>
          <p:cNvPicPr>
            <a:picLocks noChangeAspect="1"/>
          </p:cNvPicPr>
          <p:nvPr/>
        </p:nvPicPr>
        <p:blipFill>
          <a:blip r:embed="rId1"/>
          <a:stretch>
            <a:fillRect/>
          </a:stretch>
        </p:blipFill>
        <p:spPr>
          <a:xfrm>
            <a:off x="1382293" y="4206240"/>
            <a:ext cx="4093415" cy="1920240"/>
          </a:xfrm>
          <a:prstGeom prst="rect">
            <a:avLst/>
          </a:prstGeom>
        </p:spPr>
      </p:pic>
      <p:sp>
        <p:nvSpPr>
          <p:cNvPr id="17" name="Shape 14"/>
          <p:cNvSpPr/>
          <p:nvPr/>
        </p:nvSpPr>
        <p:spPr>
          <a:xfrm>
            <a:off x="6583680" y="4206240"/>
            <a:ext cx="5102352" cy="1920240"/>
          </a:xfrm>
          <a:prstGeom prst="rect">
            <a:avLst/>
          </a:prstGeom>
          <a:solidFill>
            <a:srgbClr val="1A2E4A"/>
          </a:solidFill>
          <a:ln/>
        </p:spPr>
      </p:sp>
      <p:sp>
        <p:nvSpPr>
          <p:cNvPr id="18" name="Text 15"/>
          <p:cNvSpPr/>
          <p:nvPr/>
        </p:nvSpPr>
        <p:spPr>
          <a:xfrm>
            <a:off x="6839712" y="4334256"/>
            <a:ext cx="459028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DISTRIBUTIONAL INJUSTICE, STATED PRECISELY</a:t>
            </a:r>
            <a:endParaRPr lang="en-US" sz="1050" dirty="0"/>
          </a:p>
        </p:txBody>
      </p:sp>
      <p:sp>
        <p:nvSpPr>
          <p:cNvPr id="19" name="Text 16"/>
          <p:cNvSpPr/>
          <p:nvPr/>
        </p:nvSpPr>
        <p:spPr>
          <a:xfrm>
            <a:off x="6839712" y="4608576"/>
            <a:ext cx="4590288" cy="138988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correlation between historical carbon emissions and climate vulnerability is NEGATIVE — and strongly so. The countries and communities that emitted the MOST bear the LEAST physical risk, and those that emitted the LEAST bear the MOST.</a:t>
            </a:r>
            <a:endParaRPr lang="en-US" sz="950" dirty="0"/>
          </a:p>
          <a:p>
            <a:pPr indent="0" marL="0">
              <a:lnSpc>
                <a:spcPts val="1300"/>
              </a:lnSpc>
              <a:buNone/>
            </a:pP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This is not an accident of the externality. It follows from it: the wealth that came from burning the carbon is the same wealth that buys sea walls, air conditioning, crop insurance and relocation.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DATA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Income and Climate Vulnerability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pic>
        <p:nvPicPr>
          <p:cNvPr id="6" name="Image 0" descr="figs/m8_vuln.png">    </p:cNvPr>
          <p:cNvPicPr>
            <a:picLocks noChangeAspect="1"/>
          </p:cNvPicPr>
          <p:nvPr/>
        </p:nvPicPr>
        <p:blipFill>
          <a:blip r:embed="rId1"/>
          <a:stretch>
            <a:fillRect/>
          </a:stretch>
        </p:blipFill>
        <p:spPr>
          <a:xfrm>
            <a:off x="365760" y="1826426"/>
            <a:ext cx="6263640" cy="3845229"/>
          </a:xfrm>
          <a:prstGeom prst="rect">
            <a:avLst/>
          </a:prstGeom>
        </p:spPr>
      </p:pic>
      <p:sp>
        <p:nvSpPr>
          <p:cNvPr id="7" name="Shape 4"/>
          <p:cNvSpPr/>
          <p:nvPr/>
        </p:nvSpPr>
        <p:spPr>
          <a:xfrm>
            <a:off x="6675120" y="1463040"/>
            <a:ext cx="5010912" cy="1371600"/>
          </a:xfrm>
          <a:prstGeom prst="rect">
            <a:avLst/>
          </a:prstGeom>
          <a:solidFill>
            <a:srgbClr val="E8EDF3"/>
          </a:solidFill>
          <a:ln/>
        </p:spPr>
      </p:sp>
      <p:sp>
        <p:nvSpPr>
          <p:cNvPr id="8" name="Shape 5"/>
          <p:cNvSpPr/>
          <p:nvPr/>
        </p:nvSpPr>
        <p:spPr>
          <a:xfrm>
            <a:off x="6876288" y="1664208"/>
            <a:ext cx="457200" cy="457200"/>
          </a:xfrm>
          <a:prstGeom prst="ellipse">
            <a:avLst/>
          </a:prstGeom>
          <a:solidFill>
            <a:srgbClr val="1A2E4A"/>
          </a:solidFill>
          <a:ln/>
        </p:spPr>
      </p:sp>
      <p:sp>
        <p:nvSpPr>
          <p:cNvPr id="9" name="Text 6"/>
          <p:cNvSpPr/>
          <p:nvPr/>
        </p:nvSpPr>
        <p:spPr>
          <a:xfrm>
            <a:off x="68762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7452360" y="1664208"/>
            <a:ext cx="400507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RELATIONSHIP</a:t>
            </a:r>
            <a:endParaRPr lang="en-US" sz="1600" dirty="0"/>
          </a:p>
        </p:txBody>
      </p:sp>
      <p:sp>
        <p:nvSpPr>
          <p:cNvPr id="11" name="Text 8"/>
          <p:cNvSpPr/>
          <p:nvPr/>
        </p:nvSpPr>
        <p:spPr>
          <a:xfrm>
            <a:off x="6894576" y="2212848"/>
            <a:ext cx="4553712"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INVERSE and strong. As GDP per capita rises, the ND-GAIN vulnerability score falls — roughly 0.30 points per tenfold increase in income across these seven countries. Chad ($700, 0.73) and the United States ($63,000, 0.17) sit at opposite ends of both variables.</a:t>
            </a:r>
            <a:endParaRPr lang="en-US" sz="900" dirty="0"/>
          </a:p>
        </p:txBody>
      </p:sp>
      <p:sp>
        <p:nvSpPr>
          <p:cNvPr id="12" name="Shape 9"/>
          <p:cNvSpPr/>
          <p:nvPr/>
        </p:nvSpPr>
        <p:spPr>
          <a:xfrm>
            <a:off x="6675120" y="2971800"/>
            <a:ext cx="5010912" cy="1371600"/>
          </a:xfrm>
          <a:prstGeom prst="rect">
            <a:avLst/>
          </a:prstGeom>
          <a:solidFill>
            <a:srgbClr val="E8EDF3"/>
          </a:solidFill>
          <a:ln/>
        </p:spPr>
      </p:sp>
      <p:sp>
        <p:nvSpPr>
          <p:cNvPr id="13" name="Shape 10"/>
          <p:cNvSpPr/>
          <p:nvPr/>
        </p:nvSpPr>
        <p:spPr>
          <a:xfrm>
            <a:off x="6876288" y="3172968"/>
            <a:ext cx="457200" cy="457200"/>
          </a:xfrm>
          <a:prstGeom prst="ellipse">
            <a:avLst/>
          </a:prstGeom>
          <a:solidFill>
            <a:srgbClr val="C0892E"/>
          </a:solidFill>
          <a:ln/>
        </p:spPr>
      </p:sp>
      <p:sp>
        <p:nvSpPr>
          <p:cNvPr id="14" name="Text 11"/>
          <p:cNvSpPr/>
          <p:nvPr/>
        </p:nvSpPr>
        <p:spPr>
          <a:xfrm>
            <a:off x="6876288" y="3172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7452360" y="3172968"/>
            <a:ext cx="400507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OUTLIER</a:t>
            </a:r>
            <a:endParaRPr lang="en-US" sz="1600" dirty="0"/>
          </a:p>
        </p:txBody>
      </p:sp>
      <p:sp>
        <p:nvSpPr>
          <p:cNvPr id="16" name="Text 13"/>
          <p:cNvSpPr/>
          <p:nvPr/>
        </p:nvSpPr>
        <p:spPr>
          <a:xfrm>
            <a:off x="6894576" y="3721608"/>
            <a:ext cx="4553712"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BANGLADESH — about 0.10 ABOVE the fitted line. A middle-low-income country can face disproportionate vulnerability when GEOGRAPHY dominates: a low-lying delta, cyclone exposure, dense coastal settlement. Income buys ADAPTIVE CAPACITY but cannot relocate a river delta. The Philippines is the same story in milder form.</a:t>
            </a:r>
            <a:endParaRPr lang="en-US" sz="900" dirty="0"/>
          </a:p>
        </p:txBody>
      </p:sp>
      <p:sp>
        <p:nvSpPr>
          <p:cNvPr id="17" name="Shape 14"/>
          <p:cNvSpPr/>
          <p:nvPr/>
        </p:nvSpPr>
        <p:spPr>
          <a:xfrm>
            <a:off x="6675120" y="4480560"/>
            <a:ext cx="5010912" cy="1645920"/>
          </a:xfrm>
          <a:prstGeom prst="rect">
            <a:avLst/>
          </a:prstGeom>
          <a:solidFill>
            <a:srgbClr val="E8EDF3"/>
          </a:solidFill>
          <a:ln/>
        </p:spPr>
      </p:sp>
      <p:sp>
        <p:nvSpPr>
          <p:cNvPr id="18" name="Shape 15"/>
          <p:cNvSpPr/>
          <p:nvPr/>
        </p:nvSpPr>
        <p:spPr>
          <a:xfrm>
            <a:off x="6876288" y="4681728"/>
            <a:ext cx="457200" cy="457200"/>
          </a:xfrm>
          <a:prstGeom prst="ellipse">
            <a:avLst/>
          </a:prstGeom>
          <a:solidFill>
            <a:srgbClr val="9E2A2B"/>
          </a:solidFill>
          <a:ln/>
        </p:spPr>
      </p:sp>
      <p:sp>
        <p:nvSpPr>
          <p:cNvPr id="19" name="Text 16"/>
          <p:cNvSpPr/>
          <p:nvPr/>
        </p:nvSpPr>
        <p:spPr>
          <a:xfrm>
            <a:off x="6876288" y="4681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7452360" y="4681728"/>
            <a:ext cx="400507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PIGOUVIAN TAX, APPLIED GLOBALLY</a:t>
            </a:r>
            <a:endParaRPr lang="en-US" sz="1600" dirty="0"/>
          </a:p>
        </p:txBody>
      </p:sp>
      <p:sp>
        <p:nvSpPr>
          <p:cNvPr id="21" name="Text 18"/>
          <p:cNvSpPr/>
          <p:nvPr/>
        </p:nvSpPr>
        <p:spPr>
          <a:xfrm>
            <a:off x="6894576" y="5230368"/>
            <a:ext cx="4553712" cy="6858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Pigouvian tax internalizes the externality by making the EMITTER pay the social cost. Applied globally it would work in EFFICIENCY terms — emissions would fall toward Q* (M6).</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BUT: the revenue accrues to the TAXING JURISDICTION, which is the high-income emitter. The damage accrues elsewhere. The tax corrects the QUANTITY distortion and leaves the DISTRIBUTIONAL problem entirely untouched — unless the revenue is deliberately transferred. That gap is precisely what 'loss and damage' finance is trying to close.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TRANSITION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Green Transition Labor Market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005840"/>
                <a:gridCol w="3383280"/>
                <a:gridCol w="3291840"/>
                <a:gridCol w="3502152"/>
              </a:tblGrid>
              <a:tr h="292608">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FOSSIL FUEL JOB LOSSES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RENEWABLE ENERGY JOB GAINS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TRANSITION GAP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WHERE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Geographically CONCENTRATED — Appalachian coal counties, Gulf refining corridors, Permian and Bakken basins. Often a single-employer local economy.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Geographically DISPERSED and largely ELSEWHERE — solar in the Southwest, wind in the Plains, manufacturing wherever the plant is sited.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worker cannot commute from a coal county to a solar farm. Module 5's factor-mobility determinant of PES applies directly: labor is not mobile in the short run.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Older, unionized, high-wage-relative-to-local-median, with deep firm- and industry-SPECIFIC human capital.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Younger, largely non-union, with different and often lower-wage skill profiles at entry.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Specific human capital has near-zero VMP outside its industry. The worker's MP does not transfer, so neither does the wage.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WHEN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FAST — a plant closes on a date.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SLOW — build-out takes years and follows capital, not displaced workers.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timing mismatch is the whole problem. Aggregate job counts can balance while every individual transition fails.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977640"/>
            <a:ext cx="11183112" cy="960120"/>
          </a:xfrm>
          <a:prstGeom prst="rect">
            <a:avLst/>
          </a:prstGeom>
          <a:solidFill>
            <a:srgbClr val="1A2E4A"/>
          </a:solidFill>
          <a:ln/>
        </p:spPr>
      </p:sp>
      <p:sp>
        <p:nvSpPr>
          <p:cNvPr id="8" name="Text 5"/>
          <p:cNvSpPr/>
          <p:nvPr/>
        </p:nvSpPr>
        <p:spPr>
          <a:xfrm>
            <a:off x="758952" y="41056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MARKET WILL REALLOCATE THEM' IS NOT AN ANSWER</a:t>
            </a:r>
            <a:endParaRPr lang="en-US" sz="1050" dirty="0"/>
          </a:p>
        </p:txBody>
      </p:sp>
      <p:sp>
        <p:nvSpPr>
          <p:cNvPr id="9" name="Text 6"/>
          <p:cNvSpPr/>
          <p:nvPr/>
        </p:nvSpPr>
        <p:spPr>
          <a:xfrm>
            <a:off x="758952" y="4379976"/>
            <a:ext cx="10671048" cy="4297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It is the correct LONG-RUN prediction and an inadequate SHORT-RUN policy. Module 1 defined the long run as the horizon over which all factors are variable — but a fifty-two-year-old refinery operator does not live in the long run. The adjustment cost is real, it is concentrated, and the model that predicts eventual reallocation says nothing about who pays for the interval.</a:t>
            </a:r>
            <a:endParaRPr lang="en-US" sz="850" dirty="0"/>
          </a:p>
        </p:txBody>
      </p:sp>
      <p:sp>
        <p:nvSpPr>
          <p:cNvPr id="10" name="Shape 7"/>
          <p:cNvSpPr/>
          <p:nvPr/>
        </p:nvSpPr>
        <p:spPr>
          <a:xfrm>
            <a:off x="502920" y="5074920"/>
            <a:ext cx="11183112"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257800"/>
            <a:ext cx="1067104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WHY THIS IS ALSO A POLITICAL-ECONOMY FACT</a:t>
            </a:r>
            <a:endParaRPr lang="en-US" sz="1550" dirty="0"/>
          </a:p>
        </p:txBody>
      </p:sp>
      <p:sp>
        <p:nvSpPr>
          <p:cNvPr id="12" name="Text 9"/>
          <p:cNvSpPr/>
          <p:nvPr/>
        </p:nvSpPr>
        <p:spPr>
          <a:xfrm>
            <a:off x="758952" y="5660136"/>
            <a:ext cx="10671048"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Because losses are CONCENTRATED and gains are DIFFUSE, the losers organize and the winners do not — the standard collective action asymmetry from Module 7, Part 5. This is why climate policy is politically harder than its aggregate benefit-cost ratio suggests, and why compensation is not merely fair but STRATEGICALLY NECESSARY to assemble a coalition that can pass anything at all.</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Two Instruments: The Carbon Dividend &amp; the Just Transition Fund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pic>
        <p:nvPicPr>
          <p:cNvPr id="6" name="Image 0" descr="figs/m8_dividend.png">    </p:cNvPr>
          <p:cNvPicPr>
            <a:picLocks noChangeAspect="1"/>
          </p:cNvPicPr>
          <p:nvPr/>
        </p:nvPicPr>
        <p:blipFill>
          <a:blip r:embed="rId1"/>
          <a:stretch>
            <a:fillRect/>
          </a:stretch>
        </p:blipFill>
        <p:spPr>
          <a:xfrm>
            <a:off x="502920" y="1724170"/>
            <a:ext cx="5486400" cy="2952459"/>
          </a:xfrm>
          <a:prstGeom prst="rect">
            <a:avLst/>
          </a:prstGeom>
        </p:spPr>
      </p:pic>
      <p:sp>
        <p:nvSpPr>
          <p:cNvPr id="7" name="Shape 4"/>
          <p:cNvSpPr/>
          <p:nvPr/>
        </p:nvSpPr>
        <p:spPr>
          <a:xfrm>
            <a:off x="6263640" y="1444752"/>
            <a:ext cx="5422392"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6519672" y="1627632"/>
            <a:ext cx="491032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CARBON DIVIDEND</a:t>
            </a:r>
            <a:endParaRPr lang="en-US" sz="1550" dirty="0"/>
          </a:p>
        </p:txBody>
      </p:sp>
      <p:sp>
        <p:nvSpPr>
          <p:cNvPr id="9" name="Text 6"/>
          <p:cNvSpPr/>
          <p:nvPr/>
        </p:nvSpPr>
        <p:spPr>
          <a:xfrm>
            <a:off x="6519672" y="2029968"/>
            <a:ext cx="4910328"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MECHANISM: levy a carbon tax at the social cost of carbon, then return 100% of the revenue as an EQUAL PER-CAPITA payment.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EFFICIENCY (the M6 failure): FULLY ADDRESSED. The tax raises the private cost to the social cost, so Q falls from Q_market to Q*. Crucially, the rebate does NOT undo this — the marginal incentive to emit is set by the TAX, while the rebate is a lump sum independent of your own emissions.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EQUITY (the M8 failure): STRONGLY PROGRESSIVE within a country. Carbon consumption rises less than proportionately with income, so a flat rebate exceeds the tax paid for roughly the bottom six deciles.</a:t>
            </a:r>
            <a:endParaRPr lang="en-US" sz="850" dirty="0"/>
          </a:p>
        </p:txBody>
      </p:sp>
      <p:sp>
        <p:nvSpPr>
          <p:cNvPr id="10" name="Shape 7"/>
          <p:cNvSpPr/>
          <p:nvPr/>
        </p:nvSpPr>
        <p:spPr>
          <a:xfrm>
            <a:off x="6263640" y="3246120"/>
            <a:ext cx="5422392"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519672" y="3429000"/>
            <a:ext cx="491032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JUST TRANSITION FUND</a:t>
            </a:r>
            <a:endParaRPr lang="en-US" sz="1550" dirty="0"/>
          </a:p>
        </p:txBody>
      </p:sp>
      <p:sp>
        <p:nvSpPr>
          <p:cNvPr id="12" name="Text 9"/>
          <p:cNvSpPr/>
          <p:nvPr/>
        </p:nvSpPr>
        <p:spPr>
          <a:xfrm>
            <a:off x="6519672" y="3831336"/>
            <a:ext cx="4910328"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MECHANISM: direct spending on wage insurance, retraining, pension bridging, and regional development in affected communities.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EFFICIENCY: DOES NOT address the externality at all. It changes no emitter's marginal cost and moves Q not at all. It is not a substitute for a price.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EQUITY: ADDRESSES A DIFFERENT AND NARROWER FAILURE — the concentrated adjustment cost borne by displaced workers, which the dividend does not reach because a flat per-capita rebate is far too small to replace a lost career.</a:t>
            </a:r>
            <a:endParaRPr lang="en-US" sz="850" dirty="0"/>
          </a:p>
        </p:txBody>
      </p:sp>
      <p:sp>
        <p:nvSpPr>
          <p:cNvPr id="13" name="Shape 10"/>
          <p:cNvSpPr/>
          <p:nvPr/>
        </p:nvSpPr>
        <p:spPr>
          <a:xfrm>
            <a:off x="6263640" y="4983480"/>
            <a:ext cx="5422392" cy="1143000"/>
          </a:xfrm>
          <a:prstGeom prst="rect">
            <a:avLst/>
          </a:prstGeom>
          <a:solidFill>
            <a:srgbClr val="1A2E4A"/>
          </a:solidFill>
          <a:ln/>
        </p:spPr>
      </p:sp>
      <p:sp>
        <p:nvSpPr>
          <p:cNvPr id="14" name="Text 11"/>
          <p:cNvSpPr/>
          <p:nvPr/>
        </p:nvSpPr>
        <p:spPr>
          <a:xfrm>
            <a:off x="6519672" y="5111496"/>
            <a:ext cx="4910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VERDICT THE WORKSHEET IS LOOKING FOR</a:t>
            </a:r>
            <a:endParaRPr lang="en-US" sz="1050" dirty="0"/>
          </a:p>
        </p:txBody>
      </p:sp>
      <p:sp>
        <p:nvSpPr>
          <p:cNvPr id="15" name="Text 12"/>
          <p:cNvSpPr/>
          <p:nvPr/>
        </p:nvSpPr>
        <p:spPr>
          <a:xfrm>
            <a:off x="6519672" y="5385816"/>
            <a:ext cx="4910328" cy="6126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They are COMPLEMENTS, not substitutes, because they correct DIFFERENT failures. The dividend fixes the price and the general distributional incidence; the fund fixes the concentrated, geographic adjustment cost. Neither addresses the INTERNATIONAL injustice — that requires cross-border transfer, which no domestic instrument can deliver.</a:t>
            </a:r>
            <a:endParaRPr lang="en-US" sz="850" dirty="0"/>
          </a:p>
        </p:txBody>
      </p:sp>
      <p:sp>
        <p:nvSpPr>
          <p:cNvPr id="16" name="Shape 13"/>
          <p:cNvSpPr/>
          <p:nvPr/>
        </p:nvSpPr>
        <p:spPr>
          <a:xfrm>
            <a:off x="502920" y="5166360"/>
            <a:ext cx="5486400" cy="960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4"/>
          <p:cNvSpPr/>
          <p:nvPr/>
        </p:nvSpPr>
        <p:spPr>
          <a:xfrm>
            <a:off x="758952" y="534924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 THE CHART CAREFULLY</a:t>
            </a:r>
            <a:endParaRPr lang="en-US" sz="1550" dirty="0"/>
          </a:p>
        </p:txBody>
      </p:sp>
      <p:sp>
        <p:nvSpPr>
          <p:cNvPr id="18" name="Text 15"/>
          <p:cNvSpPr/>
          <p:nvPr/>
        </p:nvSpPr>
        <p:spPr>
          <a:xfrm>
            <a:off x="758952" y="5751576"/>
            <a:ext cx="4974336"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bars show NET position as a share of household income. Deciles 1–6 are net gainers; 7–10 are net payers. The instrument is progressive WITHOUT any means test — the progressivity comes from the flat rebate meeting a less-than-proportional tax base.</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8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three Parts of the Module 8 Worksheet, including both data tables and the GDP-versus-vulnerability plot.</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Plot the seven countries by hand, sketch the trend, and identify the residual outlier — then justify your choice with a mechanism, not just a position.</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Fill in the four-row algorithmic applications table with a specific affected population and a specific causal mechanism for each.</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✦3 in complete sentences. Each asks you to name a policy instrument AND the failure it corrects.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This module and Module 7 together are the structural half of the course. Bring both worksheets to the Module 12 Policy Lab.</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25</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1005840">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LEARNING OUTCOME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0058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1</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Read the digital-divide data and identify the largest access gaps by income and by race; explain 'smartphone only' as a budget-constraint outcome rather than a preference; apply the complementary-goods logic to predict divergence in human capital; state all four protections lost by contractor classification; contrast labor income with passive platform income; apply the principal-agent frame to algorithmic management and explain why the asymmetry runs from PRINCIPAL to AGENT; name three rebalancing policies.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0058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Define disparate impact, disparate treatment and proxy discrimination; explain why deleting the race variable does not remove the effect; trace the algorithmic feedback loop through all five stages; give a specific mechanism for each of the four applications; state the effectiveness-versus-feasibility trade-off between fairness constraints and audits, and explain why the fairness definitions cannot all be satisfied at once.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0058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3</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Define environmental racism and sacrifice zones and give the cost-minimizing siting mechanism; describe the inverse income-vulnerability relationship and identify the residual outlier with a geographic explanation; explain why a global Pigouvian tax corrects efficiency but not distribution; describe the green-transition gap in space, in skills and in time; evaluate the carbon dividend and the just transition fund against BOTH the efficiency failure and the equity failure.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9 — FIRMS AND THE COST OF PRODUCTION. We have spent two modules on distribution. Now we open the firm itself, derive the cost curves, and build the supply side we have been assuming since Module 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8: STRUCTURAL INEQUALITY EXTENSIONS</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Barocas, S., &amp; Selbst, A. D. (2016). Big data's disparate impact. California Law Review, 104(3), 671–732.</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Bullard, R. D. (1990). Dumping in Dixie: Race, class, and environmental quality. Westview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Kleinberg, J., Mullainathan, S., &amp; Raghavan, M. (2016). Inherent trade-offs in the fair determination of risk scores. arXiv:1609.05807.</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Noble, S. U. (2018). Algorithms of oppression: How search engines reinforce racism. NYU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Obermeyer, Z., Powers, B., Vogeli, C., &amp; Mullainathan, S. (2019). Dissecting racial bias in an algorithm used to manage the health of populations. Science, 366(6464), 447–453.</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O'Neil, C. (2016). Weapons of math destruction. Crown.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Pew Research Center. (2024). Internet/Broadband Fact Sheet.</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Notre Dame Global Adaptation Initiative. (2024). ND-GAIN Country Index.</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IPCC. (2023). AR6 Synthesis Report: Climate Change 2023.</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Rothstein, R. (2017). The color of law: A forgotten history of how our government segregated America. Liveright.</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Boushey, H., &amp; Weingarden, A. (2023). The economics of a just transition. Journal of Economic Perspectives.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8: Structural Inequality Extensions</dc:title>
  <dc:subject>Introduction to Microeconomics</dc:subject>
  <dc:creator>Professor Velazquez</dc:creator>
  <cp:lastModifiedBy>Professor Velazquez</cp:lastModifiedBy>
  <cp:revision>1</cp:revision>
  <dcterms:created xsi:type="dcterms:W3CDTF">2026-08-25T00:10:18Z</dcterms:created>
  <dcterms:modified xsi:type="dcterms:W3CDTF">2026-08-25T00:10:18Z</dcterms:modified>
</cp:coreProperties>
</file>