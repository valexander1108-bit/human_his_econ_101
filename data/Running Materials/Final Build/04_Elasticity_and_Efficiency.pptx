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A2E4A"/>
          </a:solidFill>
          <a:ln/>
        </p:spPr>
      </p:sp>
      <p:sp>
        <p:nvSpPr>
          <p:cNvPr id="3" name="Text 1"/>
          <p:cNvSpPr/>
          <p:nvPr/>
        </p:nvSpPr>
        <p:spPr>
          <a:xfrm>
            <a:off x="914400" y="1051560"/>
            <a:ext cx="10332720" cy="365760"/>
          </a:xfrm>
          <a:prstGeom prst="rect">
            <a:avLst/>
          </a:prstGeom>
          <a:noFill/>
          <a:ln/>
        </p:spPr>
        <p:txBody>
          <a:bodyPr wrap="square" lIns="0" tIns="0" rIns="0" bIns="0" rtlCol="0" anchor="ctr"/>
          <a:lstStyle/>
          <a:p>
            <a:pPr indent="0" marL="0">
              <a:buNone/>
            </a:pPr>
            <a:r>
              <a:rPr lang="en-US" sz="1400" b="1" spc="600" kern="0" dirty="0">
                <a:solidFill>
                  <a:srgbClr val="E8C87A"/>
                </a:solidFill>
                <a:latin typeface="Calibri" pitchFamily="34" charset="0"/>
                <a:ea typeface="Calibri" pitchFamily="34" charset="-122"/>
                <a:cs typeface="Calibri" pitchFamily="34" charset="-120"/>
              </a:rPr>
              <a:t>PROFESSOR VELAZQUEZ</a:t>
            </a:r>
            <a:endParaRPr lang="en-US" sz="1400" dirty="0"/>
          </a:p>
        </p:txBody>
      </p:sp>
      <p:sp>
        <p:nvSpPr>
          <p:cNvPr id="4" name="Text 2"/>
          <p:cNvSpPr/>
          <p:nvPr/>
        </p:nvSpPr>
        <p:spPr>
          <a:xfrm>
            <a:off x="914400" y="1600200"/>
            <a:ext cx="10332720" cy="2651760"/>
          </a:xfrm>
          <a:prstGeom prst="rect">
            <a:avLst/>
          </a:prstGeom>
          <a:noFill/>
          <a:ln/>
        </p:spPr>
        <p:txBody>
          <a:bodyPr wrap="square" lIns="0" tIns="0" rIns="0" bIns="0" rtlCol="0" anchor="ctr"/>
          <a:lstStyle/>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INTRODUCTION</a:t>
            </a:r>
            <a:endParaRPr lang="en-US" sz="5400" dirty="0"/>
          </a:p>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TO</a:t>
            </a:r>
            <a:endParaRPr lang="en-US" sz="5400" dirty="0"/>
          </a:p>
          <a:p>
            <a:pPr indent="0" marL="0">
              <a:lnSpc>
                <a:spcPts val="6200"/>
              </a:lnSpc>
              <a:buNone/>
            </a:pPr>
            <a:r>
              <a:rPr lang="en-US" sz="5400" b="1" dirty="0">
                <a:solidFill>
                  <a:srgbClr val="FFFFFF"/>
                </a:solidFill>
                <a:latin typeface="Cambria" pitchFamily="34" charset="0"/>
                <a:ea typeface="Cambria" pitchFamily="34" charset="-122"/>
                <a:cs typeface="Cambria" pitchFamily="34" charset="-120"/>
              </a:rPr>
              <a:t>MICROECONOMICS</a:t>
            </a:r>
            <a:endParaRPr lang="en-US" sz="5400" dirty="0"/>
          </a:p>
        </p:txBody>
      </p:sp>
      <p:sp>
        <p:nvSpPr>
          <p:cNvPr id="5" name="Shape 3"/>
          <p:cNvSpPr/>
          <p:nvPr/>
        </p:nvSpPr>
        <p:spPr>
          <a:xfrm>
            <a:off x="914400" y="4434840"/>
            <a:ext cx="1371600" cy="50292"/>
          </a:xfrm>
          <a:prstGeom prst="rect">
            <a:avLst/>
          </a:prstGeom>
          <a:solidFill>
            <a:srgbClr val="C0892E"/>
          </a:solidFill>
          <a:ln/>
        </p:spPr>
      </p:sp>
      <p:sp>
        <p:nvSpPr>
          <p:cNvPr id="6" name="Text 4"/>
          <p:cNvSpPr/>
          <p:nvPr/>
        </p:nvSpPr>
        <p:spPr>
          <a:xfrm>
            <a:off x="914400" y="4709160"/>
            <a:ext cx="10332720" cy="457200"/>
          </a:xfrm>
          <a:prstGeom prst="rect">
            <a:avLst/>
          </a:prstGeom>
          <a:noFill/>
          <a:ln/>
        </p:spPr>
        <p:txBody>
          <a:bodyPr wrap="square" lIns="0" tIns="0" rIns="0" bIns="0" rtlCol="0" anchor="ctr"/>
          <a:lstStyle/>
          <a:p>
            <a:pPr indent="0" marL="0">
              <a:buNone/>
            </a:pPr>
            <a:r>
              <a:rPr lang="en-US" sz="1700" spc="200" kern="0" dirty="0">
                <a:solidFill>
                  <a:srgbClr val="E8C87A"/>
                </a:solidFill>
                <a:latin typeface="Calibri" pitchFamily="34" charset="0"/>
                <a:ea typeface="Calibri" pitchFamily="34" charset="-122"/>
                <a:cs typeface="Calibri" pitchFamily="34" charset="-120"/>
              </a:rPr>
              <a:t>MODULE 04  ·  MARKET ANALYSIS: ELASTICITY AND EFFICIENCY</a:t>
            </a:r>
            <a:endParaRPr lang="en-US" sz="1700" dirty="0"/>
          </a:p>
        </p:txBody>
      </p:sp>
      <p:sp>
        <p:nvSpPr>
          <p:cNvPr id="7" name="Text 5"/>
          <p:cNvSpPr/>
          <p:nvPr/>
        </p:nvSpPr>
        <p:spPr>
          <a:xfrm>
            <a:off x="914400" y="5212080"/>
            <a:ext cx="10332720" cy="365760"/>
          </a:xfrm>
          <a:prstGeom prst="rect">
            <a:avLst/>
          </a:prstGeom>
          <a:noFill/>
          <a:ln/>
        </p:spPr>
        <p:txBody>
          <a:bodyPr wrap="square" lIns="0" tIns="0" rIns="0" bIns="0" rtlCol="0" anchor="ctr"/>
          <a:lstStyle/>
          <a:p>
            <a:pPr indent="0" marL="0">
              <a:buNone/>
            </a:pPr>
            <a:r>
              <a:rPr lang="en-US" sz="1300" spc="500" kern="0" dirty="0">
                <a:solidFill>
                  <a:srgbClr val="8A97A8"/>
                </a:solidFill>
                <a:latin typeface="Calibri" pitchFamily="34" charset="0"/>
                <a:ea typeface="Calibri" pitchFamily="34" charset="-122"/>
                <a:cs typeface="Calibri" pitchFamily="34" charset="-120"/>
              </a:rPr>
              <a:t>FALL 2025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EDF3"/>
        </a:solidFill>
      </p:bgPr>
    </p:bg>
    <p:spTree>
      <p:nvGrpSpPr>
        <p:cNvPr id="1" name=""/>
        <p:cNvGrpSpPr/>
        <p:nvPr/>
      </p:nvGrpSpPr>
      <p:grpSpPr>
        <a:xfrm>
          <a:off x="0" y="0"/>
          <a:ext cx="0" cy="0"/>
          <a:chOff x="0" y="0"/>
          <a:chExt cx="0" cy="0"/>
        </a:xfrm>
      </p:grpSpPr>
      <p:sp>
        <p:nvSpPr>
          <p:cNvPr id="2" name="Text 0"/>
          <p:cNvSpPr/>
          <p:nvPr/>
        </p:nvSpPr>
        <p:spPr>
          <a:xfrm>
            <a:off x="822960" y="1417320"/>
            <a:ext cx="3291840" cy="2743200"/>
          </a:xfrm>
          <a:prstGeom prst="rect">
            <a:avLst/>
          </a:prstGeom>
          <a:noFill/>
          <a:ln/>
        </p:spPr>
        <p:txBody>
          <a:bodyPr wrap="square" lIns="0" tIns="0" rIns="0" bIns="0" rtlCol="0" anchor="ctr"/>
          <a:lstStyle/>
          <a:p>
            <a:pPr indent="0" marL="0">
              <a:buNone/>
            </a:pPr>
            <a:r>
              <a:rPr lang="en-US" sz="19000" b="1" dirty="0">
                <a:solidFill>
                  <a:srgbClr val="E8C87A"/>
                </a:solidFill>
                <a:latin typeface="Cambria" pitchFamily="34" charset="0"/>
                <a:ea typeface="Cambria" pitchFamily="34" charset="-122"/>
                <a:cs typeface="Cambria" pitchFamily="34" charset="-120"/>
              </a:rPr>
              <a:t>04</a:t>
            </a:r>
            <a:endParaRPr lang="en-US" sz="19000" dirty="0"/>
          </a:p>
        </p:txBody>
      </p:sp>
      <p:sp>
        <p:nvSpPr>
          <p:cNvPr id="3" name="Text 1"/>
          <p:cNvSpPr/>
          <p:nvPr/>
        </p:nvSpPr>
        <p:spPr>
          <a:xfrm>
            <a:off x="960120" y="4160520"/>
            <a:ext cx="3108960" cy="36576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MODULE</a:t>
            </a:r>
            <a:endParaRPr lang="en-US" sz="1500" dirty="0"/>
          </a:p>
        </p:txBody>
      </p:sp>
      <p:sp>
        <p:nvSpPr>
          <p:cNvPr id="4" name="Text 2"/>
          <p:cNvSpPr/>
          <p:nvPr/>
        </p:nvSpPr>
        <p:spPr>
          <a:xfrm>
            <a:off x="4480560" y="1828800"/>
            <a:ext cx="6949440" cy="1828800"/>
          </a:xfrm>
          <a:prstGeom prst="rect">
            <a:avLst/>
          </a:prstGeom>
          <a:noFill/>
          <a:ln/>
        </p:spPr>
        <p:txBody>
          <a:bodyPr wrap="square" lIns="0" tIns="0" rIns="0" bIns="0" rtlCol="0" anchor="b"/>
          <a:lstStyle/>
          <a:p>
            <a:pPr indent="0" marL="0">
              <a:lnSpc>
                <a:spcPts val="4600"/>
              </a:lnSpc>
              <a:buNone/>
            </a:pPr>
            <a:r>
              <a:rPr lang="en-US" sz="4000" b="1" dirty="0">
                <a:solidFill>
                  <a:srgbClr val="1A2E4A"/>
                </a:solidFill>
                <a:latin typeface="Cambria" pitchFamily="34" charset="0"/>
                <a:ea typeface="Cambria" pitchFamily="34" charset="-122"/>
                <a:cs typeface="Cambria" pitchFamily="34" charset="-120"/>
              </a:rPr>
              <a:t>Market Analysis:</a:t>
            </a:r>
            <a:endParaRPr lang="en-US" sz="4000" dirty="0"/>
          </a:p>
          <a:p>
            <a:pPr indent="0" marL="0">
              <a:lnSpc>
                <a:spcPts val="4600"/>
              </a:lnSpc>
              <a:buNone/>
            </a:pPr>
            <a:r>
              <a:rPr lang="en-US" sz="4000" b="1" dirty="0">
                <a:solidFill>
                  <a:srgbClr val="1A2E4A"/>
                </a:solidFill>
                <a:latin typeface="Cambria" pitchFamily="34" charset="0"/>
                <a:ea typeface="Cambria" pitchFamily="34" charset="-122"/>
                <a:cs typeface="Cambria" pitchFamily="34" charset="-120"/>
              </a:rPr>
              <a:t>Elasticity &amp; Efficiency</a:t>
            </a:r>
            <a:endParaRPr lang="en-US" sz="4000" dirty="0"/>
          </a:p>
        </p:txBody>
      </p:sp>
      <p:sp>
        <p:nvSpPr>
          <p:cNvPr id="5" name="Text 3"/>
          <p:cNvSpPr/>
          <p:nvPr/>
        </p:nvSpPr>
        <p:spPr>
          <a:xfrm>
            <a:off x="4480560" y="3794760"/>
            <a:ext cx="6949440" cy="1463040"/>
          </a:xfrm>
          <a:prstGeom prst="rect">
            <a:avLst/>
          </a:prstGeom>
          <a:noFill/>
          <a:ln/>
        </p:spPr>
        <p:txBody>
          <a:bodyPr wrap="square" lIns="0" tIns="0" rIns="0" bIns="0" rtlCol="0" anchor="ctr"/>
          <a:lstStyle/>
          <a:p>
            <a:pPr indent="0" marL="0">
              <a:lnSpc>
                <a:spcPts val="2400"/>
              </a:lnSpc>
              <a:buNone/>
            </a:pPr>
            <a:r>
              <a:rPr lang="en-US" sz="1500" dirty="0">
                <a:solidFill>
                  <a:srgbClr val="4A6180"/>
                </a:solidFill>
                <a:latin typeface="Calibri" pitchFamily="34" charset="0"/>
                <a:ea typeface="Calibri" pitchFamily="34" charset="-122"/>
                <a:cs typeface="Calibri" pitchFamily="34" charset="-120"/>
              </a:rPr>
              <a:t>Section I measures how responsive buyers and sellers are to price. Section II uses surplus to judge whether a market outcome is efficient. Section III joins the two: elasticity determines who actually bears the burden of a tax.</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4</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Agenda, Big Questions &amp; Do Now</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
        <p:nvSpPr>
          <p:cNvPr id="6" name="Shape 4"/>
          <p:cNvSpPr/>
          <p:nvPr/>
        </p:nvSpPr>
        <p:spPr>
          <a:xfrm>
            <a:off x="502920" y="1481328"/>
            <a:ext cx="3611880" cy="23317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64208"/>
            <a:ext cx="309981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BIG QUESTIONS</a:t>
            </a:r>
            <a:endParaRPr lang="en-US" sz="1550" dirty="0"/>
          </a:p>
        </p:txBody>
      </p:sp>
      <p:sp>
        <p:nvSpPr>
          <p:cNvPr id="8" name="Text 6"/>
          <p:cNvSpPr/>
          <p:nvPr/>
        </p:nvSpPr>
        <p:spPr>
          <a:xfrm>
            <a:off x="758952" y="2066544"/>
            <a:ext cx="3099816" cy="15087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(1) How responsive are buyers and sellers to price changes — and what factors determine the magnitude of that response?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(2) Under what conditions does a competitive market maximize aggregate well-being — and how do price controls distort that outcome?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(3) Who bears the burden of a tax or a government intervention — and how does elasticity influence the answer?</a:t>
            </a:r>
            <a:endParaRPr lang="en-US" sz="850" dirty="0"/>
          </a:p>
        </p:txBody>
      </p:sp>
      <p:sp>
        <p:nvSpPr>
          <p:cNvPr id="9" name="Shape 7"/>
          <p:cNvSpPr/>
          <p:nvPr/>
        </p:nvSpPr>
        <p:spPr>
          <a:xfrm>
            <a:off x="4315968" y="1481328"/>
            <a:ext cx="3611880" cy="23317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4572000" y="1664208"/>
            <a:ext cx="309981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PRE-WORK</a:t>
            </a:r>
            <a:endParaRPr lang="en-US" sz="1550" dirty="0"/>
          </a:p>
        </p:txBody>
      </p:sp>
      <p:sp>
        <p:nvSpPr>
          <p:cNvPr id="11" name="Text 9"/>
          <p:cNvSpPr/>
          <p:nvPr/>
        </p:nvSpPr>
        <p:spPr>
          <a:xfrm>
            <a:off x="4572000" y="2066544"/>
            <a:ext cx="3099816" cy="1508760"/>
          </a:xfrm>
          <a:prstGeom prst="rect">
            <a:avLst/>
          </a:prstGeom>
          <a:noFill/>
          <a:ln/>
        </p:spPr>
        <p:txBody>
          <a:bodyPr wrap="square" lIns="0" tIns="0" rIns="0" bIns="0" rtlCol="0" anchor="t"/>
          <a:lstStyle/>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Read Chapters 5–8 (Elasticity; Consumers, Producers and the Efficiency of Markets; Application: the Costs of Taxation)</a:t>
            </a:r>
            <a:endParaRPr lang="en-US" sz="1100" dirty="0"/>
          </a:p>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Complete the Module 4 Vocabulary Checklist</a:t>
            </a:r>
            <a:endParaRPr lang="en-US" sz="1100" dirty="0"/>
          </a:p>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Khan Academy: Elasticity — reach mastery</a:t>
            </a:r>
            <a:endParaRPr lang="en-US" sz="1100" dirty="0"/>
          </a:p>
          <a:p>
            <a:pPr indent="0" marL="0">
              <a:lnSpc>
                <a:spcPts val="1500"/>
              </a:lnSpc>
              <a:buNone/>
            </a:pPr>
            <a:r>
              <a:rPr lang="en-US" sz="1100" dirty="0">
                <a:solidFill>
                  <a:srgbClr val="4A6180"/>
                </a:solidFill>
                <a:latin typeface="Calibri" pitchFamily="34" charset="0"/>
                <a:ea typeface="Calibri" pitchFamily="34" charset="-122"/>
                <a:cs typeface="Calibri" pitchFamily="34" charset="-120"/>
              </a:rPr>
              <a:t>· Bring the Module 4 Worksheet, calculator and graph paper</a:t>
            </a:r>
            <a:endParaRPr lang="en-US" sz="1100" dirty="0"/>
          </a:p>
        </p:txBody>
      </p:sp>
      <p:sp>
        <p:nvSpPr>
          <p:cNvPr id="12" name="Shape 10"/>
          <p:cNvSpPr/>
          <p:nvPr/>
        </p:nvSpPr>
        <p:spPr>
          <a:xfrm>
            <a:off x="8119872" y="1481328"/>
            <a:ext cx="3566160" cy="23317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8375904" y="1664208"/>
            <a:ext cx="305409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WHAT YOU'LL NEED</a:t>
            </a:r>
            <a:endParaRPr lang="en-US" sz="1550" dirty="0"/>
          </a:p>
        </p:txBody>
      </p:sp>
      <p:sp>
        <p:nvSpPr>
          <p:cNvPr id="14" name="Text 12"/>
          <p:cNvSpPr/>
          <p:nvPr/>
        </p:nvSpPr>
        <p:spPr>
          <a:xfrm>
            <a:off x="8375904" y="2066544"/>
            <a:ext cx="3054096" cy="1508760"/>
          </a:xfrm>
          <a:prstGeom prst="rect">
            <a:avLst/>
          </a:prstGeom>
          <a:noFill/>
          <a:ln/>
        </p:spPr>
        <p:txBody>
          <a:bodyPr wrap="square" lIns="0" tIns="0" rIns="0" bIns="0" rtlCol="0" anchor="t"/>
          <a:lstStyle/>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Module 4 Worksheet (printed)</a:t>
            </a:r>
            <a:endParaRPr lang="en-US" sz="1250" dirty="0"/>
          </a:p>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A calculator — today is the most computational day of the semester</a:t>
            </a:r>
            <a:endParaRPr lang="en-US" sz="1250" dirty="0"/>
          </a:p>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Graph paper for eight labeled diagrams</a:t>
            </a:r>
            <a:endParaRPr lang="en-US" sz="1250" dirty="0"/>
          </a:p>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 Your Module 3 equilibrium notes</a:t>
            </a:r>
            <a:endParaRPr lang="en-US" sz="1250" dirty="0"/>
          </a:p>
        </p:txBody>
      </p:sp>
      <p:sp>
        <p:nvSpPr>
          <p:cNvPr id="15" name="Shape 13"/>
          <p:cNvSpPr/>
          <p:nvPr/>
        </p:nvSpPr>
        <p:spPr>
          <a:xfrm>
            <a:off x="502920" y="4023360"/>
            <a:ext cx="11183112" cy="868680"/>
          </a:xfrm>
          <a:prstGeom prst="rect">
            <a:avLst/>
          </a:prstGeom>
          <a:solidFill>
            <a:srgbClr val="1A2E4A"/>
          </a:solidFill>
          <a:ln/>
        </p:spPr>
      </p:sp>
      <p:sp>
        <p:nvSpPr>
          <p:cNvPr id="16" name="Text 14"/>
          <p:cNvSpPr/>
          <p:nvPr/>
        </p:nvSpPr>
        <p:spPr>
          <a:xfrm>
            <a:off x="758952" y="41513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DO NOW  ·  OPENING INQUIRY</a:t>
            </a:r>
            <a:endParaRPr lang="en-US" sz="1050" dirty="0"/>
          </a:p>
        </p:txBody>
      </p:sp>
      <p:sp>
        <p:nvSpPr>
          <p:cNvPr id="17" name="Text 15"/>
          <p:cNvSpPr/>
          <p:nvPr/>
        </p:nvSpPr>
        <p:spPr>
          <a:xfrm>
            <a:off x="758952" y="4425696"/>
            <a:ext cx="10671048" cy="338328"/>
          </a:xfrm>
          <a:prstGeom prst="rect">
            <a:avLst/>
          </a:prstGeom>
          <a:noFill/>
          <a:ln/>
        </p:spPr>
        <p:txBody>
          <a:bodyPr wrap="square" lIns="0" tIns="0" rIns="0" bIns="0" rtlCol="0" anchor="t"/>
          <a:lstStyle/>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A new gas tax of $0.50 per gallon is imposed. Does it raise revenue? Does it change how much gas people buy? Your answer depends entirely on how RESPONSIVE consumers and producers are to price changes — that is, on ELASTICITY.</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5029200"/>
          <a:ext cx="11183112" cy="914400"/>
        </p:xfrm>
        <a:graphic>
          <a:graphicData uri="http://schemas.openxmlformats.org/drawingml/2006/table">
            <a:tbl>
              <a:tblPr/>
              <a:tblGrid>
                <a:gridCol w="4480560"/>
                <a:gridCol w="1005840"/>
                <a:gridCol w="4690872"/>
                <a:gridCol w="1005840"/>
              </a:tblGrid>
              <a:tr h="256032">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AGENDA — DAY 1  ·  ELASTICITY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AGENDA — DAY 2  ·  EFFICIENCY &amp; INCIDENCE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56032">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Do Now + the elasticity formula</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10 min</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Do Now: whose burden?</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5 min</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56032">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Part 1 — PED, classification, total revenue rule</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30 min</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Part 4 — CS, PS, total surplus, the invisible hand</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25 min</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56032">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Part 2 — Midpoint, income and cross-price elasticity</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20 min</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Part 5 — Price controls and deadweight loss</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25 min</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56032">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Part 3 — PES and its determinants</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15 min</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Part 6 — Tax incidence: the synthesis</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20 min</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BEFORE WE BEGIN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Vocabulary Checklist — Module 4</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
        <p:nvSpPr>
          <p:cNvPr id="6" name="Shape 4"/>
          <p:cNvSpPr/>
          <p:nvPr/>
        </p:nvSpPr>
        <p:spPr>
          <a:xfrm>
            <a:off x="502920" y="1554480"/>
            <a:ext cx="2121408" cy="3931920"/>
          </a:xfrm>
          <a:prstGeom prst="rect">
            <a:avLst/>
          </a:prstGeom>
          <a:solidFill>
            <a:srgbClr val="E8EDF3"/>
          </a:solidFill>
          <a:ln/>
        </p:spPr>
      </p:sp>
      <p:sp>
        <p:nvSpPr>
          <p:cNvPr id="7" name="Text 5"/>
          <p:cNvSpPr/>
          <p:nvPr/>
        </p:nvSpPr>
        <p:spPr>
          <a:xfrm>
            <a:off x="685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Price Elasticity of Demand (PED)</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Elastic</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Inelastic</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Unit Elastic</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Perfectly Elastic / Inelastic</a:t>
            </a:r>
            <a:endParaRPr lang="en-US" sz="1050" dirty="0"/>
          </a:p>
        </p:txBody>
      </p:sp>
      <p:sp>
        <p:nvSpPr>
          <p:cNvPr id="8" name="Shape 6"/>
          <p:cNvSpPr/>
          <p:nvPr/>
        </p:nvSpPr>
        <p:spPr>
          <a:xfrm>
            <a:off x="2788920" y="1554480"/>
            <a:ext cx="2121408" cy="3931920"/>
          </a:xfrm>
          <a:prstGeom prst="rect">
            <a:avLst/>
          </a:prstGeom>
          <a:solidFill>
            <a:srgbClr val="E8EDF3"/>
          </a:solidFill>
          <a:ln/>
        </p:spPr>
      </p:sp>
      <p:sp>
        <p:nvSpPr>
          <p:cNvPr id="9" name="Text 7"/>
          <p:cNvSpPr/>
          <p:nvPr/>
        </p:nvSpPr>
        <p:spPr>
          <a:xfrm>
            <a:off x="2971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Total Revenue Rule</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Income Elasticity</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Cross-Price Elasticity</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Midpoint Method</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Price Elasticity of Supply (PES)</a:t>
            </a:r>
            <a:endParaRPr lang="en-US" sz="1050" dirty="0"/>
          </a:p>
        </p:txBody>
      </p:sp>
      <p:sp>
        <p:nvSpPr>
          <p:cNvPr id="10" name="Shape 8"/>
          <p:cNvSpPr/>
          <p:nvPr/>
        </p:nvSpPr>
        <p:spPr>
          <a:xfrm>
            <a:off x="5074920" y="1554480"/>
            <a:ext cx="2121408" cy="3931920"/>
          </a:xfrm>
          <a:prstGeom prst="rect">
            <a:avLst/>
          </a:prstGeom>
          <a:solidFill>
            <a:srgbClr val="E8EDF3"/>
          </a:solidFill>
          <a:ln/>
        </p:spPr>
      </p:sp>
      <p:sp>
        <p:nvSpPr>
          <p:cNvPr id="11" name="Text 9"/>
          <p:cNvSpPr/>
          <p:nvPr/>
        </p:nvSpPr>
        <p:spPr>
          <a:xfrm>
            <a:off x="5257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Consumer Surplus (CS)</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Producer Surplus (PS)</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Total Surplus (TS)</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Welfare Economics</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Invisible Hand</a:t>
            </a:r>
            <a:endParaRPr lang="en-US" sz="1050" dirty="0"/>
          </a:p>
        </p:txBody>
      </p:sp>
      <p:sp>
        <p:nvSpPr>
          <p:cNvPr id="12" name="Shape 10"/>
          <p:cNvSpPr/>
          <p:nvPr/>
        </p:nvSpPr>
        <p:spPr>
          <a:xfrm>
            <a:off x="7360920" y="1554480"/>
            <a:ext cx="2121408" cy="3931920"/>
          </a:xfrm>
          <a:prstGeom prst="rect">
            <a:avLst/>
          </a:prstGeom>
          <a:solidFill>
            <a:srgbClr val="E8EDF3"/>
          </a:solidFill>
          <a:ln/>
        </p:spPr>
      </p:sp>
      <p:sp>
        <p:nvSpPr>
          <p:cNvPr id="13" name="Text 11"/>
          <p:cNvSpPr/>
          <p:nvPr/>
        </p:nvSpPr>
        <p:spPr>
          <a:xfrm>
            <a:off x="7543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Price Floor</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Price Ceiling</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Binding vs. Non-Binding</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Deadweight Loss (DWL)</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Willingness to Pay / Sell</a:t>
            </a:r>
            <a:endParaRPr lang="en-US" sz="1050" dirty="0"/>
          </a:p>
        </p:txBody>
      </p:sp>
      <p:sp>
        <p:nvSpPr>
          <p:cNvPr id="14" name="Shape 12"/>
          <p:cNvSpPr/>
          <p:nvPr/>
        </p:nvSpPr>
        <p:spPr>
          <a:xfrm>
            <a:off x="9646920" y="1554480"/>
            <a:ext cx="2121408" cy="3931920"/>
          </a:xfrm>
          <a:prstGeom prst="rect">
            <a:avLst/>
          </a:prstGeom>
          <a:solidFill>
            <a:srgbClr val="E8EDF3"/>
          </a:solidFill>
          <a:ln/>
        </p:spPr>
      </p:sp>
      <p:sp>
        <p:nvSpPr>
          <p:cNvPr id="15" name="Text 13"/>
          <p:cNvSpPr/>
          <p:nvPr/>
        </p:nvSpPr>
        <p:spPr>
          <a:xfrm>
            <a:off x="9829800" y="1783080"/>
            <a:ext cx="1783080" cy="3474720"/>
          </a:xfrm>
          <a:prstGeom prst="rect">
            <a:avLst/>
          </a:prstGeom>
          <a:noFill/>
          <a:ln/>
        </p:spPr>
        <p:txBody>
          <a:bodyPr wrap="square" lIns="0" tIns="0" rIns="0" bIns="0" rtlCol="0" anchor="ctr"/>
          <a:lstStyle/>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Tax Incidence</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Tax Burden Sharing</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Statutory Incidence</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Economic Incidence</a:t>
            </a:r>
            <a:endParaRPr lang="en-US" sz="1050" dirty="0"/>
          </a:p>
          <a:p>
            <a:pPr marL="203200" indent="-203200">
              <a:lnSpc>
                <a:spcPts val="1600"/>
              </a:lnSpc>
              <a:spcAft>
                <a:spcPts val="1400"/>
              </a:spcAft>
              <a:buSzPct val="100000"/>
              <a:buChar char="•"/>
            </a:pPr>
            <a:r>
              <a:rPr lang="en-US" sz="1050" dirty="0">
                <a:solidFill>
                  <a:srgbClr val="1A2E4A"/>
                </a:solidFill>
                <a:latin typeface="Calibri" pitchFamily="34" charset="0"/>
                <a:ea typeface="Calibri" pitchFamily="34" charset="-122"/>
                <a:cs typeface="Calibri" pitchFamily="34" charset="-120"/>
              </a:rPr>
              <a:t>Tax Wedge</a:t>
            </a:r>
            <a:endParaRPr lang="en-US" sz="1050" dirty="0"/>
          </a:p>
        </p:txBody>
      </p:sp>
      <p:sp>
        <p:nvSpPr>
          <p:cNvPr id="16" name="Shape 14"/>
          <p:cNvSpPr/>
          <p:nvPr/>
        </p:nvSpPr>
        <p:spPr>
          <a:xfrm>
            <a:off x="502920" y="5623560"/>
            <a:ext cx="11183112" cy="566928"/>
          </a:xfrm>
          <a:prstGeom prst="rect">
            <a:avLst/>
          </a:prstGeom>
          <a:solidFill>
            <a:srgbClr val="1A2E4A"/>
          </a:solidFill>
          <a:ln/>
        </p:spPr>
      </p:sp>
      <p:sp>
        <p:nvSpPr>
          <p:cNvPr id="17" name="Text 15"/>
          <p:cNvSpPr/>
          <p:nvPr/>
        </p:nvSpPr>
        <p:spPr>
          <a:xfrm>
            <a:off x="758952" y="57515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MODULE 4 SYNTHESIS — READ THIS BEFORE CLASS</a:t>
            </a:r>
            <a:endParaRPr lang="en-US" sz="1050" dirty="0"/>
          </a:p>
        </p:txBody>
      </p:sp>
      <p:sp>
        <p:nvSpPr>
          <p:cNvPr id="18" name="Text 16"/>
          <p:cNvSpPr/>
          <p:nvPr/>
        </p:nvSpPr>
        <p:spPr>
          <a:xfrm>
            <a:off x="758952" y="5952744"/>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Elasticity and welfare analysis are not two separate tools. They must be deployed SIMULTANEOUSLY to answer the incidence question. Elasticity reveals who bears more; surplus analysis reveals how taxation divides total welfare and generates deadweight loss.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914400" y="1371600"/>
            <a:ext cx="10332720" cy="41148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SECTION I</a:t>
            </a:r>
            <a:endParaRPr lang="en-US" sz="1500" dirty="0"/>
          </a:p>
        </p:txBody>
      </p:sp>
      <p:sp>
        <p:nvSpPr>
          <p:cNvPr id="3" name="Text 1"/>
          <p:cNvSpPr/>
          <p:nvPr/>
        </p:nvSpPr>
        <p:spPr>
          <a:xfrm>
            <a:off x="914400" y="1828800"/>
            <a:ext cx="100584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Elasticity</a:t>
            </a:r>
            <a:endParaRPr lang="en-US" sz="4600" dirty="0"/>
          </a:p>
        </p:txBody>
      </p:sp>
      <p:sp>
        <p:nvSpPr>
          <p:cNvPr id="4" name="Text 2"/>
          <p:cNvSpPr/>
          <p:nvPr/>
        </p:nvSpPr>
        <p:spPr>
          <a:xfrm>
            <a:off x="914400" y="3291840"/>
            <a:ext cx="10058400" cy="2377440"/>
          </a:xfrm>
          <a:prstGeom prst="rect">
            <a:avLst/>
          </a:prstGeom>
          <a:noFill/>
          <a:ln/>
        </p:spPr>
        <p:txBody>
          <a:bodyPr wrap="square" lIns="0" tIns="0" rIns="0" bIns="0" rtlCol="0" anchor="ctr"/>
          <a:lstStyle/>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1  ·  Price elasticity of demand: the formula, the five classifications, and the total revenue rule</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2  ·  The midpoint method; income elasticity and cross-price elasticity</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3  ·  Price elasticity of supply; time horizons and the determinants of PES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01</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Price Elasticity</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of Demand</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Compute PED (εd = %ΔQd / %ΔP); classify elastic, inelastic and unit elastic demand; interpret graphically and in terms of the total revenue rule.</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THE FORMULA</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What Elasticity Measures — and Why Percentages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
        <p:nvSpPr>
          <p:cNvPr id="6" name="Shape 4"/>
          <p:cNvSpPr/>
          <p:nvPr/>
        </p:nvSpPr>
        <p:spPr>
          <a:xfrm>
            <a:off x="502920" y="1444752"/>
            <a:ext cx="11183112" cy="1143000"/>
          </a:xfrm>
          <a:prstGeom prst="rect">
            <a:avLst/>
          </a:prstGeom>
          <a:solidFill>
            <a:srgbClr val="1A2E4A"/>
          </a:solidFill>
          <a:ln/>
        </p:spPr>
      </p:sp>
      <p:sp>
        <p:nvSpPr>
          <p:cNvPr id="7" name="Text 5"/>
          <p:cNvSpPr/>
          <p:nvPr/>
        </p:nvSpPr>
        <p:spPr>
          <a:xfrm>
            <a:off x="685800" y="1572768"/>
            <a:ext cx="10817352" cy="57607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εd   =   % Δ Quantity Demanded   ÷   % Δ Price</a:t>
            </a:r>
            <a:endParaRPr lang="en-US" sz="2200" dirty="0"/>
          </a:p>
        </p:txBody>
      </p:sp>
      <p:sp>
        <p:nvSpPr>
          <p:cNvPr id="8" name="Text 6"/>
          <p:cNvSpPr/>
          <p:nvPr/>
        </p:nvSpPr>
        <p:spPr>
          <a:xfrm>
            <a:off x="685800" y="2075688"/>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PED measures the RESPONSIVENESS of quantity demanded to a change in the good's own price — how far buyers move when the price moves.</a:t>
            </a:r>
            <a:endParaRPr lang="en-US" sz="1150" dirty="0"/>
          </a:p>
          <a:p>
            <a:pPr algn="ctr" indent="0" marL="0">
              <a:buNone/>
            </a:pPr>
            <a:r>
              <a:rPr lang="en-US" sz="1150" i="1" dirty="0">
                <a:solidFill>
                  <a:srgbClr val="E8C87A"/>
                </a:solidFill>
                <a:latin typeface="Calibri" pitchFamily="34" charset="0"/>
                <a:ea typeface="Calibri" pitchFamily="34" charset="-122"/>
                <a:cs typeface="Calibri" pitchFamily="34" charset="-120"/>
              </a:rPr>
              <a:t>By the law of demand the numerator and denominator always have OPPOSITE signs, so εd is always NEGATIVE. We usually discuss its ABSOLUTE VALUE.</a:t>
            </a:r>
            <a:endParaRPr lang="en-US" sz="1150" dirty="0"/>
          </a:p>
        </p:txBody>
      </p:sp>
      <p:sp>
        <p:nvSpPr>
          <p:cNvPr id="9" name="Shape 7"/>
          <p:cNvSpPr/>
          <p:nvPr/>
        </p:nvSpPr>
        <p:spPr>
          <a:xfrm>
            <a:off x="502920" y="2788920"/>
            <a:ext cx="3611880" cy="17373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758952" y="2971800"/>
            <a:ext cx="309981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WHY PERCENTAGES, NOT UNITS?</a:t>
            </a:r>
            <a:endParaRPr lang="en-US" sz="1550" dirty="0"/>
          </a:p>
        </p:txBody>
      </p:sp>
      <p:sp>
        <p:nvSpPr>
          <p:cNvPr id="11" name="Text 9"/>
          <p:cNvSpPr/>
          <p:nvPr/>
        </p:nvSpPr>
        <p:spPr>
          <a:xfrm>
            <a:off x="758952" y="3374136"/>
            <a:ext cx="3099816" cy="91440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Because a slope depends on units. "Quantity falls by 3" means nothing without knowing whether that is 3 grams or 3 tons, or whether the starting quantity was 5 or 5 million. Percentage change is UNIT-FREE, so elasticities of different goods can be compared directly.</a:t>
            </a:r>
            <a:endParaRPr lang="en-US" sz="900" dirty="0"/>
          </a:p>
        </p:txBody>
      </p:sp>
      <p:sp>
        <p:nvSpPr>
          <p:cNvPr id="12" name="Shape 10"/>
          <p:cNvSpPr/>
          <p:nvPr/>
        </p:nvSpPr>
        <p:spPr>
          <a:xfrm>
            <a:off x="4315968" y="2788920"/>
            <a:ext cx="3611880" cy="17373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4572000" y="2971800"/>
            <a:ext cx="309981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ELASTICITY ≠ SLOPE</a:t>
            </a:r>
            <a:endParaRPr lang="en-US" sz="1550" dirty="0"/>
          </a:p>
        </p:txBody>
      </p:sp>
      <p:sp>
        <p:nvSpPr>
          <p:cNvPr id="14" name="Text 12"/>
          <p:cNvSpPr/>
          <p:nvPr/>
        </p:nvSpPr>
        <p:spPr>
          <a:xfrm>
            <a:off x="4572000" y="3374136"/>
            <a:ext cx="3099816" cy="9144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 straight demand line has a CONSTANT slope but a CHANGING elasticity — elastic near the top, unit elastic at the midpoint, inelastic near the bottom. This is because elasticity depends on the ratio P/Q as well as on the slope.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εd = (ΔQ/ΔP) × (P/Q).</a:t>
            </a:r>
            <a:endParaRPr lang="en-US" sz="850" dirty="0"/>
          </a:p>
        </p:txBody>
      </p:sp>
      <p:sp>
        <p:nvSpPr>
          <p:cNvPr id="15" name="Shape 13"/>
          <p:cNvSpPr/>
          <p:nvPr/>
        </p:nvSpPr>
        <p:spPr>
          <a:xfrm>
            <a:off x="8119872" y="2788920"/>
            <a:ext cx="3566160" cy="17373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6" name="Text 14"/>
          <p:cNvSpPr/>
          <p:nvPr/>
        </p:nvSpPr>
        <p:spPr>
          <a:xfrm>
            <a:off x="8375904" y="2971800"/>
            <a:ext cx="305409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READING THE NUMBER</a:t>
            </a:r>
            <a:endParaRPr lang="en-US" sz="1550" dirty="0"/>
          </a:p>
        </p:txBody>
      </p:sp>
      <p:sp>
        <p:nvSpPr>
          <p:cNvPr id="17" name="Text 15"/>
          <p:cNvSpPr/>
          <p:nvPr/>
        </p:nvSpPr>
        <p:spPr>
          <a:xfrm>
            <a:off x="8375904" y="3374136"/>
            <a:ext cx="3054096" cy="9144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|εd| &gt; 1 → ELASTIC. Quantity responds MORE than proportionately. Buyers are sensitive.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|εd| &lt; 1 → INELASTIC. Quantity responds LESS than proportionately. Buyers are insensitive.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|εd| = 1 → UNIT ELASTIC. Exactly proportionate.</a:t>
            </a:r>
            <a:endParaRPr lang="en-US" sz="850" dirty="0"/>
          </a:p>
        </p:txBody>
      </p:sp>
      <p:sp>
        <p:nvSpPr>
          <p:cNvPr id="18" name="Shape 16"/>
          <p:cNvSpPr/>
          <p:nvPr/>
        </p:nvSpPr>
        <p:spPr>
          <a:xfrm>
            <a:off x="502920" y="4709160"/>
            <a:ext cx="11183112" cy="1417320"/>
          </a:xfrm>
          <a:prstGeom prst="rect">
            <a:avLst/>
          </a:prstGeom>
          <a:solidFill>
            <a:srgbClr val="1A2E4A"/>
          </a:solidFill>
          <a:ln/>
        </p:spPr>
      </p:sp>
      <p:sp>
        <p:nvSpPr>
          <p:cNvPr id="19" name="Text 17"/>
          <p:cNvSpPr/>
          <p:nvPr/>
        </p:nvSpPr>
        <p:spPr>
          <a:xfrm>
            <a:off x="758952" y="48371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FOUR DETERMINANTS OF PED</a:t>
            </a:r>
            <a:endParaRPr lang="en-US" sz="1050" dirty="0"/>
          </a:p>
        </p:txBody>
      </p:sp>
      <p:sp>
        <p:nvSpPr>
          <p:cNvPr id="20" name="Text 18"/>
          <p:cNvSpPr/>
          <p:nvPr/>
        </p:nvSpPr>
        <p:spPr>
          <a:xfrm>
            <a:off x="758952" y="5111496"/>
            <a:ext cx="10671048" cy="886968"/>
          </a:xfrm>
          <a:prstGeom prst="rect">
            <a:avLst/>
          </a:prstGeom>
          <a:noFill/>
          <a:ln/>
        </p:spPr>
        <p:txBody>
          <a:bodyPr wrap="square" lIns="0" tIns="0" rIns="0" bIns="0" rtlCol="0" anchor="t"/>
          <a:lstStyle/>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1. AVAILABILITY OF CLOSE SUBSTITUTES — the more substitutes, the MORE elastic. This is the master determinant; the other three are versions of it.</a:t>
            </a:r>
            <a:endParaRPr lang="en-US" sz="1000" dirty="0"/>
          </a:p>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2. NECESSITIES vs. LUXURIES — necessities are INELASTIC (you buy them anyway); luxuries are ELASTIC (you can defer or forgo them).</a:t>
            </a:r>
            <a:endParaRPr lang="en-US" sz="1000" dirty="0"/>
          </a:p>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3. NARROWLY vs. BROADLY DEFINED MARKETS — "food" is inelastic; "Honeycrisp apples at this stall" is highly elastic, because narrower definitions have more substitutes.</a:t>
            </a:r>
            <a:endParaRPr lang="en-US" sz="1000" dirty="0"/>
          </a:p>
          <a:p>
            <a:pPr indent="0" marL="0">
              <a:lnSpc>
                <a:spcPts val="1400"/>
              </a:lnSpc>
              <a:buNone/>
            </a:pPr>
            <a:r>
              <a:rPr lang="en-US" sz="1000" dirty="0">
                <a:solidFill>
                  <a:srgbClr val="FFFFFF"/>
                </a:solidFill>
                <a:latin typeface="Calibri" pitchFamily="34" charset="0"/>
                <a:ea typeface="Calibri" pitchFamily="34" charset="-122"/>
                <a:cs typeface="Calibri" pitchFamily="34" charset="-120"/>
              </a:rPr>
              <a:t>4. SHORT RUN vs. LONG RUN — demand is MORE elastic in the long run, because substitutes and adjustments take time to find (the 1973 oil shock, Module 3).</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THE FIVE CLASSIFICATIONS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Elasticity Spectrum</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pic>
        <p:nvPicPr>
          <p:cNvPr id="6" name="Image 0" descr="figs/m4_spectrum.png">    </p:cNvPr>
          <p:cNvPicPr>
            <a:picLocks noChangeAspect="1"/>
          </p:cNvPicPr>
          <p:nvPr/>
        </p:nvPicPr>
        <p:blipFill>
          <a:blip r:embed="rId1"/>
          <a:stretch>
            <a:fillRect/>
          </a:stretch>
        </p:blipFill>
        <p:spPr>
          <a:xfrm>
            <a:off x="365760" y="1656330"/>
            <a:ext cx="11430000" cy="2448061"/>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4526280"/>
          <a:ext cx="11183112" cy="914400"/>
        </p:xfrm>
        <a:graphic>
          <a:graphicData uri="http://schemas.openxmlformats.org/drawingml/2006/table">
            <a:tbl>
              <a:tblPr/>
              <a:tblGrid>
                <a:gridCol w="1828800"/>
                <a:gridCol w="1097280"/>
                <a:gridCol w="3931920"/>
                <a:gridCol w="4325112"/>
              </a:tblGrid>
              <a:tr h="228600">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CLASSIFICATION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MEANING</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REAL-WORLD EXAMPLE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2860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Perfectly inelastic</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εd = 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Quantity demanded does not change at all when price changes. The curve is VERTICAL.</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Insulin for a Type 1 diabetic; a life-saving antivenom; land (on the supply side).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2860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Inelastic</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0 &lt; |εd| &lt; 1</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Quantity changes proportionately LESS than price. The curve is relatively STEEP.</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Bread and other subsistence staples; gasoline in the short run; salt; utilities.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2860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Unit elastic</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|εd| = 1</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Quantity changes exactly in proportion to price. Total revenue is unchanged.</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The midpoint of any linear demand curve; some broad consumer categories.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2860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Elastic</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|εd| &gt; 1</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Quantity changes proportionately MORE than price. The curve is relatively FLAT.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Silk scarves and luxury imports; restaurant meals; a specific brand of cereal.</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28600">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Perfectly elastic</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|εd| = ∞</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Any price rise sends quantity demanded to zero. The curve is HORIZONTAL.</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An individual wheat farmer's output in a perfectly competitive market (Module 10).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4.1 · MELAKA STRAITS, C. 1460 CE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Nutmeg from the Banda Islands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
        <p:nvSpPr>
          <p:cNvPr id="6" name="Text 4"/>
          <p:cNvSpPr/>
          <p:nvPr/>
        </p:nvSpPr>
        <p:spPr>
          <a:xfrm>
            <a:off x="502920" y="1417320"/>
            <a:ext cx="5486400" cy="548640"/>
          </a:xfrm>
          <a:prstGeom prst="rect">
            <a:avLst/>
          </a:prstGeom>
          <a:noFill/>
          <a:ln/>
        </p:spPr>
        <p:txBody>
          <a:bodyPr wrap="square" lIns="0" tIns="0" rIns="0" bIns="0" rtlCol="0" anchor="ctr"/>
          <a:lstStyle/>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The Banda Islands were the world's SOLE source of nutmeg. When the Melaka Sultanate imposed a tariff, price rose 50% and quantity demanded fell 75%.</a:t>
            </a:r>
            <a:endParaRPr lang="en-US" sz="1250" dirty="0"/>
          </a:p>
        </p:txBody>
      </p:sp>
      <p:sp>
        <p:nvSpPr>
          <p:cNvPr id="7" name="Shape 5"/>
          <p:cNvSpPr/>
          <p:nvPr/>
        </p:nvSpPr>
        <p:spPr>
          <a:xfrm>
            <a:off x="502920" y="2029968"/>
            <a:ext cx="5486400" cy="1508760"/>
          </a:xfrm>
          <a:prstGeom prst="rect">
            <a:avLst/>
          </a:prstGeom>
          <a:solidFill>
            <a:srgbClr val="1A2E4A"/>
          </a:solidFill>
          <a:ln/>
        </p:spPr>
      </p:sp>
      <p:sp>
        <p:nvSpPr>
          <p:cNvPr id="8" name="Text 6"/>
          <p:cNvSpPr/>
          <p:nvPr/>
        </p:nvSpPr>
        <p:spPr>
          <a:xfrm>
            <a:off x="685800" y="2029968"/>
            <a:ext cx="5120640" cy="150876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εd  =  −75%  ÷  +50%  =  −1.5</a:t>
            </a:r>
            <a:endParaRPr lang="en-US" sz="2200" dirty="0"/>
          </a:p>
          <a:p>
            <a:pPr algn="ctr" indent="0" marL="0">
              <a:buNone/>
            </a:pPr>
            <a:endParaRPr lang="en-US" sz="2200" dirty="0"/>
          </a:p>
          <a:p>
            <a:pPr algn="ctr" indent="0" marL="0">
              <a:buNone/>
            </a:pPr>
            <a:r>
              <a:rPr lang="en-US" sz="2200" b="1" dirty="0">
                <a:solidFill>
                  <a:srgbClr val="FFFFFF"/>
                </a:solidFill>
                <a:latin typeface="Cambria" pitchFamily="34" charset="0"/>
                <a:ea typeface="Cambria" pitchFamily="34" charset="-122"/>
                <a:cs typeface="Cambria" pitchFamily="34" charset="-120"/>
              </a:rPr>
              <a:t>CLASSIFICATION:   ELASTIC   (|εd| = 1.5 &gt; 1)</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3703320"/>
          <a:ext cx="5486400" cy="914400"/>
        </p:xfrm>
        <a:graphic>
          <a:graphicData uri="http://schemas.openxmlformats.org/drawingml/2006/table">
            <a:tbl>
              <a:tblPr/>
              <a:tblGrid>
                <a:gridCol w="1417320"/>
                <a:gridCol w="960120"/>
                <a:gridCol w="1143000"/>
                <a:gridCol w="1965960"/>
              </a:tblGrid>
              <a:tr h="320040">
                <a:tc>
                  <a:txBody>
                    <a:bodyPr/>
                    <a:lstStyle/>
                    <a:p>
                      <a:pPr algn="l" indent="0" marL="0">
                        <a:buNone/>
                      </a:pP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PRICE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QUANTITY</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TOTAL REVENUE = P × Q</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20040">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Before the tariff</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20,000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20040">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After the tariff</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150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7,500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20040">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Change</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−75%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−12,500  (TR FELL)</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10" name="Shape 7"/>
          <p:cNvSpPr/>
          <p:nvPr/>
        </p:nvSpPr>
        <p:spPr>
          <a:xfrm>
            <a:off x="502920" y="4892040"/>
            <a:ext cx="5486400" cy="12344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758952" y="5074920"/>
            <a:ext cx="497433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WHY IS DEMAND ELASTIC HERE?</a:t>
            </a:r>
            <a:endParaRPr lang="en-US" sz="1550" dirty="0"/>
          </a:p>
        </p:txBody>
      </p:sp>
      <p:sp>
        <p:nvSpPr>
          <p:cNvPr id="12" name="Text 9"/>
          <p:cNvSpPr/>
          <p:nvPr/>
        </p:nvSpPr>
        <p:spPr>
          <a:xfrm>
            <a:off x="758952" y="5477256"/>
            <a:ext cx="4974336" cy="4114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Nutmeg was a LUXURY, not a necessity — a status spice for European and Asian elites who could simply buy less, or substitute cloves, pepper, or mace. Monopoly over supply does NOT make demand inelastic; those are different sides of the market.</a:t>
            </a:r>
            <a:endParaRPr lang="en-US" sz="850" dirty="0"/>
          </a:p>
        </p:txBody>
      </p:sp>
      <p:pic>
        <p:nvPicPr>
          <p:cNvPr id="13" name="Image 0" descr="figs/m4_trrule.png">    </p:cNvPr>
          <p:cNvPicPr>
            <a:picLocks noChangeAspect="1"/>
          </p:cNvPicPr>
          <p:nvPr/>
        </p:nvPicPr>
        <p:blipFill>
          <a:blip r:embed="rId1"/>
          <a:stretch>
            <a:fillRect/>
          </a:stretch>
        </p:blipFill>
        <p:spPr>
          <a:xfrm>
            <a:off x="6172200" y="1609757"/>
            <a:ext cx="5532120" cy="2358325"/>
          </a:xfrm>
          <a:prstGeom prst="rect">
            <a:avLst/>
          </a:prstGeom>
        </p:spPr>
      </p:pic>
      <p:sp>
        <p:nvSpPr>
          <p:cNvPr id="14" name="Shape 10"/>
          <p:cNvSpPr/>
          <p:nvPr/>
        </p:nvSpPr>
        <p:spPr>
          <a:xfrm>
            <a:off x="6172200" y="4206240"/>
            <a:ext cx="5532120" cy="1920240"/>
          </a:xfrm>
          <a:prstGeom prst="rect">
            <a:avLst/>
          </a:prstGeom>
          <a:solidFill>
            <a:srgbClr val="1A2E4A"/>
          </a:solidFill>
          <a:ln/>
        </p:spPr>
      </p:sp>
      <p:sp>
        <p:nvSpPr>
          <p:cNvPr id="15" name="Text 11"/>
          <p:cNvSpPr/>
          <p:nvPr/>
        </p:nvSpPr>
        <p:spPr>
          <a:xfrm>
            <a:off x="6428232" y="4334256"/>
            <a:ext cx="502005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TOTAL REVENUE RULE</a:t>
            </a:r>
            <a:endParaRPr lang="en-US" sz="1050" dirty="0"/>
          </a:p>
        </p:txBody>
      </p:sp>
      <p:sp>
        <p:nvSpPr>
          <p:cNvPr id="16" name="Text 12"/>
          <p:cNvSpPr/>
          <p:nvPr/>
        </p:nvSpPr>
        <p:spPr>
          <a:xfrm>
            <a:off x="6428232" y="4608576"/>
            <a:ext cx="5020056" cy="138988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TR = Market Price × Market Quantity.  (This is NOT profit — we are not thinking about costs yet.)</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ELASTIC (|ε| &gt; 1):  P ↑ → TR ↓.  P and TR move in OPPOSITE directions, because the percentage fall in Q swamps the percentage rise in P.</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INELASTIC (|ε| &lt; 1):  P ↑ → TR ↑.  P and TR move in the SAME direction, because Q barely responds.</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UNIT ELASTIC:  TR is unchanged.</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1 · CLASSIFICATION PRACTICE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Applying PED to Five Goods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2286000"/>
                <a:gridCol w="2286000"/>
                <a:gridCol w="3840480"/>
                <a:gridCol w="2770632"/>
              </a:tblGrid>
              <a:tr h="182880">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GOOD OR SERVICE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PED CLASSIFICATION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ECONOMIC RATIONALE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EFFECT ON TR OF A PRICE INCREASE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1828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Insulin (life-sustaining medication)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Perfectly inelastic / highly inelastic (|εd| ≈ 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No substitute exists; the good is a medical necessity and the alternative to purchase is death. Quantity demanded is essentially fixed.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TR RISES almost proportionately with price — which is precisely why insulin pricing is a policy flashpoint.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Silk scarves (luxury import)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Elastic (|εd| &gt; 1)</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 luxury with many substitutes — wool, linen, cotton, or simply going without. Purchase can be deferred indefinitely.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TR FALLS. Raising the price loses more revenue in lost sales than it gains per unit.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1828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Bread (subsistence staple)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Inelastic (|εd| &lt; 1)</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 necessity with few close substitutes at the same cost per calorie. Households cut other spending before they cut bread.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TR RISES — the reason bread prices are politically explosive (Paris, 1791; see Part 5).</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1828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Marcus's neighborhood groceries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Inelastic in the short run; more elastic in the long run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Few nearby alternatives without a car or transit fare; travel cost is itself a barrier to substitution. Over time, a new store or a car changes this.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TR RISES in the short run. Note that low elasticity here reflects CONSTRAINT, not preference.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18288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Ray's commercial storefronts (lease)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Inelastic on the supply side (fixed structures); demand inelastic where alternatives are scarce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A tenant with an established customer base, signage, and fit-out cannot relocate cheaply. Switching costs are a substitute-availability problem.</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TR RISES for Ray. His pricing power comes from the tenant's low elasticity, not from any productivity of his own.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4983480"/>
            <a:ext cx="11183112" cy="1143000"/>
          </a:xfrm>
          <a:prstGeom prst="rect">
            <a:avLst/>
          </a:prstGeom>
          <a:solidFill>
            <a:srgbClr val="1A2E4A"/>
          </a:solidFill>
          <a:ln/>
        </p:spPr>
      </p:sp>
      <p:sp>
        <p:nvSpPr>
          <p:cNvPr id="8" name="Text 5"/>
          <p:cNvSpPr/>
          <p:nvPr/>
        </p:nvSpPr>
        <p:spPr>
          <a:xfrm>
            <a:off x="758952" y="511149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✦1  THE DISTRIBUTIONAL IMPLICATION</a:t>
            </a:r>
            <a:endParaRPr lang="en-US" sz="1050" dirty="0"/>
          </a:p>
        </p:txBody>
      </p:sp>
      <p:sp>
        <p:nvSpPr>
          <p:cNvPr id="9" name="Text 6"/>
          <p:cNvSpPr/>
          <p:nvPr/>
        </p:nvSpPr>
        <p:spPr>
          <a:xfrm>
            <a:off x="758952" y="5385816"/>
            <a:ext cx="10671048" cy="612648"/>
          </a:xfrm>
          <a:prstGeom prst="rect">
            <a:avLst/>
          </a:prstGeom>
          <a:noFill/>
          <a:ln/>
        </p:spPr>
        <p:txBody>
          <a:bodyPr wrap="square" lIns="0" tIns="0" rIns="0" bIns="0" rtlCol="0" anchor="t"/>
          <a:lstStyle/>
          <a:p>
            <a:pPr indent="0" marL="0">
              <a:lnSpc>
                <a:spcPts val="1600"/>
              </a:lnSpc>
              <a:buNone/>
            </a:pPr>
            <a:r>
              <a:rPr lang="en-US" sz="1100" dirty="0">
                <a:solidFill>
                  <a:srgbClr val="FFFFFF"/>
                </a:solidFill>
                <a:latin typeface="Calibri" pitchFamily="34" charset="0"/>
                <a:ea typeface="Calibri" pitchFamily="34" charset="-122"/>
                <a:cs typeface="Calibri" pitchFamily="34" charset="-120"/>
              </a:rPr>
              <a:t>Necessities are inelastic; luxuries are elastic. A tax on STAPLE FOOD therefore falls almost entirely on buyers and raises stable revenue — and buyers of staples are disproportionately poor. A tax on LUXURIES is largely avoided by the buyer switching or abstaining, so it raises less revenue and falls partly on sellers. Efficiency and equity point in opposite directions here, which is precisely the politics of taxation.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02</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The Midpoint Method,</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Income &amp; Cross-Price Elasticity</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Apply the midpoint method — the standard measure of arc elasticity; calculate income and cross-price elasticity; classify goods as normal or inferior, substitutes or complements.</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2 · ARC ELASTICITY</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Midpoint Method — and Why It Is Needed</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
        <p:nvSpPr>
          <p:cNvPr id="6" name="Shape 4"/>
          <p:cNvSpPr/>
          <p:nvPr/>
        </p:nvSpPr>
        <p:spPr>
          <a:xfrm>
            <a:off x="502920" y="1444752"/>
            <a:ext cx="11183112" cy="1371600"/>
          </a:xfrm>
          <a:prstGeom prst="rect">
            <a:avLst/>
          </a:prstGeom>
          <a:solidFill>
            <a:srgbClr val="1A2E4A"/>
          </a:solidFill>
          <a:ln/>
        </p:spPr>
      </p:sp>
      <p:sp>
        <p:nvSpPr>
          <p:cNvPr id="7" name="Text 5"/>
          <p:cNvSpPr/>
          <p:nvPr/>
        </p:nvSpPr>
        <p:spPr>
          <a:xfrm>
            <a:off x="685800" y="1572768"/>
            <a:ext cx="10817352" cy="80467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εd   =   [ ( Q₂ − Q₁ ) ÷ ( (Q₁ + Q₂)/2 ) ]   ÷   [ ( P₂ − P₁ ) ÷ ( (P₁ + P₂)/2 ) ]</a:t>
            </a:r>
            <a:endParaRPr lang="en-US" sz="2200" dirty="0"/>
          </a:p>
        </p:txBody>
      </p:sp>
      <p:sp>
        <p:nvSpPr>
          <p:cNvPr id="8" name="Text 6"/>
          <p:cNvSpPr/>
          <p:nvPr/>
        </p:nvSpPr>
        <p:spPr>
          <a:xfrm>
            <a:off x="685800" y="2304288"/>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The percentage change is computed against the MIDPOINT of the two values rather than the starting value.</a:t>
            </a:r>
            <a:endParaRPr lang="en-US" sz="1150" dirty="0"/>
          </a:p>
        </p:txBody>
      </p:sp>
      <p:sp>
        <p:nvSpPr>
          <p:cNvPr id="9" name="Shape 7"/>
          <p:cNvSpPr/>
          <p:nvPr/>
        </p:nvSpPr>
        <p:spPr>
          <a:xfrm>
            <a:off x="502920" y="3017520"/>
            <a:ext cx="5486400" cy="15087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758952" y="3200400"/>
            <a:ext cx="497433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THE PROBLEM IT SOLVES</a:t>
            </a:r>
            <a:endParaRPr lang="en-US" sz="1550" dirty="0"/>
          </a:p>
        </p:txBody>
      </p:sp>
      <p:sp>
        <p:nvSpPr>
          <p:cNvPr id="11" name="Text 9"/>
          <p:cNvSpPr/>
          <p:nvPr/>
        </p:nvSpPr>
        <p:spPr>
          <a:xfrm>
            <a:off x="758952" y="3602736"/>
            <a:ext cx="4974336" cy="6858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Ordinary percentage change is DIRECTION-DEPENDENT. Going from 100 to 140 is a 40% rise; going from 140 back to 100 is a 28.6% fall — the same movement gives two different elasticities depending on which end you start from.</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Using the midpoint as the base makes the calculation SYMMETRIC: the same segment yields the same elasticity in either direction.</a:t>
            </a:r>
            <a:endParaRPr lang="en-US" sz="850" dirty="0"/>
          </a:p>
        </p:txBody>
      </p:sp>
      <p:sp>
        <p:nvSpPr>
          <p:cNvPr id="12" name="Shape 10"/>
          <p:cNvSpPr/>
          <p:nvPr/>
        </p:nvSpPr>
        <p:spPr>
          <a:xfrm>
            <a:off x="6199632" y="3017520"/>
            <a:ext cx="5486400" cy="15087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3" name="Text 11"/>
          <p:cNvSpPr/>
          <p:nvPr/>
        </p:nvSpPr>
        <p:spPr>
          <a:xfrm>
            <a:off x="6455664" y="3200400"/>
            <a:ext cx="497433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ARC vs. POINT ELASTICITY</a:t>
            </a:r>
            <a:endParaRPr lang="en-US" sz="1550" dirty="0"/>
          </a:p>
        </p:txBody>
      </p:sp>
      <p:sp>
        <p:nvSpPr>
          <p:cNvPr id="14" name="Text 12"/>
          <p:cNvSpPr/>
          <p:nvPr/>
        </p:nvSpPr>
        <p:spPr>
          <a:xfrm>
            <a:off x="6455664" y="3602736"/>
            <a:ext cx="4974336" cy="68580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ARC elasticity measures responsiveness OVER A SEGMENT of the curve — the midpoint method. It is what you use with two data points.</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POINT elasticity measures responsiveness AT A SINGLE POINT: εd = (dQ/dP)(P/Q). It requires calculus, and it is the honest definition — the midpoint method is its practical approximation.</a:t>
            </a:r>
            <a:endParaRPr lang="en-US" sz="850" dirty="0"/>
          </a:p>
        </p:txBody>
      </p:sp>
      <p:sp>
        <p:nvSpPr>
          <p:cNvPr id="15" name="Shape 13"/>
          <p:cNvSpPr/>
          <p:nvPr/>
        </p:nvSpPr>
        <p:spPr>
          <a:xfrm>
            <a:off x="502920" y="4709160"/>
            <a:ext cx="11183112" cy="1417320"/>
          </a:xfrm>
          <a:prstGeom prst="rect">
            <a:avLst/>
          </a:prstGeom>
          <a:solidFill>
            <a:srgbClr val="1A2E4A"/>
          </a:solidFill>
          <a:ln/>
        </p:spPr>
      </p:sp>
      <p:sp>
        <p:nvSpPr>
          <p:cNvPr id="16" name="Text 14"/>
          <p:cNvSpPr/>
          <p:nvPr/>
        </p:nvSpPr>
        <p:spPr>
          <a:xfrm>
            <a:off x="758952" y="48371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WORKED EXAMPLE — SCENARIO 4.2: THE PORTUGUESE SEA ROUTE TO THE INDIES, VENICE &amp; LISBON C. 1505</a:t>
            </a:r>
            <a:endParaRPr lang="en-US" sz="1050" dirty="0"/>
          </a:p>
        </p:txBody>
      </p:sp>
      <p:sp>
        <p:nvSpPr>
          <p:cNvPr id="17" name="Text 15"/>
          <p:cNvSpPr/>
          <p:nvPr/>
        </p:nvSpPr>
        <p:spPr>
          <a:xfrm>
            <a:off x="758952" y="5111496"/>
            <a:ext cx="10671048" cy="88696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Vasco da Gama's direct sea route undermined Venetian control of the spice trade, lowering the price of pepper from 80 to 60 gold coins. Venetian merchants recorded Qd rising from 100 to 140 units.</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%ΔQ  =  (140 − 100) ÷ 120  =  +33.3%          %ΔP  =  (60 − 80) ÷ 70  =  −28.6%          εd  =  33.3 ÷ (−28.6)  =  −1.17     →  ELASTIC</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TR before  =  80 × 100  =  8,000.     TR after  =  60 × 140  =  8,400.     TR ROSE — exactly as the total revenue rule predicts for an elastic good whose price FALLS.</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2 · THE OTHER TWO ELASTICITIES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Income Elasticity &amp; Cross-Price Elasticity</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
        <p:nvSpPr>
          <p:cNvPr id="6" name="Shape 4"/>
          <p:cNvSpPr/>
          <p:nvPr/>
        </p:nvSpPr>
        <p:spPr>
          <a:xfrm>
            <a:off x="502920" y="1417320"/>
            <a:ext cx="5486400" cy="914400"/>
          </a:xfrm>
          <a:prstGeom prst="rect">
            <a:avLst/>
          </a:prstGeom>
          <a:solidFill>
            <a:srgbClr val="1A2E4A"/>
          </a:solidFill>
          <a:ln/>
        </p:spPr>
      </p:sp>
      <p:sp>
        <p:nvSpPr>
          <p:cNvPr id="7" name="Text 5"/>
          <p:cNvSpPr/>
          <p:nvPr/>
        </p:nvSpPr>
        <p:spPr>
          <a:xfrm>
            <a:off x="685800" y="1417320"/>
            <a:ext cx="5120640" cy="9144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ε_income  =  %ΔQd  ÷  %Δ Income</a:t>
            </a:r>
            <a:endParaRPr lang="en-US" sz="2200" dirty="0"/>
          </a:p>
        </p:txBody>
      </p:sp>
      <p:sp>
        <p:nvSpPr>
          <p:cNvPr id="8" name="Shape 6"/>
          <p:cNvSpPr/>
          <p:nvPr/>
        </p:nvSpPr>
        <p:spPr>
          <a:xfrm>
            <a:off x="6199632" y="1417320"/>
            <a:ext cx="5486400" cy="914400"/>
          </a:xfrm>
          <a:prstGeom prst="rect">
            <a:avLst/>
          </a:prstGeom>
          <a:solidFill>
            <a:srgbClr val="1A2E4A"/>
          </a:solidFill>
          <a:ln/>
        </p:spPr>
      </p:sp>
      <p:sp>
        <p:nvSpPr>
          <p:cNvPr id="9" name="Text 7"/>
          <p:cNvSpPr/>
          <p:nvPr/>
        </p:nvSpPr>
        <p:spPr>
          <a:xfrm>
            <a:off x="6382512" y="1417320"/>
            <a:ext cx="5120640" cy="9144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ε_cross  =  %ΔQd of Good 2  ÷  %ΔPrice of Good 1</a:t>
            </a:r>
            <a:endParaRPr lang="en-US" sz="2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2606040"/>
          <a:ext cx="11183112" cy="914400"/>
        </p:xfrm>
        <a:graphic>
          <a:graphicData uri="http://schemas.openxmlformats.org/drawingml/2006/table">
            <a:tbl>
              <a:tblPr/>
              <a:tblGrid>
                <a:gridCol w="1371600"/>
                <a:gridCol w="1737360"/>
                <a:gridCol w="4206240"/>
                <a:gridCol w="3867912"/>
              </a:tblGrid>
              <a:tr h="27432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SIGN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CLASSIFICATION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RULE OF THUMB</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HISTORICAL EXAMPLE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74320">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ε_income &gt; 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NORMAL GOOD</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POSITIVE income elasticity. Income ↑ → Qd ↑. If ε_income &gt; 1 the good is additionally a LUXURY; between 0 and 1 it is a necessity.</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Spices, silk and porcelain in the early modern Indian Ocean trade — consumption rose faster than merchant incomes.</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ε_income &lt; 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INFERIOR GOOD</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NEGATIVE income elasticity. Income ↑ → Qd ↓. The relationship is INVERSE.</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Barley bread in medieval Europe: as wages rose after the Black Death, households substituted toward wheat bread.</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ε_cross &gt; 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SUBSTITUTES</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POSITIVE cross-price elasticity. Goods used INSTEAD OF one another — a rise in Good 1's price raises demand for Good 2.</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Indian cottons and European linens competing in the 17th-century textile market; tea and coffee in many settings.</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ε_cross &lt; 0</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COMPLEMENTS</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NEGATIVE cross-price elasticity. Goods used TOGETHER — a rise in Good 1's price lowers demand for Good 2.</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Sugar and coffee in Ottoman coffeehouses; gasoline and large cars; printers and ink.</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11" name="Shape 8"/>
          <p:cNvSpPr/>
          <p:nvPr/>
        </p:nvSpPr>
        <p:spPr>
          <a:xfrm>
            <a:off x="502920" y="5120640"/>
            <a:ext cx="11183112" cy="1005840"/>
          </a:xfrm>
          <a:prstGeom prst="rect">
            <a:avLst/>
          </a:prstGeom>
          <a:solidFill>
            <a:srgbClr val="1A2E4A"/>
          </a:solidFill>
          <a:ln/>
        </p:spPr>
      </p:sp>
      <p:sp>
        <p:nvSpPr>
          <p:cNvPr id="12" name="Text 9"/>
          <p:cNvSpPr/>
          <p:nvPr/>
        </p:nvSpPr>
        <p:spPr>
          <a:xfrm>
            <a:off x="758952" y="524865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THREE ELASTICITIES, ONE GRAMMAR</a:t>
            </a:r>
            <a:endParaRPr lang="en-US" sz="1050" dirty="0"/>
          </a:p>
        </p:txBody>
      </p:sp>
      <p:sp>
        <p:nvSpPr>
          <p:cNvPr id="13" name="Text 10"/>
          <p:cNvSpPr/>
          <p:nvPr/>
        </p:nvSpPr>
        <p:spPr>
          <a:xfrm>
            <a:off x="758952" y="5522976"/>
            <a:ext cx="10671048" cy="475488"/>
          </a:xfrm>
          <a:prstGeom prst="rect">
            <a:avLst/>
          </a:prstGeom>
          <a:noFill/>
          <a:ln/>
        </p:spPr>
        <p:txBody>
          <a:bodyPr wrap="square" lIns="0" tIns="0" rIns="0" bIns="0" rtlCol="0" anchor="t"/>
          <a:lstStyle/>
          <a:p>
            <a:pPr indent="0" marL="0">
              <a:lnSpc>
                <a:spcPts val="1500"/>
              </a:lnSpc>
              <a:buNone/>
            </a:pPr>
            <a:r>
              <a:rPr lang="en-US" sz="1050" dirty="0">
                <a:solidFill>
                  <a:srgbClr val="FFFFFF"/>
                </a:solidFill>
                <a:latin typeface="Calibri" pitchFamily="34" charset="0"/>
                <a:ea typeface="Calibri" pitchFamily="34" charset="-122"/>
                <a:cs typeface="Calibri" pitchFamily="34" charset="-120"/>
              </a:rPr>
              <a:t>Every elasticity is a ratio of two percentage changes: the SIGN tells you the direction of the relationship, and the MAGNITUDE tells you its strength. PED is negative by the law of demand, so we discuss |εd|. Income and cross-price elasticities can take EITHER sign — and the sign is the whole classification.</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4.3 · SAFAVID PERSIA &amp; OTTOMAN TRADE, C. 1685</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An Isfahan Merchant's Household Accounts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
        <p:nvSpPr>
          <p:cNvPr id="6" name="Text 4"/>
          <p:cNvSpPr/>
          <p:nvPr/>
        </p:nvSpPr>
        <p:spPr>
          <a:xfrm>
            <a:off x="502920" y="1417320"/>
            <a:ext cx="5577840" cy="640080"/>
          </a:xfrm>
          <a:prstGeom prst="rect">
            <a:avLst/>
          </a:prstGeom>
          <a:noFill/>
          <a:ln/>
        </p:spPr>
        <p:txBody>
          <a:bodyPr wrap="square" lIns="0" tIns="0" rIns="0" bIns="0" rtlCol="0" anchor="ctr"/>
          <a:lstStyle/>
          <a:p>
            <a:pPr indent="0" marL="0">
              <a:lnSpc>
                <a:spcPts val="1800"/>
              </a:lnSpc>
              <a:buNone/>
            </a:pPr>
            <a:r>
              <a:rPr lang="en-US" sz="1200" dirty="0">
                <a:solidFill>
                  <a:srgbClr val="4A6180"/>
                </a:solidFill>
                <a:latin typeface="Calibri" pitchFamily="34" charset="0"/>
                <a:ea typeface="Calibri" pitchFamily="34" charset="-122"/>
                <a:cs typeface="Calibri" pitchFamily="34" charset="-120"/>
              </a:rPr>
              <a:t>Istanbul's coffeehouses were the social centers of the Ottoman Empire. Sugar and coffee were consumed together; Indian cottons and European linens competed in textiles. An Isfahan craftsman household recorded income and trade data across two decades.</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2194560"/>
          <a:ext cx="5577840" cy="914400"/>
        </p:xfrm>
        <a:graphic>
          <a:graphicData uri="http://schemas.openxmlformats.org/drawingml/2006/table">
            <a:tbl>
              <a:tblPr/>
              <a:tblGrid>
                <a:gridCol w="914400"/>
                <a:gridCol w="1554480"/>
                <a:gridCol w="1005840"/>
                <a:gridCol w="1097280"/>
                <a:gridCol w="1005840"/>
              </a:tblGrid>
              <a:tr h="384048">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YEAR</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HOUSEHOLD INCOME (ducats)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Qd OF SPICES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PRICE OF TEA (Good 1)</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Qd OF COFFEE (Good 2)</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84048">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Year 1</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50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84048">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Year 2</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150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30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18</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84048">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 change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+50%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+60%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+50%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1A2E4A"/>
                          </a:solidFill>
                          <a:latin typeface="Calibri" pitchFamily="34" charset="0"/>
                          <a:ea typeface="Calibri" pitchFamily="34" charset="-122"/>
                          <a:cs typeface="Calibri" pitchFamily="34" charset="-120"/>
                        </a:rPr>
                        <a:t>−40%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8" name="Shape 5"/>
          <p:cNvSpPr/>
          <p:nvPr/>
        </p:nvSpPr>
        <p:spPr>
          <a:xfrm>
            <a:off x="502920" y="3886200"/>
            <a:ext cx="5577840" cy="1143000"/>
          </a:xfrm>
          <a:prstGeom prst="rect">
            <a:avLst/>
          </a:prstGeom>
          <a:solidFill>
            <a:srgbClr val="1A2E4A"/>
          </a:solidFill>
          <a:ln/>
        </p:spPr>
      </p:sp>
      <p:sp>
        <p:nvSpPr>
          <p:cNvPr id="9" name="Text 6"/>
          <p:cNvSpPr/>
          <p:nvPr/>
        </p:nvSpPr>
        <p:spPr>
          <a:xfrm>
            <a:off x="685800" y="4014216"/>
            <a:ext cx="5212080" cy="576072"/>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TASK 1:   ε_income  =  +60%  ÷  +50%  =  +1.2</a:t>
            </a:r>
            <a:endParaRPr lang="en-US" sz="1800" dirty="0"/>
          </a:p>
        </p:txBody>
      </p:sp>
      <p:sp>
        <p:nvSpPr>
          <p:cNvPr id="10" name="Text 7"/>
          <p:cNvSpPr/>
          <p:nvPr/>
        </p:nvSpPr>
        <p:spPr>
          <a:xfrm>
            <a:off x="685800" y="4517136"/>
            <a:ext cx="5212080" cy="402336"/>
          </a:xfrm>
          <a:prstGeom prst="rect">
            <a:avLst/>
          </a:prstGeom>
          <a:noFill/>
          <a:ln/>
        </p:spPr>
        <p:txBody>
          <a:bodyPr wrap="square" lIns="0" tIns="0" rIns="0" bIns="0" rtlCol="0" anchor="ctr"/>
          <a:lstStyle/>
          <a:p>
            <a:pPr algn="ctr" indent="0" marL="0">
              <a:buNone/>
            </a:pPr>
            <a:r>
              <a:rPr lang="en-US" sz="950" i="1" dirty="0">
                <a:solidFill>
                  <a:srgbClr val="E8C87A"/>
                </a:solidFill>
                <a:latin typeface="Calibri" pitchFamily="34" charset="0"/>
                <a:ea typeface="Calibri" pitchFamily="34" charset="-122"/>
                <a:cs typeface="Calibri" pitchFamily="34" charset="-120"/>
              </a:rPr>
              <a:t>POSITIVE → a NORMAL good. And because ε_income &gt; 1, spices are additionally a LUXURY:</a:t>
            </a:r>
            <a:endParaRPr lang="en-US" sz="950" dirty="0"/>
          </a:p>
          <a:p>
            <a:pPr algn="ctr" indent="0" marL="0">
              <a:buNone/>
            </a:pPr>
            <a:r>
              <a:rPr lang="en-US" sz="950" i="1" dirty="0">
                <a:solidFill>
                  <a:srgbClr val="E8C87A"/>
                </a:solidFill>
                <a:latin typeface="Calibri" pitchFamily="34" charset="0"/>
                <a:ea typeface="Calibri" pitchFamily="34" charset="-122"/>
                <a:cs typeface="Calibri" pitchFamily="34" charset="-120"/>
              </a:rPr>
              <a:t>consumption rose FASTER than income.</a:t>
            </a:r>
            <a:endParaRPr lang="en-US" sz="950" dirty="0"/>
          </a:p>
        </p:txBody>
      </p:sp>
      <p:sp>
        <p:nvSpPr>
          <p:cNvPr id="11" name="Shape 8"/>
          <p:cNvSpPr/>
          <p:nvPr/>
        </p:nvSpPr>
        <p:spPr>
          <a:xfrm>
            <a:off x="502920" y="5166360"/>
            <a:ext cx="5577840" cy="960120"/>
          </a:xfrm>
          <a:prstGeom prst="rect">
            <a:avLst/>
          </a:prstGeom>
          <a:solidFill>
            <a:srgbClr val="1A2E4A"/>
          </a:solidFill>
          <a:ln/>
        </p:spPr>
      </p:sp>
      <p:sp>
        <p:nvSpPr>
          <p:cNvPr id="12" name="Text 9"/>
          <p:cNvSpPr/>
          <p:nvPr/>
        </p:nvSpPr>
        <p:spPr>
          <a:xfrm>
            <a:off x="685800" y="5166360"/>
            <a:ext cx="5212080" cy="9601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TASK 2:   ε_cross  =  −40%  ÷  +50%  =  −0.8</a:t>
            </a:r>
            <a:endParaRPr lang="en-US" sz="2200" dirty="0"/>
          </a:p>
        </p:txBody>
      </p:sp>
      <p:sp>
        <p:nvSpPr>
          <p:cNvPr id="13" name="Shape 10"/>
          <p:cNvSpPr/>
          <p:nvPr/>
        </p:nvSpPr>
        <p:spPr>
          <a:xfrm>
            <a:off x="6263640" y="1417320"/>
            <a:ext cx="5422392" cy="20116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4" name="Text 11"/>
          <p:cNvSpPr/>
          <p:nvPr/>
        </p:nvSpPr>
        <p:spPr>
          <a:xfrm>
            <a:off x="6519672" y="1600200"/>
            <a:ext cx="4910328"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READING THE CROSS-PRICE RESULT</a:t>
            </a:r>
            <a:endParaRPr lang="en-US" sz="1550" dirty="0"/>
          </a:p>
        </p:txBody>
      </p:sp>
      <p:sp>
        <p:nvSpPr>
          <p:cNvPr id="15" name="Text 12"/>
          <p:cNvSpPr/>
          <p:nvPr/>
        </p:nvSpPr>
        <p:spPr>
          <a:xfrm>
            <a:off x="6519672" y="2002536"/>
            <a:ext cx="4910328" cy="118872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The computed value is NEGATIVE, which by definition classifies tea and coffee as COMPLEMENTS in this household: when tea became dearer, they drank LESS coffee, not more.</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That is the opposite of the usual textbook expectation, and it is worth pausing on. In the Ottoman coffeehouse the two were consumed as part of a single social ritual alongside sugar — so a price rise in one input contracted the whole occasion. Classification follows the SIGN OF THE DATA, not the label we expect.</a:t>
            </a:r>
            <a:endParaRPr lang="en-US" sz="900" dirty="0"/>
          </a:p>
        </p:txBody>
      </p:sp>
      <p:sp>
        <p:nvSpPr>
          <p:cNvPr id="16" name="Shape 13"/>
          <p:cNvSpPr/>
          <p:nvPr/>
        </p:nvSpPr>
        <p:spPr>
          <a:xfrm>
            <a:off x="6263640" y="3566160"/>
            <a:ext cx="5422392" cy="13258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7" name="Text 14"/>
          <p:cNvSpPr/>
          <p:nvPr/>
        </p:nvSpPr>
        <p:spPr>
          <a:xfrm>
            <a:off x="6519672" y="3749040"/>
            <a:ext cx="4910328"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WHY THIS MATTERS METHODOLOGICALLY</a:t>
            </a:r>
            <a:endParaRPr lang="en-US" sz="1550" dirty="0"/>
          </a:p>
        </p:txBody>
      </p:sp>
      <p:sp>
        <p:nvSpPr>
          <p:cNvPr id="18" name="Text 15"/>
          <p:cNvSpPr/>
          <p:nvPr/>
        </p:nvSpPr>
        <p:spPr>
          <a:xfrm>
            <a:off x="6519672" y="4151376"/>
            <a:ext cx="4910328" cy="5029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Substitutes and complements are not intrinsic properties of goods. They are properties of a RELATIONSHIP measured in a particular market, for a particular population, at a particular time. The same two goods can be substitutes in one setting and complements in another.</a:t>
            </a:r>
            <a:endParaRPr lang="en-US" sz="850" dirty="0"/>
          </a:p>
        </p:txBody>
      </p:sp>
      <p:sp>
        <p:nvSpPr>
          <p:cNvPr id="19" name="Shape 16"/>
          <p:cNvSpPr/>
          <p:nvPr/>
        </p:nvSpPr>
        <p:spPr>
          <a:xfrm>
            <a:off x="6263640" y="5029200"/>
            <a:ext cx="5422392" cy="1097280"/>
          </a:xfrm>
          <a:prstGeom prst="rect">
            <a:avLst/>
          </a:prstGeom>
          <a:solidFill>
            <a:srgbClr val="1A2E4A"/>
          </a:solidFill>
          <a:ln/>
        </p:spPr>
      </p:sp>
      <p:sp>
        <p:nvSpPr>
          <p:cNvPr id="20" name="Text 17"/>
          <p:cNvSpPr/>
          <p:nvPr/>
        </p:nvSpPr>
        <p:spPr>
          <a:xfrm>
            <a:off x="6519672" y="5157216"/>
            <a:ext cx="491032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CHECK YOUR WORKSHEET</a:t>
            </a:r>
            <a:endParaRPr lang="en-US" sz="1050" dirty="0"/>
          </a:p>
        </p:txBody>
      </p:sp>
      <p:sp>
        <p:nvSpPr>
          <p:cNvPr id="21" name="Text 18"/>
          <p:cNvSpPr/>
          <p:nvPr/>
        </p:nvSpPr>
        <p:spPr>
          <a:xfrm>
            <a:off x="6519672" y="5431536"/>
            <a:ext cx="4910328" cy="56692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If your worksheet narrative describes tea and coffee as substitutes but your computed elasticity is negative, TRUST THE COMPUTATION and say so in your answer. Explaining why the data disagrees with the expectation is a better answer than forcing the data to fit.</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03</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Price Elasticity of Supply</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&amp; Its Determinants</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Compute PES = %ΔQs / %ΔP; connect time horizons to supply elasticity; enumerate the determinants of PES.</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4.4 · BENGAL, MUGHAL EMPIRE, C. 1725</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Bengali Weavers — Time Horizon and Supply Elasticity</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
        <p:nvSpPr>
          <p:cNvPr id="6" name="Shape 4"/>
          <p:cNvSpPr/>
          <p:nvPr/>
        </p:nvSpPr>
        <p:spPr>
          <a:xfrm>
            <a:off x="502920" y="1417320"/>
            <a:ext cx="5532120" cy="868680"/>
          </a:xfrm>
          <a:prstGeom prst="rect">
            <a:avLst/>
          </a:prstGeom>
          <a:solidFill>
            <a:srgbClr val="1A2E4A"/>
          </a:solidFill>
          <a:ln/>
        </p:spPr>
      </p:sp>
      <p:sp>
        <p:nvSpPr>
          <p:cNvPr id="7" name="Text 5"/>
          <p:cNvSpPr/>
          <p:nvPr/>
        </p:nvSpPr>
        <p:spPr>
          <a:xfrm>
            <a:off x="685800" y="1417320"/>
            <a:ext cx="5166360" cy="8686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PES  =  %ΔQs  ÷  %ΔP</a:t>
            </a:r>
            <a:endParaRPr lang="en-US" sz="2200" dirty="0"/>
          </a:p>
        </p:txBody>
      </p:sp>
      <p:sp>
        <p:nvSpPr>
          <p:cNvPr id="8" name="Shape 6"/>
          <p:cNvSpPr/>
          <p:nvPr/>
        </p:nvSpPr>
        <p:spPr>
          <a:xfrm>
            <a:off x="502920" y="2423160"/>
            <a:ext cx="5532120" cy="13258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9" name="Text 7"/>
          <p:cNvSpPr/>
          <p:nvPr/>
        </p:nvSpPr>
        <p:spPr>
          <a:xfrm>
            <a:off x="758952" y="2606040"/>
            <a:ext cx="502005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THE TWO FIGURES INTERPRETED</a:t>
            </a:r>
            <a:endParaRPr lang="en-US" sz="1550" dirty="0"/>
          </a:p>
        </p:txBody>
      </p:sp>
      <p:sp>
        <p:nvSpPr>
          <p:cNvPr id="10" name="Text 8"/>
          <p:cNvSpPr/>
          <p:nvPr/>
        </p:nvSpPr>
        <p:spPr>
          <a:xfrm>
            <a:off x="758952" y="3008376"/>
            <a:ext cx="5020056" cy="5029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SHORT RUN, PES = 0.2: a 10% price increase expands quantity supplied by only 0.2 × 10% = 2%. Looms are FIXED; weavers can work longer hours, and little else.</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LONG RUN, PES = 1.4: the SAME 10% price increase expands quantity supplied by 1.4 × 10% = 14%. New looms can be built and new weavers trained.</a:t>
            </a:r>
            <a:endParaRPr lang="en-US" sz="850" dirty="0"/>
          </a:p>
        </p:txBody>
      </p:sp>
      <p:sp>
        <p:nvSpPr>
          <p:cNvPr id="11" name="Shape 9"/>
          <p:cNvSpPr/>
          <p:nvPr/>
        </p:nvSpPr>
        <p:spPr>
          <a:xfrm>
            <a:off x="502920" y="3886200"/>
            <a:ext cx="5532120" cy="12344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2" name="Text 10"/>
          <p:cNvSpPr/>
          <p:nvPr/>
        </p:nvSpPr>
        <p:spPr>
          <a:xfrm>
            <a:off x="758952" y="4069080"/>
            <a:ext cx="502005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WHY THE TIME HORIZON IS DECISIVE</a:t>
            </a:r>
            <a:endParaRPr lang="en-US" sz="1550" dirty="0"/>
          </a:p>
        </p:txBody>
      </p:sp>
      <p:sp>
        <p:nvSpPr>
          <p:cNvPr id="13" name="Text 11"/>
          <p:cNvSpPr/>
          <p:nvPr/>
        </p:nvSpPr>
        <p:spPr>
          <a:xfrm>
            <a:off x="758952" y="4471416"/>
            <a:ext cx="5020056" cy="4114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Because FIXED FACTORS OF PRODUCTION cannot be varied within the short run — by definition (Module 1). Supply elasticity is therefore not a fact about a good; it is a fact about a good AND a time horizon.</a:t>
            </a:r>
            <a:endParaRPr lang="en-US" sz="850" dirty="0"/>
          </a:p>
        </p:txBody>
      </p:sp>
      <p:sp>
        <p:nvSpPr>
          <p:cNvPr id="14" name="Shape 12"/>
          <p:cNvSpPr/>
          <p:nvPr/>
        </p:nvSpPr>
        <p:spPr>
          <a:xfrm>
            <a:off x="502920" y="5257800"/>
            <a:ext cx="5532120" cy="8686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5" name="Text 13"/>
          <p:cNvSpPr/>
          <p:nvPr/>
        </p:nvSpPr>
        <p:spPr>
          <a:xfrm>
            <a:off x="758952" y="5440680"/>
            <a:ext cx="502005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SECONDARY DETERMINANT — CAPACITY</a:t>
            </a:r>
            <a:endParaRPr lang="en-US" sz="1550" dirty="0"/>
          </a:p>
        </p:txBody>
      </p:sp>
      <p:sp>
        <p:nvSpPr>
          <p:cNvPr id="16" name="Text 14"/>
          <p:cNvSpPr/>
          <p:nvPr/>
        </p:nvSpPr>
        <p:spPr>
          <a:xfrm>
            <a:off x="758952" y="5843016"/>
            <a:ext cx="5020056" cy="457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Even with strong price incentives, output is bounded by available productive capacity: raw fiber, workshop space, skilled hands. A producer already at full capacity has PES near zero regardless of price.</a:t>
            </a:r>
            <a:endParaRPr lang="en-US" sz="850" dirty="0"/>
          </a:p>
        </p:txBody>
      </p:sp>
      <p:pic>
        <p:nvPicPr>
          <p:cNvPr id="17" name="Image 0" descr="figs/m4_pes.png">    </p:cNvPr>
          <p:cNvPicPr>
            <a:picLocks noChangeAspect="1"/>
          </p:cNvPicPr>
          <p:nvPr/>
        </p:nvPicPr>
        <p:blipFill>
          <a:blip r:embed="rId1"/>
          <a:stretch>
            <a:fillRect/>
          </a:stretch>
        </p:blipFill>
        <p:spPr>
          <a:xfrm>
            <a:off x="6263640" y="1479998"/>
            <a:ext cx="5422392" cy="3349364"/>
          </a:xfrm>
          <a:prstGeom prst="rect">
            <a:avLst/>
          </a:prstGeom>
        </p:spPr>
      </p:pic>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263640" y="4956048"/>
          <a:ext cx="5422392" cy="914400"/>
        </p:xfrm>
        <a:graphic>
          <a:graphicData uri="http://schemas.openxmlformats.org/drawingml/2006/table">
            <a:tbl>
              <a:tblPr/>
              <a:tblGrid>
                <a:gridCol w="2103120"/>
                <a:gridCol w="1691640"/>
                <a:gridCol w="1627632"/>
              </a:tblGrid>
              <a:tr h="219456">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DETERMINANT OF PES</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INCREASES ELASTICITY</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REDUCES ELASTICITY</a:t>
                      </a:r>
                      <a:endParaRPr lang="en-US" sz="8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19456">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Time horizon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Long run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Short run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19456">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Inventory &amp; storage capacity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Large, cheap storage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Perishable, no storage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19456">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Factor mobility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Inputs move easily between uses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Highly specialized inputs</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19456">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Spare productive capacity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Idle plant available</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00" dirty="0">
                          <a:solidFill>
                            <a:srgbClr val="1A2E4A"/>
                          </a:solidFill>
                          <a:latin typeface="Calibri" pitchFamily="34" charset="0"/>
                          <a:ea typeface="Calibri" pitchFamily="34" charset="-122"/>
                          <a:cs typeface="Calibri" pitchFamily="34" charset="-120"/>
                        </a:rPr>
                        <a:t>Already at full capacity</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3 · WORKSHEET ✦2</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Special Case of Land — PES = 0</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
        <p:nvSpPr>
          <p:cNvPr id="6" name="Shape 4"/>
          <p:cNvSpPr/>
          <p:nvPr/>
        </p:nvSpPr>
        <p:spPr>
          <a:xfrm>
            <a:off x="502920" y="1417320"/>
            <a:ext cx="11183112" cy="868680"/>
          </a:xfrm>
          <a:prstGeom prst="rect">
            <a:avLst/>
          </a:prstGeom>
          <a:solidFill>
            <a:srgbClr val="1A2E4A"/>
          </a:solidFill>
          <a:ln/>
        </p:spPr>
      </p:sp>
      <p:sp>
        <p:nvSpPr>
          <p:cNvPr id="7" name="Text 5"/>
          <p:cNvSpPr/>
          <p:nvPr/>
        </p:nvSpPr>
        <p:spPr>
          <a:xfrm>
            <a:off x="758952" y="15453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QUESTION</a:t>
            </a:r>
            <a:endParaRPr lang="en-US" sz="1050" dirty="0"/>
          </a:p>
        </p:txBody>
      </p:sp>
      <p:sp>
        <p:nvSpPr>
          <p:cNvPr id="8" name="Text 6"/>
          <p:cNvSpPr/>
          <p:nvPr/>
        </p:nvSpPr>
        <p:spPr>
          <a:xfrm>
            <a:off x="758952" y="1819656"/>
            <a:ext cx="10671048" cy="338328"/>
          </a:xfrm>
          <a:prstGeom prst="rect">
            <a:avLst/>
          </a:prstGeom>
          <a:noFill/>
          <a:ln/>
        </p:spPr>
        <p:txBody>
          <a:bodyPr wrap="square" lIns="0" tIns="0" rIns="0" bIns="0" rtlCol="0" anchor="t"/>
          <a:lstStyle/>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Land has a perfectly inelastic supply (PES = 0). What does this imply about who bears the burden of a tax on land — the buyer or the seller? How does the incidence principle applied to land help explain why a land value tax might be unusually efficient?</a:t>
            </a:r>
            <a:endParaRPr lang="en-US" sz="900" dirty="0"/>
          </a:p>
        </p:txBody>
      </p:sp>
      <p:sp>
        <p:nvSpPr>
          <p:cNvPr id="9" name="Shape 7"/>
          <p:cNvSpPr/>
          <p:nvPr/>
        </p:nvSpPr>
        <p:spPr>
          <a:xfrm>
            <a:off x="502920" y="2468880"/>
            <a:ext cx="3611880" cy="2194560"/>
          </a:xfrm>
          <a:prstGeom prst="rect">
            <a:avLst/>
          </a:prstGeom>
          <a:solidFill>
            <a:srgbClr val="E8EDF3"/>
          </a:solidFill>
          <a:ln/>
        </p:spPr>
      </p:sp>
      <p:sp>
        <p:nvSpPr>
          <p:cNvPr id="10" name="Shape 8"/>
          <p:cNvSpPr/>
          <p:nvPr/>
        </p:nvSpPr>
        <p:spPr>
          <a:xfrm>
            <a:off x="704088" y="2670048"/>
            <a:ext cx="457200" cy="457200"/>
          </a:xfrm>
          <a:prstGeom prst="ellipse">
            <a:avLst/>
          </a:prstGeom>
          <a:solidFill>
            <a:srgbClr val="1A2E4A"/>
          </a:solidFill>
          <a:ln/>
        </p:spPr>
      </p:sp>
      <p:sp>
        <p:nvSpPr>
          <p:cNvPr id="11" name="Text 9"/>
          <p:cNvSpPr/>
          <p:nvPr/>
        </p:nvSpPr>
        <p:spPr>
          <a:xfrm>
            <a:off x="704088" y="26700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280160" y="267004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THE QUANTITY CANNOT RESPOND</a:t>
            </a:r>
            <a:endParaRPr lang="en-US" sz="1450" dirty="0"/>
          </a:p>
        </p:txBody>
      </p:sp>
      <p:sp>
        <p:nvSpPr>
          <p:cNvPr id="13" name="Text 11"/>
          <p:cNvSpPr/>
          <p:nvPr/>
        </p:nvSpPr>
        <p:spPr>
          <a:xfrm>
            <a:off x="722376" y="3218688"/>
            <a:ext cx="3154680" cy="123444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The supply of land is fixed by nature. No price, however high, produces more of it; no price, however low, produces less. Graphically the supply curve is VERTICAL.</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This is the pure case of the perfectly inelastic classification from Part 1 — applied to supply rather than demand.</a:t>
            </a:r>
            <a:endParaRPr lang="en-US" sz="900" dirty="0"/>
          </a:p>
        </p:txBody>
      </p:sp>
      <p:sp>
        <p:nvSpPr>
          <p:cNvPr id="14" name="Shape 12"/>
          <p:cNvSpPr/>
          <p:nvPr/>
        </p:nvSpPr>
        <p:spPr>
          <a:xfrm>
            <a:off x="4315968" y="2468880"/>
            <a:ext cx="3611880" cy="2194560"/>
          </a:xfrm>
          <a:prstGeom prst="rect">
            <a:avLst/>
          </a:prstGeom>
          <a:solidFill>
            <a:srgbClr val="E8EDF3"/>
          </a:solidFill>
          <a:ln/>
        </p:spPr>
      </p:sp>
      <p:sp>
        <p:nvSpPr>
          <p:cNvPr id="15" name="Shape 13"/>
          <p:cNvSpPr/>
          <p:nvPr/>
        </p:nvSpPr>
        <p:spPr>
          <a:xfrm>
            <a:off x="4517136" y="2670048"/>
            <a:ext cx="457200" cy="457200"/>
          </a:xfrm>
          <a:prstGeom prst="ellipse">
            <a:avLst/>
          </a:prstGeom>
          <a:solidFill>
            <a:srgbClr val="C0892E"/>
          </a:solidFill>
          <a:ln/>
        </p:spPr>
      </p:sp>
      <p:sp>
        <p:nvSpPr>
          <p:cNvPr id="16" name="Text 14"/>
          <p:cNvSpPr/>
          <p:nvPr/>
        </p:nvSpPr>
        <p:spPr>
          <a:xfrm>
            <a:off x="4517136" y="26700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5093208" y="267004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THE LANDOWNER BEARS 100%</a:t>
            </a:r>
            <a:endParaRPr lang="en-US" sz="1600" dirty="0"/>
          </a:p>
        </p:txBody>
      </p:sp>
      <p:sp>
        <p:nvSpPr>
          <p:cNvPr id="18" name="Text 16"/>
          <p:cNvSpPr/>
          <p:nvPr/>
        </p:nvSpPr>
        <p:spPr>
          <a:xfrm>
            <a:off x="4535424" y="3218688"/>
            <a:ext cx="3154680" cy="1234440"/>
          </a:xfrm>
          <a:prstGeom prst="rect">
            <a:avLst/>
          </a:prstGeom>
          <a:noFill/>
          <a:ln/>
        </p:spPr>
        <p:txBody>
          <a:bodyPr wrap="square" lIns="0" tIns="0" rIns="0" bIns="0" rtlCol="0" anchor="t"/>
          <a:lstStyle/>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By the incidence formula (Part 6), the seller's share is |PED| / (PES + |PED|). With PES = 0 that fraction equals 1: the SELLER bears the ENTIRE burden.</a:t>
            </a:r>
            <a:endParaRPr lang="en-US" sz="950" dirty="0"/>
          </a:p>
          <a:p>
            <a:pPr indent="0" marL="0">
              <a:lnSpc>
                <a:spcPts val="1300"/>
              </a:lnSpc>
              <a:buNone/>
            </a:pPr>
            <a:endParaRPr lang="en-US" sz="950" dirty="0"/>
          </a:p>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The tax is capitalized into a lower land price. The owner cannot pass it forward, because they cannot withdraw supply in response.</a:t>
            </a:r>
            <a:endParaRPr lang="en-US" sz="950" dirty="0"/>
          </a:p>
        </p:txBody>
      </p:sp>
      <p:sp>
        <p:nvSpPr>
          <p:cNvPr id="19" name="Shape 17"/>
          <p:cNvSpPr/>
          <p:nvPr/>
        </p:nvSpPr>
        <p:spPr>
          <a:xfrm>
            <a:off x="8119872" y="2468880"/>
            <a:ext cx="3566160" cy="2194560"/>
          </a:xfrm>
          <a:prstGeom prst="rect">
            <a:avLst/>
          </a:prstGeom>
          <a:solidFill>
            <a:srgbClr val="E8EDF3"/>
          </a:solidFill>
          <a:ln/>
        </p:spPr>
      </p:sp>
      <p:sp>
        <p:nvSpPr>
          <p:cNvPr id="20" name="Shape 18"/>
          <p:cNvSpPr/>
          <p:nvPr/>
        </p:nvSpPr>
        <p:spPr>
          <a:xfrm>
            <a:off x="8321040" y="2670048"/>
            <a:ext cx="457200" cy="457200"/>
          </a:xfrm>
          <a:prstGeom prst="ellipse">
            <a:avLst/>
          </a:prstGeom>
          <a:solidFill>
            <a:srgbClr val="9E2A2B"/>
          </a:solidFill>
          <a:ln/>
        </p:spPr>
      </p:sp>
      <p:sp>
        <p:nvSpPr>
          <p:cNvPr id="21" name="Text 19"/>
          <p:cNvSpPr/>
          <p:nvPr/>
        </p:nvSpPr>
        <p:spPr>
          <a:xfrm>
            <a:off x="8321040" y="26700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8897112" y="2670048"/>
            <a:ext cx="256032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WHY THAT MAKES IT EFFICIENT</a:t>
            </a:r>
            <a:endParaRPr lang="en-US" sz="1450" dirty="0"/>
          </a:p>
        </p:txBody>
      </p:sp>
      <p:sp>
        <p:nvSpPr>
          <p:cNvPr id="23" name="Text 21"/>
          <p:cNvSpPr/>
          <p:nvPr/>
        </p:nvSpPr>
        <p:spPr>
          <a:xfrm>
            <a:off x="8339328" y="3218688"/>
            <a:ext cx="3108960" cy="123444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Deadweight loss arises from TRADES THAT DO NOT HAPPEN because the tax discouraged them. If quantity cannot change, no trades are discouraged — so the DWL triangle has zero base.</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 land value tax raises revenue with ZERO deadweight loss. This is Henry George's argument (1879), and Ricardo's theory of rent underneath it.</a:t>
            </a:r>
            <a:endParaRPr lang="en-US" sz="900" dirty="0"/>
          </a:p>
        </p:txBody>
      </p:sp>
      <p:sp>
        <p:nvSpPr>
          <p:cNvPr id="24" name="Shape 22"/>
          <p:cNvSpPr/>
          <p:nvPr/>
        </p:nvSpPr>
        <p:spPr>
          <a:xfrm>
            <a:off x="502920" y="4937760"/>
            <a:ext cx="11183112" cy="1188720"/>
          </a:xfrm>
          <a:prstGeom prst="rect">
            <a:avLst/>
          </a:prstGeom>
          <a:solidFill>
            <a:srgbClr val="1A2E4A"/>
          </a:solidFill>
          <a:ln/>
        </p:spPr>
      </p:sp>
      <p:sp>
        <p:nvSpPr>
          <p:cNvPr id="25" name="Text 23"/>
          <p:cNvSpPr/>
          <p:nvPr/>
        </p:nvSpPr>
        <p:spPr>
          <a:xfrm>
            <a:off x="685800" y="5065776"/>
            <a:ext cx="10817352"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PES = 0     →     DWL = ½ × 0 × height = 0</a:t>
            </a:r>
            <a:endParaRPr lang="en-US" sz="2200" dirty="0"/>
          </a:p>
        </p:txBody>
      </p:sp>
      <p:sp>
        <p:nvSpPr>
          <p:cNvPr id="26" name="Text 24"/>
          <p:cNvSpPr/>
          <p:nvPr/>
        </p:nvSpPr>
        <p:spPr>
          <a:xfrm>
            <a:off x="685800" y="5614416"/>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Every other tax distorts quantity. A tax on a perfectly inelastic base does not. Keep this result — it is the sharpest single illustration that elasticity and efficiency are the same subject.</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914400" y="1371600"/>
            <a:ext cx="10332720" cy="41148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SECTION II</a:t>
            </a:r>
            <a:endParaRPr lang="en-US" sz="1500" dirty="0"/>
          </a:p>
        </p:txBody>
      </p:sp>
      <p:sp>
        <p:nvSpPr>
          <p:cNvPr id="3" name="Text 1"/>
          <p:cNvSpPr/>
          <p:nvPr/>
        </p:nvSpPr>
        <p:spPr>
          <a:xfrm>
            <a:off x="914400" y="1828800"/>
            <a:ext cx="100584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Welfare Analysis &amp; Market Efficiency</a:t>
            </a:r>
            <a:endParaRPr lang="en-US" sz="4600" dirty="0"/>
          </a:p>
        </p:txBody>
      </p:sp>
      <p:sp>
        <p:nvSpPr>
          <p:cNvPr id="4" name="Text 2"/>
          <p:cNvSpPr/>
          <p:nvPr/>
        </p:nvSpPr>
        <p:spPr>
          <a:xfrm>
            <a:off x="914400" y="3291840"/>
            <a:ext cx="10058400" cy="2377440"/>
          </a:xfrm>
          <a:prstGeom prst="rect">
            <a:avLst/>
          </a:prstGeom>
          <a:noFill/>
          <a:ln/>
        </p:spPr>
        <p:txBody>
          <a:bodyPr wrap="square" lIns="0" tIns="0" rIns="0" bIns="0" rtlCol="0" anchor="ctr"/>
          <a:lstStyle/>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4  ·  Consumer surplus, producer surplus, total surplus, and the invisible hand theorem</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5  ·  Binding price floors and ceilings; computing deadweight loss</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6  ·  Tax incidence — the synthesis of elasticity and welfare analysis</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04</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Consumer Surplus, Producer Surplus</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&amp; the Invisible Hand</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Derive total surplus (TS = CS + PS); explain the invisible hand theorem; calculate CS and PS geometrically.</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4 · WELFARE ECONOMICS</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Reading Demand and Supply as Valuations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
        <p:nvSpPr>
          <p:cNvPr id="6" name="Shape 4"/>
          <p:cNvSpPr/>
          <p:nvPr/>
        </p:nvSpPr>
        <p:spPr>
          <a:xfrm>
            <a:off x="502920" y="1444752"/>
            <a:ext cx="5486400" cy="21031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7" name="Text 5"/>
          <p:cNvSpPr/>
          <p:nvPr/>
        </p:nvSpPr>
        <p:spPr>
          <a:xfrm>
            <a:off x="758952" y="1627632"/>
            <a:ext cx="4974336" cy="384048"/>
          </a:xfrm>
          <a:prstGeom prst="rect">
            <a:avLst/>
          </a:prstGeom>
          <a:noFill/>
          <a:ln/>
        </p:spPr>
        <p:txBody>
          <a:bodyPr wrap="square" lIns="0" tIns="0" rIns="0" bIns="0" rtlCol="0" anchor="ctr"/>
          <a:lstStyle/>
          <a:p>
            <a:pPr indent="0" marL="0">
              <a:buNone/>
            </a:pPr>
            <a:r>
              <a:rPr lang="en-US" sz="1550" b="1" dirty="0">
                <a:solidFill>
                  <a:srgbClr val="2A7F84"/>
                </a:solidFill>
                <a:latin typeface="Cambria" pitchFamily="34" charset="0"/>
                <a:ea typeface="Cambria" pitchFamily="34" charset="-122"/>
                <a:cs typeface="Cambria" pitchFamily="34" charset="-120"/>
              </a:rPr>
              <a:t>CONSUMER SURPLUS (CS)</a:t>
            </a:r>
            <a:endParaRPr lang="en-US" sz="1550" dirty="0"/>
          </a:p>
        </p:txBody>
      </p:sp>
      <p:sp>
        <p:nvSpPr>
          <p:cNvPr id="8" name="Text 6"/>
          <p:cNvSpPr/>
          <p:nvPr/>
        </p:nvSpPr>
        <p:spPr>
          <a:xfrm>
            <a:off x="758952" y="2029968"/>
            <a:ext cx="4974336" cy="12801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DEFINITION: the benefit a consumer receives from engaging in the market.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In WELFARE ECONOMICS, the demand curve is read as the consumer's WILLINGNESS TO PAY — the maximum each buyer would have given up for each unit.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CS  =  Willingness to Pay  −  Price Actually Paid   (summed over all units purchased)</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RULE OF THUMB: a LOWER price → HIGHER consumer surplus.</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GRAPHICALLY: the area BELOW the demand curve and ABOVE the market price.</a:t>
            </a:r>
            <a:endParaRPr lang="en-US" sz="850" dirty="0"/>
          </a:p>
        </p:txBody>
      </p:sp>
      <p:sp>
        <p:nvSpPr>
          <p:cNvPr id="9" name="Shape 7"/>
          <p:cNvSpPr/>
          <p:nvPr/>
        </p:nvSpPr>
        <p:spPr>
          <a:xfrm>
            <a:off x="6199632" y="1444752"/>
            <a:ext cx="5486400" cy="21031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0" name="Text 8"/>
          <p:cNvSpPr/>
          <p:nvPr/>
        </p:nvSpPr>
        <p:spPr>
          <a:xfrm>
            <a:off x="6455664" y="1627632"/>
            <a:ext cx="497433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PRODUCER SURPLUS (PS)</a:t>
            </a:r>
            <a:endParaRPr lang="en-US" sz="1550" dirty="0"/>
          </a:p>
        </p:txBody>
      </p:sp>
      <p:sp>
        <p:nvSpPr>
          <p:cNvPr id="11" name="Text 9"/>
          <p:cNvSpPr/>
          <p:nvPr/>
        </p:nvSpPr>
        <p:spPr>
          <a:xfrm>
            <a:off x="6455664" y="2029968"/>
            <a:ext cx="4974336" cy="128016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DEFINITION: the benefit a producer receives from engaging in the market.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In WELFARE ECONOMICS, the supply curve is read as the producer's WILLINGNESS TO SELL — the minimum each seller would have accepted for each unit, which is that unit's marginal cost.</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PS  =  Price Actually Received  −  Willingness to Sell   (summed over all units sold)</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RULE OF THUMB: a HIGHER price → HIGHER producer surplus.</a:t>
            </a: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GRAPHICALLY: the area ABOVE the supply curve and BELOW the market price.</a:t>
            </a:r>
            <a:endParaRPr lang="en-US" sz="850" dirty="0"/>
          </a:p>
        </p:txBody>
      </p:sp>
      <p:sp>
        <p:nvSpPr>
          <p:cNvPr id="12" name="Shape 10"/>
          <p:cNvSpPr/>
          <p:nvPr/>
        </p:nvSpPr>
        <p:spPr>
          <a:xfrm>
            <a:off x="502920" y="3703320"/>
            <a:ext cx="11183112" cy="1051560"/>
          </a:xfrm>
          <a:prstGeom prst="rect">
            <a:avLst/>
          </a:prstGeom>
          <a:solidFill>
            <a:srgbClr val="1A2E4A"/>
          </a:solidFill>
          <a:ln/>
        </p:spPr>
      </p:sp>
      <p:sp>
        <p:nvSpPr>
          <p:cNvPr id="13" name="Text 11"/>
          <p:cNvSpPr/>
          <p:nvPr/>
        </p:nvSpPr>
        <p:spPr>
          <a:xfrm>
            <a:off x="685800" y="3831336"/>
            <a:ext cx="10817352" cy="48463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TOTAL SURPLUS   =   CS   +   PS</a:t>
            </a:r>
            <a:endParaRPr lang="en-US" sz="2200" dirty="0"/>
          </a:p>
        </p:txBody>
      </p:sp>
      <p:sp>
        <p:nvSpPr>
          <p:cNvPr id="14" name="Text 12"/>
          <p:cNvSpPr/>
          <p:nvPr/>
        </p:nvSpPr>
        <p:spPr>
          <a:xfrm>
            <a:off x="685800" y="4242816"/>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Equivalently: TS = (value to buyers) − (cost to sellers). Total surplus is the total gain from trade the market generates.</a:t>
            </a:r>
            <a:endParaRPr lang="en-US" sz="1150" dirty="0"/>
          </a:p>
        </p:txBody>
      </p:sp>
      <p:sp>
        <p:nvSpPr>
          <p:cNvPr id="15" name="Shape 13"/>
          <p:cNvSpPr/>
          <p:nvPr/>
        </p:nvSpPr>
        <p:spPr>
          <a:xfrm>
            <a:off x="502920" y="4892040"/>
            <a:ext cx="11183112" cy="1234440"/>
          </a:xfrm>
          <a:prstGeom prst="rect">
            <a:avLst/>
          </a:prstGeom>
          <a:solidFill>
            <a:srgbClr val="1A2E4A"/>
          </a:solidFill>
          <a:ln/>
        </p:spPr>
      </p:sp>
      <p:sp>
        <p:nvSpPr>
          <p:cNvPr id="16" name="Text 14"/>
          <p:cNvSpPr/>
          <p:nvPr/>
        </p:nvSpPr>
        <p:spPr>
          <a:xfrm>
            <a:off x="758952" y="502005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INVISIBLE HAND THEOREM  —  AND ITS THREE ASSUMPTIONS</a:t>
            </a:r>
            <a:endParaRPr lang="en-US" sz="1050" dirty="0"/>
          </a:p>
        </p:txBody>
      </p:sp>
      <p:sp>
        <p:nvSpPr>
          <p:cNvPr id="17" name="Text 15"/>
          <p:cNvSpPr/>
          <p:nvPr/>
        </p:nvSpPr>
        <p:spPr>
          <a:xfrm>
            <a:off x="758952" y="5294376"/>
            <a:ext cx="10671048" cy="70408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In a competitive market, the equilibrium quantity MAXIMIZES total surplus. Below Q*, some buyer values a unit more than it costs to produce — a mutually beneficial trade is going unmade. Above Q*, some unit costs more to produce than any buyer values it. Only at Q* is neither true.</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theorem holds ONLY IF: (1) markets are perfectly competitive; (2) there are no externalities — no costs or benefits fall on non-parties; (3) information is complete and symmetric. Modules 10, 11 and 12 are, in order, the removal of each assumption.</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4.5 · KANO, HAUSA STATES, C. 1750</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Kano Caravan Market — Computing Surplus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
        <p:nvSpPr>
          <p:cNvPr id="6" name="Text 4"/>
          <p:cNvSpPr/>
          <p:nvPr/>
        </p:nvSpPr>
        <p:spPr>
          <a:xfrm>
            <a:off x="502920" y="1417320"/>
            <a:ext cx="5440680" cy="457200"/>
          </a:xfrm>
          <a:prstGeom prst="rect">
            <a:avLst/>
          </a:prstGeom>
          <a:noFill/>
          <a:ln/>
        </p:spPr>
        <p:txBody>
          <a:bodyPr wrap="square" lIns="0" tIns="0" rIns="0" bIns="0" rtlCol="0" anchor="ctr"/>
          <a:lstStyle/>
          <a:p>
            <a:pPr indent="0" marL="0">
              <a:buNone/>
            </a:pPr>
            <a:r>
              <a:rPr lang="en-US" sz="1250" dirty="0">
                <a:solidFill>
                  <a:srgbClr val="4A6180"/>
                </a:solidFill>
                <a:latin typeface="Calibri" pitchFamily="34" charset="0"/>
                <a:ea typeface="Calibri" pitchFamily="34" charset="-122"/>
                <a:cs typeface="Calibri" pitchFamily="34" charset="-120"/>
              </a:rPr>
              <a:t>A salt market operating under Islamic commercial law. Compute the equilibrium, derive CS and PS, and evaluate the market's efficiency claim.</a:t>
            </a:r>
            <a:endParaRPr lang="en-US" sz="1250" dirty="0"/>
          </a:p>
        </p:txBody>
      </p:sp>
      <p:sp>
        <p:nvSpPr>
          <p:cNvPr id="7" name="Shape 5"/>
          <p:cNvSpPr/>
          <p:nvPr/>
        </p:nvSpPr>
        <p:spPr>
          <a:xfrm>
            <a:off x="502920" y="1965960"/>
            <a:ext cx="5440680" cy="2148840"/>
          </a:xfrm>
          <a:prstGeom prst="rect">
            <a:avLst/>
          </a:prstGeom>
          <a:solidFill>
            <a:srgbClr val="1A2E4A"/>
          </a:solidFill>
          <a:ln/>
        </p:spPr>
      </p:sp>
      <p:sp>
        <p:nvSpPr>
          <p:cNvPr id="8" name="Text 6"/>
          <p:cNvSpPr/>
          <p:nvPr/>
        </p:nvSpPr>
        <p:spPr>
          <a:xfrm>
            <a:off x="685800" y="1965960"/>
            <a:ext cx="5074920" cy="21488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Demand:  P = 20 − 0.4Q          Supply:  P = 4 + 0.4Q</a:t>
            </a:r>
            <a:endParaRPr lang="en-US" sz="1800" dirty="0"/>
          </a:p>
          <a:p>
            <a:pPr algn="ctr" indent="0" marL="0">
              <a:buNone/>
            </a:pPr>
            <a:endParaRPr lang="en-US" sz="1800" dirty="0"/>
          </a:p>
          <a:p>
            <a:pPr algn="ctr" indent="0" marL="0">
              <a:buNone/>
            </a:pPr>
            <a:r>
              <a:rPr lang="en-US" sz="1800" b="1" dirty="0">
                <a:solidFill>
                  <a:srgbClr val="FFFFFF"/>
                </a:solidFill>
                <a:latin typeface="Cambria" pitchFamily="34" charset="0"/>
                <a:ea typeface="Cambria" pitchFamily="34" charset="-122"/>
                <a:cs typeface="Cambria" pitchFamily="34" charset="-120"/>
              </a:rPr>
              <a:t>20 − 0.4Q  =  4 + 0.4Q</a:t>
            </a:r>
            <a:endParaRPr lang="en-US" sz="1800" dirty="0"/>
          </a:p>
          <a:p>
            <a:pPr algn="ctr" indent="0" marL="0">
              <a:buNone/>
            </a:pPr>
            <a:r>
              <a:rPr lang="en-US" sz="1800" b="1" dirty="0">
                <a:solidFill>
                  <a:srgbClr val="FFFFFF"/>
                </a:solidFill>
                <a:latin typeface="Cambria" pitchFamily="34" charset="0"/>
                <a:ea typeface="Cambria" pitchFamily="34" charset="-122"/>
                <a:cs typeface="Cambria" pitchFamily="34" charset="-120"/>
              </a:rPr>
              <a:t>16  =  0.8Q     →     Q* = 20</a:t>
            </a:r>
            <a:endParaRPr lang="en-US" sz="1800" dirty="0"/>
          </a:p>
          <a:p>
            <a:pPr algn="ctr" indent="0" marL="0">
              <a:buNone/>
            </a:pPr>
            <a:r>
              <a:rPr lang="en-US" sz="1800" b="1" dirty="0">
                <a:solidFill>
                  <a:srgbClr val="FFFFFF"/>
                </a:solidFill>
                <a:latin typeface="Cambria" pitchFamily="34" charset="0"/>
                <a:ea typeface="Cambria" pitchFamily="34" charset="-122"/>
                <a:cs typeface="Cambria" pitchFamily="34" charset="-120"/>
              </a:rPr>
              <a:t>P*  =  20 − 0.4(20)  =  12</a:t>
            </a:r>
            <a:endParaRPr lang="en-US" sz="1800" dirty="0"/>
          </a:p>
          <a:p>
            <a:pPr algn="ctr" indent="0" marL="0">
              <a:buNone/>
            </a:pPr>
            <a:r>
              <a:rPr lang="en-US" sz="1800" b="1" dirty="0">
                <a:solidFill>
                  <a:srgbClr val="FFFFFF"/>
                </a:solidFill>
                <a:latin typeface="Cambria" pitchFamily="34" charset="0"/>
                <a:ea typeface="Cambria" pitchFamily="34" charset="-122"/>
                <a:cs typeface="Cambria" pitchFamily="34" charset="-120"/>
              </a:rPr>
              <a:t>CHECK:  4 + 0.4(20) = 12  ✓</a:t>
            </a:r>
            <a:endParaRPr lang="en-US" sz="1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4297680"/>
          <a:ext cx="5440680" cy="914400"/>
        </p:xfrm>
        <a:graphic>
          <a:graphicData uri="http://schemas.openxmlformats.org/drawingml/2006/table">
            <a:tbl>
              <a:tblPr/>
              <a:tblGrid>
                <a:gridCol w="1463040"/>
                <a:gridCol w="2788920"/>
                <a:gridCol w="1188720"/>
              </a:tblGrid>
              <a:tr h="329184">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MEASURE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GEOMETRY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29184">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Consumer surplus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½ × base × height = ½ × 20 × (20 − 12)</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Producer surplus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½ × base × height = ½ × 20 × (12 − 4)</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80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29184">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Total surplus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CS + PS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160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10" name="Shape 7"/>
          <p:cNvSpPr/>
          <p:nvPr/>
        </p:nvSpPr>
        <p:spPr>
          <a:xfrm>
            <a:off x="502920" y="5532120"/>
            <a:ext cx="5440680" cy="594360"/>
          </a:xfrm>
          <a:prstGeom prst="rect">
            <a:avLst/>
          </a:prstGeom>
          <a:solidFill>
            <a:srgbClr val="1A2E4A"/>
          </a:solidFill>
          <a:ln/>
        </p:spPr>
      </p:sp>
      <p:sp>
        <p:nvSpPr>
          <p:cNvPr id="11" name="Text 8"/>
          <p:cNvSpPr/>
          <p:nvPr/>
        </p:nvSpPr>
        <p:spPr>
          <a:xfrm>
            <a:off x="758952" y="5660136"/>
            <a:ext cx="492861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WHY THE TWO ARE EQUAL HERE</a:t>
            </a:r>
            <a:endParaRPr lang="en-US" sz="1050" dirty="0"/>
          </a:p>
        </p:txBody>
      </p:sp>
      <p:sp>
        <p:nvSpPr>
          <p:cNvPr id="12" name="Text 9"/>
          <p:cNvSpPr/>
          <p:nvPr/>
        </p:nvSpPr>
        <p:spPr>
          <a:xfrm>
            <a:off x="758952" y="5861304"/>
            <a:ext cx="4928616"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Because the demand and supply slopes are symmetric (−0.4 and +0.4). Change either slope and the split changes — the relative ELASTICITIES determine who captures the surplus.</a:t>
            </a:r>
            <a:endParaRPr lang="en-US" sz="850" dirty="0"/>
          </a:p>
        </p:txBody>
      </p:sp>
      <p:pic>
        <p:nvPicPr>
          <p:cNvPr id="13" name="Image 0" descr="figs/m4_kano.png">    </p:cNvPr>
          <p:cNvPicPr>
            <a:picLocks noChangeAspect="1"/>
          </p:cNvPicPr>
          <p:nvPr/>
        </p:nvPicPr>
        <p:blipFill>
          <a:blip r:embed="rId1"/>
          <a:stretch>
            <a:fillRect/>
          </a:stretch>
        </p:blipFill>
        <p:spPr>
          <a:xfrm>
            <a:off x="6126480" y="1965583"/>
            <a:ext cx="5577840" cy="361263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4 · WORKSHEET ✦3</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Efficient — and Possibly Unjust</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
        <p:nvSpPr>
          <p:cNvPr id="6" name="Shape 4"/>
          <p:cNvSpPr/>
          <p:nvPr/>
        </p:nvSpPr>
        <p:spPr>
          <a:xfrm>
            <a:off x="502920" y="1417320"/>
            <a:ext cx="11183112" cy="868680"/>
          </a:xfrm>
          <a:prstGeom prst="rect">
            <a:avLst/>
          </a:prstGeom>
          <a:solidFill>
            <a:srgbClr val="1A2E4A"/>
          </a:solidFill>
          <a:ln/>
        </p:spPr>
      </p:sp>
      <p:sp>
        <p:nvSpPr>
          <p:cNvPr id="7" name="Text 5"/>
          <p:cNvSpPr/>
          <p:nvPr/>
        </p:nvSpPr>
        <p:spPr>
          <a:xfrm>
            <a:off x="758952" y="15453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QUESTION</a:t>
            </a:r>
            <a:endParaRPr lang="en-US" sz="1050" dirty="0"/>
          </a:p>
        </p:txBody>
      </p:sp>
      <p:sp>
        <p:nvSpPr>
          <p:cNvPr id="8" name="Text 6"/>
          <p:cNvSpPr/>
          <p:nvPr/>
        </p:nvSpPr>
        <p:spPr>
          <a:xfrm>
            <a:off x="758952" y="1819656"/>
            <a:ext cx="10671048" cy="338328"/>
          </a:xfrm>
          <a:prstGeom prst="rect">
            <a:avLst/>
          </a:prstGeom>
          <a:noFill/>
          <a:ln/>
        </p:spPr>
        <p:txBody>
          <a:bodyPr wrap="square" lIns="0" tIns="0" rIns="0" bIns="0" rtlCol="0" anchor="t"/>
          <a:lstStyle/>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The invisible hand theorem holds that free markets maximize total surplus — but it says nothing about DISTRIBUTION. In what sense is a competitive equilibrium "efficient," and in what sense might it nonetheless be deeply unjust? Who is left out of the total surplus calculation?</a:t>
            </a:r>
            <a:endParaRPr lang="en-US" sz="900" dirty="0"/>
          </a:p>
        </p:txBody>
      </p:sp>
      <p:sp>
        <p:nvSpPr>
          <p:cNvPr id="9" name="Shape 7"/>
          <p:cNvSpPr/>
          <p:nvPr/>
        </p:nvSpPr>
        <p:spPr>
          <a:xfrm>
            <a:off x="502920" y="2468880"/>
            <a:ext cx="3611880" cy="2148840"/>
          </a:xfrm>
          <a:prstGeom prst="rect">
            <a:avLst/>
          </a:prstGeom>
          <a:solidFill>
            <a:srgbClr val="E8EDF3"/>
          </a:solidFill>
          <a:ln/>
        </p:spPr>
      </p:sp>
      <p:sp>
        <p:nvSpPr>
          <p:cNvPr id="10" name="Shape 8"/>
          <p:cNvSpPr/>
          <p:nvPr/>
        </p:nvSpPr>
        <p:spPr>
          <a:xfrm>
            <a:off x="704088" y="2670048"/>
            <a:ext cx="457200" cy="457200"/>
          </a:xfrm>
          <a:prstGeom prst="ellipse">
            <a:avLst/>
          </a:prstGeom>
          <a:solidFill>
            <a:srgbClr val="1A2E4A"/>
          </a:solidFill>
          <a:ln/>
        </p:spPr>
      </p:sp>
      <p:sp>
        <p:nvSpPr>
          <p:cNvPr id="11" name="Text 9"/>
          <p:cNvSpPr/>
          <p:nvPr/>
        </p:nvSpPr>
        <p:spPr>
          <a:xfrm>
            <a:off x="704088" y="26700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280160" y="267004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THE PRECISE SENSE OF 'EFFICIENT'</a:t>
            </a:r>
            <a:endParaRPr lang="en-US" sz="1450" dirty="0"/>
          </a:p>
        </p:txBody>
      </p:sp>
      <p:sp>
        <p:nvSpPr>
          <p:cNvPr id="13" name="Text 11"/>
          <p:cNvSpPr/>
          <p:nvPr/>
        </p:nvSpPr>
        <p:spPr>
          <a:xfrm>
            <a:off x="722376" y="3218688"/>
            <a:ext cx="3154680" cy="118872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ALLOCATIVE EFFICIENCY: no reallocation could make one person better off without making another worse off (Pareto). Equivalently: every trade whose value exceeds its cost happens, and no trade whose cost exceeds its value happens.</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That is ALL the theorem claims. It is a statement about the SIZE of total surplus, and about nothing else.</a:t>
            </a:r>
            <a:endParaRPr lang="en-US" sz="900" dirty="0"/>
          </a:p>
        </p:txBody>
      </p:sp>
      <p:sp>
        <p:nvSpPr>
          <p:cNvPr id="14" name="Shape 12"/>
          <p:cNvSpPr/>
          <p:nvPr/>
        </p:nvSpPr>
        <p:spPr>
          <a:xfrm>
            <a:off x="4315968" y="2468880"/>
            <a:ext cx="3611880" cy="2148840"/>
          </a:xfrm>
          <a:prstGeom prst="rect">
            <a:avLst/>
          </a:prstGeom>
          <a:solidFill>
            <a:srgbClr val="E8EDF3"/>
          </a:solidFill>
          <a:ln/>
        </p:spPr>
      </p:sp>
      <p:sp>
        <p:nvSpPr>
          <p:cNvPr id="15" name="Shape 13"/>
          <p:cNvSpPr/>
          <p:nvPr/>
        </p:nvSpPr>
        <p:spPr>
          <a:xfrm>
            <a:off x="4517136" y="2670048"/>
            <a:ext cx="457200" cy="457200"/>
          </a:xfrm>
          <a:prstGeom prst="ellipse">
            <a:avLst/>
          </a:prstGeom>
          <a:solidFill>
            <a:srgbClr val="C0892E"/>
          </a:solidFill>
          <a:ln/>
        </p:spPr>
      </p:sp>
      <p:sp>
        <p:nvSpPr>
          <p:cNvPr id="16" name="Text 14"/>
          <p:cNvSpPr/>
          <p:nvPr/>
        </p:nvSpPr>
        <p:spPr>
          <a:xfrm>
            <a:off x="4517136" y="26700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5093208" y="267004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WHO IS LEFT OUT</a:t>
            </a:r>
            <a:endParaRPr lang="en-US" sz="1600" dirty="0"/>
          </a:p>
        </p:txBody>
      </p:sp>
      <p:sp>
        <p:nvSpPr>
          <p:cNvPr id="18" name="Text 16"/>
          <p:cNvSpPr/>
          <p:nvPr/>
        </p:nvSpPr>
        <p:spPr>
          <a:xfrm>
            <a:off x="4535424" y="3218688"/>
            <a:ext cx="3154680" cy="118872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Anyone whose willingness to pay is limited by INABILITY to pay — need does not appear in a demand curve.</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NON-PARTIES who bear costs or receive benefits from the transaction: externalities (Module 12).</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FUTURE PEOPLE, whose valuations are absent from a present-day market.</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Anyone excluded by discrimination, distance or information (Module 8).</a:t>
            </a:r>
            <a:endParaRPr lang="en-US" sz="900" dirty="0"/>
          </a:p>
        </p:txBody>
      </p:sp>
      <p:sp>
        <p:nvSpPr>
          <p:cNvPr id="19" name="Shape 17"/>
          <p:cNvSpPr/>
          <p:nvPr/>
        </p:nvSpPr>
        <p:spPr>
          <a:xfrm>
            <a:off x="8119872" y="2468880"/>
            <a:ext cx="3566160" cy="2148840"/>
          </a:xfrm>
          <a:prstGeom prst="rect">
            <a:avLst/>
          </a:prstGeom>
          <a:solidFill>
            <a:srgbClr val="E8EDF3"/>
          </a:solidFill>
          <a:ln/>
        </p:spPr>
      </p:sp>
      <p:sp>
        <p:nvSpPr>
          <p:cNvPr id="20" name="Shape 18"/>
          <p:cNvSpPr/>
          <p:nvPr/>
        </p:nvSpPr>
        <p:spPr>
          <a:xfrm>
            <a:off x="8321040" y="2670048"/>
            <a:ext cx="457200" cy="457200"/>
          </a:xfrm>
          <a:prstGeom prst="ellipse">
            <a:avLst/>
          </a:prstGeom>
          <a:solidFill>
            <a:srgbClr val="9E2A2B"/>
          </a:solidFill>
          <a:ln/>
        </p:spPr>
      </p:sp>
      <p:sp>
        <p:nvSpPr>
          <p:cNvPr id="21" name="Text 19"/>
          <p:cNvSpPr/>
          <p:nvPr/>
        </p:nvSpPr>
        <p:spPr>
          <a:xfrm>
            <a:off x="8321040" y="26700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8897112" y="2670048"/>
            <a:ext cx="256032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THE DEEPER POINT</a:t>
            </a:r>
            <a:endParaRPr lang="en-US" sz="1600" dirty="0"/>
          </a:p>
        </p:txBody>
      </p:sp>
      <p:sp>
        <p:nvSpPr>
          <p:cNvPr id="23" name="Text 21"/>
          <p:cNvSpPr/>
          <p:nvPr/>
        </p:nvSpPr>
        <p:spPr>
          <a:xfrm>
            <a:off x="8339328" y="3218688"/>
            <a:ext cx="3108960" cy="118872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Total surplus is measured in DOLLARS, and a dollar of surplus counts the same whoever holds it. That accounting choice is itself a normative judgment — it weights the wealthy buyer's marginal dollar exactly as heavily as the poor buyer's.</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Efficiency is a real and useful criterion. It is not the only one, and it is not neutral.</a:t>
            </a:r>
            <a:endParaRPr lang="en-US" sz="900" dirty="0"/>
          </a:p>
        </p:txBody>
      </p:sp>
      <p:sp>
        <p:nvSpPr>
          <p:cNvPr id="24" name="Shape 22"/>
          <p:cNvSpPr/>
          <p:nvPr/>
        </p:nvSpPr>
        <p:spPr>
          <a:xfrm>
            <a:off x="502920" y="4892040"/>
            <a:ext cx="11183112" cy="1234440"/>
          </a:xfrm>
          <a:prstGeom prst="rect">
            <a:avLst/>
          </a:prstGeom>
          <a:solidFill>
            <a:srgbClr val="1A2E4A"/>
          </a:solidFill>
          <a:ln/>
        </p:spPr>
      </p:sp>
      <p:sp>
        <p:nvSpPr>
          <p:cNvPr id="25" name="Text 23"/>
          <p:cNvSpPr/>
          <p:nvPr/>
        </p:nvSpPr>
        <p:spPr>
          <a:xfrm>
            <a:off x="685800" y="5020056"/>
            <a:ext cx="10817352" cy="66751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 market can CLEAR, be EFFICIENT, and still leave people hungry.</a:t>
            </a:r>
            <a:endParaRPr lang="en-US" sz="2200" dirty="0"/>
          </a:p>
        </p:txBody>
      </p:sp>
      <p:sp>
        <p:nvSpPr>
          <p:cNvPr id="26" name="Text 24"/>
          <p:cNvSpPr/>
          <p:nvPr/>
        </p:nvSpPr>
        <p:spPr>
          <a:xfrm>
            <a:off x="685800" y="5614416"/>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All three statements can be true at once, and none of them contradicts the others. Keeping them apart — positive from normative, Module 1 — is the discipline this course is trying to teach.</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05</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Government Intervention:</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Price Controls &amp; Deadweight Loss</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Analyze binding price controls (floors and ceilings); compute deadweight loss; evaluate the equity-efficiency trade-off.</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5 · THE COMPARISON</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Price Floors vs. Price Ceilings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11183112" cy="914400"/>
        </p:xfrm>
        <a:graphic>
          <a:graphicData uri="http://schemas.openxmlformats.org/drawingml/2006/table">
            <a:tbl>
              <a:tblPr/>
              <a:tblGrid>
                <a:gridCol w="2743200"/>
                <a:gridCol w="4206240"/>
                <a:gridCol w="4233672"/>
              </a:tblGrid>
              <a:tr h="29260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FEATURE</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PRICE FLOOR</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PRICE CEILING</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92608">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To be BINDING, it must be set…</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ABOVE the equilibrium price</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BELOW the equilibrium price</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Intended to help…</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PRODUCERS / SELLERS</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CONSUMERS / BUYERS</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92608">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It creates a…</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SURPLUS (excess supply)</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SHORTAGE (excess demand)</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Quantities when binding</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Qs &gt; Qd</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Qd &gt; Qs</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92608">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Quantity actually traded</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Qd — the SHORT side of the market</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Qs — the SHORT side of the market</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Historical example</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Philadelphia Wheat Floor, 1794</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Paris Bread Cap (maximum de prix), 1791</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92608">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Effect on efficiency</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Creates waste; unsold surpluses pile up; resources are drawn into overproduction</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Creates unmet demand; queues, rationing, quality decline and black markets emerge</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THE BRAIN MISTAKE</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It sits ABOVE equilibrium on the graph but it is a MINIMUM price — the price may not go below it.</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100" dirty="0">
                          <a:solidFill>
                            <a:srgbClr val="1A2E4A"/>
                          </a:solidFill>
                          <a:latin typeface="Calibri" pitchFamily="34" charset="0"/>
                          <a:ea typeface="Calibri" pitchFamily="34" charset="-122"/>
                          <a:cs typeface="Calibri" pitchFamily="34" charset="-120"/>
                        </a:rPr>
                        <a:t>It sits BELOW equilibrium on the graph but it is a MAXIMUM price — the price may not go above it.</a:t>
                      </a:r>
                      <a:endParaRPr lang="en-US" sz="11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7" name="Shape 4"/>
          <p:cNvSpPr/>
          <p:nvPr/>
        </p:nvSpPr>
        <p:spPr>
          <a:xfrm>
            <a:off x="502920" y="4937760"/>
            <a:ext cx="11183112" cy="1188720"/>
          </a:xfrm>
          <a:prstGeom prst="rect">
            <a:avLst/>
          </a:prstGeom>
          <a:solidFill>
            <a:srgbClr val="1A2E4A"/>
          </a:solidFill>
          <a:ln/>
        </p:spPr>
      </p:sp>
      <p:sp>
        <p:nvSpPr>
          <p:cNvPr id="8" name="Text 5"/>
          <p:cNvSpPr/>
          <p:nvPr/>
        </p:nvSpPr>
        <p:spPr>
          <a:xfrm>
            <a:off x="758952" y="506577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DEADWEIGHT LOSS (DWL) — FORMAL DEFINITION</a:t>
            </a:r>
            <a:endParaRPr lang="en-US" sz="1050" dirty="0"/>
          </a:p>
        </p:txBody>
      </p:sp>
      <p:sp>
        <p:nvSpPr>
          <p:cNvPr id="9" name="Text 6"/>
          <p:cNvSpPr/>
          <p:nvPr/>
        </p:nvSpPr>
        <p:spPr>
          <a:xfrm>
            <a:off x="758952" y="5340096"/>
            <a:ext cx="10671048" cy="65836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loss in TOTAL SURPLUS that occurs when a market is NOT at equilibrium. It represents MUTUALLY BENEFICIAL TRADES THAT NEVER HAPPEN.</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DWL = ½ × base × height, where BASE = Q* − Q actually traded, and HEIGHT = the vertical gap between the demand and supply curves at the traded quantity.</a:t>
            </a:r>
            <a:endParaRPr lang="en-US" sz="850" dirty="0"/>
          </a:p>
          <a:p>
            <a:pPr indent="0" marL="0">
              <a:lnSpc>
                <a:spcPts val="1200"/>
              </a:lnSpc>
              <a:buNone/>
            </a:pPr>
            <a:endParaRPr lang="en-US" sz="850" dirty="0"/>
          </a:p>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KEY INSIGHT: when a market operates away from equilibrium, some consumers who value the good MORE than it costs to produce are simply not served. Those lost trades are the 'deadweight' — value that existed and was destroyed by nobody's gain.</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4.6 · UNITED STATES, 1794</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Philadelphia Grain Market — A Binding Price Floor</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
        <p:nvSpPr>
          <p:cNvPr id="6" name="Text 4"/>
          <p:cNvSpPr/>
          <p:nvPr/>
        </p:nvSpPr>
        <p:spPr>
          <a:xfrm>
            <a:off x="502920" y="1417320"/>
            <a:ext cx="5440680" cy="594360"/>
          </a:xfrm>
          <a:prstGeom prst="rect">
            <a:avLst/>
          </a:prstGeom>
          <a:noFill/>
          <a:ln/>
        </p:spPr>
        <p:txBody>
          <a:bodyPr wrap="square" lIns="0" tIns="0" rIns="0" bIns="0" rtlCol="0" anchor="ctr"/>
          <a:lstStyle/>
          <a:p>
            <a:pPr indent="0" marL="0">
              <a:lnSpc>
                <a:spcPts val="1800"/>
              </a:lnSpc>
              <a:buNone/>
            </a:pPr>
            <a:r>
              <a:rPr lang="en-US" sz="1200" dirty="0">
                <a:solidFill>
                  <a:srgbClr val="4A6180"/>
                </a:solidFill>
                <a:latin typeface="Calibri" pitchFamily="34" charset="0"/>
                <a:ea typeface="Calibri" pitchFamily="34" charset="-122"/>
                <a:cs typeface="Calibri" pitchFamily="34" charset="-120"/>
              </a:rPr>
              <a:t>During Whiskey Rebellion political pressures, the government imposed a price floor of $4 per bushel on grain. Competitive equilibrium: P* = $2, Q* = 6M bushels. At the floor: Qs = 10M, Qd = 4M.</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2148840"/>
          <a:ext cx="5440680" cy="914400"/>
        </p:xfrm>
        <a:graphic>
          <a:graphicData uri="http://schemas.openxmlformats.org/drawingml/2006/table">
            <a:tbl>
              <a:tblPr/>
              <a:tblGrid>
                <a:gridCol w="1600200"/>
                <a:gridCol w="3840480"/>
              </a:tblGrid>
              <a:tr h="310896">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QUESTION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ANSWER</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10896">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Is the floor binding?</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YES — $4 exceeds P* = $2. A floor binds only when set above equilibrium.</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Surplus created</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Qs − Qd = 10M − 4M = 6M bushels of unsold grain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10896">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Quantity traded</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4M — the SHORT side (Qd). Sellers cannot force buyers to purchase.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DWL base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Q* − Q traded = 6M − 4M = 2M bushels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10896">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DWL height</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$4 − $2 = $2 per bushel  (worksheet method)</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DEADWEIGHT LOSS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½ × 2M × $2 = $2 million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8" name="Shape 5"/>
          <p:cNvSpPr/>
          <p:nvPr/>
        </p:nvSpPr>
        <p:spPr>
          <a:xfrm>
            <a:off x="502920" y="4480560"/>
            <a:ext cx="5440680" cy="86868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9" name="Text 6"/>
          <p:cNvSpPr/>
          <p:nvPr/>
        </p:nvSpPr>
        <p:spPr>
          <a:xfrm>
            <a:off x="758952" y="4663440"/>
            <a:ext cx="492861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WHO IS HARMED, WHO BENEFITS</a:t>
            </a:r>
            <a:endParaRPr lang="en-US" sz="1550" dirty="0"/>
          </a:p>
        </p:txBody>
      </p:sp>
      <p:sp>
        <p:nvSpPr>
          <p:cNvPr id="10" name="Text 7"/>
          <p:cNvSpPr/>
          <p:nvPr/>
        </p:nvSpPr>
        <p:spPr>
          <a:xfrm>
            <a:off x="758952" y="5065776"/>
            <a:ext cx="4928616" cy="4572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BENEFIT: producers who still sell — they receive $4 instead of $2. HARMED: consumers, who pay more and get less; and producers who cannot find a buyer among the 6M unsold bushels. Taxpayers too, if the government buys the surplus.</a:t>
            </a:r>
            <a:endParaRPr lang="en-US" sz="850" dirty="0"/>
          </a:p>
        </p:txBody>
      </p:sp>
      <p:sp>
        <p:nvSpPr>
          <p:cNvPr id="11" name="Shape 8"/>
          <p:cNvSpPr/>
          <p:nvPr/>
        </p:nvSpPr>
        <p:spPr>
          <a:xfrm>
            <a:off x="502920" y="5440680"/>
            <a:ext cx="5440680" cy="685800"/>
          </a:xfrm>
          <a:prstGeom prst="rect">
            <a:avLst/>
          </a:prstGeom>
          <a:solidFill>
            <a:srgbClr val="1A2E4A"/>
          </a:solidFill>
          <a:ln/>
        </p:spPr>
      </p:sp>
      <p:sp>
        <p:nvSpPr>
          <p:cNvPr id="12" name="Text 9"/>
          <p:cNvSpPr/>
          <p:nvPr/>
        </p:nvSpPr>
        <p:spPr>
          <a:xfrm>
            <a:off x="758952" y="5568696"/>
            <a:ext cx="492861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NOTE ON THE DWL HEIGHT</a:t>
            </a:r>
            <a:endParaRPr lang="en-US" sz="1050" dirty="0"/>
          </a:p>
        </p:txBody>
      </p:sp>
      <p:sp>
        <p:nvSpPr>
          <p:cNvPr id="13" name="Text 10"/>
          <p:cNvSpPr/>
          <p:nvPr/>
        </p:nvSpPr>
        <p:spPr>
          <a:xfrm>
            <a:off x="758952" y="5769864"/>
            <a:ext cx="4928616"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The worksheet uses height = P_floor − P*. The FULL deadweight triangle actually spans from the supply curve to the demand curve at the traded quantity — here $4 − $1 = $3, giving $3M. Use the worksheet method on the worksheet; know the exact construction for the exam.</a:t>
            </a:r>
            <a:endParaRPr lang="en-US" sz="850" dirty="0"/>
          </a:p>
        </p:txBody>
      </p:sp>
      <p:pic>
        <p:nvPicPr>
          <p:cNvPr id="14" name="Image 0" descr="figs/m4_floor.png">    </p:cNvPr>
          <p:cNvPicPr>
            <a:picLocks noChangeAspect="1"/>
          </p:cNvPicPr>
          <p:nvPr/>
        </p:nvPicPr>
        <p:blipFill>
          <a:blip r:embed="rId1"/>
          <a:stretch>
            <a:fillRect/>
          </a:stretch>
        </p:blipFill>
        <p:spPr>
          <a:xfrm>
            <a:off x="6126480" y="1964228"/>
            <a:ext cx="5577840" cy="361534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4.7 · FRANCE, 1791</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Paris Bread Market — A Binding Price Ceiling</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
        <p:nvSpPr>
          <p:cNvPr id="6" name="Text 4"/>
          <p:cNvSpPr/>
          <p:nvPr/>
        </p:nvSpPr>
        <p:spPr>
          <a:xfrm>
            <a:off x="502920" y="1417320"/>
            <a:ext cx="5440680" cy="594360"/>
          </a:xfrm>
          <a:prstGeom prst="rect">
            <a:avLst/>
          </a:prstGeom>
          <a:noFill/>
          <a:ln/>
        </p:spPr>
        <p:txBody>
          <a:bodyPr wrap="square" lIns="0" tIns="0" rIns="0" bIns="0" rtlCol="0" anchor="ctr"/>
          <a:lstStyle/>
          <a:p>
            <a:pPr indent="0" marL="0">
              <a:lnSpc>
                <a:spcPts val="1800"/>
              </a:lnSpc>
              <a:buNone/>
            </a:pPr>
            <a:r>
              <a:rPr lang="en-US" sz="1200" dirty="0">
                <a:solidFill>
                  <a:srgbClr val="4A6180"/>
                </a:solidFill>
                <a:latin typeface="Calibri" pitchFamily="34" charset="0"/>
                <a:ea typeface="Calibri" pitchFamily="34" charset="-122"/>
                <a:cs typeface="Calibri" pitchFamily="34" charset="-120"/>
              </a:rPr>
              <a:t>The National Assembly imposed a price ceiling — the maximum de prix — on bread at 9 sous per loaf; the competitive equilibrium price was 15 sous. At the ceiling: Qd = 8M loaves, Qs = 3M loaves.</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2148840"/>
          <a:ext cx="5440680" cy="914400"/>
        </p:xfrm>
        <a:graphic>
          <a:graphicData uri="http://schemas.openxmlformats.org/drawingml/2006/table">
            <a:tbl>
              <a:tblPr/>
              <a:tblGrid>
                <a:gridCol w="1463040"/>
                <a:gridCol w="3977640"/>
              </a:tblGrid>
              <a:tr h="310896">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QUESTION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ANSWER</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31089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Is the ceiling binding?</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YES — 9 sous is below P* = 15 sous. A ceiling binds only when set below equilibrium.</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Shortage created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Qd − Qs = 8M − 3M = 5M loaves of unmet demand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1089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Quantity traded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3M — the SHORT side (Qs). Buyers cannot force sellers to bake.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DWL base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Q* − Q traded  ≈  5.5M − 3M = 2.5M loaves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31089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DWL height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vertical gap between demand and supply at Q = 3M  ≈  21 − 9 = 12 sous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310896">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DEADWEIGHT LOSS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½ × 2.5M × 12  ≈  15M sous of destroyed surplus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8" name="Shape 5"/>
          <p:cNvSpPr/>
          <p:nvPr/>
        </p:nvSpPr>
        <p:spPr>
          <a:xfrm>
            <a:off x="502920" y="4480560"/>
            <a:ext cx="5440680" cy="91440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9" name="Text 6"/>
          <p:cNvSpPr/>
          <p:nvPr/>
        </p:nvSpPr>
        <p:spPr>
          <a:xfrm>
            <a:off x="758952" y="4663440"/>
            <a:ext cx="492861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WHY THE BREAD RIOTS BROKE OUT</a:t>
            </a:r>
            <a:endParaRPr lang="en-US" sz="1550" dirty="0"/>
          </a:p>
        </p:txBody>
      </p:sp>
      <p:sp>
        <p:nvSpPr>
          <p:cNvPr id="10" name="Text 7"/>
          <p:cNvSpPr/>
          <p:nvPr/>
        </p:nvSpPr>
        <p:spPr>
          <a:xfrm>
            <a:off x="758952" y="5065776"/>
            <a:ext cx="4928616" cy="914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Not because bread was expensive — the law had made it cheap. Because at 9 sous there was NOT ENOUGH BREAD. A binding ceiling converts a price problem into an AVAILABILITY problem, and rationing then happens by queue, by connection, by violence, or by black market rather than by price.</a:t>
            </a:r>
            <a:endParaRPr lang="en-US" sz="850" dirty="0"/>
          </a:p>
        </p:txBody>
      </p:sp>
      <p:sp>
        <p:nvSpPr>
          <p:cNvPr id="11" name="Shape 8"/>
          <p:cNvSpPr/>
          <p:nvPr/>
        </p:nvSpPr>
        <p:spPr>
          <a:xfrm>
            <a:off x="502920" y="5486400"/>
            <a:ext cx="5440680" cy="640080"/>
          </a:xfrm>
          <a:prstGeom prst="rect">
            <a:avLst/>
          </a:prstGeom>
          <a:solidFill>
            <a:srgbClr val="1A2E4A"/>
          </a:solidFill>
          <a:ln/>
        </p:spPr>
      </p:sp>
      <p:sp>
        <p:nvSpPr>
          <p:cNvPr id="12" name="Text 9"/>
          <p:cNvSpPr/>
          <p:nvPr/>
        </p:nvSpPr>
        <p:spPr>
          <a:xfrm>
            <a:off x="758952" y="5614416"/>
            <a:ext cx="492861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READING THE NUMBERS</a:t>
            </a:r>
            <a:endParaRPr lang="en-US" sz="1050" dirty="0"/>
          </a:p>
        </p:txBody>
      </p:sp>
      <p:sp>
        <p:nvSpPr>
          <p:cNvPr id="13" name="Text 10"/>
          <p:cNvSpPr/>
          <p:nvPr/>
        </p:nvSpPr>
        <p:spPr>
          <a:xfrm>
            <a:off x="758952" y="5815584"/>
            <a:ext cx="4928616"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Q* is not given in the scenario; it must be read off your graph. The figures above assume symmetric linear curves through (15, Q*) — state your assumption when you show your work.</a:t>
            </a:r>
            <a:endParaRPr lang="en-US" sz="850" dirty="0"/>
          </a:p>
        </p:txBody>
      </p:sp>
      <p:pic>
        <p:nvPicPr>
          <p:cNvPr id="14" name="Image 0" descr="figs/m4_ceiling.png">    </p:cNvPr>
          <p:cNvPicPr>
            <a:picLocks noChangeAspect="1"/>
          </p:cNvPicPr>
          <p:nvPr/>
        </p:nvPicPr>
        <p:blipFill>
          <a:blip r:embed="rId1"/>
          <a:stretch>
            <a:fillRect/>
          </a:stretch>
        </p:blipFill>
        <p:spPr>
          <a:xfrm>
            <a:off x="6126480" y="1973671"/>
            <a:ext cx="5577840" cy="359645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5 · WORKSHEET ✦4</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When Might a Price Ceiling Be Justified?</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
        <p:nvSpPr>
          <p:cNvPr id="6" name="Shape 4"/>
          <p:cNvSpPr/>
          <p:nvPr/>
        </p:nvSpPr>
        <p:spPr>
          <a:xfrm>
            <a:off x="502920" y="1417320"/>
            <a:ext cx="11183112" cy="822960"/>
          </a:xfrm>
          <a:prstGeom prst="rect">
            <a:avLst/>
          </a:prstGeom>
          <a:solidFill>
            <a:srgbClr val="1A2E4A"/>
          </a:solidFill>
          <a:ln/>
        </p:spPr>
      </p:sp>
      <p:sp>
        <p:nvSpPr>
          <p:cNvPr id="7" name="Text 5"/>
          <p:cNvSpPr/>
          <p:nvPr/>
        </p:nvSpPr>
        <p:spPr>
          <a:xfrm>
            <a:off x="758952" y="15453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QUESTION</a:t>
            </a:r>
            <a:endParaRPr lang="en-US" sz="1050" dirty="0"/>
          </a:p>
        </p:txBody>
      </p:sp>
      <p:sp>
        <p:nvSpPr>
          <p:cNvPr id="8" name="Text 6"/>
          <p:cNvSpPr/>
          <p:nvPr/>
        </p:nvSpPr>
        <p:spPr>
          <a:xfrm>
            <a:off x="758952" y="1819656"/>
            <a:ext cx="10671048" cy="292608"/>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Price ceilings are frequently enacted to protect low-income consumers from rising prices. Yet standard welfare analysis shows they generate shortages and deadweight loss. Under what specific conditions might a price ceiling be justified — and what supplementary policies might reduce the efficiency cost while preserving the equity objective?</a:t>
            </a:r>
            <a:endParaRPr lang="en-US" sz="850" dirty="0"/>
          </a:p>
        </p:txBody>
      </p:sp>
      <p:sp>
        <p:nvSpPr>
          <p:cNvPr id="9" name="Shape 7"/>
          <p:cNvSpPr/>
          <p:nvPr/>
        </p:nvSpPr>
        <p:spPr>
          <a:xfrm>
            <a:off x="502920" y="2377440"/>
            <a:ext cx="3611880" cy="2331720"/>
          </a:xfrm>
          <a:prstGeom prst="rect">
            <a:avLst/>
          </a:prstGeom>
          <a:solidFill>
            <a:srgbClr val="E8EDF3"/>
          </a:solidFill>
          <a:ln/>
        </p:spPr>
      </p:sp>
      <p:sp>
        <p:nvSpPr>
          <p:cNvPr id="10" name="Shape 8"/>
          <p:cNvSpPr/>
          <p:nvPr/>
        </p:nvSpPr>
        <p:spPr>
          <a:xfrm>
            <a:off x="704088" y="2578608"/>
            <a:ext cx="457200" cy="457200"/>
          </a:xfrm>
          <a:prstGeom prst="ellipse">
            <a:avLst/>
          </a:prstGeom>
          <a:solidFill>
            <a:srgbClr val="1A2E4A"/>
          </a:solidFill>
          <a:ln/>
        </p:spPr>
      </p:sp>
      <p:sp>
        <p:nvSpPr>
          <p:cNvPr id="11" name="Text 9"/>
          <p:cNvSpPr/>
          <p:nvPr/>
        </p:nvSpPr>
        <p:spPr>
          <a:xfrm>
            <a:off x="704088" y="2578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p:nvPr/>
        </p:nvSpPr>
        <p:spPr>
          <a:xfrm>
            <a:off x="1280160" y="2578608"/>
            <a:ext cx="2606040" cy="457200"/>
          </a:xfrm>
          <a:prstGeom prst="rect">
            <a:avLst/>
          </a:prstGeom>
          <a:noFill/>
          <a:ln/>
        </p:spPr>
        <p:txBody>
          <a:bodyPr wrap="square" lIns="0" tIns="0" rIns="0" bIns="0" rtlCol="0" anchor="ctr"/>
          <a:lstStyle/>
          <a:p>
            <a:pPr indent="0" marL="0">
              <a:buNone/>
            </a:pPr>
            <a:r>
              <a:rPr lang="en-US" sz="1450" b="1" dirty="0">
                <a:solidFill>
                  <a:srgbClr val="1A2E4A"/>
                </a:solidFill>
                <a:latin typeface="Cambria" pitchFamily="34" charset="0"/>
                <a:ea typeface="Cambria" pitchFamily="34" charset="-122"/>
                <a:cs typeface="Cambria" pitchFamily="34" charset="-120"/>
              </a:rPr>
              <a:t>WHEN A CEILING IS DEFENSIBLE</a:t>
            </a:r>
            <a:endParaRPr lang="en-US" sz="1450" dirty="0"/>
          </a:p>
        </p:txBody>
      </p:sp>
      <p:sp>
        <p:nvSpPr>
          <p:cNvPr id="13" name="Text 11"/>
          <p:cNvSpPr/>
          <p:nvPr/>
        </p:nvSpPr>
        <p:spPr>
          <a:xfrm>
            <a:off x="722376" y="3127248"/>
            <a:ext cx="3154680" cy="137160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When SUPPLY IS HIGHLY INELASTIC in the relevant horizon — then the quantity distortion, and so the DWL, is small (recall PES = 0 → DWL = 0).</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When the seller has MARKET POWER, so the pre-control price already exceeded marginal cost (Modules 10–11).</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When the good is a NECESSITY and the alternative to a ceiling is destitution rather than substitution.</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As a TEMPORARY measure during an acute shock, where the alternative is a price spike on a captive population.</a:t>
            </a:r>
            <a:endParaRPr lang="en-US" sz="900" dirty="0"/>
          </a:p>
        </p:txBody>
      </p:sp>
      <p:sp>
        <p:nvSpPr>
          <p:cNvPr id="14" name="Shape 12"/>
          <p:cNvSpPr/>
          <p:nvPr/>
        </p:nvSpPr>
        <p:spPr>
          <a:xfrm>
            <a:off x="4315968" y="2377440"/>
            <a:ext cx="3611880" cy="2331720"/>
          </a:xfrm>
          <a:prstGeom prst="rect">
            <a:avLst/>
          </a:prstGeom>
          <a:solidFill>
            <a:srgbClr val="E8EDF3"/>
          </a:solidFill>
          <a:ln/>
        </p:spPr>
      </p:sp>
      <p:sp>
        <p:nvSpPr>
          <p:cNvPr id="15" name="Shape 13"/>
          <p:cNvSpPr/>
          <p:nvPr/>
        </p:nvSpPr>
        <p:spPr>
          <a:xfrm>
            <a:off x="4517136" y="2578608"/>
            <a:ext cx="457200" cy="457200"/>
          </a:xfrm>
          <a:prstGeom prst="ellipse">
            <a:avLst/>
          </a:prstGeom>
          <a:solidFill>
            <a:srgbClr val="9E2A2B"/>
          </a:solidFill>
          <a:ln/>
        </p:spPr>
      </p:sp>
      <p:sp>
        <p:nvSpPr>
          <p:cNvPr id="16" name="Text 14"/>
          <p:cNvSpPr/>
          <p:nvPr/>
        </p:nvSpPr>
        <p:spPr>
          <a:xfrm>
            <a:off x="4517136" y="2578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5"/>
          <p:cNvSpPr/>
          <p:nvPr/>
        </p:nvSpPr>
        <p:spPr>
          <a:xfrm>
            <a:off x="5093208" y="2578608"/>
            <a:ext cx="260604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WHAT THE MODEL PREDICTS</a:t>
            </a:r>
            <a:endParaRPr lang="en-US" sz="1600" dirty="0"/>
          </a:p>
        </p:txBody>
      </p:sp>
      <p:sp>
        <p:nvSpPr>
          <p:cNvPr id="18" name="Text 16"/>
          <p:cNvSpPr/>
          <p:nvPr/>
        </p:nvSpPr>
        <p:spPr>
          <a:xfrm>
            <a:off x="4535424" y="3127248"/>
            <a:ext cx="3154680" cy="137160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A SHORTAGE, with rationing by queue, connection, or black market.</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QUALITY DEGRADATION — sellers cut quality when they cannot cut price.</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REDUCED INVESTMENT in supply over the long run, making the shortage worse the longer the control lasts.</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A DISTRIBUTIONAL LOTTERY: the people who get the good are not necessarily the people the policy meant to help.</a:t>
            </a:r>
            <a:endParaRPr lang="en-US" sz="900" dirty="0"/>
          </a:p>
        </p:txBody>
      </p:sp>
      <p:sp>
        <p:nvSpPr>
          <p:cNvPr id="19" name="Shape 17"/>
          <p:cNvSpPr/>
          <p:nvPr/>
        </p:nvSpPr>
        <p:spPr>
          <a:xfrm>
            <a:off x="8119872" y="2377440"/>
            <a:ext cx="3566160" cy="2331720"/>
          </a:xfrm>
          <a:prstGeom prst="rect">
            <a:avLst/>
          </a:prstGeom>
          <a:solidFill>
            <a:srgbClr val="E8EDF3"/>
          </a:solidFill>
          <a:ln/>
        </p:spPr>
      </p:sp>
      <p:sp>
        <p:nvSpPr>
          <p:cNvPr id="20" name="Shape 18"/>
          <p:cNvSpPr/>
          <p:nvPr/>
        </p:nvSpPr>
        <p:spPr>
          <a:xfrm>
            <a:off x="8321040" y="2578608"/>
            <a:ext cx="457200" cy="457200"/>
          </a:xfrm>
          <a:prstGeom prst="ellipse">
            <a:avLst/>
          </a:prstGeom>
          <a:solidFill>
            <a:srgbClr val="2A7F84"/>
          </a:solidFill>
          <a:ln/>
        </p:spPr>
      </p:sp>
      <p:sp>
        <p:nvSpPr>
          <p:cNvPr id="21" name="Text 19"/>
          <p:cNvSpPr/>
          <p:nvPr/>
        </p:nvSpPr>
        <p:spPr>
          <a:xfrm>
            <a:off x="8321040" y="257860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20"/>
          <p:cNvSpPr/>
          <p:nvPr/>
        </p:nvSpPr>
        <p:spPr>
          <a:xfrm>
            <a:off x="8897112" y="2578608"/>
            <a:ext cx="2560320" cy="457200"/>
          </a:xfrm>
          <a:prstGeom prst="rect">
            <a:avLst/>
          </a:prstGeom>
          <a:noFill/>
          <a:ln/>
        </p:spPr>
        <p:txBody>
          <a:bodyPr wrap="square" lIns="0" tIns="0" rIns="0" bIns="0" rtlCol="0" anchor="ctr"/>
          <a:lstStyle/>
          <a:p>
            <a:pPr indent="0" marL="0">
              <a:buNone/>
            </a:pPr>
            <a:r>
              <a:rPr lang="en-US" sz="1600" b="1" dirty="0">
                <a:solidFill>
                  <a:srgbClr val="1A2E4A"/>
                </a:solidFill>
                <a:latin typeface="Cambria" pitchFamily="34" charset="0"/>
                <a:ea typeface="Cambria" pitchFamily="34" charset="-122"/>
                <a:cs typeface="Cambria" pitchFamily="34" charset="-120"/>
              </a:rPr>
              <a:t>SUPPLEMENTARY POLICIES</a:t>
            </a:r>
            <a:endParaRPr lang="en-US" sz="1600" dirty="0"/>
          </a:p>
        </p:txBody>
      </p:sp>
      <p:sp>
        <p:nvSpPr>
          <p:cNvPr id="23" name="Text 21"/>
          <p:cNvSpPr/>
          <p:nvPr/>
        </p:nvSpPr>
        <p:spPr>
          <a:xfrm>
            <a:off x="8339328" y="3127248"/>
            <a:ext cx="3108960" cy="137160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INCOME TRANSFERS or targeted vouchers instead of price controls — help the buyer, not the price. This preserves the price signal.</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SUBSIDIES TO SUPPLY, which shift S right and lower price without creating a shortage.</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PUBLIC PROVISION or buffer stocks.</a:t>
            </a: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 SUNSET CLAUSES that limit the long-run investment damage.</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The general principle: intervene in the BUDGET CONSTRAINT rather than in the PRICE.</a:t>
            </a:r>
            <a:endParaRPr lang="en-US" sz="900" dirty="0"/>
          </a:p>
        </p:txBody>
      </p:sp>
      <p:sp>
        <p:nvSpPr>
          <p:cNvPr id="24" name="Shape 22"/>
          <p:cNvSpPr/>
          <p:nvPr/>
        </p:nvSpPr>
        <p:spPr>
          <a:xfrm>
            <a:off x="502920" y="4892040"/>
            <a:ext cx="11183112" cy="1234440"/>
          </a:xfrm>
          <a:prstGeom prst="rect">
            <a:avLst/>
          </a:prstGeom>
          <a:solidFill>
            <a:srgbClr val="1A2E4A"/>
          </a:solidFill>
          <a:ln/>
        </p:spPr>
      </p:sp>
      <p:sp>
        <p:nvSpPr>
          <p:cNvPr id="25" name="Text 23"/>
          <p:cNvSpPr/>
          <p:nvPr/>
        </p:nvSpPr>
        <p:spPr>
          <a:xfrm>
            <a:off x="685800" y="5020056"/>
            <a:ext cx="10817352" cy="66751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Efficiency loss is a COST, not a veto.</a:t>
            </a:r>
            <a:endParaRPr lang="en-US" sz="2200" dirty="0"/>
          </a:p>
        </p:txBody>
      </p:sp>
      <p:sp>
        <p:nvSpPr>
          <p:cNvPr id="26" name="Text 24"/>
          <p:cNvSpPr/>
          <p:nvPr/>
        </p:nvSpPr>
        <p:spPr>
          <a:xfrm>
            <a:off x="685800" y="5614416"/>
            <a:ext cx="10817352" cy="402336"/>
          </a:xfrm>
          <a:prstGeom prst="rect">
            <a:avLst/>
          </a:prstGeom>
          <a:noFill/>
          <a:ln/>
        </p:spPr>
        <p:txBody>
          <a:bodyPr wrap="square" lIns="0" tIns="0" rIns="0" bIns="0" rtlCol="0" anchor="ctr"/>
          <a:lstStyle/>
          <a:p>
            <a:pPr algn="ctr" indent="0" marL="0">
              <a:buNone/>
            </a:pPr>
            <a:r>
              <a:rPr lang="en-US" sz="900" i="1" dirty="0">
                <a:solidFill>
                  <a:srgbClr val="E8C87A"/>
                </a:solidFill>
                <a:latin typeface="Calibri" pitchFamily="34" charset="0"/>
                <a:ea typeface="Calibri" pitchFamily="34" charset="-122"/>
                <a:cs typeface="Calibri" pitchFamily="34" charset="-120"/>
              </a:rPr>
              <a:t>A policy with deadweight loss can still be the right policy if it buys enough of some other objective. The economist's job is to make the cost VISIBLE and to look for a cheaper way to buy the same equity —</a:t>
            </a:r>
            <a:endParaRPr lang="en-US" sz="900" dirty="0"/>
          </a:p>
          <a:p>
            <a:pPr algn="ctr" indent="0" marL="0">
              <a:buNone/>
            </a:pPr>
            <a:r>
              <a:rPr lang="en-US" sz="900" i="1" dirty="0">
                <a:solidFill>
                  <a:srgbClr val="E8C87A"/>
                </a:solidFill>
                <a:latin typeface="Calibri" pitchFamily="34" charset="0"/>
                <a:ea typeface="Calibri" pitchFamily="34" charset="-122"/>
                <a:cs typeface="Calibri" pitchFamily="34" charset="-120"/>
              </a:rPr>
              <a:t>not to declare the equity objective illegitimate. That is precisely the positive / normative boundary from Module 1.</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4.8 · FIJI, 1875</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Fiji Copra Market — Collusion Below Equilibrium</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
        <p:nvSpPr>
          <p:cNvPr id="6" name="Text 4"/>
          <p:cNvSpPr/>
          <p:nvPr/>
        </p:nvSpPr>
        <p:spPr>
          <a:xfrm>
            <a:off x="502920" y="1417320"/>
            <a:ext cx="5440680" cy="548640"/>
          </a:xfrm>
          <a:prstGeom prst="rect">
            <a:avLst/>
          </a:prstGeom>
          <a:noFill/>
          <a:ln/>
        </p:spPr>
        <p:txBody>
          <a:bodyPr wrap="square" lIns="0" tIns="0" rIns="0" bIns="0" rtlCol="0" anchor="ctr"/>
          <a:lstStyle/>
          <a:p>
            <a:pPr indent="0" marL="0">
              <a:lnSpc>
                <a:spcPts val="1800"/>
              </a:lnSpc>
              <a:buNone/>
            </a:pPr>
            <a:r>
              <a:rPr lang="en-US" sz="1200" dirty="0">
                <a:solidFill>
                  <a:srgbClr val="4A6180"/>
                </a:solidFill>
                <a:latin typeface="Calibri" pitchFamily="34" charset="0"/>
                <a:ea typeface="Calibri" pitchFamily="34" charset="-122"/>
                <a:cs typeface="Calibri" pitchFamily="34" charset="-120"/>
              </a:rPr>
              <a:t>European traders colluded to hold copra purchase prices artificially low at Pc = 6 gold coins, below equilibrium.  Demand: Qd = 120 − 5P.  Supply: Qs = 20 + 5P.</a:t>
            </a:r>
            <a:endParaRPr lang="en-US" sz="1200" dirty="0"/>
          </a:p>
        </p:txBody>
      </p:sp>
      <p:sp>
        <p:nvSpPr>
          <p:cNvPr id="7" name="Shape 5"/>
          <p:cNvSpPr/>
          <p:nvPr/>
        </p:nvSpPr>
        <p:spPr>
          <a:xfrm>
            <a:off x="502920" y="2011680"/>
            <a:ext cx="5440680" cy="1371600"/>
          </a:xfrm>
          <a:prstGeom prst="rect">
            <a:avLst/>
          </a:prstGeom>
          <a:solidFill>
            <a:srgbClr val="1A2E4A"/>
          </a:solidFill>
          <a:ln/>
        </p:spPr>
      </p:sp>
      <p:sp>
        <p:nvSpPr>
          <p:cNvPr id="8" name="Text 6"/>
          <p:cNvSpPr/>
          <p:nvPr/>
        </p:nvSpPr>
        <p:spPr>
          <a:xfrm>
            <a:off x="685800" y="2011680"/>
            <a:ext cx="5074920" cy="13716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120 − 5P  =  20 + 5P</a:t>
            </a:r>
            <a:endParaRPr lang="en-US" sz="2200" dirty="0"/>
          </a:p>
          <a:p>
            <a:pPr algn="ctr" indent="0" marL="0">
              <a:buNone/>
            </a:pPr>
            <a:r>
              <a:rPr lang="en-US" sz="2200" b="1" dirty="0">
                <a:solidFill>
                  <a:srgbClr val="FFFFFF"/>
                </a:solidFill>
                <a:latin typeface="Cambria" pitchFamily="34" charset="0"/>
                <a:ea typeface="Cambria" pitchFamily="34" charset="-122"/>
                <a:cs typeface="Cambria" pitchFamily="34" charset="-120"/>
              </a:rPr>
              <a:t>100  =  10P     →     P* = 10,   Q* = 70</a:t>
            </a:r>
            <a:endParaRPr lang="en-US" sz="2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3520440"/>
          <a:ext cx="5440680" cy="914400"/>
        </p:xfrm>
        <a:graphic>
          <a:graphicData uri="http://schemas.openxmlformats.org/drawingml/2006/table">
            <a:tbl>
              <a:tblPr/>
              <a:tblGrid>
                <a:gridCol w="1691640"/>
                <a:gridCol w="2606040"/>
                <a:gridCol w="1143000"/>
              </a:tblGrid>
              <a:tr h="274320">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TASK</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COMPUTATION</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Qd at Pc = 6</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120 − 5(6)</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90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Qs at Pc = 6</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20 + 5(6)</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50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Quantity actually traded</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the SHORT side — supply restricts output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50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DWL base</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Q* − Q traded = 70 − 50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DWL height (exact)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demand price − supply price at Q = 50:  14 − 6</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74320">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DEADWEIGHT LOSS</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½ × 20 × 8</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950" dirty="0">
                          <a:solidFill>
                            <a:srgbClr val="1A2E4A"/>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10" name="Shape 7"/>
          <p:cNvSpPr/>
          <p:nvPr/>
        </p:nvSpPr>
        <p:spPr>
          <a:xfrm>
            <a:off x="502920" y="5486400"/>
            <a:ext cx="5440680" cy="640080"/>
          </a:xfrm>
          <a:prstGeom prst="rect">
            <a:avLst/>
          </a:prstGeom>
          <a:solidFill>
            <a:srgbClr val="1A2E4A"/>
          </a:solidFill>
          <a:ln/>
        </p:spPr>
      </p:sp>
      <p:sp>
        <p:nvSpPr>
          <p:cNvPr id="11" name="Text 8"/>
          <p:cNvSpPr/>
          <p:nvPr/>
        </p:nvSpPr>
        <p:spPr>
          <a:xfrm>
            <a:off x="758952" y="5614416"/>
            <a:ext cx="492861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IN WHICH DIRECTION DID THE DWL SHIFT CS AND PS?</a:t>
            </a:r>
            <a:endParaRPr lang="en-US" sz="1050" dirty="0"/>
          </a:p>
        </p:txBody>
      </p:sp>
      <p:sp>
        <p:nvSpPr>
          <p:cNvPr id="12" name="Text 9"/>
          <p:cNvSpPr/>
          <p:nvPr/>
        </p:nvSpPr>
        <p:spPr>
          <a:xfrm>
            <a:off x="758952" y="5815584"/>
            <a:ext cx="4928616"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Away from Fijian PRODUCERS and toward European BUYERS. The colluding traders captured part of what had been producer surplus as a transfer; the remainder — the triangle — was destroyed outright.</a:t>
            </a:r>
            <a:endParaRPr lang="en-US" sz="850" dirty="0"/>
          </a:p>
        </p:txBody>
      </p:sp>
      <p:pic>
        <p:nvPicPr>
          <p:cNvPr id="13" name="Image 0" descr="figs/m4_fiji.png">    </p:cNvPr>
          <p:cNvPicPr>
            <a:picLocks noChangeAspect="1"/>
          </p:cNvPicPr>
          <p:nvPr/>
        </p:nvPicPr>
        <p:blipFill>
          <a:blip r:embed="rId1"/>
          <a:stretch>
            <a:fillRect/>
          </a:stretch>
        </p:blipFill>
        <p:spPr>
          <a:xfrm>
            <a:off x="6126480" y="1939763"/>
            <a:ext cx="5577840" cy="366427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914400" y="1371600"/>
            <a:ext cx="10332720" cy="411480"/>
          </a:xfrm>
          <a:prstGeom prst="rect">
            <a:avLst/>
          </a:prstGeom>
          <a:noFill/>
          <a:ln/>
        </p:spPr>
        <p:txBody>
          <a:bodyPr wrap="square" lIns="0" tIns="0" rIns="0" bIns="0" rtlCol="0" anchor="ctr"/>
          <a:lstStyle/>
          <a:p>
            <a:pPr indent="0" marL="0">
              <a:buNone/>
            </a:pPr>
            <a:r>
              <a:rPr lang="en-US" sz="1500" b="1" spc="700" kern="0" dirty="0">
                <a:solidFill>
                  <a:srgbClr val="C0892E"/>
                </a:solidFill>
                <a:latin typeface="Calibri" pitchFamily="34" charset="0"/>
                <a:ea typeface="Calibri" pitchFamily="34" charset="-122"/>
                <a:cs typeface="Calibri" pitchFamily="34" charset="-120"/>
              </a:rPr>
              <a:t>SECTION III</a:t>
            </a:r>
            <a:endParaRPr lang="en-US" sz="1500" dirty="0"/>
          </a:p>
        </p:txBody>
      </p:sp>
      <p:sp>
        <p:nvSpPr>
          <p:cNvPr id="3" name="Text 1"/>
          <p:cNvSpPr/>
          <p:nvPr/>
        </p:nvSpPr>
        <p:spPr>
          <a:xfrm>
            <a:off x="914400" y="1828800"/>
            <a:ext cx="10058400" cy="11887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Tax Incidence — the Synthesis</a:t>
            </a:r>
            <a:endParaRPr lang="en-US" sz="4600" dirty="0"/>
          </a:p>
        </p:txBody>
      </p:sp>
      <p:sp>
        <p:nvSpPr>
          <p:cNvPr id="4" name="Text 2"/>
          <p:cNvSpPr/>
          <p:nvPr/>
        </p:nvSpPr>
        <p:spPr>
          <a:xfrm>
            <a:off x="914400" y="3291840"/>
            <a:ext cx="10058400" cy="2377440"/>
          </a:xfrm>
          <a:prstGeom prst="rect">
            <a:avLst/>
          </a:prstGeom>
          <a:noFill/>
          <a:ln/>
        </p:spPr>
        <p:txBody>
          <a:bodyPr wrap="square" lIns="0" tIns="0" rIns="0" bIns="0" rtlCol="0" anchor="ctr"/>
          <a:lstStyle/>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6  ·  The incidence principle: the more inelastic side of the market bears the larger share of the burden</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6  ·  Statutory vs. economic incidence — why they diverge, and why it does not matter who writes the check</a:t>
            </a:r>
            <a:endParaRPr lang="en-US" sz="1500" dirty="0"/>
          </a:p>
          <a:p>
            <a:pPr indent="0" marL="0">
              <a:lnSpc>
                <a:spcPts val="2400"/>
              </a:lnSpc>
              <a:spcAft>
                <a:spcPts val="800"/>
              </a:spcAft>
              <a:buNone/>
            </a:pPr>
            <a:r>
              <a:rPr lang="en-US" sz="1500" dirty="0">
                <a:solidFill>
                  <a:srgbClr val="CFD9E5"/>
                </a:solidFill>
                <a:latin typeface="Calibri" pitchFamily="34" charset="0"/>
                <a:ea typeface="Calibri" pitchFamily="34" charset="-122"/>
                <a:cs typeface="Calibri" pitchFamily="34" charset="-120"/>
              </a:rPr>
              <a:t>Part 6  ·  Application to the Ottoman spice tax and to Marcus &amp; Ray's payroll tax</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60520" cy="6858000"/>
          </a:xfrm>
          <a:prstGeom prst="rect">
            <a:avLst/>
          </a:prstGeom>
          <a:solidFill>
            <a:srgbClr val="E8EDF3"/>
          </a:solidFill>
          <a:ln/>
        </p:spPr>
      </p:sp>
      <p:sp>
        <p:nvSpPr>
          <p:cNvPr id="3" name="Text 1"/>
          <p:cNvSpPr/>
          <p:nvPr/>
        </p:nvSpPr>
        <p:spPr>
          <a:xfrm>
            <a:off x="685800" y="1965960"/>
            <a:ext cx="2926080" cy="1737360"/>
          </a:xfrm>
          <a:prstGeom prst="rect">
            <a:avLst/>
          </a:prstGeom>
          <a:noFill/>
          <a:ln/>
        </p:spPr>
        <p:txBody>
          <a:bodyPr wrap="square" lIns="0" tIns="0" rIns="0" bIns="0" rtlCol="0" anchor="ctr"/>
          <a:lstStyle/>
          <a:p>
            <a:pPr indent="0" marL="0">
              <a:buNone/>
            </a:pPr>
            <a:r>
              <a:rPr lang="en-US" sz="13000" b="1" dirty="0">
                <a:solidFill>
                  <a:srgbClr val="C0892E"/>
                </a:solidFill>
                <a:latin typeface="Cambria" pitchFamily="34" charset="0"/>
                <a:ea typeface="Cambria" pitchFamily="34" charset="-122"/>
                <a:cs typeface="Cambria" pitchFamily="34" charset="-120"/>
              </a:rPr>
              <a:t>06</a:t>
            </a:r>
            <a:endParaRPr lang="en-US" sz="13000" dirty="0"/>
          </a:p>
        </p:txBody>
      </p:sp>
      <p:sp>
        <p:nvSpPr>
          <p:cNvPr id="4" name="Text 2"/>
          <p:cNvSpPr/>
          <p:nvPr/>
        </p:nvSpPr>
        <p:spPr>
          <a:xfrm>
            <a:off x="777240" y="3703320"/>
            <a:ext cx="2743200" cy="365760"/>
          </a:xfrm>
          <a:prstGeom prst="rect">
            <a:avLst/>
          </a:prstGeom>
          <a:noFill/>
          <a:ln/>
        </p:spPr>
        <p:txBody>
          <a:bodyPr wrap="square" lIns="0" tIns="0" rIns="0" bIns="0" rtlCol="0" anchor="ctr"/>
          <a:lstStyle/>
          <a:p>
            <a:pPr indent="0" marL="0">
              <a:buNone/>
            </a:pPr>
            <a:r>
              <a:rPr lang="en-US" sz="1400" b="1" spc="700" kern="0" dirty="0">
                <a:solidFill>
                  <a:srgbClr val="4A6180"/>
                </a:solidFill>
                <a:latin typeface="Calibri" pitchFamily="34" charset="0"/>
                <a:ea typeface="Calibri" pitchFamily="34" charset="-122"/>
                <a:cs typeface="Calibri" pitchFamily="34" charset="-120"/>
              </a:rPr>
              <a:t>PART</a:t>
            </a:r>
            <a:endParaRPr lang="en-US" sz="1400" dirty="0"/>
          </a:p>
        </p:txBody>
      </p:sp>
      <p:sp>
        <p:nvSpPr>
          <p:cNvPr id="5" name="Text 3"/>
          <p:cNvSpPr/>
          <p:nvPr/>
        </p:nvSpPr>
        <p:spPr>
          <a:xfrm>
            <a:off x="4937760" y="1965960"/>
            <a:ext cx="6675120" cy="1554480"/>
          </a:xfrm>
          <a:prstGeom prst="rect">
            <a:avLst/>
          </a:prstGeom>
          <a:noFill/>
          <a:ln/>
        </p:spPr>
        <p:txBody>
          <a:bodyPr wrap="square" lIns="0" tIns="0" rIns="0" bIns="0" rtlCol="0" anchor="b"/>
          <a:lstStyle/>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Tax Incidence:</a:t>
            </a:r>
            <a:endParaRPr lang="en-US" sz="3300" dirty="0"/>
          </a:p>
          <a:p>
            <a:pPr indent="0" marL="0">
              <a:lnSpc>
                <a:spcPts val="4000"/>
              </a:lnSpc>
              <a:buNone/>
            </a:pPr>
            <a:r>
              <a:rPr lang="en-US" sz="3300" b="1" dirty="0">
                <a:solidFill>
                  <a:srgbClr val="1A2E4A"/>
                </a:solidFill>
                <a:latin typeface="Cambria" pitchFamily="34" charset="0"/>
                <a:ea typeface="Cambria" pitchFamily="34" charset="-122"/>
                <a:cs typeface="Cambria" pitchFamily="34" charset="-120"/>
              </a:rPr>
              <a:t>Elasticity Determines Who Pays</a:t>
            </a:r>
            <a:endParaRPr lang="en-US" sz="3300" dirty="0"/>
          </a:p>
        </p:txBody>
      </p:sp>
      <p:sp>
        <p:nvSpPr>
          <p:cNvPr id="6" name="Text 4"/>
          <p:cNvSpPr/>
          <p:nvPr/>
        </p:nvSpPr>
        <p:spPr>
          <a:xfrm>
            <a:off x="4937760" y="3657600"/>
            <a:ext cx="6675120" cy="1554480"/>
          </a:xfrm>
          <a:prstGeom prst="rect">
            <a:avLst/>
          </a:prstGeom>
          <a:noFill/>
          <a:ln/>
        </p:spPr>
        <p:txBody>
          <a:bodyPr wrap="square" lIns="0" tIns="0" rIns="0" bIns="0" rtlCol="0" anchor="ctr"/>
          <a:lstStyle/>
          <a:p>
            <a:pPr indent="0" marL="0">
              <a:lnSpc>
                <a:spcPts val="2400"/>
              </a:lnSpc>
              <a:buNone/>
            </a:pPr>
            <a:r>
              <a:rPr lang="en-US" sz="1200" b="1" spc="200" kern="0" dirty="0">
                <a:solidFill>
                  <a:srgbClr val="C0892E"/>
                </a:solidFill>
                <a:latin typeface="Calibri" pitchFamily="34" charset="0"/>
                <a:ea typeface="Calibri" pitchFamily="34" charset="-122"/>
                <a:cs typeface="Calibri" pitchFamily="34" charset="-120"/>
              </a:rPr>
              <a:t>OBJECTIVE   </a:t>
            </a:r>
            <a:pPr indent="0" marL="0">
              <a:lnSpc>
                <a:spcPts val="2400"/>
              </a:lnSpc>
              <a:buNone/>
            </a:pPr>
            <a:r>
              <a:rPr lang="en-US" sz="1500" dirty="0">
                <a:solidFill>
                  <a:srgbClr val="4A6180"/>
                </a:solidFill>
                <a:latin typeface="Calibri" pitchFamily="34" charset="0"/>
                <a:ea typeface="Calibri" pitchFamily="34" charset="-122"/>
                <a:cs typeface="Calibri" pitchFamily="34" charset="-120"/>
              </a:rPr>
              <a:t>Apply the tax incidence principle — the more inelastic side bears more of the burden — and distinguish statutory from economic incidence.</a:t>
            </a:r>
            <a:endParaRPr lang="en-US" sz="1200" dirty="0"/>
          </a:p>
        </p:txBody>
      </p:sp>
      <p:sp>
        <p:nvSpPr>
          <p:cNvPr id="7" name="Text 5"/>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8" name="Text 6"/>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PART 6 · THE CORE PRINCIPLE</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Who Actually Pays a Tax?</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
        <p:nvSpPr>
          <p:cNvPr id="6" name="Shape 4"/>
          <p:cNvSpPr/>
          <p:nvPr/>
        </p:nvSpPr>
        <p:spPr>
          <a:xfrm>
            <a:off x="502920" y="1417320"/>
            <a:ext cx="11183112" cy="1234440"/>
          </a:xfrm>
          <a:prstGeom prst="rect">
            <a:avLst/>
          </a:prstGeom>
          <a:solidFill>
            <a:srgbClr val="1A2E4A"/>
          </a:solidFill>
          <a:ln/>
        </p:spPr>
      </p:sp>
      <p:sp>
        <p:nvSpPr>
          <p:cNvPr id="7" name="Text 5"/>
          <p:cNvSpPr/>
          <p:nvPr/>
        </p:nvSpPr>
        <p:spPr>
          <a:xfrm>
            <a:off x="685800" y="1545336"/>
            <a:ext cx="10817352" cy="66751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Buyer's share  =  PES / ( PES + |PED| )              Seller's share  =  |PED| / ( PES + |PED| )</a:t>
            </a:r>
            <a:endParaRPr lang="en-US" sz="2000" dirty="0"/>
          </a:p>
        </p:txBody>
      </p:sp>
      <p:sp>
        <p:nvSpPr>
          <p:cNvPr id="8" name="Text 6"/>
          <p:cNvSpPr/>
          <p:nvPr/>
        </p:nvSpPr>
        <p:spPr>
          <a:xfrm>
            <a:off x="685800" y="2139696"/>
            <a:ext cx="10817352" cy="402336"/>
          </a:xfrm>
          <a:prstGeom prst="rect">
            <a:avLst/>
          </a:prstGeom>
          <a:noFill/>
          <a:ln/>
        </p:spPr>
        <p:txBody>
          <a:bodyPr wrap="square" lIns="0" tIns="0" rIns="0" bIns="0" rtlCol="0" anchor="ctr"/>
          <a:lstStyle/>
          <a:p>
            <a:pPr algn="ctr" indent="0" marL="0">
              <a:buNone/>
            </a:pPr>
            <a:r>
              <a:rPr lang="en-US" sz="1150" i="1" dirty="0">
                <a:solidFill>
                  <a:srgbClr val="E8C87A"/>
                </a:solidFill>
                <a:latin typeface="Calibri" pitchFamily="34" charset="0"/>
                <a:ea typeface="Calibri" pitchFamily="34" charset="-122"/>
                <a:cs typeface="Calibri" pitchFamily="34" charset="-120"/>
              </a:rPr>
              <a:t>THE MORE INELASTIC SIDE OF THE MARKET BEARS THE LARGER SHARE OF THE BURDEN.</a:t>
            </a:r>
            <a:endParaRPr lang="en-US" sz="1150" dirty="0"/>
          </a:p>
          <a:p>
            <a:pPr algn="ctr" indent="0" marL="0">
              <a:buNone/>
            </a:pPr>
            <a:r>
              <a:rPr lang="en-US" sz="1150" i="1" dirty="0">
                <a:solidFill>
                  <a:srgbClr val="E8C87A"/>
                </a:solidFill>
                <a:latin typeface="Calibri" pitchFamily="34" charset="0"/>
                <a:ea typeface="Calibri" pitchFamily="34" charset="-122"/>
                <a:cs typeface="Calibri" pitchFamily="34" charset="-120"/>
              </a:rPr>
              <a:t>This holds regardless of who is legally required to remit the tax to the government.</a:t>
            </a:r>
            <a:endParaRPr lang="en-US" sz="1150" dirty="0"/>
          </a:p>
        </p:txBody>
      </p:sp>
      <p:pic>
        <p:nvPicPr>
          <p:cNvPr id="9" name="Image 0" descr="figs/m4_incidence.png">    </p:cNvPr>
          <p:cNvPicPr>
            <a:picLocks noChangeAspect="1"/>
          </p:cNvPicPr>
          <p:nvPr/>
        </p:nvPicPr>
        <p:blipFill>
          <a:blip r:embed="rId1"/>
          <a:stretch>
            <a:fillRect/>
          </a:stretch>
        </p:blipFill>
        <p:spPr>
          <a:xfrm>
            <a:off x="2835689" y="2743200"/>
            <a:ext cx="6517574" cy="2697480"/>
          </a:xfrm>
          <a:prstGeom prst="rect">
            <a:avLst/>
          </a:prstGeom>
        </p:spPr>
      </p:pic>
      <p:sp>
        <p:nvSpPr>
          <p:cNvPr id="10" name="Shape 7"/>
          <p:cNvSpPr/>
          <p:nvPr/>
        </p:nvSpPr>
        <p:spPr>
          <a:xfrm>
            <a:off x="502920" y="5504688"/>
            <a:ext cx="11183112" cy="621792"/>
          </a:xfrm>
          <a:prstGeom prst="rect">
            <a:avLst/>
          </a:prstGeom>
          <a:solidFill>
            <a:srgbClr val="1A2E4A"/>
          </a:solidFill>
          <a:ln/>
        </p:spPr>
      </p:sp>
      <p:sp>
        <p:nvSpPr>
          <p:cNvPr id="11" name="Text 8"/>
          <p:cNvSpPr/>
          <p:nvPr/>
        </p:nvSpPr>
        <p:spPr>
          <a:xfrm>
            <a:off x="758952" y="5632704"/>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INTUITION IN ONE SENTENCE</a:t>
            </a:r>
            <a:endParaRPr lang="en-US" sz="1050" dirty="0"/>
          </a:p>
        </p:txBody>
      </p:sp>
      <p:sp>
        <p:nvSpPr>
          <p:cNvPr id="12" name="Text 9"/>
          <p:cNvSpPr/>
          <p:nvPr/>
        </p:nvSpPr>
        <p:spPr>
          <a:xfrm>
            <a:off x="758952" y="5833872"/>
            <a:ext cx="10671048" cy="256032"/>
          </a:xfrm>
          <a:prstGeom prst="rect">
            <a:avLst/>
          </a:prstGeom>
          <a:noFill/>
          <a:ln/>
        </p:spPr>
        <p:txBody>
          <a:bodyPr wrap="square" lIns="0" tIns="0" rIns="0" bIns="0" rtlCol="0" anchor="t"/>
          <a:lstStyle/>
          <a:p>
            <a:pPr indent="0" marL="0">
              <a:lnSpc>
                <a:spcPts val="1900"/>
              </a:lnSpc>
              <a:buNone/>
            </a:pPr>
            <a:r>
              <a:rPr lang="en-US" sz="1350" dirty="0">
                <a:solidFill>
                  <a:srgbClr val="FFFFFF"/>
                </a:solidFill>
                <a:latin typeface="Calibri" pitchFamily="34" charset="0"/>
                <a:ea typeface="Calibri" pitchFamily="34" charset="-122"/>
                <a:cs typeface="Calibri" pitchFamily="34" charset="-120"/>
              </a:rPr>
              <a:t>The side that CAN walk away — the elastic side — does walk away, so the side that CANNOT walk away ends up holding the bill.</a:t>
            </a:r>
            <a:endParaRPr lang="en-US" sz="13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4.9 · OTTOMAN EMPIRE, C. 1550</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The Ottoman Tax on Spice Merchants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
        <p:nvSpPr>
          <p:cNvPr id="6" name="Text 4"/>
          <p:cNvSpPr/>
          <p:nvPr/>
        </p:nvSpPr>
        <p:spPr>
          <a:xfrm>
            <a:off x="502920" y="1417320"/>
            <a:ext cx="5486400" cy="548640"/>
          </a:xfrm>
          <a:prstGeom prst="rect">
            <a:avLst/>
          </a:prstGeom>
          <a:noFill/>
          <a:ln/>
        </p:spPr>
        <p:txBody>
          <a:bodyPr wrap="square" lIns="0" tIns="0" rIns="0" bIns="0" rtlCol="0" anchor="ctr"/>
          <a:lstStyle/>
          <a:p>
            <a:pPr indent="0" marL="0">
              <a:lnSpc>
                <a:spcPts val="1800"/>
              </a:lnSpc>
              <a:buNone/>
            </a:pPr>
            <a:r>
              <a:rPr lang="en-US" sz="1200" dirty="0">
                <a:solidFill>
                  <a:srgbClr val="4A6180"/>
                </a:solidFill>
                <a:latin typeface="Calibri" pitchFamily="34" charset="0"/>
                <a:ea typeface="Calibri" pitchFamily="34" charset="-122"/>
                <a:cs typeface="Calibri" pitchFamily="34" charset="-120"/>
              </a:rPr>
              <a:t>A per-unit tax of 4 gold coins is imposed on the spice market. Demand PED = −0.5 (inelastic); Supply PES = 1.5 (elastic). Pre-tax equilibrium: P* = 20, Q* = 100 units.</a:t>
            </a:r>
            <a:endParaRPr lang="en-US" sz="1200" dirty="0"/>
          </a:p>
        </p:txBody>
      </p:sp>
      <p:sp>
        <p:nvSpPr>
          <p:cNvPr id="7" name="Shape 5"/>
          <p:cNvSpPr/>
          <p:nvPr/>
        </p:nvSpPr>
        <p:spPr>
          <a:xfrm>
            <a:off x="502920" y="2011680"/>
            <a:ext cx="5486400" cy="1463040"/>
          </a:xfrm>
          <a:prstGeom prst="rect">
            <a:avLst/>
          </a:prstGeom>
          <a:solidFill>
            <a:srgbClr val="1A2E4A"/>
          </a:solidFill>
          <a:ln/>
        </p:spPr>
      </p:sp>
      <p:sp>
        <p:nvSpPr>
          <p:cNvPr id="8" name="Text 6"/>
          <p:cNvSpPr/>
          <p:nvPr/>
        </p:nvSpPr>
        <p:spPr>
          <a:xfrm>
            <a:off x="685800" y="2011680"/>
            <a:ext cx="5120640" cy="14630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Buyer share  =  1.5 / (1.5 + 0.5)  =  0.75</a:t>
            </a:r>
            <a:endParaRPr lang="en-US" sz="2200" dirty="0"/>
          </a:p>
          <a:p>
            <a:pPr algn="ctr" indent="0" marL="0">
              <a:buNone/>
            </a:pPr>
            <a:r>
              <a:rPr lang="en-US" sz="2200" b="1" dirty="0">
                <a:solidFill>
                  <a:srgbClr val="FFFFFF"/>
                </a:solidFill>
                <a:latin typeface="Cambria" pitchFamily="34" charset="0"/>
                <a:ea typeface="Cambria" pitchFamily="34" charset="-122"/>
                <a:cs typeface="Cambria" pitchFamily="34" charset="-120"/>
              </a:rPr>
              <a:t>Seller share  =  0.5 / (1.5 + 0.5)  =  0.25</a:t>
            </a:r>
            <a:endParaRPr lang="en-US" sz="2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2920" y="3611880"/>
          <a:ext cx="5486400" cy="914400"/>
        </p:xfrm>
        <a:graphic>
          <a:graphicData uri="http://schemas.openxmlformats.org/drawingml/2006/table">
            <a:tbl>
              <a:tblPr/>
              <a:tblGrid>
                <a:gridCol w="1965960"/>
                <a:gridCol w="2148840"/>
                <a:gridCol w="1371600"/>
              </a:tblGrid>
              <a:tr h="292608">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COMPUTATION</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29260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Price paid by buyers, Pb</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20 + 0.75(4)</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23</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Price received by sellers, Ps</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20 − 0.25(4)</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9260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Buyer burden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Pb − P* = 23 − 20</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3  (75%)</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29260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Seller burden</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 − Ps = 20 − 19</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1  (25%)</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292608">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The tax wedge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Pb − Ps = 23 − 19</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2E4A"/>
                          </a:solidFill>
                          <a:latin typeface="Calibri" pitchFamily="34" charset="0"/>
                          <a:ea typeface="Calibri" pitchFamily="34" charset="-122"/>
                          <a:cs typeface="Calibri" pitchFamily="34" charset="-120"/>
                        </a:rPr>
                        <a:t>4  ✓ equals the tax</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bl>
          </a:graphicData>
        </a:graphic>
      </p:graphicFrame>
      <p:sp>
        <p:nvSpPr>
          <p:cNvPr id="10" name="Shape 7"/>
          <p:cNvSpPr/>
          <p:nvPr/>
        </p:nvSpPr>
        <p:spPr>
          <a:xfrm>
            <a:off x="502920" y="5394960"/>
            <a:ext cx="5486400" cy="73152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8"/>
          <p:cNvSpPr/>
          <p:nvPr/>
        </p:nvSpPr>
        <p:spPr>
          <a:xfrm>
            <a:off x="758952" y="5577840"/>
            <a:ext cx="4974336" cy="384048"/>
          </a:xfrm>
          <a:prstGeom prst="rect">
            <a:avLst/>
          </a:prstGeom>
          <a:noFill/>
          <a:ln/>
        </p:spPr>
        <p:txBody>
          <a:bodyPr wrap="square" lIns="0" tIns="0" rIns="0" bIns="0" rtlCol="0" anchor="ctr"/>
          <a:lstStyle/>
          <a:p>
            <a:pPr indent="0" marL="0">
              <a:buNone/>
            </a:pPr>
            <a:r>
              <a:rPr lang="en-US" sz="1550" b="1" dirty="0">
                <a:solidFill>
                  <a:srgbClr val="9E2A2B"/>
                </a:solidFill>
                <a:latin typeface="Cambria" pitchFamily="34" charset="0"/>
                <a:ea typeface="Cambria" pitchFamily="34" charset="-122"/>
                <a:cs typeface="Cambria" pitchFamily="34" charset="-120"/>
              </a:rPr>
              <a:t>WHY THE INELASTIC SIDE BEARS MORE</a:t>
            </a:r>
            <a:endParaRPr lang="en-US" sz="1550" dirty="0"/>
          </a:p>
        </p:txBody>
      </p:sp>
      <p:sp>
        <p:nvSpPr>
          <p:cNvPr id="12" name="Text 9"/>
          <p:cNvSpPr/>
          <p:nvPr/>
        </p:nvSpPr>
        <p:spPr>
          <a:xfrm>
            <a:off x="758952" y="5980176"/>
            <a:ext cx="4974336" cy="-9144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Buyers of spice have few substitutes and reduce purchases very little when price rises, so sellers can pass most of the tax forward. Sellers, being elastic, would cut output sharply if they absorbed it — so they do not have to.</a:t>
            </a:r>
            <a:endParaRPr lang="en-US" sz="850" dirty="0"/>
          </a:p>
        </p:txBody>
      </p:sp>
      <p:sp>
        <p:nvSpPr>
          <p:cNvPr id="13" name="Shape 10"/>
          <p:cNvSpPr/>
          <p:nvPr/>
        </p:nvSpPr>
        <p:spPr>
          <a:xfrm>
            <a:off x="6172200" y="1417320"/>
            <a:ext cx="5532120" cy="219456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4" name="Text 11"/>
          <p:cNvSpPr/>
          <p:nvPr/>
        </p:nvSpPr>
        <p:spPr>
          <a:xfrm>
            <a:off x="6428232" y="1600200"/>
            <a:ext cx="502005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READING THE DIAGRAM</a:t>
            </a:r>
            <a:endParaRPr lang="en-US" sz="1550" dirty="0"/>
          </a:p>
        </p:txBody>
      </p:sp>
      <p:sp>
        <p:nvSpPr>
          <p:cNvPr id="15" name="Text 12"/>
          <p:cNvSpPr/>
          <p:nvPr/>
        </p:nvSpPr>
        <p:spPr>
          <a:xfrm>
            <a:off x="6428232" y="2002536"/>
            <a:ext cx="5020056" cy="1371600"/>
          </a:xfrm>
          <a:prstGeom prst="rect">
            <a:avLst/>
          </a:prstGeom>
          <a:noFill/>
          <a:ln/>
        </p:spPr>
        <p:txBody>
          <a:bodyPr wrap="square" lIns="0" tIns="0" rIns="0" bIns="0" rtlCol="0" anchor="t"/>
          <a:lstStyle/>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The tax drives a WEDGE between the price buyers pay and the price sellers receive. Graphically, the supply curve shifts UP by the full amount of the tax.</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The new equilibrium quantity is LOWER than Q* — and that quantity reduction is exactly where the deadweight loss comes from. Total tax revenue is the rectangle (tax × new quantity); the DWL is the triangle to its right.</a:t>
            </a:r>
            <a:endParaRPr lang="en-US" sz="900" dirty="0"/>
          </a:p>
          <a:p>
            <a:pPr indent="0" marL="0">
              <a:lnSpc>
                <a:spcPts val="1300"/>
              </a:lnSpc>
              <a:buNone/>
            </a:pPr>
            <a:endParaRPr lang="en-US" sz="900" dirty="0"/>
          </a:p>
          <a:p>
            <a:pPr indent="0" marL="0">
              <a:lnSpc>
                <a:spcPts val="1300"/>
              </a:lnSpc>
              <a:buNone/>
            </a:pPr>
            <a:r>
              <a:rPr lang="en-US" sz="900" dirty="0">
                <a:solidFill>
                  <a:srgbClr val="4A6180"/>
                </a:solidFill>
                <a:latin typeface="Calibri" pitchFamily="34" charset="0"/>
                <a:ea typeface="Calibri" pitchFamily="34" charset="-122"/>
                <a:cs typeface="Calibri" pitchFamily="34" charset="-120"/>
              </a:rPr>
              <a:t>Notice that the government collects the same revenue no matter which side remits it.</a:t>
            </a:r>
            <a:endParaRPr lang="en-US" sz="900" dirty="0"/>
          </a:p>
        </p:txBody>
      </p:sp>
      <p:sp>
        <p:nvSpPr>
          <p:cNvPr id="16" name="Shape 13"/>
          <p:cNvSpPr/>
          <p:nvPr/>
        </p:nvSpPr>
        <p:spPr>
          <a:xfrm>
            <a:off x="6172200" y="3749040"/>
            <a:ext cx="5532120" cy="2377440"/>
          </a:xfrm>
          <a:prstGeom prst="rect">
            <a:avLst/>
          </a:prstGeom>
          <a:solidFill>
            <a:srgbClr val="1A2E4A"/>
          </a:solidFill>
          <a:ln/>
        </p:spPr>
      </p:sp>
      <p:sp>
        <p:nvSpPr>
          <p:cNvPr id="17" name="Text 14"/>
          <p:cNvSpPr/>
          <p:nvPr/>
        </p:nvSpPr>
        <p:spPr>
          <a:xfrm>
            <a:off x="6428232" y="3877056"/>
            <a:ext cx="5020056"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THE THREE QUANTITIES TO KEEP STRAIGHT</a:t>
            </a:r>
            <a:endParaRPr lang="en-US" sz="1050" dirty="0"/>
          </a:p>
        </p:txBody>
      </p:sp>
      <p:sp>
        <p:nvSpPr>
          <p:cNvPr id="18" name="Text 15"/>
          <p:cNvSpPr/>
          <p:nvPr/>
        </p:nvSpPr>
        <p:spPr>
          <a:xfrm>
            <a:off x="6428232" y="4151376"/>
            <a:ext cx="5020056" cy="1847088"/>
          </a:xfrm>
          <a:prstGeom prst="rect">
            <a:avLst/>
          </a:prstGeom>
          <a:noFill/>
          <a:ln/>
        </p:spPr>
        <p:txBody>
          <a:bodyPr wrap="square" lIns="0" tIns="0" rIns="0" bIns="0" rtlCol="0" anchor="t"/>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Pb — the price BUYERS pay, which RISES.</a:t>
            </a:r>
            <a:endParaRPr lang="en-US" sz="1250" dirty="0"/>
          </a:p>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Ps — the price SELLERS receive, which FALLS.</a:t>
            </a:r>
            <a:endParaRPr lang="en-US" sz="1250" dirty="0"/>
          </a:p>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Pb − Ps — the TAX WEDGE, which always equals the full per-unit tax.</a:t>
            </a:r>
            <a:endParaRPr lang="en-US" sz="1250" dirty="0"/>
          </a:p>
          <a:p>
            <a:pPr indent="0" marL="0">
              <a:lnSpc>
                <a:spcPts val="1800"/>
              </a:lnSpc>
              <a:buNone/>
            </a:pPr>
            <a:endParaRPr lang="en-US" sz="1250" dirty="0"/>
          </a:p>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Burden is measured from P*, not from each other: buyer burden = Pb − P*, seller burden = P* − Ps. The two burdens always sum to the tax.</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SCENARIO 4.10 · PHILADELPHIA, PRESENT DAY</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Marcus &amp; Ray — The Payroll Tax</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
        <p:nvSpPr>
          <p:cNvPr id="6" name="Text 4"/>
          <p:cNvSpPr/>
          <p:nvPr/>
        </p:nvSpPr>
        <p:spPr>
          <a:xfrm>
            <a:off x="502920" y="1417320"/>
            <a:ext cx="11155680" cy="502920"/>
          </a:xfrm>
          <a:prstGeom prst="rect">
            <a:avLst/>
          </a:prstGeom>
          <a:noFill/>
          <a:ln/>
        </p:spPr>
        <p:txBody>
          <a:bodyPr wrap="square" lIns="0" tIns="0" rIns="0" bIns="0" rtlCol="0" anchor="ctr"/>
          <a:lstStyle/>
          <a:p>
            <a:pPr indent="0" marL="0">
              <a:lnSpc>
                <a:spcPts val="1800"/>
              </a:lnSpc>
              <a:buNone/>
            </a:pPr>
            <a:r>
              <a:rPr lang="en-US" sz="1250" dirty="0">
                <a:solidFill>
                  <a:srgbClr val="4A6180"/>
                </a:solidFill>
                <a:latin typeface="Calibri" pitchFamily="34" charset="0"/>
                <a:ea typeface="Calibri" pitchFamily="34" charset="-122"/>
                <a:cs typeface="Calibri" pitchFamily="34" charset="-120"/>
              </a:rPr>
              <a:t>The city imposes a $2/hour payroll tax on employers in Marcus's industry. Labor DEMAND is relatively inelastic (firms need workers regardless of wage); labor SUPPLY is relatively elastic (workers can relocate or switch industries).</a:t>
            </a:r>
            <a:endParaRPr lang="en-US" sz="1250" dirty="0"/>
          </a:p>
        </p:txBody>
      </p:sp>
      <p:sp>
        <p:nvSpPr>
          <p:cNvPr id="7" name="Shape 5"/>
          <p:cNvSpPr/>
          <p:nvPr/>
        </p:nvSpPr>
        <p:spPr>
          <a:xfrm>
            <a:off x="502920" y="2057400"/>
            <a:ext cx="3611880" cy="21488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8" name="Text 6"/>
          <p:cNvSpPr/>
          <p:nvPr/>
        </p:nvSpPr>
        <p:spPr>
          <a:xfrm>
            <a:off x="758952" y="2240280"/>
            <a:ext cx="3099816" cy="384048"/>
          </a:xfrm>
          <a:prstGeom prst="rect">
            <a:avLst/>
          </a:prstGeom>
          <a:noFill/>
          <a:ln/>
        </p:spPr>
        <p:txBody>
          <a:bodyPr wrap="square" lIns="0" tIns="0" rIns="0" bIns="0" rtlCol="0" anchor="ctr"/>
          <a:lstStyle/>
          <a:p>
            <a:pPr indent="0" marL="0">
              <a:buNone/>
            </a:pPr>
            <a:r>
              <a:rPr lang="en-US" sz="1550" b="1" dirty="0">
                <a:solidFill>
                  <a:srgbClr val="1A2E4A"/>
                </a:solidFill>
                <a:latin typeface="Cambria" pitchFamily="34" charset="0"/>
                <a:ea typeface="Cambria" pitchFamily="34" charset="-122"/>
                <a:cs typeface="Cambria" pitchFamily="34" charset="-120"/>
              </a:rPr>
              <a:t>STATUTORY INCIDENCE</a:t>
            </a:r>
            <a:endParaRPr lang="en-US" sz="1550" dirty="0"/>
          </a:p>
        </p:txBody>
      </p:sp>
      <p:sp>
        <p:nvSpPr>
          <p:cNvPr id="9" name="Text 7"/>
          <p:cNvSpPr/>
          <p:nvPr/>
        </p:nvSpPr>
        <p:spPr>
          <a:xfrm>
            <a:off x="758952" y="2642616"/>
            <a:ext cx="3099816" cy="1325880"/>
          </a:xfrm>
          <a:prstGeom prst="rect">
            <a:avLst/>
          </a:prstGeom>
          <a:noFill/>
          <a:ln/>
        </p:spPr>
        <p:txBody>
          <a:bodyPr wrap="square" lIns="0" tIns="0" rIns="0" bIns="0" rtlCol="0" anchor="t"/>
          <a:lstStyle/>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Falls on the EMPLOYER. That is what the statute says: the employer remits the $2 per hour to the city.</a:t>
            </a:r>
            <a:endParaRPr lang="en-US" sz="1050" dirty="0"/>
          </a:p>
          <a:p>
            <a:pPr indent="0" marL="0">
              <a:lnSpc>
                <a:spcPts val="1500"/>
              </a:lnSpc>
              <a:buNone/>
            </a:pPr>
            <a:endParaRPr lang="en-US" sz="1050" dirty="0"/>
          </a:p>
          <a:p>
            <a:pPr indent="0" marL="0">
              <a:lnSpc>
                <a:spcPts val="1500"/>
              </a:lnSpc>
              <a:buNone/>
            </a:pPr>
            <a:r>
              <a:rPr lang="en-US" sz="1050" dirty="0">
                <a:solidFill>
                  <a:srgbClr val="4A6180"/>
                </a:solidFill>
                <a:latin typeface="Calibri" pitchFamily="34" charset="0"/>
                <a:ea typeface="Calibri" pitchFamily="34" charset="-122"/>
                <a:cs typeface="Calibri" pitchFamily="34" charset="-120"/>
              </a:rPr>
              <a:t>Statutory incidence is a legal fact. It is decided by legislation, and it is the thing people argue about in public.</a:t>
            </a:r>
            <a:endParaRPr lang="en-US" sz="1050" dirty="0"/>
          </a:p>
        </p:txBody>
      </p:sp>
      <p:sp>
        <p:nvSpPr>
          <p:cNvPr id="10" name="Shape 8"/>
          <p:cNvSpPr/>
          <p:nvPr/>
        </p:nvSpPr>
        <p:spPr>
          <a:xfrm>
            <a:off x="4315968" y="2057400"/>
            <a:ext cx="3611880" cy="21488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1" name="Text 9"/>
          <p:cNvSpPr/>
          <p:nvPr/>
        </p:nvSpPr>
        <p:spPr>
          <a:xfrm>
            <a:off x="4572000" y="2240280"/>
            <a:ext cx="3099816" cy="384048"/>
          </a:xfrm>
          <a:prstGeom prst="rect">
            <a:avLst/>
          </a:prstGeom>
          <a:noFill/>
          <a:ln/>
        </p:spPr>
        <p:txBody>
          <a:bodyPr wrap="square" lIns="0" tIns="0" rIns="0" bIns="0" rtlCol="0" anchor="ctr"/>
          <a:lstStyle/>
          <a:p>
            <a:pPr indent="0" marL="0">
              <a:buNone/>
            </a:pPr>
            <a:r>
              <a:rPr lang="en-US" sz="1550" b="1" dirty="0">
                <a:solidFill>
                  <a:srgbClr val="C0892E"/>
                </a:solidFill>
                <a:latin typeface="Cambria" pitchFamily="34" charset="0"/>
                <a:ea typeface="Cambria" pitchFamily="34" charset="-122"/>
                <a:cs typeface="Cambria" pitchFamily="34" charset="-120"/>
              </a:rPr>
              <a:t>ECONOMIC INCIDENCE</a:t>
            </a:r>
            <a:endParaRPr lang="en-US" sz="1550" dirty="0"/>
          </a:p>
        </p:txBody>
      </p:sp>
      <p:sp>
        <p:nvSpPr>
          <p:cNvPr id="12" name="Text 10"/>
          <p:cNvSpPr/>
          <p:nvPr/>
        </p:nvSpPr>
        <p:spPr>
          <a:xfrm>
            <a:off x="4572000" y="2642616"/>
            <a:ext cx="3099816" cy="1325880"/>
          </a:xfrm>
          <a:prstGeom prst="rect">
            <a:avLst/>
          </a:prstGeom>
          <a:noFill/>
          <a:ln/>
        </p:spPr>
        <p:txBody>
          <a:bodyPr wrap="square" lIns="0" tIns="0" rIns="0" bIns="0" rtlCol="0" anchor="t"/>
          <a:lstStyle/>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Falls on whichever side is MORE INELASTIC. In this scenario, labor DEMAND is the inelastic side — so the EMPLOYER bears more of this particular tax.</a:t>
            </a:r>
            <a:endParaRPr lang="en-US" sz="950" dirty="0"/>
          </a:p>
          <a:p>
            <a:pPr indent="0" marL="0">
              <a:lnSpc>
                <a:spcPts val="1300"/>
              </a:lnSpc>
              <a:buNone/>
            </a:pPr>
            <a:endParaRPr lang="en-US" sz="950" dirty="0"/>
          </a:p>
          <a:p>
            <a:pPr indent="0" marL="0">
              <a:lnSpc>
                <a:spcPts val="1300"/>
              </a:lnSpc>
              <a:buNone/>
            </a:pPr>
            <a:r>
              <a:rPr lang="en-US" sz="950" dirty="0">
                <a:solidFill>
                  <a:srgbClr val="4A6180"/>
                </a:solidFill>
                <a:latin typeface="Calibri" pitchFamily="34" charset="0"/>
                <a:ea typeface="Calibri" pitchFamily="34" charset="-122"/>
                <a:cs typeface="Calibri" pitchFamily="34" charset="-120"/>
              </a:rPr>
              <a:t>Economic incidence is an economic fact. It is decided by elasticities, and legislation cannot change it.</a:t>
            </a:r>
            <a:endParaRPr lang="en-US" sz="950" dirty="0"/>
          </a:p>
        </p:txBody>
      </p:sp>
      <p:sp>
        <p:nvSpPr>
          <p:cNvPr id="13" name="Shape 11"/>
          <p:cNvSpPr/>
          <p:nvPr/>
        </p:nvSpPr>
        <p:spPr>
          <a:xfrm>
            <a:off x="8119872" y="2057400"/>
            <a:ext cx="3566160" cy="2148840"/>
          </a:xfrm>
          <a:prstGeom prst="rect">
            <a:avLst/>
          </a:prstGeom>
          <a:solidFill>
            <a:srgbClr val="FFFFFF"/>
          </a:solidFill>
          <a:ln w="12700">
            <a:solidFill>
              <a:srgbClr val="CFD9E5"/>
            </a:solidFill>
            <a:prstDash val="solid"/>
          </a:ln>
          <a:effectLst>
            <a:outerShdw sx="100000" sy="100000" kx="0" ky="0" algn="bl" rotWithShape="0" blurRad="101600" dist="25400" dir="5400000">
              <a:srgbClr val="888888">
                <a:alpha val="10000"/>
              </a:srgbClr>
            </a:outerShdw>
          </a:effectLst>
        </p:spPr>
      </p:sp>
      <p:sp>
        <p:nvSpPr>
          <p:cNvPr id="14" name="Text 12"/>
          <p:cNvSpPr/>
          <p:nvPr/>
        </p:nvSpPr>
        <p:spPr>
          <a:xfrm>
            <a:off x="8375904" y="2240280"/>
            <a:ext cx="3054096" cy="384048"/>
          </a:xfrm>
          <a:prstGeom prst="rect">
            <a:avLst/>
          </a:prstGeom>
          <a:noFill/>
          <a:ln/>
        </p:spPr>
        <p:txBody>
          <a:bodyPr wrap="square" lIns="0" tIns="0" rIns="0" bIns="0" rtlCol="0" anchor="ctr"/>
          <a:lstStyle/>
          <a:p>
            <a:pPr indent="0" marL="0">
              <a:buNone/>
            </a:pPr>
            <a:r>
              <a:rPr lang="en-US" sz="1300" b="1" dirty="0">
                <a:solidFill>
                  <a:srgbClr val="9E2A2B"/>
                </a:solidFill>
                <a:latin typeface="Cambria" pitchFamily="34" charset="0"/>
                <a:ea typeface="Cambria" pitchFamily="34" charset="-122"/>
                <a:cs typeface="Cambria" pitchFamily="34" charset="-120"/>
              </a:rPr>
              <a:t>THE GENERAL RULE, AND THE USUAL CASE</a:t>
            </a:r>
            <a:endParaRPr lang="en-US" sz="1300" dirty="0"/>
          </a:p>
        </p:txBody>
      </p:sp>
      <p:sp>
        <p:nvSpPr>
          <p:cNvPr id="15" name="Text 13"/>
          <p:cNvSpPr/>
          <p:nvPr/>
        </p:nvSpPr>
        <p:spPr>
          <a:xfrm>
            <a:off x="8375904" y="2642616"/>
            <a:ext cx="3054096" cy="1325880"/>
          </a:xfrm>
          <a:prstGeom prst="rect">
            <a:avLst/>
          </a:prstGeom>
          <a:noFill/>
          <a:ln/>
        </p:spPr>
        <p:txBody>
          <a:bodyPr wrap="square" lIns="0" tIns="0" rIns="0" bIns="0" rtlCol="0" anchor="t"/>
          <a:lstStyle/>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MORE INELASTIC SIDE = LARGER BURDEN.</a:t>
            </a:r>
            <a:endParaRPr lang="en-US" sz="850" dirty="0"/>
          </a:p>
          <a:p>
            <a:pPr indent="0" marL="0">
              <a:lnSpc>
                <a:spcPts val="1200"/>
              </a:lnSpc>
              <a:buNone/>
            </a:pPr>
            <a:endParaRPr lang="en-US" sz="850" dirty="0"/>
          </a:p>
          <a:p>
            <a:pPr indent="0" marL="0">
              <a:lnSpc>
                <a:spcPts val="1200"/>
              </a:lnSpc>
              <a:buNone/>
            </a:pPr>
            <a:r>
              <a:rPr lang="en-US" sz="850" dirty="0">
                <a:solidFill>
                  <a:srgbClr val="4A6180"/>
                </a:solidFill>
                <a:latin typeface="Calibri" pitchFamily="34" charset="0"/>
                <a:ea typeface="Calibri" pitchFamily="34" charset="-122"/>
                <a:cs typeface="Calibri" pitchFamily="34" charset="-120"/>
              </a:rPr>
              <a:t>Empirically, labor SUPPLY is often the more inelastic side — most people cannot easily stop working or move cities. That is why real-world payroll taxes "on employers" are largely passed to workers as lower wages. This scenario reverses the usual elasticities to make the principle, not the memorized answer, do the work.</a:t>
            </a:r>
            <a:endParaRPr lang="en-US" sz="850" dirty="0"/>
          </a:p>
        </p:txBody>
      </p:sp>
      <p:sp>
        <p:nvSpPr>
          <p:cNvPr id="16" name="Shape 14"/>
          <p:cNvSpPr/>
          <p:nvPr/>
        </p:nvSpPr>
        <p:spPr>
          <a:xfrm>
            <a:off x="502920" y="4389120"/>
            <a:ext cx="11183112" cy="868680"/>
          </a:xfrm>
          <a:prstGeom prst="rect">
            <a:avLst/>
          </a:prstGeom>
          <a:solidFill>
            <a:srgbClr val="1A2E4A"/>
          </a:solidFill>
          <a:ln/>
        </p:spPr>
      </p:sp>
      <p:sp>
        <p:nvSpPr>
          <p:cNvPr id="17" name="Text 15"/>
          <p:cNvSpPr/>
          <p:nvPr/>
        </p:nvSpPr>
        <p:spPr>
          <a:xfrm>
            <a:off x="758952" y="451713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✦5  EXPLAINING IT TO MARCUS IN PLAIN LANGUAGE</a:t>
            </a:r>
            <a:endParaRPr lang="en-US" sz="1050" dirty="0"/>
          </a:p>
        </p:txBody>
      </p:sp>
      <p:sp>
        <p:nvSpPr>
          <p:cNvPr id="18" name="Text 16"/>
          <p:cNvSpPr/>
          <p:nvPr/>
        </p:nvSpPr>
        <p:spPr>
          <a:xfrm>
            <a:off x="758952" y="4791456"/>
            <a:ext cx="10671048" cy="338328"/>
          </a:xfrm>
          <a:prstGeom prst="rect">
            <a:avLst/>
          </a:prstGeom>
          <a:noFill/>
          <a:ln/>
        </p:spPr>
        <p:txBody>
          <a:bodyPr wrap="square" lIns="0" tIns="0" rIns="0" bIns="0" rtlCol="0" anchor="t"/>
          <a:lstStyle/>
          <a:p>
            <a:pPr indent="0" marL="0">
              <a:lnSpc>
                <a:spcPts val="1300"/>
              </a:lnSpc>
              <a:buNone/>
            </a:pPr>
            <a:r>
              <a:rPr lang="en-US" sz="900" dirty="0">
                <a:solidFill>
                  <a:srgbClr val="FFFFFF"/>
                </a:solidFill>
                <a:latin typeface="Calibri" pitchFamily="34" charset="0"/>
                <a:ea typeface="Calibri" pitchFamily="34" charset="-122"/>
                <a:cs typeface="Calibri" pitchFamily="34" charset="-120"/>
              </a:rPr>
              <a:t>"The company writes the check, but it decides what to pay you AFTER accounting for that check. If you and everyone like you would keep working here anyway, the company can quietly hold your wage $2 lower and you have no way to push back. If instead you could all walk across the river tomorrow for the same job, the company has to eat the $2 itself or lose you."</a:t>
            </a:r>
            <a:endParaRPr lang="en-US" sz="900" dirty="0"/>
          </a:p>
        </p:txBody>
      </p:sp>
      <p:sp>
        <p:nvSpPr>
          <p:cNvPr id="19" name="Shape 17"/>
          <p:cNvSpPr/>
          <p:nvPr/>
        </p:nvSpPr>
        <p:spPr>
          <a:xfrm>
            <a:off x="502920" y="5394960"/>
            <a:ext cx="11183112" cy="731520"/>
          </a:xfrm>
          <a:prstGeom prst="rect">
            <a:avLst/>
          </a:prstGeom>
          <a:solidFill>
            <a:srgbClr val="1A2E4A"/>
          </a:solidFill>
          <a:ln/>
        </p:spPr>
      </p:sp>
      <p:sp>
        <p:nvSpPr>
          <p:cNvPr id="20" name="Text 18"/>
          <p:cNvSpPr/>
          <p:nvPr/>
        </p:nvSpPr>
        <p:spPr>
          <a:xfrm>
            <a:off x="685800" y="5394960"/>
            <a:ext cx="10817352" cy="73152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If Marcus's labor supply were PERFECTLY INELASTIC (PES = 0), he would bear 100% of the tax.</a:t>
            </a:r>
            <a:endParaRPr lang="en-US" sz="2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A2E4A"/>
        </a:solidFill>
      </p:bgPr>
    </p:bg>
    <p:spTree>
      <p:nvGrpSpPr>
        <p:cNvPr id="1" name=""/>
        <p:cNvGrpSpPr/>
        <p:nvPr/>
      </p:nvGrpSpPr>
      <p:grpSpPr>
        <a:xfrm>
          <a:off x="0" y="0"/>
          <a:ext cx="0" cy="0"/>
          <a:chOff x="0" y="0"/>
          <a:chExt cx="0" cy="0"/>
        </a:xfrm>
      </p:grpSpPr>
      <p:sp>
        <p:nvSpPr>
          <p:cNvPr id="2" name="Text 0"/>
          <p:cNvSpPr/>
          <p:nvPr/>
        </p:nvSpPr>
        <p:spPr>
          <a:xfrm>
            <a:off x="822960" y="1234440"/>
            <a:ext cx="10515600" cy="365760"/>
          </a:xfrm>
          <a:prstGeom prst="rect">
            <a:avLst/>
          </a:prstGeom>
          <a:noFill/>
          <a:ln/>
        </p:spPr>
        <p:txBody>
          <a:bodyPr wrap="square" lIns="0" tIns="0" rIns="0" bIns="0" rtlCol="0" anchor="ctr"/>
          <a:lstStyle/>
          <a:p>
            <a:pPr indent="0" marL="0">
              <a:buNone/>
            </a:pPr>
            <a:r>
              <a:rPr lang="en-US" sz="1400" b="1" spc="700" kern="0" dirty="0">
                <a:solidFill>
                  <a:srgbClr val="C0892E"/>
                </a:solidFill>
                <a:latin typeface="Calibri" pitchFamily="34" charset="0"/>
                <a:ea typeface="Calibri" pitchFamily="34" charset="-122"/>
                <a:cs typeface="Calibri" pitchFamily="34" charset="-120"/>
              </a:rPr>
              <a:t>YOU TRY</a:t>
            </a:r>
            <a:endParaRPr lang="en-US" sz="1400" dirty="0"/>
          </a:p>
        </p:txBody>
      </p:sp>
      <p:sp>
        <p:nvSpPr>
          <p:cNvPr id="3" name="Text 1"/>
          <p:cNvSpPr/>
          <p:nvPr/>
        </p:nvSpPr>
        <p:spPr>
          <a:xfrm>
            <a:off x="822960" y="1645920"/>
            <a:ext cx="10515600" cy="91440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Module 4 — Independent Practice</a:t>
            </a:r>
            <a:endParaRPr lang="en-US" sz="3400" dirty="0"/>
          </a:p>
        </p:txBody>
      </p:sp>
      <p:sp>
        <p:nvSpPr>
          <p:cNvPr id="4" name="Text 2"/>
          <p:cNvSpPr/>
          <p:nvPr/>
        </p:nvSpPr>
        <p:spPr>
          <a:xfrm>
            <a:off x="822960" y="2834640"/>
            <a:ext cx="7863840" cy="2651760"/>
          </a:xfrm>
          <a:prstGeom prst="rect">
            <a:avLst/>
          </a:prstGeom>
          <a:noFill/>
          <a:ln/>
        </p:spPr>
        <p:txBody>
          <a:bodyPr wrap="square" lIns="0" tIns="0" rIns="0" bIns="0" rtlCol="0" anchor="ctr"/>
          <a:lstStyle/>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Complete all six Parts of the Module 4 Worksheet, including every calculation and all eight labeled diagrams.</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Khan Academy: Elasticity — price elasticity of demand, total revenue, income and cross-price elasticity, elasticity of supply. Reach mastery.</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Khan Academy: Consumer and Producer Surplus, Market Interventions and Deadweight Loss.</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Answer reflection questions ✦1 through ✦5 in complete sentences — each one asks you to convert a calculation into an argument.</a:t>
            </a:r>
            <a:endParaRPr lang="en-US" sz="1500" dirty="0"/>
          </a:p>
          <a:p>
            <a:pPr marL="203200" indent="-203200">
              <a:lnSpc>
                <a:spcPts val="2400"/>
              </a:lnSpc>
              <a:spcAft>
                <a:spcPts val="1000"/>
              </a:spcAft>
              <a:buSzPct val="100000"/>
              <a:buChar char="•"/>
            </a:pPr>
            <a:r>
              <a:rPr lang="en-US" sz="1500" dirty="0">
                <a:solidFill>
                  <a:srgbClr val="CFD9E5"/>
                </a:solidFill>
                <a:latin typeface="Calibri" pitchFamily="34" charset="0"/>
                <a:ea typeface="Calibri" pitchFamily="34" charset="-122"/>
                <a:cs typeface="Calibri" pitchFamily="34" charset="-120"/>
              </a:rPr>
              <a:t>HOMEWORK RULE OF THUMB: above 80% → move on. Below 80% → retry once or twice. Consistently below 80% → office hours, immediately.</a:t>
            </a:r>
            <a:endParaRPr lang="en-US" sz="1500" dirty="0"/>
          </a:p>
        </p:txBody>
      </p:sp>
      <p:sp>
        <p:nvSpPr>
          <p:cNvPr id="5" name="Shape 3"/>
          <p:cNvSpPr/>
          <p:nvPr/>
        </p:nvSpPr>
        <p:spPr>
          <a:xfrm>
            <a:off x="9326880" y="3017520"/>
            <a:ext cx="1828800" cy="1828800"/>
          </a:xfrm>
          <a:prstGeom prst="ellipse">
            <a:avLst/>
          </a:prstGeom>
          <a:solidFill>
            <a:srgbClr val="C0892E"/>
          </a:solidFill>
          <a:ln/>
        </p:spPr>
      </p:sp>
      <p:sp>
        <p:nvSpPr>
          <p:cNvPr id="6" name="Text 4"/>
          <p:cNvSpPr/>
          <p:nvPr/>
        </p:nvSpPr>
        <p:spPr>
          <a:xfrm>
            <a:off x="9326880" y="3017520"/>
            <a:ext cx="1828800" cy="182880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20</a:t>
            </a:r>
            <a:endParaRPr lang="en-US" sz="3000" dirty="0"/>
          </a:p>
          <a:p>
            <a:pPr algn="ctr" indent="0" marL="0">
              <a:buNone/>
            </a:pPr>
            <a:r>
              <a:rPr lang="en-US" sz="3000" b="1" dirty="0">
                <a:solidFill>
                  <a:srgbClr val="FFFFFF"/>
                </a:solidFill>
                <a:latin typeface="Cambria" pitchFamily="34" charset="0"/>
                <a:ea typeface="Cambria" pitchFamily="34" charset="-122"/>
                <a:cs typeface="Cambria" pitchFamily="34" charset="-120"/>
              </a:rPr>
              <a:t>MIN</a:t>
            </a:r>
            <a:endParaRPr lang="en-US" sz="3000" dirty="0"/>
          </a:p>
        </p:txBody>
      </p:sp>
      <p:sp>
        <p:nvSpPr>
          <p:cNvPr id="7" name="Text 5"/>
          <p:cNvSpPr/>
          <p:nvPr/>
        </p:nvSpPr>
        <p:spPr>
          <a:xfrm>
            <a:off x="822960" y="6345936"/>
            <a:ext cx="5486400" cy="274320"/>
          </a:xfrm>
          <a:prstGeom prst="rect">
            <a:avLst/>
          </a:prstGeom>
          <a:noFill/>
          <a:ln/>
        </p:spPr>
        <p:txBody>
          <a:bodyPr wrap="square" lIns="0" tIns="0" rIns="0" bIns="0" rtlCol="0" anchor="ctr"/>
          <a:lstStyle/>
          <a:p>
            <a:pPr indent="0" marL="0">
              <a:buNone/>
            </a:pPr>
            <a:r>
              <a:rPr lang="en-US" sz="900" spc="100" kern="0" dirty="0">
                <a:solidFill>
                  <a:srgbClr val="4A6180"/>
                </a:solidFill>
                <a:latin typeface="Calibri" pitchFamily="34" charset="0"/>
                <a:ea typeface="Calibri" pitchFamily="34" charset="-122"/>
                <a:cs typeface="Calibri" pitchFamily="34" charset="-120"/>
              </a:rPr>
              <a:t>INTRO TO MICROECONOMICS  |  PROF. VELAZQUEZ</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4</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What You Should Be Able to Do</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1554480"/>
          <a:ext cx="11183112" cy="914400"/>
        </p:xfrm>
        <a:graphic>
          <a:graphicData uri="http://schemas.openxmlformats.org/drawingml/2006/table">
            <a:tbl>
              <a:tblPr/>
              <a:tblGrid>
                <a:gridCol w="1188720"/>
                <a:gridCol w="9994392"/>
              </a:tblGrid>
              <a:tr h="530352">
                <a:tc>
                  <a:txBody>
                    <a:bodyPr/>
                    <a:lstStyle/>
                    <a:p>
                      <a:pPr algn="l" indent="0" marL="0">
                        <a:buNone/>
                      </a:pP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LEARNING OUTCOME</a:t>
                      </a:r>
                      <a:endParaRPr lang="en-US" sz="100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1A2E4A"/>
                    </a:solidFill>
                  </a:tcPr>
                </a:tc>
              </a:tr>
              <a:tr h="530352">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Part 1</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Compute PED and state its sign; classify a result into the five categories; name the four determinants and predict elasticity from a description of a good; state and apply the total revenue rule in both directions.</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30352">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Part 2</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Apply the midpoint method and explain why it is preferred to simple percentage change; compute income and cross-price elasticity; classify goods as normal, inferior, luxury, substitute or complement FROM THE SIGN OF THE DATA.</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530352">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Part 3</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Compute PES and convert an elasticity into a predicted percentage quantity response; explain why the time horizon is the critical determinant; list four determinants of PES; explain the land case and why PES = 0 implies zero deadweight loss.</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30352">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Part 4</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Define CS and PS in terms of willingness to pay and willingness to sell; compute both geometrically; state the invisible hand theorem WITH its three assumptions; articulate what efficiency does and does not establish.</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r h="530352">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Part 5</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Distinguish binding from non-binding controls; predict surplus or shortage; identify the short side of the market as the traded quantity; compute deadweight loss; evaluate the equity-efficiency trade-off of a price control and propose alternatives.</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FFFFFF"/>
                    </a:solidFill>
                  </a:tcPr>
                </a:tc>
              </a:tr>
              <a:tr h="530352">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Part 6</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c>
                  <a:txBody>
                    <a:bodyPr/>
                    <a:lstStyle/>
                    <a:p>
                      <a:pPr algn="l" indent="0" marL="0">
                        <a:buNone/>
                      </a:pPr>
                      <a:r>
                        <a:rPr lang="en-US" sz="1050" dirty="0">
                          <a:solidFill>
                            <a:srgbClr val="1A2E4A"/>
                          </a:solidFill>
                          <a:latin typeface="Calibri" pitchFamily="34" charset="0"/>
                          <a:ea typeface="Calibri" pitchFamily="34" charset="-122"/>
                          <a:cs typeface="Calibri" pitchFamily="34" charset="-120"/>
                        </a:rPr>
                        <a:t>Apply the incidence formula; compute Pb, Ps, the tax wedge and each side's burden; distinguish statutory from economic incidence; explain in plain language why a tax 'on employers' can fall on workers, and state the condition for the reverse.</a:t>
                      </a:r>
                      <a:endParaRPr lang="en-US" sz="1050" dirty="0">
                        <a:latin typeface="Calibri" charset="0"/>
                        <a:ea typeface="Calibri" charset="0"/>
                        <a:cs typeface="Calibri" charset="0"/>
                      </a:endParaRPr>
                    </a:p>
                  </a:txBody>
                  <a:tcPr marL="91440" marR="91440" marT="45720" marB="45720" anchor="ctr">
                    <a:lnL w="12700" cap="flat" cmpd="sng" algn="ctr">
                      <a:solidFill>
                        <a:srgbClr val="CFD9E5"/>
                      </a:solidFill>
                      <a:prstDash val="solid"/>
                      <a:round/>
                      <a:headEnd type="none" w="med" len="med"/>
                      <a:tailEnd type="none" w="med" len="med"/>
                    </a:lnL>
                    <a:lnR w="12700" cap="flat" cmpd="sng" algn="ctr">
                      <a:solidFill>
                        <a:srgbClr val="CFD9E5"/>
                      </a:solidFill>
                      <a:prstDash val="solid"/>
                      <a:round/>
                      <a:headEnd type="none" w="med" len="med"/>
                      <a:tailEnd type="none" w="med" len="med"/>
                    </a:lnR>
                    <a:lnT w="12700" cap="flat" cmpd="sng" algn="ctr">
                      <a:solidFill>
                        <a:srgbClr val="CFD9E5"/>
                      </a:solidFill>
                      <a:prstDash val="solid"/>
                      <a:round/>
                      <a:headEnd type="none" w="med" len="med"/>
                      <a:tailEnd type="none" w="med" len="med"/>
                    </a:lnT>
                    <a:lnB w="12700" cap="flat" cmpd="sng" algn="ctr">
                      <a:solidFill>
                        <a:srgbClr val="CFD9E5"/>
                      </a:solidFill>
                      <a:prstDash val="solid"/>
                      <a:round/>
                      <a:headEnd type="none" w="med" len="med"/>
                      <a:tailEnd type="none" w="med" len="med"/>
                    </a:lnB>
                    <a:solidFill>
                      <a:srgbClr val="E8EDF3"/>
                    </a:solidFill>
                  </a:tcPr>
                </a:tc>
              </a:tr>
            </a:tbl>
          </a:graphicData>
        </a:graphic>
      </p:graphicFrame>
      <p:sp>
        <p:nvSpPr>
          <p:cNvPr id="7" name="Shape 4"/>
          <p:cNvSpPr/>
          <p:nvPr/>
        </p:nvSpPr>
        <p:spPr>
          <a:xfrm>
            <a:off x="502920" y="5486400"/>
            <a:ext cx="11183112" cy="640080"/>
          </a:xfrm>
          <a:prstGeom prst="rect">
            <a:avLst/>
          </a:prstGeom>
          <a:solidFill>
            <a:srgbClr val="1A2E4A"/>
          </a:solidFill>
          <a:ln/>
        </p:spPr>
      </p:sp>
      <p:sp>
        <p:nvSpPr>
          <p:cNvPr id="8" name="Text 5"/>
          <p:cNvSpPr/>
          <p:nvPr/>
        </p:nvSpPr>
        <p:spPr>
          <a:xfrm>
            <a:off x="758952" y="5614416"/>
            <a:ext cx="10671048" cy="274320"/>
          </a:xfrm>
          <a:prstGeom prst="rect">
            <a:avLst/>
          </a:prstGeom>
          <a:noFill/>
          <a:ln/>
        </p:spPr>
        <p:txBody>
          <a:bodyPr wrap="square" lIns="0" tIns="0" rIns="0" bIns="0" rtlCol="0" anchor="ctr"/>
          <a:lstStyle/>
          <a:p>
            <a:pPr indent="0" marL="0">
              <a:buNone/>
            </a:pPr>
            <a:r>
              <a:rPr lang="en-US" sz="1050" b="1" spc="300" kern="0" dirty="0">
                <a:solidFill>
                  <a:srgbClr val="E8C87A"/>
                </a:solidFill>
                <a:latin typeface="Calibri" pitchFamily="34" charset="0"/>
                <a:ea typeface="Calibri" pitchFamily="34" charset="-122"/>
                <a:cs typeface="Calibri" pitchFamily="34" charset="-120"/>
              </a:rPr>
              <a:t>NEXT</a:t>
            </a:r>
            <a:endParaRPr lang="en-US" sz="1050" dirty="0"/>
          </a:p>
        </p:txBody>
      </p:sp>
      <p:sp>
        <p:nvSpPr>
          <p:cNvPr id="9" name="Text 6"/>
          <p:cNvSpPr/>
          <p:nvPr/>
        </p:nvSpPr>
        <p:spPr>
          <a:xfrm>
            <a:off x="758952" y="5815584"/>
            <a:ext cx="10671048" cy="256032"/>
          </a:xfrm>
          <a:prstGeom prst="rect">
            <a:avLst/>
          </a:prstGeom>
          <a:noFill/>
          <a:ln/>
        </p:spPr>
        <p:txBody>
          <a:bodyPr wrap="square" lIns="0" tIns="0" rIns="0" bIns="0" rtlCol="0" anchor="t"/>
          <a:lstStyle/>
          <a:p>
            <a:pPr indent="0" marL="0">
              <a:lnSpc>
                <a:spcPts val="1200"/>
              </a:lnSpc>
              <a:buNone/>
            </a:pPr>
            <a:r>
              <a:rPr lang="en-US" sz="850" dirty="0">
                <a:solidFill>
                  <a:srgbClr val="FFFFFF"/>
                </a:solidFill>
                <a:latin typeface="Calibri" pitchFamily="34" charset="0"/>
                <a:ea typeface="Calibri" pitchFamily="34" charset="-122"/>
                <a:cs typeface="Calibri" pitchFamily="34" charset="-120"/>
              </a:rPr>
              <a:t>MODULE 5 — FACTOR MARKETS. We turn the market model around: the households that were buyers become sellers of land, labor and capital, and the firms that were sellers become buyers. The tools are identical; the logic inverts.</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47472"/>
            <a:ext cx="11155680" cy="274320"/>
          </a:xfrm>
          <a:prstGeom prst="rect">
            <a:avLst/>
          </a:prstGeom>
          <a:noFill/>
          <a:ln/>
        </p:spPr>
        <p:txBody>
          <a:bodyPr wrap="square" lIns="0" tIns="0" rIns="0" bIns="0" rtlCol="0" anchor="ctr"/>
          <a:lstStyle/>
          <a:p>
            <a:pPr indent="0" marL="0">
              <a:buNone/>
            </a:pPr>
            <a:r>
              <a:rPr lang="en-US" sz="1100" b="1" spc="400" kern="0" dirty="0">
                <a:solidFill>
                  <a:srgbClr val="C0892E"/>
                </a:solidFill>
                <a:latin typeface="Calibri" pitchFamily="34" charset="0"/>
                <a:ea typeface="Calibri" pitchFamily="34" charset="-122"/>
                <a:cs typeface="Calibri" pitchFamily="34" charset="-120"/>
              </a:rPr>
              <a:t>MODULE 4</a:t>
            </a:r>
            <a:endParaRPr lang="en-US" sz="1100" dirty="0"/>
          </a:p>
        </p:txBody>
      </p:sp>
      <p:sp>
        <p:nvSpPr>
          <p:cNvPr id="3" name="Text 1"/>
          <p:cNvSpPr/>
          <p:nvPr/>
        </p:nvSpPr>
        <p:spPr>
          <a:xfrm>
            <a:off x="502920" y="621792"/>
            <a:ext cx="11155680" cy="713232"/>
          </a:xfrm>
          <a:prstGeom prst="rect">
            <a:avLst/>
          </a:prstGeom>
          <a:noFill/>
          <a:ln/>
        </p:spPr>
        <p:txBody>
          <a:bodyPr wrap="square" lIns="0" tIns="0" rIns="0" bIns="0" rtlCol="0" anchor="ctr"/>
          <a:lstStyle/>
          <a:p>
            <a:pPr indent="0" marL="0">
              <a:buNone/>
            </a:pPr>
            <a:r>
              <a:rPr lang="en-US" sz="3000" b="1" dirty="0">
                <a:solidFill>
                  <a:srgbClr val="1A2E4A"/>
                </a:solidFill>
                <a:latin typeface="Cambria" pitchFamily="34" charset="0"/>
                <a:ea typeface="Cambria" pitchFamily="34" charset="-122"/>
                <a:cs typeface="Cambria" pitchFamily="34" charset="-120"/>
              </a:rPr>
              <a:t>References</a:t>
            </a:r>
            <a:endParaRPr lang="en-US" sz="3000" dirty="0"/>
          </a:p>
        </p:txBody>
      </p:sp>
      <p:sp>
        <p:nvSpPr>
          <p:cNvPr id="4" name="Text 2"/>
          <p:cNvSpPr/>
          <p:nvPr/>
        </p:nvSpPr>
        <p:spPr>
          <a:xfrm>
            <a:off x="502920" y="6345936"/>
            <a:ext cx="4754880" cy="274320"/>
          </a:xfrm>
          <a:prstGeom prst="rect">
            <a:avLst/>
          </a:prstGeom>
          <a:noFill/>
          <a:ln/>
        </p:spPr>
        <p:txBody>
          <a:bodyPr wrap="square" lIns="0" tIns="0" rIns="0" bIns="0" rtlCol="0" anchor="ctr"/>
          <a:lstStyle/>
          <a:p>
            <a:pPr indent="0" marL="0">
              <a:buNone/>
            </a:pPr>
            <a:r>
              <a:rPr lang="en-US" sz="900" spc="100" kern="0" dirty="0">
                <a:solidFill>
                  <a:srgbClr val="8A97A8"/>
                </a:solidFill>
                <a:latin typeface="Calibri" pitchFamily="34" charset="0"/>
                <a:ea typeface="Calibri" pitchFamily="34" charset="-122"/>
                <a:cs typeface="Calibri" pitchFamily="34" charset="-120"/>
              </a:rPr>
              <a:t>INTRO TO MICROECONOMICS  |  PROF. VELAZQUEZ</a:t>
            </a:r>
            <a:endParaRPr lang="en-US" sz="900" dirty="0"/>
          </a:p>
        </p:txBody>
      </p:sp>
      <p:sp>
        <p:nvSpPr>
          <p:cNvPr id="5" name="Text 3"/>
          <p:cNvSpPr/>
          <p:nvPr/>
        </p:nvSpPr>
        <p:spPr>
          <a:xfrm>
            <a:off x="5486400" y="6345936"/>
            <a:ext cx="6199632" cy="274320"/>
          </a:xfrm>
          <a:prstGeom prst="rect">
            <a:avLst/>
          </a:prstGeom>
          <a:noFill/>
          <a:ln/>
        </p:spPr>
        <p:txBody>
          <a:bodyPr wrap="square" lIns="0" tIns="0" rIns="0" bIns="0" rtlCol="0" anchor="ctr"/>
          <a:lstStyle/>
          <a:p>
            <a:pPr algn="r" indent="0" marL="0">
              <a:buNone/>
            </a:pPr>
            <a:r>
              <a:rPr lang="en-US" sz="900" spc="100" kern="0" dirty="0">
                <a:solidFill>
                  <a:srgbClr val="8A97A8"/>
                </a:solidFill>
                <a:latin typeface="Calibri" pitchFamily="34" charset="0"/>
                <a:ea typeface="Calibri" pitchFamily="34" charset="-122"/>
                <a:cs typeface="Calibri" pitchFamily="34" charset="-120"/>
              </a:rPr>
              <a:t>MODULE 4: MARKET ANALYSIS — ELASTICITY &amp; EFFICIENCY</a:t>
            </a:r>
            <a:endParaRPr lang="en-US" sz="900" dirty="0"/>
          </a:p>
        </p:txBody>
      </p:sp>
      <p:sp>
        <p:nvSpPr>
          <p:cNvPr id="6" name="Text 4"/>
          <p:cNvSpPr/>
          <p:nvPr/>
        </p:nvSpPr>
        <p:spPr>
          <a:xfrm>
            <a:off x="502920" y="1645920"/>
            <a:ext cx="5486400" cy="4206240"/>
          </a:xfrm>
          <a:prstGeom prst="rect">
            <a:avLst/>
          </a:prstGeom>
          <a:noFill/>
          <a:ln/>
        </p:spPr>
        <p:txBody>
          <a:bodyPr wrap="square" lIns="0" tIns="0" rIns="0" bIns="0" rtlCol="0" anchor="ctr"/>
          <a:lstStyle/>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George, H. (1879). Progress and poverty. New York: D. Appleton.</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Marshall, A. (1890). Principles of economics. London: Macmillan. (origin of the elasticity concept)</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Mankiw, N. G. (2021). Principles of microeconomics (9th ed.), Chs. 5–8. Cengage.</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Ricardo, D. (1817). On the principles of political economy and taxation. London: John Murray. (theory of rent)</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Rothschild, E. (2001). Economic sentiments: Adam Smith, Condorcet, and the Enlightenment. Harvard University Press.</a:t>
            </a:r>
            <a:endParaRPr lang="en-US" sz="1100" dirty="0"/>
          </a:p>
        </p:txBody>
      </p:sp>
      <p:sp>
        <p:nvSpPr>
          <p:cNvPr id="7" name="Text 5"/>
          <p:cNvSpPr/>
          <p:nvPr/>
        </p:nvSpPr>
        <p:spPr>
          <a:xfrm>
            <a:off x="6199632" y="1645920"/>
            <a:ext cx="5486400" cy="4206240"/>
          </a:xfrm>
          <a:prstGeom prst="rect">
            <a:avLst/>
          </a:prstGeom>
          <a:noFill/>
          <a:ln/>
        </p:spPr>
        <p:txBody>
          <a:bodyPr wrap="square" lIns="0" tIns="0" rIns="0" bIns="0" rtlCol="0" anchor="ctr"/>
          <a:lstStyle/>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Bourke, H. (1988). The rise and fall of the Fiji copra trade. Journal of Pacific History.</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Rudé, G. (1959). The crowd in the French Revolution. Oxford University Press. (the maximum de prix and the bread riots)</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Loosley, E. (2005). The Isfahan bazaar and Safavid commerce. Iranian Studies.</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Milburn, R. (2005). Nutmeg and the Banda Islands: The spice monopoly. Indonesia and the Malay World.</a:t>
            </a:r>
            <a:endParaRPr lang="en-US" sz="1100" dirty="0"/>
          </a:p>
          <a:p>
            <a:pPr marL="203200" indent="-203200">
              <a:lnSpc>
                <a:spcPts val="1600"/>
              </a:lnSpc>
              <a:spcAft>
                <a:spcPts val="900"/>
              </a:spcAft>
              <a:buSzPct val="100000"/>
              <a:buChar char="•"/>
            </a:pPr>
            <a:r>
              <a:rPr lang="en-US" sz="1100" dirty="0">
                <a:solidFill>
                  <a:srgbClr val="4A6180"/>
                </a:solidFill>
                <a:latin typeface="Calibri" pitchFamily="34" charset="0"/>
                <a:ea typeface="Calibri" pitchFamily="34" charset="-122"/>
                <a:cs typeface="Calibri" pitchFamily="34" charset="-120"/>
              </a:rPr>
              <a:t>Prakash, O. (1998). European commercial enterprise in pre-colonial India. Cambridge University Press. (Bengali weavers)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Saint Joseph's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ECN 101 — Module 4: Market Analysis, Elasticity and Efficiency</dc:title>
  <dc:subject>Introduction to Microeconomics</dc:subject>
  <dc:creator>Professor Velazquez</dc:creator>
  <cp:lastModifiedBy>Professor Velazquez</cp:lastModifiedBy>
  <cp:revision>1</cp:revision>
  <dcterms:created xsi:type="dcterms:W3CDTF">2026-08-24T19:46:23Z</dcterms:created>
  <dcterms:modified xsi:type="dcterms:W3CDTF">2026-08-24T19:46:23Z</dcterms:modified>
</cp:coreProperties>
</file>