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ijdXZVsdzd18xJzEHPiG9Zwhh4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12CA50-F7BB-49FB-A1FD-1592E326B74B}">
  <a:tblStyle styleId="{5412CA50-F7BB-49FB-A1FD-1592E326B7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15" name="Shape 15"/>
        <p:cNvGrpSpPr/>
        <p:nvPr/>
      </p:nvGrpSpPr>
      <p:grpSpPr>
        <a:xfrm>
          <a:off x="0" y="0"/>
          <a:ext cx="0" cy="0"/>
          <a:chOff x="0" y="0"/>
          <a:chExt cx="0" cy="0"/>
        </a:xfrm>
      </p:grpSpPr>
      <p:sp>
        <p:nvSpPr>
          <p:cNvPr id="16" name="Google Shape;16;p1"/>
          <p:cNvSpPr/>
          <p:nvPr/>
        </p:nvSpPr>
        <p:spPr>
          <a:xfrm>
            <a:off x="0" y="0"/>
            <a:ext cx="12191695" cy="68580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14400" y="1051560"/>
            <a:ext cx="10332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400"/>
              <a:buFont typeface="Calibri"/>
              <a:buNone/>
            </a:pPr>
            <a:r>
              <a:rPr b="1" i="0" lang="en-US" sz="1400" u="none" cap="none" strike="noStrike">
                <a:solidFill>
                  <a:srgbClr val="E8C87A"/>
                </a:solidFill>
                <a:latin typeface="Calibri"/>
                <a:ea typeface="Calibri"/>
                <a:cs typeface="Calibri"/>
                <a:sym typeface="Calibri"/>
              </a:rPr>
              <a:t>PROFESSOR VELAZQUEZ</a:t>
            </a:r>
            <a:endParaRPr b="0" i="0" sz="1400" u="none" cap="none" strike="noStrike">
              <a:solidFill>
                <a:schemeClr val="dk1"/>
              </a:solidFill>
              <a:latin typeface="Calibri"/>
              <a:ea typeface="Calibri"/>
              <a:cs typeface="Calibri"/>
              <a:sym typeface="Calibri"/>
            </a:endParaRPr>
          </a:p>
        </p:txBody>
      </p:sp>
      <p:sp>
        <p:nvSpPr>
          <p:cNvPr id="18" name="Google Shape;18;p1"/>
          <p:cNvSpPr/>
          <p:nvPr/>
        </p:nvSpPr>
        <p:spPr>
          <a:xfrm>
            <a:off x="914400" y="1600200"/>
            <a:ext cx="10332720" cy="2651760"/>
          </a:xfrm>
          <a:prstGeom prst="rect">
            <a:avLst/>
          </a:prstGeom>
          <a:noFill/>
          <a:ln>
            <a:noFill/>
          </a:ln>
        </p:spPr>
        <p:txBody>
          <a:bodyPr anchorCtr="0" anchor="ctr" bIns="0" lIns="0" spcFirstLastPara="1" rIns="0" wrap="square" tIns="0">
            <a:noAutofit/>
          </a:bodyPr>
          <a:lstStyle/>
          <a:p>
            <a:pPr indent="0" lvl="0" marL="0" marR="0" rtl="0" algn="l">
              <a:lnSpc>
                <a:spcPct val="114814"/>
              </a:lnSpc>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INTRODUCTION</a:t>
            </a:r>
            <a:endParaRPr b="0" i="0" sz="5400" u="none" cap="none" strike="noStrike">
              <a:solidFill>
                <a:schemeClr val="dk1"/>
              </a:solidFill>
              <a:latin typeface="Calibri"/>
              <a:ea typeface="Calibri"/>
              <a:cs typeface="Calibri"/>
              <a:sym typeface="Calibri"/>
            </a:endParaRPr>
          </a:p>
          <a:p>
            <a:pPr indent="0" lvl="0" marL="0" marR="0" rtl="0" algn="l">
              <a:lnSpc>
                <a:spcPct val="114814"/>
              </a:lnSpc>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TO</a:t>
            </a:r>
            <a:endParaRPr b="0" i="0" sz="5400" u="none" cap="none" strike="noStrike">
              <a:solidFill>
                <a:schemeClr val="dk1"/>
              </a:solidFill>
              <a:latin typeface="Calibri"/>
              <a:ea typeface="Calibri"/>
              <a:cs typeface="Calibri"/>
              <a:sym typeface="Calibri"/>
            </a:endParaRPr>
          </a:p>
          <a:p>
            <a:pPr indent="0" lvl="0" marL="0" marR="0" rtl="0" algn="l">
              <a:lnSpc>
                <a:spcPct val="114814"/>
              </a:lnSpc>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MICROECONOMICS</a:t>
            </a:r>
            <a:endParaRPr b="0" i="0" sz="5400" u="none" cap="none" strike="noStrike">
              <a:solidFill>
                <a:schemeClr val="dk1"/>
              </a:solidFill>
              <a:latin typeface="Calibri"/>
              <a:ea typeface="Calibri"/>
              <a:cs typeface="Calibri"/>
              <a:sym typeface="Calibri"/>
            </a:endParaRPr>
          </a:p>
        </p:txBody>
      </p:sp>
      <p:sp>
        <p:nvSpPr>
          <p:cNvPr id="19" name="Google Shape;19;p1"/>
          <p:cNvSpPr/>
          <p:nvPr/>
        </p:nvSpPr>
        <p:spPr>
          <a:xfrm>
            <a:off x="914400" y="4434840"/>
            <a:ext cx="1371600" cy="50292"/>
          </a:xfrm>
          <a:prstGeom prst="rect">
            <a:avLst/>
          </a:prstGeom>
          <a:solidFill>
            <a:srgbClr val="C08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914400" y="4709160"/>
            <a:ext cx="10332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700"/>
              <a:buFont typeface="Calibri"/>
              <a:buNone/>
            </a:pPr>
            <a:r>
              <a:rPr b="0" i="0" lang="en-US" sz="1700" u="none" cap="none" strike="noStrike">
                <a:solidFill>
                  <a:srgbClr val="E8C87A"/>
                </a:solidFill>
                <a:latin typeface="Calibri"/>
                <a:ea typeface="Calibri"/>
                <a:cs typeface="Calibri"/>
                <a:sym typeface="Calibri"/>
              </a:rPr>
              <a:t>MODULE 01  ·  OVERVIEW OF ECONOMIC THOUGHT AND MODELING</a:t>
            </a:r>
            <a:endParaRPr b="0" i="0" sz="1700" u="none" cap="none" strike="noStrike">
              <a:solidFill>
                <a:schemeClr val="dk1"/>
              </a:solidFill>
              <a:latin typeface="Calibri"/>
              <a:ea typeface="Calibri"/>
              <a:cs typeface="Calibri"/>
              <a:sym typeface="Calibri"/>
            </a:endParaRPr>
          </a:p>
        </p:txBody>
      </p:sp>
      <p:sp>
        <p:nvSpPr>
          <p:cNvPr id="21" name="Google Shape;21;p1"/>
          <p:cNvSpPr/>
          <p:nvPr/>
        </p:nvSpPr>
        <p:spPr>
          <a:xfrm>
            <a:off x="914400" y="5212080"/>
            <a:ext cx="10332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1300"/>
              <a:buFont typeface="Calibri"/>
              <a:buNone/>
            </a:pPr>
            <a:r>
              <a:rPr b="0" i="0" lang="en-US" sz="1300" u="none" cap="none" strike="noStrike">
                <a:solidFill>
                  <a:srgbClr val="8A97A8"/>
                </a:solidFill>
                <a:latin typeface="Calibri"/>
                <a:ea typeface="Calibri"/>
                <a:cs typeface="Calibri"/>
                <a:sym typeface="Calibri"/>
              </a:rPr>
              <a:t>FALL 2025</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DF3"/>
        </a:solidFill>
      </p:bgPr>
    </p:bg>
    <p:spTree>
      <p:nvGrpSpPr>
        <p:cNvPr id="26" name="Shape 26"/>
        <p:cNvGrpSpPr/>
        <p:nvPr/>
      </p:nvGrpSpPr>
      <p:grpSpPr>
        <a:xfrm>
          <a:off x="0" y="0"/>
          <a:ext cx="0" cy="0"/>
          <a:chOff x="0" y="0"/>
          <a:chExt cx="0" cy="0"/>
        </a:xfrm>
      </p:grpSpPr>
      <p:sp>
        <p:nvSpPr>
          <p:cNvPr id="27" name="Google Shape;27;p2"/>
          <p:cNvSpPr/>
          <p:nvPr/>
        </p:nvSpPr>
        <p:spPr>
          <a:xfrm>
            <a:off x="822960" y="1417320"/>
            <a:ext cx="3291840" cy="274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9000"/>
              <a:buFont typeface="Cambria"/>
              <a:buNone/>
            </a:pPr>
            <a:r>
              <a:rPr b="1" i="0" lang="en-US" sz="19000" u="none" cap="none" strike="noStrike">
                <a:solidFill>
                  <a:srgbClr val="E8C87A"/>
                </a:solidFill>
                <a:latin typeface="Cambria"/>
                <a:ea typeface="Cambria"/>
                <a:cs typeface="Cambria"/>
                <a:sym typeface="Cambria"/>
              </a:rPr>
              <a:t>01</a:t>
            </a:r>
            <a:endParaRPr b="0" i="0" sz="19000" u="none" cap="none" strike="noStrike">
              <a:solidFill>
                <a:schemeClr val="dk1"/>
              </a:solidFill>
              <a:latin typeface="Calibri"/>
              <a:ea typeface="Calibri"/>
              <a:cs typeface="Calibri"/>
              <a:sym typeface="Calibri"/>
            </a:endParaRPr>
          </a:p>
        </p:txBody>
      </p:sp>
      <p:sp>
        <p:nvSpPr>
          <p:cNvPr id="28" name="Google Shape;28;p2"/>
          <p:cNvSpPr/>
          <p:nvPr/>
        </p:nvSpPr>
        <p:spPr>
          <a:xfrm>
            <a:off x="960120" y="41605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00"/>
              <a:buFont typeface="Calibri"/>
              <a:buNone/>
            </a:pPr>
            <a:r>
              <a:rPr b="1" i="0" lang="en-US" sz="1500" u="none" cap="none" strike="noStrike">
                <a:solidFill>
                  <a:srgbClr val="C0892E"/>
                </a:solidFill>
                <a:latin typeface="Calibri"/>
                <a:ea typeface="Calibri"/>
                <a:cs typeface="Calibri"/>
                <a:sym typeface="Calibri"/>
              </a:rPr>
              <a:t>MODULE</a:t>
            </a:r>
            <a:endParaRPr b="0" i="0" sz="1500" u="none" cap="none" strike="noStrike">
              <a:solidFill>
                <a:schemeClr val="dk1"/>
              </a:solidFill>
              <a:latin typeface="Calibri"/>
              <a:ea typeface="Calibri"/>
              <a:cs typeface="Calibri"/>
              <a:sym typeface="Calibri"/>
            </a:endParaRPr>
          </a:p>
        </p:txBody>
      </p:sp>
      <p:sp>
        <p:nvSpPr>
          <p:cNvPr id="29" name="Google Shape;29;p2"/>
          <p:cNvSpPr/>
          <p:nvPr/>
        </p:nvSpPr>
        <p:spPr>
          <a:xfrm>
            <a:off x="4480560" y="1828800"/>
            <a:ext cx="6949440" cy="182880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rgbClr val="1A2E4A"/>
              </a:buClr>
              <a:buSzPts val="4000"/>
              <a:buFont typeface="Cambria"/>
              <a:buNone/>
            </a:pPr>
            <a:r>
              <a:rPr b="1" i="0" lang="en-US" sz="4000" u="none" cap="none" strike="noStrike">
                <a:solidFill>
                  <a:srgbClr val="1A2E4A"/>
                </a:solidFill>
                <a:latin typeface="Cambria"/>
                <a:ea typeface="Cambria"/>
                <a:cs typeface="Cambria"/>
                <a:sym typeface="Cambria"/>
              </a:rPr>
              <a:t>Overview of Economic</a:t>
            </a:r>
            <a:endParaRPr b="0" i="0" sz="4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A2E4A"/>
              </a:buClr>
              <a:buSzPts val="4000"/>
              <a:buFont typeface="Cambria"/>
              <a:buNone/>
            </a:pPr>
            <a:r>
              <a:rPr b="1" i="0" lang="en-US" sz="4000" u="none" cap="none" strike="noStrike">
                <a:solidFill>
                  <a:srgbClr val="1A2E4A"/>
                </a:solidFill>
                <a:latin typeface="Cambria"/>
                <a:ea typeface="Cambria"/>
                <a:cs typeface="Cambria"/>
                <a:sym typeface="Cambria"/>
              </a:rPr>
              <a:t>Thought and Modeling</a:t>
            </a:r>
            <a:endParaRPr b="0" i="0" sz="4000" u="none" cap="none" strike="noStrike">
              <a:solidFill>
                <a:schemeClr val="dk1"/>
              </a:solidFill>
              <a:latin typeface="Calibri"/>
              <a:ea typeface="Calibri"/>
              <a:cs typeface="Calibri"/>
              <a:sym typeface="Calibri"/>
            </a:endParaRPr>
          </a:p>
        </p:txBody>
      </p:sp>
      <p:sp>
        <p:nvSpPr>
          <p:cNvPr id="30" name="Google Shape;30;p2"/>
          <p:cNvSpPr/>
          <p:nvPr/>
        </p:nvSpPr>
        <p:spPr>
          <a:xfrm>
            <a:off x="4480560" y="3794760"/>
            <a:ext cx="6949440" cy="146304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4A6180"/>
              </a:buClr>
              <a:buSzPts val="1500"/>
              <a:buFont typeface="Calibri"/>
              <a:buNone/>
            </a:pPr>
            <a:r>
              <a:rPr b="0" i="0" lang="en-US" sz="1500" u="none" cap="none" strike="noStrike">
                <a:solidFill>
                  <a:srgbClr val="4A6180"/>
                </a:solidFill>
                <a:latin typeface="Calibri"/>
                <a:ea typeface="Calibri"/>
                <a:cs typeface="Calibri"/>
                <a:sym typeface="Calibri"/>
              </a:rPr>
              <a:t>Section I builds the method of economic reasoning. Section II builds three foundational models of the course: the budget constraint, the production possibilities model, and comparative advantage.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3"/>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37" name="Google Shape;37;p3"/>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Agenda, Big Questions &amp; Do Now</a:t>
            </a:r>
            <a:endParaRPr b="0" i="0" sz="3000" u="none" cap="none" strike="noStrike">
              <a:solidFill>
                <a:schemeClr val="dk1"/>
              </a:solidFill>
              <a:latin typeface="Calibri"/>
              <a:ea typeface="Calibri"/>
              <a:cs typeface="Calibri"/>
              <a:sym typeface="Calibri"/>
            </a:endParaRPr>
          </a:p>
        </p:txBody>
      </p:sp>
      <p:sp>
        <p:nvSpPr>
          <p:cNvPr id="38" name="Google Shape;38;p3"/>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39" name="Google Shape;39;p3"/>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40" name="Google Shape;40;p3"/>
          <p:cNvSpPr/>
          <p:nvPr/>
        </p:nvSpPr>
        <p:spPr>
          <a:xfrm>
            <a:off x="502920" y="1481328"/>
            <a:ext cx="3611880" cy="21488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58952" y="1664208"/>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BIG QUESTIONS</a:t>
            </a:r>
            <a:endParaRPr b="0" i="0" sz="1550" u="none" cap="none" strike="noStrike">
              <a:solidFill>
                <a:schemeClr val="dk1"/>
              </a:solidFill>
              <a:latin typeface="Calibri"/>
              <a:ea typeface="Calibri"/>
              <a:cs typeface="Calibri"/>
              <a:sym typeface="Calibri"/>
            </a:endParaRPr>
          </a:p>
        </p:txBody>
      </p:sp>
      <p:sp>
        <p:nvSpPr>
          <p:cNvPr id="42" name="Google Shape;42;p3"/>
          <p:cNvSpPr/>
          <p:nvPr/>
        </p:nvSpPr>
        <p:spPr>
          <a:xfrm>
            <a:off x="758952" y="2066544"/>
            <a:ext cx="3099816" cy="132588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(1) What are the foundational principles of economic analysis, and how do economists construct valid arguments?</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(2) How do economists model the tradeoffs faced by consumers and producers under scarcity?</a:t>
            </a:r>
            <a:endParaRPr b="0" i="0" sz="1050" u="none" cap="none" strike="noStrike">
              <a:solidFill>
                <a:schemeClr val="dk1"/>
              </a:solidFill>
              <a:latin typeface="Calibri"/>
              <a:ea typeface="Calibri"/>
              <a:cs typeface="Calibri"/>
              <a:sym typeface="Calibri"/>
            </a:endParaRPr>
          </a:p>
        </p:txBody>
      </p:sp>
      <p:sp>
        <p:nvSpPr>
          <p:cNvPr id="43" name="Google Shape;43;p3"/>
          <p:cNvSpPr/>
          <p:nvPr/>
        </p:nvSpPr>
        <p:spPr>
          <a:xfrm>
            <a:off x="4315968" y="1481328"/>
            <a:ext cx="3611880" cy="21488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4572000" y="1664208"/>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PRE-WORK</a:t>
            </a:r>
            <a:endParaRPr b="0" i="0" sz="1550" u="none" cap="none" strike="noStrike">
              <a:solidFill>
                <a:schemeClr val="dk1"/>
              </a:solidFill>
              <a:latin typeface="Calibri"/>
              <a:ea typeface="Calibri"/>
              <a:cs typeface="Calibri"/>
              <a:sym typeface="Calibri"/>
            </a:endParaRPr>
          </a:p>
        </p:txBody>
      </p:sp>
      <p:sp>
        <p:nvSpPr>
          <p:cNvPr id="45" name="Google Shape;45;p3"/>
          <p:cNvSpPr/>
          <p:nvPr/>
        </p:nvSpPr>
        <p:spPr>
          <a:xfrm>
            <a:off x="4572000" y="2066544"/>
            <a:ext cx="3099816" cy="132588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4A6180"/>
              </a:buClr>
              <a:buSzPts val="1200"/>
              <a:buFont typeface="Calibri"/>
              <a:buNone/>
            </a:pPr>
            <a:r>
              <a:rPr b="0" i="0" lang="en-US" sz="1200" u="none" cap="none" strike="noStrike">
                <a:solidFill>
                  <a:srgbClr val="4A6180"/>
                </a:solidFill>
                <a:latin typeface="Calibri"/>
                <a:ea typeface="Calibri"/>
                <a:cs typeface="Calibri"/>
                <a:sym typeface="Calibri"/>
              </a:rPr>
              <a:t>· Read Chapters 1–2 and the Syllabus</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rgbClr val="4A6180"/>
              </a:buClr>
              <a:buSzPts val="1200"/>
              <a:buFont typeface="Calibri"/>
              <a:buNone/>
            </a:pPr>
            <a:r>
              <a:rPr b="0" i="0" lang="en-US" sz="1200" u="none" cap="none" strike="noStrike">
                <a:solidFill>
                  <a:srgbClr val="4A6180"/>
                </a:solidFill>
                <a:latin typeface="Calibri"/>
                <a:ea typeface="Calibri"/>
                <a:cs typeface="Calibri"/>
                <a:sym typeface="Calibri"/>
              </a:rPr>
              <a:t>· Complete the Module 1 Vocabulary Checklist</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rgbClr val="4A6180"/>
              </a:buClr>
              <a:buSzPts val="1200"/>
              <a:buFont typeface="Calibri"/>
              <a:buNone/>
            </a:pPr>
            <a:r>
              <a:rPr b="0" i="0" lang="en-US" sz="1200" u="none" cap="none" strike="noStrike">
                <a:solidFill>
                  <a:srgbClr val="4A6180"/>
                </a:solidFill>
                <a:latin typeface="Calibri"/>
                <a:ea typeface="Calibri"/>
                <a:cs typeface="Calibri"/>
                <a:sym typeface="Calibri"/>
              </a:rPr>
              <a:t>· Khan Academy: Basic Economic Concepts, Quizzes 1–3</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rgbClr val="4A6180"/>
              </a:buClr>
              <a:buSzPts val="1200"/>
              <a:buFont typeface="Calibri"/>
              <a:buNone/>
            </a:pPr>
            <a:r>
              <a:rPr b="0" i="0" lang="en-US" sz="1200" u="none" cap="none" strike="noStrike">
                <a:solidFill>
                  <a:srgbClr val="4A6180"/>
                </a:solidFill>
                <a:latin typeface="Calibri"/>
                <a:ea typeface="Calibri"/>
                <a:cs typeface="Calibri"/>
                <a:sym typeface="Calibri"/>
              </a:rPr>
              <a:t>· Bring the Module 1 Worksheet</a:t>
            </a:r>
            <a:endParaRPr b="0" i="0" sz="1200" u="none" cap="none" strike="noStrike">
              <a:solidFill>
                <a:schemeClr val="dk1"/>
              </a:solidFill>
              <a:latin typeface="Calibri"/>
              <a:ea typeface="Calibri"/>
              <a:cs typeface="Calibri"/>
              <a:sym typeface="Calibri"/>
            </a:endParaRPr>
          </a:p>
        </p:txBody>
      </p:sp>
      <p:sp>
        <p:nvSpPr>
          <p:cNvPr id="46" name="Google Shape;46;p3"/>
          <p:cNvSpPr/>
          <p:nvPr/>
        </p:nvSpPr>
        <p:spPr>
          <a:xfrm>
            <a:off x="8119872" y="1481328"/>
            <a:ext cx="3566160" cy="21488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8375904" y="1664208"/>
            <a:ext cx="305409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WHAT YOU'LL NEED</a:t>
            </a:r>
            <a:endParaRPr b="0" i="0" sz="1550" u="none" cap="none" strike="noStrike">
              <a:solidFill>
                <a:schemeClr val="dk1"/>
              </a:solidFill>
              <a:latin typeface="Calibri"/>
              <a:ea typeface="Calibri"/>
              <a:cs typeface="Calibri"/>
              <a:sym typeface="Calibri"/>
            </a:endParaRPr>
          </a:p>
        </p:txBody>
      </p:sp>
      <p:sp>
        <p:nvSpPr>
          <p:cNvPr id="48" name="Google Shape;48;p3"/>
          <p:cNvSpPr/>
          <p:nvPr/>
        </p:nvSpPr>
        <p:spPr>
          <a:xfrm>
            <a:off x="8375904" y="2066544"/>
            <a:ext cx="3054096" cy="13258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 Module 1 Worksheet (printed)</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 Pencil, straight-edge, calculator</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 Graph paper for Parts 4–6</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 Laptop for the classroom budget-constraint app</a:t>
            </a:r>
            <a:endParaRPr b="0" i="0" sz="1250" u="none" cap="none" strike="noStrike">
              <a:solidFill>
                <a:schemeClr val="dk1"/>
              </a:solidFill>
              <a:latin typeface="Calibri"/>
              <a:ea typeface="Calibri"/>
              <a:cs typeface="Calibri"/>
              <a:sym typeface="Calibri"/>
            </a:endParaRPr>
          </a:p>
        </p:txBody>
      </p:sp>
      <p:graphicFrame>
        <p:nvGraphicFramePr>
          <p:cNvPr id="49" name="Google Shape;49;p3"/>
          <p:cNvGraphicFramePr/>
          <p:nvPr/>
        </p:nvGraphicFramePr>
        <p:xfrm>
          <a:off x="502920" y="3886200"/>
          <a:ext cx="3000000" cy="3000000"/>
        </p:xfrm>
        <a:graphic>
          <a:graphicData uri="http://schemas.openxmlformats.org/drawingml/2006/table">
            <a:tbl>
              <a:tblPr>
                <a:noFill/>
                <a:tableStyleId>{5412CA50-F7BB-49FB-A1FD-1592E326B74B}</a:tableStyleId>
              </a:tblPr>
              <a:tblGrid>
                <a:gridCol w="4206250"/>
                <a:gridCol w="1280150"/>
                <a:gridCol w="4416550"/>
                <a:gridCol w="1280150"/>
              </a:tblGrid>
              <a:tr h="3291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AGENDA — DAY 1 (1 hr 15 min)</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TIME</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AGENDA — DAY 2 (1 hr 15 min)</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TIME</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32917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Do Now + Logistics</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20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Do Now: Table → Equation → Graph</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5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1 — Scientific method &amp; reasoning</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20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4 — Budget constraint</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25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2917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2 — Scarcity &amp; opportunity cost</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20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5 — Production possibilities model</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25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3 — History of economic thought</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15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6 — Comparative advantage &amp; trade</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20 min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54" name="Shape 54"/>
        <p:cNvGrpSpPr/>
        <p:nvPr/>
      </p:nvGrpSpPr>
      <p:grpSpPr>
        <a:xfrm>
          <a:off x="0" y="0"/>
          <a:ext cx="0" cy="0"/>
          <a:chOff x="0" y="0"/>
          <a:chExt cx="0" cy="0"/>
        </a:xfrm>
      </p:grpSpPr>
      <p:sp>
        <p:nvSpPr>
          <p:cNvPr id="55" name="Google Shape;55;p4"/>
          <p:cNvSpPr/>
          <p:nvPr/>
        </p:nvSpPr>
        <p:spPr>
          <a:xfrm>
            <a:off x="822960" y="12344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400"/>
              <a:buFont typeface="Calibri"/>
              <a:buNone/>
            </a:pPr>
            <a:r>
              <a:rPr b="1" i="0" lang="en-US" sz="1400" u="none" cap="none" strike="noStrike">
                <a:solidFill>
                  <a:srgbClr val="C0892E"/>
                </a:solidFill>
                <a:latin typeface="Calibri"/>
                <a:ea typeface="Calibri"/>
                <a:cs typeface="Calibri"/>
                <a:sym typeface="Calibri"/>
              </a:rPr>
              <a:t>YOU TRY</a:t>
            </a:r>
            <a:endParaRPr b="0" i="0" sz="1400" u="none" cap="none" strike="noStrike">
              <a:solidFill>
                <a:schemeClr val="dk1"/>
              </a:solidFill>
              <a:latin typeface="Calibri"/>
              <a:ea typeface="Calibri"/>
              <a:cs typeface="Calibri"/>
              <a:sym typeface="Calibri"/>
            </a:endParaRPr>
          </a:p>
        </p:txBody>
      </p:sp>
      <p:sp>
        <p:nvSpPr>
          <p:cNvPr id="56" name="Google Shape;56;p4"/>
          <p:cNvSpPr/>
          <p:nvPr/>
        </p:nvSpPr>
        <p:spPr>
          <a:xfrm>
            <a:off x="822960" y="164592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Do Now — The Distribution Problem</a:t>
            </a:r>
            <a:endParaRPr b="0" i="0" sz="3400" u="none" cap="none" strike="noStrike">
              <a:solidFill>
                <a:schemeClr val="dk1"/>
              </a:solidFill>
              <a:latin typeface="Calibri"/>
              <a:ea typeface="Calibri"/>
              <a:cs typeface="Calibri"/>
              <a:sym typeface="Calibri"/>
            </a:endParaRPr>
          </a:p>
        </p:txBody>
      </p:sp>
      <p:sp>
        <p:nvSpPr>
          <p:cNvPr id="57" name="Google Shape;57;p4"/>
          <p:cNvSpPr/>
          <p:nvPr/>
        </p:nvSpPr>
        <p:spPr>
          <a:xfrm>
            <a:off x="822960" y="2834640"/>
            <a:ext cx="7863840" cy="2651760"/>
          </a:xfrm>
          <a:prstGeom prst="rect">
            <a:avLst/>
          </a:prstGeom>
          <a:noFill/>
          <a:ln>
            <a:noFill/>
          </a:ln>
        </p:spPr>
        <p:txBody>
          <a:bodyPr anchorCtr="0" anchor="ctr" bIns="0" lIns="0" spcFirstLastPara="1" rIns="0" wrap="square" tIns="0">
            <a:noAutofit/>
          </a:bodyPr>
          <a:lstStyle/>
          <a:p>
            <a:pPr indent="-203200" lvl="0" marL="203200" marR="0" rtl="0" algn="l">
              <a:lnSpc>
                <a:spcPct val="160000"/>
              </a:lnSpc>
              <a:spcBef>
                <a:spcPts val="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There is ONE Hershey Kiss for everyone in this class to share.</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What is the BEST SYSTEM to decide how to distribute this single piece of chocolate?</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Write down your system. Then name the value judgment it rests on — efficiency? equality? need? merit? first-come?</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Hold onto your answer. Every module this semester is a variation on this question.</a:t>
            </a:r>
            <a:endParaRPr b="0" i="0" sz="1500" u="none" cap="none" strike="noStrike">
              <a:solidFill>
                <a:schemeClr val="dk1"/>
              </a:solidFill>
              <a:latin typeface="Calibri"/>
              <a:ea typeface="Calibri"/>
              <a:cs typeface="Calibri"/>
              <a:sym typeface="Calibri"/>
            </a:endParaRPr>
          </a:p>
        </p:txBody>
      </p:sp>
      <p:sp>
        <p:nvSpPr>
          <p:cNvPr id="58" name="Google Shape;58;p4"/>
          <p:cNvSpPr/>
          <p:nvPr/>
        </p:nvSpPr>
        <p:spPr>
          <a:xfrm>
            <a:off x="9326880" y="3017520"/>
            <a:ext cx="1828800" cy="1828800"/>
          </a:xfrm>
          <a:prstGeom prst="ellipse">
            <a:avLst/>
          </a:prstGeom>
          <a:solidFill>
            <a:srgbClr val="C08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9326880" y="3017520"/>
            <a:ext cx="1828800" cy="182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5</a:t>
            </a:r>
            <a:endParaRPr b="0" i="0" sz="3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MIN</a:t>
            </a:r>
            <a:endParaRPr b="0" i="0" sz="3000" u="none" cap="none" strike="noStrike">
              <a:solidFill>
                <a:schemeClr val="dk1"/>
              </a:solidFill>
              <a:latin typeface="Calibri"/>
              <a:ea typeface="Calibri"/>
              <a:cs typeface="Calibri"/>
              <a:sym typeface="Calibri"/>
            </a:endParaRPr>
          </a:p>
        </p:txBody>
      </p:sp>
      <p:sp>
        <p:nvSpPr>
          <p:cNvPr id="60" name="Google Shape;60;p4"/>
          <p:cNvSpPr/>
          <p:nvPr/>
        </p:nvSpPr>
        <p:spPr>
          <a:xfrm>
            <a:off x="822960" y="6345936"/>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BEFORE WE BEGIN</a:t>
            </a:r>
            <a:endParaRPr b="0" i="0" sz="1100" u="none" cap="none" strike="noStrike">
              <a:solidFill>
                <a:schemeClr val="dk1"/>
              </a:solidFill>
              <a:latin typeface="Calibri"/>
              <a:ea typeface="Calibri"/>
              <a:cs typeface="Calibri"/>
              <a:sym typeface="Calibri"/>
            </a:endParaRPr>
          </a:p>
        </p:txBody>
      </p:sp>
      <p:sp>
        <p:nvSpPr>
          <p:cNvPr id="67" name="Google Shape;67;p5"/>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Vocabulary Checklist — Module 1</a:t>
            </a:r>
            <a:endParaRPr b="0" i="0" sz="3000" u="none" cap="none" strike="noStrike">
              <a:solidFill>
                <a:schemeClr val="dk1"/>
              </a:solidFill>
              <a:latin typeface="Calibri"/>
              <a:ea typeface="Calibri"/>
              <a:cs typeface="Calibri"/>
              <a:sym typeface="Calibri"/>
            </a:endParaRPr>
          </a:p>
        </p:txBody>
      </p:sp>
      <p:sp>
        <p:nvSpPr>
          <p:cNvPr id="68" name="Google Shape;68;p5"/>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69" name="Google Shape;69;p5"/>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70" name="Google Shape;70;p5"/>
          <p:cNvSpPr/>
          <p:nvPr/>
        </p:nvSpPr>
        <p:spPr>
          <a:xfrm>
            <a:off x="502920" y="1554480"/>
            <a:ext cx="2697480" cy="393192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731520" y="1783080"/>
            <a:ext cx="2286000" cy="3474720"/>
          </a:xfrm>
          <a:prstGeom prst="rect">
            <a:avLst/>
          </a:prstGeom>
          <a:noFill/>
          <a:ln>
            <a:noFill/>
          </a:ln>
        </p:spPr>
        <p:txBody>
          <a:bodyPr anchorCtr="0" anchor="ctr" bIns="0" lIns="0" spcFirstLastPara="1" rIns="0" wrap="square" tIns="0">
            <a:noAutofit/>
          </a:bodyPr>
          <a:lstStyle/>
          <a:p>
            <a:pPr indent="-203200" lvl="0" marL="203200" marR="0" rtl="0" algn="l">
              <a:lnSpc>
                <a:spcPct val="146153"/>
              </a:lnSpc>
              <a:spcBef>
                <a:spcPts val="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Scarcity</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Opportunity Cost</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Factors of Production</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Positive Statement</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Normative Statement</a:t>
            </a:r>
            <a:endParaRPr b="0" i="0" sz="1300" u="none" cap="none" strike="noStrike">
              <a:solidFill>
                <a:schemeClr val="dk1"/>
              </a:solidFill>
              <a:latin typeface="Calibri"/>
              <a:ea typeface="Calibri"/>
              <a:cs typeface="Calibri"/>
              <a:sym typeface="Calibri"/>
            </a:endParaRPr>
          </a:p>
        </p:txBody>
      </p:sp>
      <p:sp>
        <p:nvSpPr>
          <p:cNvPr id="72" name="Google Shape;72;p5"/>
          <p:cNvSpPr/>
          <p:nvPr/>
        </p:nvSpPr>
        <p:spPr>
          <a:xfrm>
            <a:off x="3364992" y="1554480"/>
            <a:ext cx="2697480" cy="393192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3593592" y="1783080"/>
            <a:ext cx="2286000" cy="3474720"/>
          </a:xfrm>
          <a:prstGeom prst="rect">
            <a:avLst/>
          </a:prstGeom>
          <a:noFill/>
          <a:ln>
            <a:noFill/>
          </a:ln>
        </p:spPr>
        <p:txBody>
          <a:bodyPr anchorCtr="0" anchor="ctr" bIns="0" lIns="0" spcFirstLastPara="1" rIns="0" wrap="square" tIns="0">
            <a:noAutofit/>
          </a:bodyPr>
          <a:lstStyle/>
          <a:p>
            <a:pPr indent="-203200" lvl="0" marL="203200" marR="0" rtl="0" algn="l">
              <a:lnSpc>
                <a:spcPct val="146153"/>
              </a:lnSpc>
              <a:spcBef>
                <a:spcPts val="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Ceteris Paribus</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Natural Experiment</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Rational Behavior</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Marginal Analysis</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Marginal Benefit</a:t>
            </a:r>
            <a:endParaRPr b="0" i="0" sz="1300" u="none" cap="none" strike="noStrike">
              <a:solidFill>
                <a:schemeClr val="dk1"/>
              </a:solidFill>
              <a:latin typeface="Calibri"/>
              <a:ea typeface="Calibri"/>
              <a:cs typeface="Calibri"/>
              <a:sym typeface="Calibri"/>
            </a:endParaRPr>
          </a:p>
        </p:txBody>
      </p:sp>
      <p:sp>
        <p:nvSpPr>
          <p:cNvPr id="74" name="Google Shape;74;p5"/>
          <p:cNvSpPr/>
          <p:nvPr/>
        </p:nvSpPr>
        <p:spPr>
          <a:xfrm>
            <a:off x="6227064" y="1554480"/>
            <a:ext cx="2697480" cy="393192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6455664" y="1783080"/>
            <a:ext cx="2286000" cy="3474720"/>
          </a:xfrm>
          <a:prstGeom prst="rect">
            <a:avLst/>
          </a:prstGeom>
          <a:noFill/>
          <a:ln>
            <a:noFill/>
          </a:ln>
        </p:spPr>
        <p:txBody>
          <a:bodyPr anchorCtr="0" anchor="ctr" bIns="0" lIns="0" spcFirstLastPara="1" rIns="0" wrap="square" tIns="0">
            <a:noAutofit/>
          </a:bodyPr>
          <a:lstStyle/>
          <a:p>
            <a:pPr indent="-203200" lvl="0" marL="203200" marR="0" rtl="0" algn="l">
              <a:lnSpc>
                <a:spcPct val="146153"/>
              </a:lnSpc>
              <a:spcBef>
                <a:spcPts val="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Marginal Cost</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Budget Constraint</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Feasible Set</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Production Possibilities Model</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Law of Increasing Opp. Cost</a:t>
            </a:r>
            <a:endParaRPr b="0" i="0" sz="1300" u="none" cap="none" strike="noStrike">
              <a:solidFill>
                <a:schemeClr val="dk1"/>
              </a:solidFill>
              <a:latin typeface="Calibri"/>
              <a:ea typeface="Calibri"/>
              <a:cs typeface="Calibri"/>
              <a:sym typeface="Calibri"/>
            </a:endParaRPr>
          </a:p>
        </p:txBody>
      </p:sp>
      <p:sp>
        <p:nvSpPr>
          <p:cNvPr id="76" name="Google Shape;76;p5"/>
          <p:cNvSpPr/>
          <p:nvPr/>
        </p:nvSpPr>
        <p:spPr>
          <a:xfrm>
            <a:off x="9089136" y="1554480"/>
            <a:ext cx="2697480" cy="393192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9317736" y="1783080"/>
            <a:ext cx="2286000" cy="3474720"/>
          </a:xfrm>
          <a:prstGeom prst="rect">
            <a:avLst/>
          </a:prstGeom>
          <a:noFill/>
          <a:ln>
            <a:noFill/>
          </a:ln>
        </p:spPr>
        <p:txBody>
          <a:bodyPr anchorCtr="0" anchor="ctr" bIns="0" lIns="0" spcFirstLastPara="1" rIns="0" wrap="square" tIns="0">
            <a:noAutofit/>
          </a:bodyPr>
          <a:lstStyle/>
          <a:p>
            <a:pPr indent="-203200" lvl="0" marL="203200" marR="0" rtl="0" algn="l">
              <a:lnSpc>
                <a:spcPct val="146153"/>
              </a:lnSpc>
              <a:spcBef>
                <a:spcPts val="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Comparative Advantage</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Absolute Advantage</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Gains from Trade</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Models as Maps</a:t>
            </a:r>
            <a:endParaRPr b="0" i="0" sz="1300" u="none" cap="none" strike="noStrike">
              <a:solidFill>
                <a:schemeClr val="dk1"/>
              </a:solidFill>
              <a:latin typeface="Calibri"/>
              <a:ea typeface="Calibri"/>
              <a:cs typeface="Calibri"/>
              <a:sym typeface="Calibri"/>
            </a:endParaRPr>
          </a:p>
          <a:p>
            <a:pPr indent="-203200" lvl="0" marL="203200" marR="0" rtl="0" algn="l">
              <a:lnSpc>
                <a:spcPct val="146153"/>
              </a:lnSpc>
              <a:spcBef>
                <a:spcPts val="1400"/>
              </a:spcBef>
              <a:spcAft>
                <a:spcPts val="0"/>
              </a:spcAft>
              <a:buClr>
                <a:srgbClr val="1A2E4A"/>
              </a:buClr>
              <a:buSzPts val="1300"/>
              <a:buFont typeface="Calibri"/>
              <a:buChar char="•"/>
            </a:pPr>
            <a:r>
              <a:rPr b="0" i="0" lang="en-US" sz="1300" u="none" cap="none" strike="noStrike">
                <a:solidFill>
                  <a:srgbClr val="1A2E4A"/>
                </a:solidFill>
                <a:latin typeface="Calibri"/>
                <a:ea typeface="Calibri"/>
                <a:cs typeface="Calibri"/>
                <a:sym typeface="Calibri"/>
              </a:rPr>
              <a:t>Bounded Rationality (preview)</a:t>
            </a:r>
            <a:endParaRPr b="0" i="0" sz="1300" u="none" cap="none" strike="noStrike">
              <a:solidFill>
                <a:schemeClr val="dk1"/>
              </a:solidFill>
              <a:latin typeface="Calibri"/>
              <a:ea typeface="Calibri"/>
              <a:cs typeface="Calibri"/>
              <a:sym typeface="Calibri"/>
            </a:endParaRPr>
          </a:p>
        </p:txBody>
      </p:sp>
      <p:sp>
        <p:nvSpPr>
          <p:cNvPr id="78" name="Google Shape;78;p5"/>
          <p:cNvSpPr/>
          <p:nvPr/>
        </p:nvSpPr>
        <p:spPr>
          <a:xfrm>
            <a:off x="502920" y="562356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300"/>
              <a:buFont typeface="Calibri"/>
              <a:buNone/>
            </a:pPr>
            <a:r>
              <a:rPr b="0" i="1" lang="en-US" sz="1300" u="none" cap="none" strike="noStrike">
                <a:solidFill>
                  <a:srgbClr val="C0892E"/>
                </a:solidFill>
                <a:latin typeface="Calibri"/>
                <a:ea typeface="Calibri"/>
                <a:cs typeface="Calibri"/>
                <a:sym typeface="Calibri"/>
              </a:rPr>
              <a:t>Define each term BEFORE lecture. We will use every one of them today.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83" name="Shape 83"/>
        <p:cNvGrpSpPr/>
        <p:nvPr/>
      </p:nvGrpSpPr>
      <p:grpSpPr>
        <a:xfrm>
          <a:off x="0" y="0"/>
          <a:ext cx="0" cy="0"/>
          <a:chOff x="0" y="0"/>
          <a:chExt cx="0" cy="0"/>
        </a:xfrm>
      </p:grpSpPr>
      <p:sp>
        <p:nvSpPr>
          <p:cNvPr id="84" name="Google Shape;84;p6"/>
          <p:cNvSpPr/>
          <p:nvPr/>
        </p:nvSpPr>
        <p:spPr>
          <a:xfrm>
            <a:off x="914400" y="1371600"/>
            <a:ext cx="10332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00"/>
              <a:buFont typeface="Calibri"/>
              <a:buNone/>
            </a:pPr>
            <a:r>
              <a:rPr b="1" i="0" lang="en-US" sz="1500" u="none" cap="none" strike="noStrike">
                <a:solidFill>
                  <a:srgbClr val="C0892E"/>
                </a:solidFill>
                <a:latin typeface="Calibri"/>
                <a:ea typeface="Calibri"/>
                <a:cs typeface="Calibri"/>
                <a:sym typeface="Calibri"/>
              </a:rPr>
              <a:t>SECTION I</a:t>
            </a:r>
            <a:endParaRPr b="0" i="0" sz="1500" u="none" cap="none" strike="noStrike">
              <a:solidFill>
                <a:schemeClr val="dk1"/>
              </a:solidFill>
              <a:latin typeface="Calibri"/>
              <a:ea typeface="Calibri"/>
              <a:cs typeface="Calibri"/>
              <a:sym typeface="Calibri"/>
            </a:endParaRPr>
          </a:p>
        </p:txBody>
      </p:sp>
      <p:sp>
        <p:nvSpPr>
          <p:cNvPr id="85" name="Google Shape;85;p6"/>
          <p:cNvSpPr/>
          <p:nvPr/>
        </p:nvSpPr>
        <p:spPr>
          <a:xfrm>
            <a:off x="914400" y="1828800"/>
            <a:ext cx="100584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Economic Thought &amp; Method</a:t>
            </a:r>
            <a:endParaRPr b="0" i="0" sz="4600" u="none" cap="none" strike="noStrike">
              <a:solidFill>
                <a:schemeClr val="dk1"/>
              </a:solidFill>
              <a:latin typeface="Calibri"/>
              <a:ea typeface="Calibri"/>
              <a:cs typeface="Calibri"/>
              <a:sym typeface="Calibri"/>
            </a:endParaRPr>
          </a:p>
        </p:txBody>
      </p:sp>
      <p:sp>
        <p:nvSpPr>
          <p:cNvPr id="86" name="Google Shape;86;p6"/>
          <p:cNvSpPr/>
          <p:nvPr/>
        </p:nvSpPr>
        <p:spPr>
          <a:xfrm>
            <a:off x="914400" y="3291840"/>
            <a:ext cx="10058400" cy="237744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FD9E5"/>
              </a:buClr>
              <a:buSzPts val="1500"/>
              <a:buFont typeface="Calibri"/>
              <a:buNone/>
            </a:pPr>
            <a:r>
              <a:rPr b="0" i="0" lang="en-US" sz="1500" u="none" cap="none" strike="noStrike">
                <a:solidFill>
                  <a:srgbClr val="CFD9E5"/>
                </a:solidFill>
                <a:latin typeface="Calibri"/>
                <a:ea typeface="Calibri"/>
                <a:cs typeface="Calibri"/>
                <a:sym typeface="Calibri"/>
              </a:rPr>
              <a:t>Part 1  ·  The scientific method, positive vs. normative, micro vs. macro, short-run vs. long-run</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800"/>
              </a:spcBef>
              <a:spcAft>
                <a:spcPts val="0"/>
              </a:spcAft>
              <a:buClr>
                <a:srgbClr val="CFD9E5"/>
              </a:buClr>
              <a:buSzPts val="1500"/>
              <a:buFont typeface="Calibri"/>
              <a:buNone/>
            </a:pPr>
            <a:r>
              <a:rPr b="0" i="0" lang="en-US" sz="1500" u="none" cap="none" strike="noStrike">
                <a:solidFill>
                  <a:srgbClr val="CFD9E5"/>
                </a:solidFill>
                <a:latin typeface="Calibri"/>
                <a:ea typeface="Calibri"/>
                <a:cs typeface="Calibri"/>
                <a:sym typeface="Calibri"/>
              </a:rPr>
              <a:t>Part 2  ·  Scarcity, choice, opportunity cost, the factors of production, and marginal behavior</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800"/>
              </a:spcBef>
              <a:spcAft>
                <a:spcPts val="0"/>
              </a:spcAft>
              <a:buClr>
                <a:srgbClr val="CFD9E5"/>
              </a:buClr>
              <a:buSzPts val="1500"/>
              <a:buFont typeface="Calibri"/>
              <a:buNone/>
            </a:pPr>
            <a:r>
              <a:rPr b="0" i="0" lang="en-US" sz="1500" u="none" cap="none" strike="noStrike">
                <a:solidFill>
                  <a:srgbClr val="CFD9E5"/>
                </a:solidFill>
                <a:latin typeface="Calibri"/>
                <a:ea typeface="Calibri"/>
                <a:cs typeface="Calibri"/>
                <a:sym typeface="Calibri"/>
              </a:rPr>
              <a:t>Part 3  ·  Models as maps; classical, neoclassical, behavioral and heterodox traditions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0" y="0"/>
            <a:ext cx="4160520" cy="6858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685800" y="1965960"/>
            <a:ext cx="29260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3000"/>
              <a:buFont typeface="Cambria"/>
              <a:buNone/>
            </a:pPr>
            <a:r>
              <a:rPr b="1" i="0" lang="en-US" sz="13000" u="none" cap="none" strike="noStrike">
                <a:solidFill>
                  <a:srgbClr val="C0892E"/>
                </a:solidFill>
                <a:latin typeface="Cambria"/>
                <a:ea typeface="Cambria"/>
                <a:cs typeface="Cambria"/>
                <a:sym typeface="Cambria"/>
              </a:rPr>
              <a:t>01</a:t>
            </a:r>
            <a:endParaRPr b="0" i="0" sz="13000" u="none" cap="none" strike="noStrike">
              <a:solidFill>
                <a:schemeClr val="dk1"/>
              </a:solidFill>
              <a:latin typeface="Calibri"/>
              <a:ea typeface="Calibri"/>
              <a:cs typeface="Calibri"/>
              <a:sym typeface="Calibri"/>
            </a:endParaRPr>
          </a:p>
        </p:txBody>
      </p:sp>
      <p:sp>
        <p:nvSpPr>
          <p:cNvPr id="94" name="Google Shape;94;p7"/>
          <p:cNvSpPr/>
          <p:nvPr/>
        </p:nvSpPr>
        <p:spPr>
          <a:xfrm>
            <a:off x="777240" y="3703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400"/>
              <a:buFont typeface="Calibri"/>
              <a:buNone/>
            </a:pPr>
            <a:r>
              <a:rPr b="1" i="0" lang="en-US" sz="1400" u="none" cap="none" strike="noStrike">
                <a:solidFill>
                  <a:srgbClr val="4A6180"/>
                </a:solidFill>
                <a:latin typeface="Calibri"/>
                <a:ea typeface="Calibri"/>
                <a:cs typeface="Calibri"/>
                <a:sym typeface="Calibri"/>
              </a:rPr>
              <a:t>PART</a:t>
            </a:r>
            <a:endParaRPr b="0" i="0" sz="1400" u="none" cap="none" strike="noStrike">
              <a:solidFill>
                <a:schemeClr val="dk1"/>
              </a:solidFill>
              <a:latin typeface="Calibri"/>
              <a:ea typeface="Calibri"/>
              <a:cs typeface="Calibri"/>
              <a:sym typeface="Calibri"/>
            </a:endParaRPr>
          </a:p>
        </p:txBody>
      </p:sp>
      <p:sp>
        <p:nvSpPr>
          <p:cNvPr id="95" name="Google Shape;95;p7"/>
          <p:cNvSpPr/>
          <p:nvPr/>
        </p:nvSpPr>
        <p:spPr>
          <a:xfrm>
            <a:off x="4937760" y="1965960"/>
            <a:ext cx="6675120" cy="1554480"/>
          </a:xfrm>
          <a:prstGeom prst="rect">
            <a:avLst/>
          </a:prstGeom>
          <a:noFill/>
          <a:ln>
            <a:noFill/>
          </a:ln>
        </p:spPr>
        <p:txBody>
          <a:bodyPr anchorCtr="0" anchor="b" bIns="0" lIns="0" spcFirstLastPara="1" rIns="0" wrap="square" tIns="0">
            <a:noAutofit/>
          </a:bodyPr>
          <a:lstStyle/>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The Scientific Method</a:t>
            </a:r>
            <a:endParaRPr b="0" i="0" sz="3300" u="none" cap="none" strike="noStrike">
              <a:solidFill>
                <a:schemeClr val="dk1"/>
              </a:solidFill>
              <a:latin typeface="Calibri"/>
              <a:ea typeface="Calibri"/>
              <a:cs typeface="Calibri"/>
              <a:sym typeface="Calibri"/>
            </a:endParaRPr>
          </a:p>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&amp; Economic Reasoning</a:t>
            </a:r>
            <a:endParaRPr b="0" i="0" sz="3300" u="none" cap="none" strike="noStrike">
              <a:solidFill>
                <a:schemeClr val="dk1"/>
              </a:solidFill>
              <a:latin typeface="Calibri"/>
              <a:ea typeface="Calibri"/>
              <a:cs typeface="Calibri"/>
              <a:sym typeface="Calibri"/>
            </a:endParaRPr>
          </a:p>
        </p:txBody>
      </p:sp>
      <p:sp>
        <p:nvSpPr>
          <p:cNvPr id="96" name="Google Shape;96;p7"/>
          <p:cNvSpPr/>
          <p:nvPr/>
        </p:nvSpPr>
        <p:spPr>
          <a:xfrm>
            <a:off x="4937760" y="3657600"/>
            <a:ext cx="6675120" cy="155448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0892E"/>
              </a:buClr>
              <a:buSzPts val="1200"/>
              <a:buFont typeface="Calibri"/>
              <a:buNone/>
            </a:pPr>
            <a:r>
              <a:rPr b="1" i="0" lang="en-US" sz="1200" u="none" cap="none" strike="noStrike">
                <a:solidFill>
                  <a:srgbClr val="C0892E"/>
                </a:solidFill>
                <a:latin typeface="Calibri"/>
                <a:ea typeface="Calibri"/>
                <a:cs typeface="Calibri"/>
                <a:sym typeface="Calibri"/>
              </a:rPr>
              <a:t>OBJECTIVE   </a:t>
            </a:r>
            <a:r>
              <a:rPr b="0" i="0" lang="en-US" sz="1500" u="none" cap="none" strike="noStrike">
                <a:solidFill>
                  <a:srgbClr val="4A6180"/>
                </a:solidFill>
                <a:latin typeface="Calibri"/>
                <a:ea typeface="Calibri"/>
                <a:cs typeface="Calibri"/>
                <a:sym typeface="Calibri"/>
              </a:rPr>
              <a:t>Apply the scientific method to economic questions; distinguish positive from normative statements; define micro vs. macro and short-run vs. long-run.</a:t>
            </a:r>
            <a:endParaRPr b="0" i="0" sz="1200" u="none" cap="none" strike="noStrike">
              <a:solidFill>
                <a:schemeClr val="dk1"/>
              </a:solidFill>
              <a:latin typeface="Calibri"/>
              <a:ea typeface="Calibri"/>
              <a:cs typeface="Calibri"/>
              <a:sym typeface="Calibri"/>
            </a:endParaRPr>
          </a:p>
        </p:txBody>
      </p:sp>
      <p:sp>
        <p:nvSpPr>
          <p:cNvPr id="97" name="Google Shape;97;p7"/>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98" name="Google Shape;98;p7"/>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8"/>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1 · FORMS OF REPRESENTATION</a:t>
            </a:r>
            <a:endParaRPr b="0" i="0" sz="1100" u="none" cap="none" strike="noStrike">
              <a:solidFill>
                <a:schemeClr val="dk1"/>
              </a:solidFill>
              <a:latin typeface="Calibri"/>
              <a:ea typeface="Calibri"/>
              <a:cs typeface="Calibri"/>
              <a:sym typeface="Calibri"/>
            </a:endParaRPr>
          </a:p>
        </p:txBody>
      </p:sp>
      <p:sp>
        <p:nvSpPr>
          <p:cNvPr id="105" name="Google Shape;105;p8"/>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One Economic Idea, Three Mathematical Forms</a:t>
            </a:r>
            <a:endParaRPr b="0" i="0" sz="3000" u="none" cap="none" strike="noStrike">
              <a:solidFill>
                <a:schemeClr val="dk1"/>
              </a:solidFill>
              <a:latin typeface="Calibri"/>
              <a:ea typeface="Calibri"/>
              <a:cs typeface="Calibri"/>
              <a:sym typeface="Calibri"/>
            </a:endParaRPr>
          </a:p>
        </p:txBody>
      </p:sp>
      <p:sp>
        <p:nvSpPr>
          <p:cNvPr id="106" name="Google Shape;106;p8"/>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107" name="Google Shape;107;p8"/>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108" name="Google Shape;108;p8"/>
          <p:cNvSpPr/>
          <p:nvPr/>
        </p:nvSpPr>
        <p:spPr>
          <a:xfrm>
            <a:off x="502920" y="1463040"/>
            <a:ext cx="11155680" cy="548640"/>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4A6180"/>
              </a:buClr>
              <a:buSzPts val="1350"/>
              <a:buFont typeface="Calibri"/>
              <a:buNone/>
            </a:pPr>
            <a:r>
              <a:rPr b="0" i="0" lang="en-US" sz="1350" u="none" cap="none" strike="noStrike">
                <a:solidFill>
                  <a:srgbClr val="4A6180"/>
                </a:solidFill>
                <a:latin typeface="Calibri"/>
                <a:ea typeface="Calibri"/>
                <a:cs typeface="Calibri"/>
                <a:sym typeface="Calibri"/>
              </a:rPr>
              <a:t>Plato's Theory of Forms gives us a useful analogy: the same underlying relationship can appear in different forms. In economics we move constantly between three representations of identical information.</a:t>
            </a:r>
            <a:endParaRPr b="0" i="0" sz="1350" u="none" cap="none" strike="noStrike">
              <a:solidFill>
                <a:schemeClr val="dk1"/>
              </a:solidFill>
              <a:latin typeface="Calibri"/>
              <a:ea typeface="Calibri"/>
              <a:cs typeface="Calibri"/>
              <a:sym typeface="Calibri"/>
            </a:endParaRPr>
          </a:p>
        </p:txBody>
      </p:sp>
      <p:sp>
        <p:nvSpPr>
          <p:cNvPr id="109" name="Google Shape;109;p8"/>
          <p:cNvSpPr/>
          <p:nvPr/>
        </p:nvSpPr>
        <p:spPr>
          <a:xfrm>
            <a:off x="502920" y="2148840"/>
            <a:ext cx="3611880" cy="2286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704088" y="2350008"/>
            <a:ext cx="457200" cy="457200"/>
          </a:xfrm>
          <a:prstGeom prst="ellipse">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704088" y="23500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2" name="Google Shape;112;p8"/>
          <p:cNvSpPr/>
          <p:nvPr/>
        </p:nvSpPr>
        <p:spPr>
          <a:xfrm>
            <a:off x="1280160" y="235000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Tabular Form — DATA</a:t>
            </a:r>
            <a:endParaRPr b="0" i="0" sz="1600" u="none" cap="none" strike="noStrike">
              <a:solidFill>
                <a:schemeClr val="dk1"/>
              </a:solidFill>
              <a:latin typeface="Calibri"/>
              <a:ea typeface="Calibri"/>
              <a:cs typeface="Calibri"/>
              <a:sym typeface="Calibri"/>
            </a:endParaRPr>
          </a:p>
        </p:txBody>
      </p:sp>
      <p:sp>
        <p:nvSpPr>
          <p:cNvPr id="113" name="Google Shape;113;p8"/>
          <p:cNvSpPr/>
          <p:nvPr/>
        </p:nvSpPr>
        <p:spPr>
          <a:xfrm>
            <a:off x="722376" y="2898648"/>
            <a:ext cx="3154680" cy="13258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Rows and columns organize quantities, values, categories and observations. A table lets us identify patterns numerically and linguistically, and to read change in the margins between rows.</a:t>
            </a:r>
            <a:endParaRPr b="0" i="0" sz="1250" u="none" cap="none" strike="noStrike">
              <a:solidFill>
                <a:schemeClr val="dk1"/>
              </a:solidFill>
              <a:latin typeface="Calibri"/>
              <a:ea typeface="Calibri"/>
              <a:cs typeface="Calibri"/>
              <a:sym typeface="Calibri"/>
            </a:endParaRPr>
          </a:p>
        </p:txBody>
      </p:sp>
      <p:sp>
        <p:nvSpPr>
          <p:cNvPr id="114" name="Google Shape;114;p8"/>
          <p:cNvSpPr/>
          <p:nvPr/>
        </p:nvSpPr>
        <p:spPr>
          <a:xfrm>
            <a:off x="4315968" y="2148840"/>
            <a:ext cx="3611880" cy="2286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4517136" y="2350008"/>
            <a:ext cx="457200" cy="457200"/>
          </a:xfrm>
          <a:prstGeom prst="ellipse">
            <a:avLst/>
          </a:prstGeom>
          <a:solidFill>
            <a:srgbClr val="C08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4517136" y="23500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7" name="Google Shape;117;p8"/>
          <p:cNvSpPr/>
          <p:nvPr/>
        </p:nvSpPr>
        <p:spPr>
          <a:xfrm>
            <a:off x="5093208" y="235000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450"/>
              <a:buFont typeface="Cambria"/>
              <a:buNone/>
            </a:pPr>
            <a:r>
              <a:rPr b="1" i="0" lang="en-US" sz="1450" u="none" cap="none" strike="noStrike">
                <a:solidFill>
                  <a:srgbClr val="1A2E4A"/>
                </a:solidFill>
                <a:latin typeface="Cambria"/>
                <a:ea typeface="Cambria"/>
                <a:cs typeface="Cambria"/>
                <a:sym typeface="Cambria"/>
              </a:rPr>
              <a:t>Mathematical Form — RELATIONSHIP</a:t>
            </a:r>
            <a:endParaRPr b="0" i="0" sz="1450" u="none" cap="none" strike="noStrike">
              <a:solidFill>
                <a:schemeClr val="dk1"/>
              </a:solidFill>
              <a:latin typeface="Calibri"/>
              <a:ea typeface="Calibri"/>
              <a:cs typeface="Calibri"/>
              <a:sym typeface="Calibri"/>
            </a:endParaRPr>
          </a:p>
        </p:txBody>
      </p:sp>
      <p:sp>
        <p:nvSpPr>
          <p:cNvPr id="118" name="Google Shape;118;p8"/>
          <p:cNvSpPr/>
          <p:nvPr/>
        </p:nvSpPr>
        <p:spPr>
          <a:xfrm>
            <a:off x="4535424" y="2898648"/>
            <a:ext cx="3154680" cy="13258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Equations use numbers, variables and symbols to express how economic quantities relate. They describe the relationship precisely and let us calculate values not shown directly in the data.</a:t>
            </a:r>
            <a:endParaRPr b="0" i="0" sz="1250" u="none" cap="none" strike="noStrike">
              <a:solidFill>
                <a:schemeClr val="dk1"/>
              </a:solidFill>
              <a:latin typeface="Calibri"/>
              <a:ea typeface="Calibri"/>
              <a:cs typeface="Calibri"/>
              <a:sym typeface="Calibri"/>
            </a:endParaRPr>
          </a:p>
        </p:txBody>
      </p:sp>
      <p:sp>
        <p:nvSpPr>
          <p:cNvPr id="119" name="Google Shape;119;p8"/>
          <p:cNvSpPr/>
          <p:nvPr/>
        </p:nvSpPr>
        <p:spPr>
          <a:xfrm>
            <a:off x="8119872" y="2148840"/>
            <a:ext cx="3566160" cy="2286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8321040" y="2350008"/>
            <a:ext cx="457200" cy="457200"/>
          </a:xfrm>
          <a:prstGeom prst="ellipse">
            <a:avLst/>
          </a:prstGeom>
          <a:solidFill>
            <a:srgbClr val="2A7F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8321040" y="23500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22" name="Google Shape;122;p8"/>
          <p:cNvSpPr/>
          <p:nvPr/>
        </p:nvSpPr>
        <p:spPr>
          <a:xfrm>
            <a:off x="8897112" y="2350008"/>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Graphical Form — MODEL</a:t>
            </a:r>
            <a:endParaRPr b="0" i="0" sz="1600" u="none" cap="none" strike="noStrike">
              <a:solidFill>
                <a:schemeClr val="dk1"/>
              </a:solidFill>
              <a:latin typeface="Calibri"/>
              <a:ea typeface="Calibri"/>
              <a:cs typeface="Calibri"/>
              <a:sym typeface="Calibri"/>
            </a:endParaRPr>
          </a:p>
        </p:txBody>
      </p:sp>
      <p:sp>
        <p:nvSpPr>
          <p:cNvPr id="123" name="Google Shape;123;p8"/>
          <p:cNvSpPr/>
          <p:nvPr/>
        </p:nvSpPr>
        <p:spPr>
          <a:xfrm>
            <a:off x="8339328" y="2898648"/>
            <a:ext cx="3108960" cy="13258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A coordinate plane translates the relationship into space and shape. Axes represent variables; points, lines, slopes and curves make direction, magnitude and change visible.</a:t>
            </a:r>
            <a:endParaRPr b="0" i="0" sz="1250" u="none" cap="none" strike="noStrike">
              <a:solidFill>
                <a:schemeClr val="dk1"/>
              </a:solidFill>
              <a:latin typeface="Calibri"/>
              <a:ea typeface="Calibri"/>
              <a:cs typeface="Calibri"/>
              <a:sym typeface="Calibri"/>
            </a:endParaRPr>
          </a:p>
        </p:txBody>
      </p:sp>
      <p:sp>
        <p:nvSpPr>
          <p:cNvPr id="124" name="Google Shape;124;p8"/>
          <p:cNvSpPr/>
          <p:nvPr/>
        </p:nvSpPr>
        <p:spPr>
          <a:xfrm>
            <a:off x="502920" y="4663440"/>
            <a:ext cx="11183112" cy="86868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758952" y="479145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THE RULE FOR THIS COURSE</a:t>
            </a:r>
            <a:endParaRPr b="0" i="0" sz="1050" u="none" cap="none" strike="noStrike">
              <a:solidFill>
                <a:schemeClr val="dk1"/>
              </a:solidFill>
              <a:latin typeface="Calibri"/>
              <a:ea typeface="Calibri"/>
              <a:cs typeface="Calibri"/>
              <a:sym typeface="Calibri"/>
            </a:endParaRPr>
          </a:p>
        </p:txBody>
      </p:sp>
      <p:sp>
        <p:nvSpPr>
          <p:cNvPr id="126" name="Google Shape;126;p8"/>
          <p:cNvSpPr/>
          <p:nvPr/>
        </p:nvSpPr>
        <p:spPr>
          <a:xfrm>
            <a:off x="758952" y="5065776"/>
            <a:ext cx="10671048" cy="301752"/>
          </a:xfrm>
          <a:prstGeom prst="rect">
            <a:avLst/>
          </a:prstGeom>
          <a:noFill/>
          <a:ln>
            <a:noFill/>
          </a:ln>
        </p:spPr>
        <p:txBody>
          <a:bodyPr anchorCtr="0" anchor="t" bIns="0" lIns="0" spcFirstLastPara="1" rIns="0" wrap="square" tIns="0">
            <a:noAutofit/>
          </a:bodyPr>
          <a:lstStyle/>
          <a:p>
            <a:pPr indent="0" lvl="0" marL="0" marR="0" rtl="0" algn="l">
              <a:lnSpc>
                <a:spcPct val="13913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TABLE → EQUATION → GRAPH.  Different representations, one economic relationship. You will be asked to move between all three on every assessment.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9"/>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1 · EMPIRICAL RESEARCH</a:t>
            </a:r>
            <a:endParaRPr b="0" i="0" sz="1100" u="none" cap="none" strike="noStrike">
              <a:solidFill>
                <a:schemeClr val="dk1"/>
              </a:solidFill>
              <a:latin typeface="Calibri"/>
              <a:ea typeface="Calibri"/>
              <a:cs typeface="Calibri"/>
              <a:sym typeface="Calibri"/>
            </a:endParaRPr>
          </a:p>
        </p:txBody>
      </p:sp>
      <p:sp>
        <p:nvSpPr>
          <p:cNvPr id="133" name="Google Shape;133;p9"/>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How Do We Know Anything About Economics?</a:t>
            </a:r>
            <a:endParaRPr b="0" i="0" sz="3000" u="none" cap="none" strike="noStrike">
              <a:solidFill>
                <a:schemeClr val="dk1"/>
              </a:solidFill>
              <a:latin typeface="Calibri"/>
              <a:ea typeface="Calibri"/>
              <a:cs typeface="Calibri"/>
              <a:sym typeface="Calibri"/>
            </a:endParaRPr>
          </a:p>
        </p:txBody>
      </p:sp>
      <p:sp>
        <p:nvSpPr>
          <p:cNvPr id="134" name="Google Shape;134;p9"/>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135" name="Google Shape;135;p9"/>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pic>
        <p:nvPicPr>
          <p:cNvPr descr="figs/m1_scimethod.png" id="136" name="Google Shape;136;p9"/>
          <p:cNvPicPr preferRelativeResize="0"/>
          <p:nvPr/>
        </p:nvPicPr>
        <p:blipFill rotWithShape="1">
          <a:blip r:embed="rId3">
            <a:alphaModFix/>
          </a:blip>
          <a:srcRect b="0" l="0" r="0" t="0"/>
          <a:stretch/>
        </p:blipFill>
        <p:spPr>
          <a:xfrm>
            <a:off x="960120" y="1935253"/>
            <a:ext cx="10241280" cy="2201111"/>
          </a:xfrm>
          <a:prstGeom prst="rect">
            <a:avLst/>
          </a:prstGeom>
          <a:noFill/>
          <a:ln>
            <a:noFill/>
          </a:ln>
        </p:spPr>
      </p:pic>
      <p:sp>
        <p:nvSpPr>
          <p:cNvPr id="137" name="Google Shape;137;p9"/>
          <p:cNvSpPr/>
          <p:nvPr/>
        </p:nvSpPr>
        <p:spPr>
          <a:xfrm>
            <a:off x="822972" y="4269860"/>
            <a:ext cx="10515600" cy="548700"/>
          </a:xfrm>
          <a:prstGeom prst="rect">
            <a:avLst/>
          </a:prstGeom>
          <a:noFill/>
          <a:ln>
            <a:noFill/>
          </a:ln>
        </p:spPr>
        <p:txBody>
          <a:bodyPr anchorCtr="0" anchor="ctr" bIns="0" lIns="0" spcFirstLastPara="1" rIns="0" wrap="square" tIns="0">
            <a:noAutofit/>
          </a:bodyPr>
          <a:lstStyle/>
          <a:p>
            <a:pPr indent="0" lvl="0" marL="0" marR="0" rtl="0" algn="ctr">
              <a:lnSpc>
                <a:spcPct val="148148"/>
              </a:lnSpc>
              <a:spcBef>
                <a:spcPts val="0"/>
              </a:spcBef>
              <a:spcAft>
                <a:spcPts val="0"/>
              </a:spcAft>
              <a:buClr>
                <a:srgbClr val="1A2E4A"/>
              </a:buClr>
              <a:buSzPts val="1350"/>
              <a:buFont typeface="Calibri"/>
              <a:buNone/>
            </a:pPr>
            <a:r>
              <a:rPr b="0" i="0" lang="en-US" sz="1350" u="none" cap="none" strike="noStrike">
                <a:solidFill>
                  <a:srgbClr val="1A2E4A"/>
                </a:solidFill>
                <a:latin typeface="Calibri"/>
                <a:ea typeface="Calibri"/>
                <a:cs typeface="Calibri"/>
                <a:sym typeface="Calibri"/>
              </a:rPr>
              <a:t>Using the scientific method, economists make statistically significant generalizations about the world — or test economic hypotheses — through natural experiments, laboratory experiments, data engineering and data analysis.</a:t>
            </a:r>
            <a:endParaRPr b="0" i="0" sz="1350" u="none" cap="none" strike="noStrike">
              <a:solidFill>
                <a:schemeClr val="dk1"/>
              </a:solidFill>
              <a:latin typeface="Calibri"/>
              <a:ea typeface="Calibri"/>
              <a:cs typeface="Calibri"/>
              <a:sym typeface="Calibri"/>
            </a:endParaRPr>
          </a:p>
        </p:txBody>
      </p:sp>
      <p:sp>
        <p:nvSpPr>
          <p:cNvPr id="138" name="Google Shape;138;p9"/>
          <p:cNvSpPr/>
          <p:nvPr/>
        </p:nvSpPr>
        <p:spPr>
          <a:xfrm>
            <a:off x="822950" y="5210626"/>
            <a:ext cx="5120700" cy="10074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1078992" y="5390208"/>
            <a:ext cx="4608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CETERIS PARIBUS</a:t>
            </a:r>
            <a:endParaRPr b="0" i="0" sz="1550" u="none" cap="none" strike="noStrike">
              <a:solidFill>
                <a:schemeClr val="dk1"/>
              </a:solidFill>
              <a:latin typeface="Calibri"/>
              <a:ea typeface="Calibri"/>
              <a:cs typeface="Calibri"/>
              <a:sym typeface="Calibri"/>
            </a:endParaRPr>
          </a:p>
        </p:txBody>
      </p:sp>
      <p:sp>
        <p:nvSpPr>
          <p:cNvPr id="140" name="Google Shape;140;p9"/>
          <p:cNvSpPr/>
          <p:nvPr/>
        </p:nvSpPr>
        <p:spPr>
          <a:xfrm>
            <a:off x="1079004" y="5774206"/>
            <a:ext cx="4608600" cy="456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"All other things remaining the same." Economists isolate variables so that nothing but the thing of interest is changing.</a:t>
            </a:r>
            <a:endParaRPr b="0" i="0" sz="850" u="none" cap="none" strike="noStrike">
              <a:solidFill>
                <a:schemeClr val="dk1"/>
              </a:solidFill>
              <a:latin typeface="Calibri"/>
              <a:ea typeface="Calibri"/>
              <a:cs typeface="Calibri"/>
              <a:sym typeface="Calibri"/>
            </a:endParaRPr>
          </a:p>
        </p:txBody>
      </p:sp>
      <p:sp>
        <p:nvSpPr>
          <p:cNvPr id="141" name="Google Shape;141;p9"/>
          <p:cNvSpPr/>
          <p:nvPr/>
        </p:nvSpPr>
        <p:spPr>
          <a:xfrm>
            <a:off x="6172200" y="5210626"/>
            <a:ext cx="5120700" cy="10074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6428232" y="5390208"/>
            <a:ext cx="4608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DID YOU KNOW?</a:t>
            </a:r>
            <a:endParaRPr b="0" i="0" sz="1550" u="none" cap="none" strike="noStrike">
              <a:solidFill>
                <a:schemeClr val="dk1"/>
              </a:solidFill>
              <a:latin typeface="Calibri"/>
              <a:ea typeface="Calibri"/>
              <a:cs typeface="Calibri"/>
              <a:sym typeface="Calibri"/>
            </a:endParaRPr>
          </a:p>
        </p:txBody>
      </p:sp>
      <p:sp>
        <p:nvSpPr>
          <p:cNvPr id="143" name="Google Shape;143;p9"/>
          <p:cNvSpPr/>
          <p:nvPr/>
        </p:nvSpPr>
        <p:spPr>
          <a:xfrm>
            <a:off x="6428250" y="5774185"/>
            <a:ext cx="4608600" cy="2742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A Ph.D. in economics </a:t>
            </a:r>
            <a:r>
              <a:rPr lang="en-US" sz="850">
                <a:solidFill>
                  <a:srgbClr val="4A6180"/>
                </a:solidFill>
                <a:latin typeface="Calibri"/>
                <a:ea typeface="Calibri"/>
                <a:cs typeface="Calibri"/>
                <a:sym typeface="Calibri"/>
              </a:rPr>
              <a:t>stands for Doctor of </a:t>
            </a:r>
            <a:r>
              <a:rPr lang="en-US" sz="850">
                <a:solidFill>
                  <a:srgbClr val="4A6180"/>
                </a:solidFill>
                <a:latin typeface="Calibri"/>
                <a:ea typeface="Calibri"/>
                <a:cs typeface="Calibri"/>
                <a:sym typeface="Calibri"/>
              </a:rPr>
              <a:t>Philosophy, and is</a:t>
            </a:r>
            <a:r>
              <a:rPr lang="en-US" sz="850">
                <a:solidFill>
                  <a:srgbClr val="4A6180"/>
                </a:solidFill>
                <a:latin typeface="Calibri"/>
                <a:ea typeface="Calibri"/>
                <a:cs typeface="Calibri"/>
                <a:sym typeface="Calibri"/>
              </a:rPr>
              <a:t> </a:t>
            </a:r>
            <a:r>
              <a:rPr b="0" i="0" lang="en-US" sz="850" u="none" cap="none" strike="noStrike">
                <a:solidFill>
                  <a:srgbClr val="4A6180"/>
                </a:solidFill>
                <a:latin typeface="Calibri"/>
                <a:ea typeface="Calibri"/>
                <a:cs typeface="Calibri"/>
                <a:sym typeface="Calibri"/>
              </a:rPr>
              <a:t>focused on the quantitative social sciences.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0"/>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1 · FORMAL DEFINITIONS</a:t>
            </a:r>
            <a:endParaRPr b="0" i="0" sz="1100" u="none" cap="none" strike="noStrike">
              <a:solidFill>
                <a:schemeClr val="dk1"/>
              </a:solidFill>
              <a:latin typeface="Calibri"/>
              <a:ea typeface="Calibri"/>
              <a:cs typeface="Calibri"/>
              <a:sym typeface="Calibri"/>
            </a:endParaRPr>
          </a:p>
        </p:txBody>
      </p:sp>
      <p:sp>
        <p:nvSpPr>
          <p:cNvPr id="150" name="Google Shape;150;p10"/>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Positive vs. Normative Statements</a:t>
            </a:r>
            <a:endParaRPr b="0" i="0" sz="3000" u="none" cap="none" strike="noStrike">
              <a:solidFill>
                <a:schemeClr val="dk1"/>
              </a:solidFill>
              <a:latin typeface="Calibri"/>
              <a:ea typeface="Calibri"/>
              <a:cs typeface="Calibri"/>
              <a:sym typeface="Calibri"/>
            </a:endParaRPr>
          </a:p>
        </p:txBody>
      </p:sp>
      <p:sp>
        <p:nvSpPr>
          <p:cNvPr id="151" name="Google Shape;151;p10"/>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152" name="Google Shape;152;p10"/>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153" name="Google Shape;153;p10"/>
          <p:cNvSpPr/>
          <p:nvPr/>
        </p:nvSpPr>
        <p:spPr>
          <a:xfrm>
            <a:off x="502920" y="1463040"/>
            <a:ext cx="5486400" cy="196596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
          <p:cNvSpPr/>
          <p:nvPr/>
        </p:nvSpPr>
        <p:spPr>
          <a:xfrm>
            <a:off x="758952" y="164592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POSITIVE STATEMENT  —  what IS</a:t>
            </a:r>
            <a:endParaRPr b="0" i="0" sz="1550" u="none" cap="none" strike="noStrike">
              <a:solidFill>
                <a:schemeClr val="dk1"/>
              </a:solidFill>
              <a:latin typeface="Calibri"/>
              <a:ea typeface="Calibri"/>
              <a:cs typeface="Calibri"/>
              <a:sym typeface="Calibri"/>
            </a:endParaRPr>
          </a:p>
        </p:txBody>
      </p:sp>
      <p:sp>
        <p:nvSpPr>
          <p:cNvPr id="155" name="Google Shape;155;p10"/>
          <p:cNvSpPr/>
          <p:nvPr/>
        </p:nvSpPr>
        <p:spPr>
          <a:xfrm>
            <a:off x="758952" y="2048256"/>
            <a:ext cx="4974336" cy="1143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A descriptive, testable claim about a phenomenon occurring at or over a specific point in time. It must be grounded in fact or in a clear cause-and-effect relationship, and it can in principle be confirmed or refuted by data.</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EXAMPLE:  "In 1933, the U.S. unemployment rate rose to 25%."</a:t>
            </a:r>
            <a:endParaRPr b="0" i="0" sz="1050" u="none" cap="none" strike="noStrike">
              <a:solidFill>
                <a:schemeClr val="dk1"/>
              </a:solidFill>
              <a:latin typeface="Calibri"/>
              <a:ea typeface="Calibri"/>
              <a:cs typeface="Calibri"/>
              <a:sym typeface="Calibri"/>
            </a:endParaRPr>
          </a:p>
        </p:txBody>
      </p:sp>
      <p:sp>
        <p:nvSpPr>
          <p:cNvPr id="156" name="Google Shape;156;p10"/>
          <p:cNvSpPr/>
          <p:nvPr/>
        </p:nvSpPr>
        <p:spPr>
          <a:xfrm>
            <a:off x="6199632" y="1463040"/>
            <a:ext cx="5486400" cy="196596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
          <p:cNvSpPr/>
          <p:nvPr/>
        </p:nvSpPr>
        <p:spPr>
          <a:xfrm>
            <a:off x="6455664" y="164592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NORMATIVE STATEMENT  —  what OUGHT to be</a:t>
            </a:r>
            <a:endParaRPr b="0" i="0" sz="1550" u="none" cap="none" strike="noStrike">
              <a:solidFill>
                <a:schemeClr val="dk1"/>
              </a:solidFill>
              <a:latin typeface="Calibri"/>
              <a:ea typeface="Calibri"/>
              <a:cs typeface="Calibri"/>
              <a:sym typeface="Calibri"/>
            </a:endParaRPr>
          </a:p>
        </p:txBody>
      </p:sp>
      <p:sp>
        <p:nvSpPr>
          <p:cNvPr id="158" name="Google Shape;158;p10"/>
          <p:cNvSpPr/>
          <p:nvPr/>
        </p:nvSpPr>
        <p:spPr>
          <a:xfrm>
            <a:off x="6455664" y="2048256"/>
            <a:ext cx="4974336" cy="1143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A prescriptive claim that incorporates a value judgment about how things should be. It cannot be settled by data alone, because it rests on a standard of what is desirable — efficiency, equality, liberty, need.</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EXAMPLE:  "In the U.S. economy, a desirable unemployment rate is around 4% to 5%."</a:t>
            </a:r>
            <a:endParaRPr b="0" i="0" sz="1050" u="none" cap="none" strike="noStrike">
              <a:solidFill>
                <a:schemeClr val="dk1"/>
              </a:solidFill>
              <a:latin typeface="Calibri"/>
              <a:ea typeface="Calibri"/>
              <a:cs typeface="Calibri"/>
              <a:sym typeface="Calibri"/>
            </a:endParaRPr>
          </a:p>
        </p:txBody>
      </p:sp>
      <p:sp>
        <p:nvSpPr>
          <p:cNvPr id="159" name="Google Shape;159;p10"/>
          <p:cNvSpPr/>
          <p:nvPr/>
        </p:nvSpPr>
        <p:spPr>
          <a:xfrm>
            <a:off x="502920" y="3611880"/>
            <a:ext cx="3611880" cy="18745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758952" y="3794760"/>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NATURAL EXPERIMENT</a:t>
            </a:r>
            <a:endParaRPr b="0" i="0" sz="1550" u="none" cap="none" strike="noStrike">
              <a:solidFill>
                <a:schemeClr val="dk1"/>
              </a:solidFill>
              <a:latin typeface="Calibri"/>
              <a:ea typeface="Calibri"/>
              <a:cs typeface="Calibri"/>
              <a:sym typeface="Calibri"/>
            </a:endParaRPr>
          </a:p>
        </p:txBody>
      </p:sp>
      <p:sp>
        <p:nvSpPr>
          <p:cNvPr id="161" name="Google Shape;161;p10"/>
          <p:cNvSpPr/>
          <p:nvPr/>
        </p:nvSpPr>
        <p:spPr>
          <a:xfrm>
            <a:off x="758952" y="4197096"/>
            <a:ext cx="3099816" cy="105156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4A6180"/>
              </a:buClr>
              <a:buSzPts val="950"/>
              <a:buFont typeface="Calibri"/>
              <a:buNone/>
            </a:pPr>
            <a:r>
              <a:rPr b="0" i="0" lang="en-US" sz="950" u="none" cap="none" strike="noStrike">
                <a:solidFill>
                  <a:srgbClr val="4A6180"/>
                </a:solidFill>
                <a:latin typeface="Calibri"/>
                <a:ea typeface="Calibri"/>
                <a:cs typeface="Calibri"/>
                <a:sym typeface="Calibri"/>
              </a:rPr>
              <a:t>An empirical study in which the assignment of a treatment is determined by nature, policy, or historical accident rather than by the researcher. It approximates a randomized trial using events that have already happened — a border change, a lottery, a sudden law.</a:t>
            </a:r>
            <a:endParaRPr b="0" i="0" sz="950" u="none" cap="none" strike="noStrike">
              <a:solidFill>
                <a:schemeClr val="dk1"/>
              </a:solidFill>
              <a:latin typeface="Calibri"/>
              <a:ea typeface="Calibri"/>
              <a:cs typeface="Calibri"/>
              <a:sym typeface="Calibri"/>
            </a:endParaRPr>
          </a:p>
        </p:txBody>
      </p:sp>
      <p:sp>
        <p:nvSpPr>
          <p:cNvPr id="162" name="Google Shape;162;p10"/>
          <p:cNvSpPr/>
          <p:nvPr/>
        </p:nvSpPr>
        <p:spPr>
          <a:xfrm>
            <a:off x="4315968" y="3611880"/>
            <a:ext cx="3611880" cy="18745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4572000" y="3794750"/>
            <a:ext cx="3355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WHY THIS DISTINCTION MATTERS</a:t>
            </a:r>
            <a:endParaRPr b="0" i="0" sz="1550" u="none" cap="none" strike="noStrike">
              <a:solidFill>
                <a:schemeClr val="dk1"/>
              </a:solidFill>
              <a:latin typeface="Calibri"/>
              <a:ea typeface="Calibri"/>
              <a:cs typeface="Calibri"/>
              <a:sym typeface="Calibri"/>
            </a:endParaRPr>
          </a:p>
        </p:txBody>
      </p:sp>
      <p:sp>
        <p:nvSpPr>
          <p:cNvPr id="164" name="Google Shape;164;p10"/>
          <p:cNvSpPr/>
          <p:nvPr/>
        </p:nvSpPr>
        <p:spPr>
          <a:xfrm>
            <a:off x="4572000" y="4258110"/>
            <a:ext cx="3099900" cy="1051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Nearly every policy dispute mixes the two. Disagreement about a positive claim is resolved with better evidence. Disagreement about a normative claim is not — it is a disagreement about values, and must be argued on those terms.</a:t>
            </a:r>
            <a:endParaRPr b="0" i="0" sz="1050" u="none" cap="none" strike="noStrike">
              <a:solidFill>
                <a:schemeClr val="dk1"/>
              </a:solidFill>
              <a:latin typeface="Calibri"/>
              <a:ea typeface="Calibri"/>
              <a:cs typeface="Calibri"/>
              <a:sym typeface="Calibri"/>
            </a:endParaRPr>
          </a:p>
        </p:txBody>
      </p:sp>
      <p:sp>
        <p:nvSpPr>
          <p:cNvPr id="165" name="Google Shape;165;p10"/>
          <p:cNvSpPr/>
          <p:nvPr/>
        </p:nvSpPr>
        <p:spPr>
          <a:xfrm>
            <a:off x="8119872" y="3611880"/>
            <a:ext cx="3566160" cy="18745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8375904" y="3794760"/>
            <a:ext cx="305409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550"/>
              <a:buFont typeface="Cambria"/>
              <a:buNone/>
            </a:pPr>
            <a:r>
              <a:rPr b="1" i="0" lang="en-US" sz="1550" u="none" cap="none" strike="noStrike">
                <a:solidFill>
                  <a:srgbClr val="4A6180"/>
                </a:solidFill>
                <a:latin typeface="Cambria"/>
                <a:ea typeface="Cambria"/>
                <a:cs typeface="Cambria"/>
                <a:sym typeface="Cambria"/>
              </a:rPr>
              <a:t>WATCH FOR</a:t>
            </a:r>
            <a:endParaRPr b="0" i="0" sz="1550" u="none" cap="none" strike="noStrike">
              <a:solidFill>
                <a:schemeClr val="dk1"/>
              </a:solidFill>
              <a:latin typeface="Calibri"/>
              <a:ea typeface="Calibri"/>
              <a:cs typeface="Calibri"/>
              <a:sym typeface="Calibri"/>
            </a:endParaRPr>
          </a:p>
        </p:txBody>
      </p:sp>
      <p:sp>
        <p:nvSpPr>
          <p:cNvPr id="167" name="Google Shape;167;p10"/>
          <p:cNvSpPr/>
          <p:nvPr/>
        </p:nvSpPr>
        <p:spPr>
          <a:xfrm>
            <a:off x="8375904" y="4258110"/>
            <a:ext cx="3054000" cy="1051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Words that smuggle normative content into apparently positive claims: should, ought, unfair, excessive, too high, deserves, needs. A positive statement can still be false — being testable is not the same as being true.</a:t>
            </a:r>
            <a:endParaRPr b="0" i="0" sz="1050" u="none" cap="none" strike="noStrike">
              <a:solidFill>
                <a:schemeClr val="dk1"/>
              </a:solidFill>
              <a:latin typeface="Calibri"/>
              <a:ea typeface="Calibri"/>
              <a:cs typeface="Calibri"/>
              <a:sym typeface="Calibri"/>
            </a:endParaRPr>
          </a:p>
        </p:txBody>
      </p:sp>
      <p:sp>
        <p:nvSpPr>
          <p:cNvPr id="168" name="Google Shape;168;p10"/>
          <p:cNvSpPr/>
          <p:nvPr/>
        </p:nvSpPr>
        <p:spPr>
          <a:xfrm>
            <a:off x="502920" y="5623560"/>
            <a:ext cx="11183112" cy="54864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rot="5400000">
            <a:off x="759000" y="5751696"/>
            <a:ext cx="1067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p:txBody>
      </p:sp>
      <p:sp>
        <p:nvSpPr>
          <p:cNvPr id="170" name="Google Shape;170;p10"/>
          <p:cNvSpPr/>
          <p:nvPr/>
        </p:nvSpPr>
        <p:spPr>
          <a:xfrm>
            <a:off x="759000" y="5798696"/>
            <a:ext cx="10671000" cy="188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Positive analysis tells you what the world does. Normative analysis tells you what to do about it. Economics needs both — but never confuse one for the other.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1"/>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1 · SCOPE &amp; TIME HORIZON</a:t>
            </a:r>
            <a:endParaRPr b="0" i="0" sz="1100" u="none" cap="none" strike="noStrike">
              <a:solidFill>
                <a:schemeClr val="dk1"/>
              </a:solidFill>
              <a:latin typeface="Calibri"/>
              <a:ea typeface="Calibri"/>
              <a:cs typeface="Calibri"/>
              <a:sym typeface="Calibri"/>
            </a:endParaRPr>
          </a:p>
        </p:txBody>
      </p:sp>
      <p:sp>
        <p:nvSpPr>
          <p:cNvPr id="177" name="Google Shape;177;p11"/>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Micro vs. Macro  ·  Short-Run vs. Long-Run</a:t>
            </a:r>
            <a:endParaRPr b="0" i="0" sz="3000" u="none" cap="none" strike="noStrike">
              <a:solidFill>
                <a:schemeClr val="dk1"/>
              </a:solidFill>
              <a:latin typeface="Calibri"/>
              <a:ea typeface="Calibri"/>
              <a:cs typeface="Calibri"/>
              <a:sym typeface="Calibri"/>
            </a:endParaRPr>
          </a:p>
        </p:txBody>
      </p:sp>
      <p:sp>
        <p:nvSpPr>
          <p:cNvPr id="178" name="Google Shape;178;p11"/>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179" name="Google Shape;179;p11"/>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180" name="Google Shape;180;p11"/>
          <p:cNvSpPr/>
          <p:nvPr/>
        </p:nvSpPr>
        <p:spPr>
          <a:xfrm>
            <a:off x="502920" y="1463040"/>
            <a:ext cx="5486400" cy="21031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758952" y="164592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MICROECONOMICS</a:t>
            </a:r>
            <a:endParaRPr b="0" i="0" sz="1550" u="none" cap="none" strike="noStrike">
              <a:solidFill>
                <a:schemeClr val="dk1"/>
              </a:solidFill>
              <a:latin typeface="Calibri"/>
              <a:ea typeface="Calibri"/>
              <a:cs typeface="Calibri"/>
              <a:sym typeface="Calibri"/>
            </a:endParaRPr>
          </a:p>
        </p:txBody>
      </p:sp>
      <p:sp>
        <p:nvSpPr>
          <p:cNvPr id="182" name="Google Shape;182;p11"/>
          <p:cNvSpPr/>
          <p:nvPr/>
        </p:nvSpPr>
        <p:spPr>
          <a:xfrm>
            <a:off x="758952" y="2048256"/>
            <a:ext cx="4974336" cy="128016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4A6180"/>
              </a:buClr>
              <a:buSzPts val="1100"/>
              <a:buFont typeface="Calibri"/>
              <a:buNone/>
            </a:pPr>
            <a:r>
              <a:rPr b="0" i="0" lang="en-US" sz="1100" u="none" cap="none" strike="noStrike">
                <a:solidFill>
                  <a:srgbClr val="4A6180"/>
                </a:solidFill>
                <a:latin typeface="Calibri"/>
                <a:ea typeface="Calibri"/>
                <a:cs typeface="Calibri"/>
                <a:sym typeface="Calibri"/>
              </a:rPr>
              <a:t>The study of decision-making by individual customers, workers, households and firms — a smaller system, or a single speck within the glitter.</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4A6180"/>
              </a:buClr>
              <a:buSzPts val="1100"/>
              <a:buFont typeface="Calibri"/>
              <a:buNone/>
            </a:pPr>
            <a:r>
              <a:rPr b="0" i="0" lang="en-US" sz="1100" u="none" cap="none" strike="noStrike">
                <a:solidFill>
                  <a:srgbClr val="4A6180"/>
                </a:solidFill>
                <a:latin typeface="Calibri"/>
                <a:ea typeface="Calibri"/>
                <a:cs typeface="Calibri"/>
                <a:sym typeface="Calibri"/>
              </a:rPr>
              <a:t>"Thinking about how a part of the game works."</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4A6180"/>
              </a:buClr>
              <a:buSzPts val="1100"/>
              <a:buFont typeface="Calibri"/>
              <a:buNone/>
            </a:pPr>
            <a:r>
              <a:rPr b="0" i="0" lang="en-US" sz="1100" u="none" cap="none" strike="noStrike">
                <a:solidFill>
                  <a:srgbClr val="4A6180"/>
                </a:solidFill>
                <a:latin typeface="Calibri"/>
                <a:ea typeface="Calibri"/>
                <a:cs typeface="Calibri"/>
                <a:sym typeface="Calibri"/>
              </a:rPr>
              <a:t>This course is a microeconomics course.</a:t>
            </a:r>
            <a:endParaRPr b="0" i="0" sz="1100" u="none" cap="none" strike="noStrike">
              <a:solidFill>
                <a:schemeClr val="dk1"/>
              </a:solidFill>
              <a:latin typeface="Calibri"/>
              <a:ea typeface="Calibri"/>
              <a:cs typeface="Calibri"/>
              <a:sym typeface="Calibri"/>
            </a:endParaRPr>
          </a:p>
        </p:txBody>
      </p:sp>
      <p:sp>
        <p:nvSpPr>
          <p:cNvPr id="183" name="Google Shape;183;p11"/>
          <p:cNvSpPr/>
          <p:nvPr/>
        </p:nvSpPr>
        <p:spPr>
          <a:xfrm>
            <a:off x="6199632" y="1463040"/>
            <a:ext cx="5486400" cy="21031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6455664" y="164592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MACROECONOMICS</a:t>
            </a:r>
            <a:endParaRPr b="0" i="0" sz="1550" u="none" cap="none" strike="noStrike">
              <a:solidFill>
                <a:schemeClr val="dk1"/>
              </a:solidFill>
              <a:latin typeface="Calibri"/>
              <a:ea typeface="Calibri"/>
              <a:cs typeface="Calibri"/>
              <a:sym typeface="Calibri"/>
            </a:endParaRPr>
          </a:p>
        </p:txBody>
      </p:sp>
      <p:sp>
        <p:nvSpPr>
          <p:cNvPr id="185" name="Google Shape;185;p11"/>
          <p:cNvSpPr/>
          <p:nvPr/>
        </p:nvSpPr>
        <p:spPr>
          <a:xfrm>
            <a:off x="6455664" y="2048256"/>
            <a:ext cx="4974336" cy="128016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The study of the economy as an aggregate system: economic growth, the business cycle, interest rates, inflation, unemployment and government policy — the entire system of glitter.</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"Thinking about the whole game."</a:t>
            </a:r>
            <a:endParaRPr b="0" i="0" sz="1250" u="none" cap="none" strike="noStrike">
              <a:solidFill>
                <a:schemeClr val="dk1"/>
              </a:solidFill>
              <a:latin typeface="Calibri"/>
              <a:ea typeface="Calibri"/>
              <a:cs typeface="Calibri"/>
              <a:sym typeface="Calibri"/>
            </a:endParaRPr>
          </a:p>
        </p:txBody>
      </p:sp>
      <p:sp>
        <p:nvSpPr>
          <p:cNvPr id="186" name="Google Shape;186;p11"/>
          <p:cNvSpPr/>
          <p:nvPr/>
        </p:nvSpPr>
        <p:spPr>
          <a:xfrm>
            <a:off x="502920" y="3749040"/>
            <a:ext cx="5486400" cy="18288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758952" y="393192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SHORT-RUN</a:t>
            </a:r>
            <a:endParaRPr b="0" i="0" sz="1550" u="none" cap="none" strike="noStrike">
              <a:solidFill>
                <a:schemeClr val="dk1"/>
              </a:solidFill>
              <a:latin typeface="Calibri"/>
              <a:ea typeface="Calibri"/>
              <a:cs typeface="Calibri"/>
              <a:sym typeface="Calibri"/>
            </a:endParaRPr>
          </a:p>
        </p:txBody>
      </p:sp>
      <p:sp>
        <p:nvSpPr>
          <p:cNvPr id="188" name="Google Shape;188;p11"/>
          <p:cNvSpPr/>
          <p:nvPr/>
        </p:nvSpPr>
        <p:spPr>
          <a:xfrm>
            <a:off x="758952" y="4334256"/>
            <a:ext cx="4974336" cy="100584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A time horizon over which at least one accessible resource is FIXED. Producers cannot adjust every input; consumers cannot fully re-optimize. Analytically, the short run is defined by what cannot change, not by a number of months.</a:t>
            </a:r>
            <a:endParaRPr b="0" i="0" sz="1250" u="none" cap="none" strike="noStrike">
              <a:solidFill>
                <a:schemeClr val="dk1"/>
              </a:solidFill>
              <a:latin typeface="Calibri"/>
              <a:ea typeface="Calibri"/>
              <a:cs typeface="Calibri"/>
              <a:sym typeface="Calibri"/>
            </a:endParaRPr>
          </a:p>
        </p:txBody>
      </p:sp>
      <p:sp>
        <p:nvSpPr>
          <p:cNvPr id="189" name="Google Shape;189;p11"/>
          <p:cNvSpPr/>
          <p:nvPr/>
        </p:nvSpPr>
        <p:spPr>
          <a:xfrm>
            <a:off x="6199632" y="3749040"/>
            <a:ext cx="5486400" cy="18288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6455664" y="393192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LONG-RUN</a:t>
            </a:r>
            <a:endParaRPr b="0" i="0" sz="1550" u="none" cap="none" strike="noStrike">
              <a:solidFill>
                <a:schemeClr val="dk1"/>
              </a:solidFill>
              <a:latin typeface="Calibri"/>
              <a:ea typeface="Calibri"/>
              <a:cs typeface="Calibri"/>
              <a:sym typeface="Calibri"/>
            </a:endParaRPr>
          </a:p>
        </p:txBody>
      </p:sp>
      <p:sp>
        <p:nvSpPr>
          <p:cNvPr id="191" name="Google Shape;191;p11"/>
          <p:cNvSpPr/>
          <p:nvPr/>
        </p:nvSpPr>
        <p:spPr>
          <a:xfrm>
            <a:off x="6455664" y="4334256"/>
            <a:ext cx="4974336" cy="100584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A time horizon over which ALL accessible resources are VARIABLE. Firms may enter or exit; plants may be built or scrapped; consumers may fully adjust. The long run is a state of complete adjustment, not a date on a calendar.</a:t>
            </a:r>
            <a:endParaRPr b="0" i="0" sz="1250" u="none" cap="none" strike="noStrike">
              <a:solidFill>
                <a:schemeClr val="dk1"/>
              </a:solidFill>
              <a:latin typeface="Calibri"/>
              <a:ea typeface="Calibri"/>
              <a:cs typeface="Calibri"/>
              <a:sym typeface="Calibri"/>
            </a:endParaRPr>
          </a:p>
        </p:txBody>
      </p:sp>
      <p:sp>
        <p:nvSpPr>
          <p:cNvPr id="192" name="Google Shape;192;p11"/>
          <p:cNvSpPr/>
          <p:nvPr/>
        </p:nvSpPr>
        <p:spPr>
          <a:xfrm>
            <a:off x="502920" y="571500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250"/>
              <a:buFont typeface="Calibri"/>
              <a:buNone/>
            </a:pPr>
            <a:r>
              <a:rPr b="0" i="1" lang="en-US" sz="1250" u="none" cap="none" strike="noStrike">
                <a:solidFill>
                  <a:srgbClr val="C0892E"/>
                </a:solidFill>
                <a:latin typeface="Calibri"/>
                <a:ea typeface="Calibri"/>
                <a:cs typeface="Calibri"/>
                <a:sym typeface="Calibri"/>
              </a:rPr>
              <a:t>The short-run / long-run distinction returns in Modules 4, 6, 9, 10 and 11 — it is the single most reused analytical device in the course.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12"/>
          <p:cNvSpPr/>
          <p:nvPr/>
        </p:nvSpPr>
        <p:spPr>
          <a:xfrm>
            <a:off x="0" y="0"/>
            <a:ext cx="4160520" cy="6858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
          <p:cNvSpPr/>
          <p:nvPr/>
        </p:nvSpPr>
        <p:spPr>
          <a:xfrm>
            <a:off x="685800" y="1965960"/>
            <a:ext cx="29260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3000"/>
              <a:buFont typeface="Cambria"/>
              <a:buNone/>
            </a:pPr>
            <a:r>
              <a:rPr b="1" i="0" lang="en-US" sz="13000" u="none" cap="none" strike="noStrike">
                <a:solidFill>
                  <a:srgbClr val="C0892E"/>
                </a:solidFill>
                <a:latin typeface="Cambria"/>
                <a:ea typeface="Cambria"/>
                <a:cs typeface="Cambria"/>
                <a:sym typeface="Cambria"/>
              </a:rPr>
              <a:t>02</a:t>
            </a:r>
            <a:endParaRPr b="0" i="0" sz="13000" u="none" cap="none" strike="noStrike">
              <a:solidFill>
                <a:schemeClr val="dk1"/>
              </a:solidFill>
              <a:latin typeface="Calibri"/>
              <a:ea typeface="Calibri"/>
              <a:cs typeface="Calibri"/>
              <a:sym typeface="Calibri"/>
            </a:endParaRPr>
          </a:p>
        </p:txBody>
      </p:sp>
      <p:sp>
        <p:nvSpPr>
          <p:cNvPr id="200" name="Google Shape;200;p12"/>
          <p:cNvSpPr/>
          <p:nvPr/>
        </p:nvSpPr>
        <p:spPr>
          <a:xfrm>
            <a:off x="777240" y="3703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400"/>
              <a:buFont typeface="Calibri"/>
              <a:buNone/>
            </a:pPr>
            <a:r>
              <a:rPr b="1" i="0" lang="en-US" sz="1400" u="none" cap="none" strike="noStrike">
                <a:solidFill>
                  <a:srgbClr val="4A6180"/>
                </a:solidFill>
                <a:latin typeface="Calibri"/>
                <a:ea typeface="Calibri"/>
                <a:cs typeface="Calibri"/>
                <a:sym typeface="Calibri"/>
              </a:rPr>
              <a:t>PART</a:t>
            </a:r>
            <a:endParaRPr b="0" i="0" sz="1400" u="none" cap="none" strike="noStrike">
              <a:solidFill>
                <a:schemeClr val="dk1"/>
              </a:solidFill>
              <a:latin typeface="Calibri"/>
              <a:ea typeface="Calibri"/>
              <a:cs typeface="Calibri"/>
              <a:sym typeface="Calibri"/>
            </a:endParaRPr>
          </a:p>
        </p:txBody>
      </p:sp>
      <p:sp>
        <p:nvSpPr>
          <p:cNvPr id="201" name="Google Shape;201;p12"/>
          <p:cNvSpPr/>
          <p:nvPr/>
        </p:nvSpPr>
        <p:spPr>
          <a:xfrm>
            <a:off x="4937760" y="1965960"/>
            <a:ext cx="6675120" cy="1554480"/>
          </a:xfrm>
          <a:prstGeom prst="rect">
            <a:avLst/>
          </a:prstGeom>
          <a:noFill/>
          <a:ln>
            <a:noFill/>
          </a:ln>
        </p:spPr>
        <p:txBody>
          <a:bodyPr anchorCtr="0" anchor="b" bIns="0" lIns="0" spcFirstLastPara="1" rIns="0" wrap="square" tIns="0">
            <a:noAutofit/>
          </a:bodyPr>
          <a:lstStyle/>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Scarcity, Opportunity Cost</a:t>
            </a:r>
            <a:endParaRPr b="0" i="0" sz="3300" u="none" cap="none" strike="noStrike">
              <a:solidFill>
                <a:schemeClr val="dk1"/>
              </a:solidFill>
              <a:latin typeface="Calibri"/>
              <a:ea typeface="Calibri"/>
              <a:cs typeface="Calibri"/>
              <a:sym typeface="Calibri"/>
            </a:endParaRPr>
          </a:p>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&amp; the Factors of Production</a:t>
            </a:r>
            <a:endParaRPr b="0" i="0" sz="3300" u="none" cap="none" strike="noStrike">
              <a:solidFill>
                <a:schemeClr val="dk1"/>
              </a:solidFill>
              <a:latin typeface="Calibri"/>
              <a:ea typeface="Calibri"/>
              <a:cs typeface="Calibri"/>
              <a:sym typeface="Calibri"/>
            </a:endParaRPr>
          </a:p>
        </p:txBody>
      </p:sp>
      <p:sp>
        <p:nvSpPr>
          <p:cNvPr id="202" name="Google Shape;202;p12"/>
          <p:cNvSpPr/>
          <p:nvPr/>
        </p:nvSpPr>
        <p:spPr>
          <a:xfrm>
            <a:off x="4937760" y="3657600"/>
            <a:ext cx="6675120" cy="155448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0892E"/>
              </a:buClr>
              <a:buSzPts val="1200"/>
              <a:buFont typeface="Calibri"/>
              <a:buNone/>
            </a:pPr>
            <a:r>
              <a:rPr b="1" i="0" lang="en-US" sz="1200" u="none" cap="none" strike="noStrike">
                <a:solidFill>
                  <a:srgbClr val="C0892E"/>
                </a:solidFill>
                <a:latin typeface="Calibri"/>
                <a:ea typeface="Calibri"/>
                <a:cs typeface="Calibri"/>
                <a:sym typeface="Calibri"/>
              </a:rPr>
              <a:t>OBJECTIVE   </a:t>
            </a:r>
            <a:r>
              <a:rPr b="0" i="0" lang="en-US" sz="1500" u="none" cap="none" strike="noStrike">
                <a:solidFill>
                  <a:srgbClr val="4A6180"/>
                </a:solidFill>
                <a:latin typeface="Calibri"/>
                <a:ea typeface="Calibri"/>
                <a:cs typeface="Calibri"/>
                <a:sym typeface="Calibri"/>
              </a:rPr>
              <a:t>Define scarcity, choice and opportunity cost; identify the four factors of production; explain rational, incentivizable and marginal behavior.</a:t>
            </a:r>
            <a:endParaRPr b="0" i="0" sz="1200" u="none" cap="none" strike="noStrike">
              <a:solidFill>
                <a:schemeClr val="dk1"/>
              </a:solidFill>
              <a:latin typeface="Calibri"/>
              <a:ea typeface="Calibri"/>
              <a:cs typeface="Calibri"/>
              <a:sym typeface="Calibri"/>
            </a:endParaRPr>
          </a:p>
        </p:txBody>
      </p:sp>
      <p:sp>
        <p:nvSpPr>
          <p:cNvPr id="203" name="Google Shape;203;p12"/>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204" name="Google Shape;204;p12"/>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3"/>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2 · THE FUNDAMENTAL ECONOMIC PROBLEM</a:t>
            </a:r>
            <a:endParaRPr b="0" i="0" sz="1100" u="none" cap="none" strike="noStrike">
              <a:solidFill>
                <a:schemeClr val="dk1"/>
              </a:solidFill>
              <a:latin typeface="Calibri"/>
              <a:ea typeface="Calibri"/>
              <a:cs typeface="Calibri"/>
              <a:sym typeface="Calibri"/>
            </a:endParaRPr>
          </a:p>
        </p:txBody>
      </p:sp>
      <p:sp>
        <p:nvSpPr>
          <p:cNvPr id="211" name="Google Shape;211;p13"/>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Scarcity, Choice &amp; Opportunity Cost</a:t>
            </a:r>
            <a:endParaRPr b="0" i="0" sz="3000" u="none" cap="none" strike="noStrike">
              <a:solidFill>
                <a:schemeClr val="dk1"/>
              </a:solidFill>
              <a:latin typeface="Calibri"/>
              <a:ea typeface="Calibri"/>
              <a:cs typeface="Calibri"/>
              <a:sym typeface="Calibri"/>
            </a:endParaRPr>
          </a:p>
        </p:txBody>
      </p:sp>
      <p:sp>
        <p:nvSpPr>
          <p:cNvPr id="212" name="Google Shape;212;p13"/>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213" name="Google Shape;213;p13"/>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214" name="Google Shape;214;p13"/>
          <p:cNvSpPr/>
          <p:nvPr/>
        </p:nvSpPr>
        <p:spPr>
          <a:xfrm>
            <a:off x="502920" y="1463040"/>
            <a:ext cx="3611880" cy="214884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3"/>
          <p:cNvSpPr/>
          <p:nvPr/>
        </p:nvSpPr>
        <p:spPr>
          <a:xfrm>
            <a:off x="704088" y="1664208"/>
            <a:ext cx="457200" cy="457200"/>
          </a:xfrm>
          <a:prstGeom prst="ellipse">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3"/>
          <p:cNvSpPr/>
          <p:nvPr/>
        </p:nvSpPr>
        <p:spPr>
          <a:xfrm>
            <a:off x="704088" y="16642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17" name="Google Shape;217;p13"/>
          <p:cNvSpPr/>
          <p:nvPr/>
        </p:nvSpPr>
        <p:spPr>
          <a:xfrm>
            <a:off x="1280160" y="166420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SCARCITY</a:t>
            </a:r>
            <a:endParaRPr b="0" i="0" sz="1600" u="none" cap="none" strike="noStrike">
              <a:solidFill>
                <a:schemeClr val="dk1"/>
              </a:solidFill>
              <a:latin typeface="Calibri"/>
              <a:ea typeface="Calibri"/>
              <a:cs typeface="Calibri"/>
              <a:sym typeface="Calibri"/>
            </a:endParaRPr>
          </a:p>
        </p:txBody>
      </p:sp>
      <p:sp>
        <p:nvSpPr>
          <p:cNvPr id="218" name="Google Shape;218;p13"/>
          <p:cNvSpPr/>
          <p:nvPr/>
        </p:nvSpPr>
        <p:spPr>
          <a:xfrm>
            <a:off x="722376" y="2212848"/>
            <a:ext cx="3154680" cy="118872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The resources used in human production — land, labor, capital and innovation — are scarce: limited in supply and access. Humans are capable of infinite desires with access to limited means to meet them (time, raw materials, technology, mental capacity).</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This is society's ECONOMIZING PROBLEM.</a:t>
            </a:r>
            <a:endParaRPr b="0" i="0" sz="900" u="none" cap="none" strike="noStrike">
              <a:solidFill>
                <a:schemeClr val="dk1"/>
              </a:solidFill>
              <a:latin typeface="Calibri"/>
              <a:ea typeface="Calibri"/>
              <a:cs typeface="Calibri"/>
              <a:sym typeface="Calibri"/>
            </a:endParaRPr>
          </a:p>
        </p:txBody>
      </p:sp>
      <p:sp>
        <p:nvSpPr>
          <p:cNvPr id="219" name="Google Shape;219;p13"/>
          <p:cNvSpPr/>
          <p:nvPr/>
        </p:nvSpPr>
        <p:spPr>
          <a:xfrm>
            <a:off x="4315968" y="1463040"/>
            <a:ext cx="3611880" cy="214884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p:nvPr/>
        </p:nvSpPr>
        <p:spPr>
          <a:xfrm>
            <a:off x="4517136" y="1664208"/>
            <a:ext cx="457200" cy="457200"/>
          </a:xfrm>
          <a:prstGeom prst="ellipse">
            <a:avLst/>
          </a:prstGeom>
          <a:solidFill>
            <a:srgbClr val="C08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4517136" y="16642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22" name="Google Shape;222;p13"/>
          <p:cNvSpPr/>
          <p:nvPr/>
        </p:nvSpPr>
        <p:spPr>
          <a:xfrm>
            <a:off x="5093208" y="166420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SCARCITY OF CHOICE</a:t>
            </a:r>
            <a:endParaRPr b="0" i="0" sz="1600" u="none" cap="none" strike="noStrike">
              <a:solidFill>
                <a:schemeClr val="dk1"/>
              </a:solidFill>
              <a:latin typeface="Calibri"/>
              <a:ea typeface="Calibri"/>
              <a:cs typeface="Calibri"/>
              <a:sym typeface="Calibri"/>
            </a:endParaRPr>
          </a:p>
        </p:txBody>
      </p:sp>
      <p:sp>
        <p:nvSpPr>
          <p:cNvPr id="223" name="Google Shape;223;p13"/>
          <p:cNvSpPr/>
          <p:nvPr/>
        </p:nvSpPr>
        <p:spPr>
          <a:xfrm>
            <a:off x="4535424" y="2212848"/>
            <a:ext cx="3154680" cy="118872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Because resources are scarce, humans experience not only a scarcity of resources but a scarcity of CHOICE. For every choice made there is a non-choice — an opportunity cost.</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If I use $2 to buy a chocolate bar, I cannot also use that same $2 to buy a diet soda.</a:t>
            </a:r>
            <a:endParaRPr b="0" i="0" sz="900" u="none" cap="none" strike="noStrike">
              <a:solidFill>
                <a:schemeClr val="dk1"/>
              </a:solidFill>
              <a:latin typeface="Calibri"/>
              <a:ea typeface="Calibri"/>
              <a:cs typeface="Calibri"/>
              <a:sym typeface="Calibri"/>
            </a:endParaRPr>
          </a:p>
        </p:txBody>
      </p:sp>
      <p:sp>
        <p:nvSpPr>
          <p:cNvPr id="224" name="Google Shape;224;p13"/>
          <p:cNvSpPr/>
          <p:nvPr/>
        </p:nvSpPr>
        <p:spPr>
          <a:xfrm>
            <a:off x="8119872" y="1463040"/>
            <a:ext cx="3566160" cy="214884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8321040" y="1664208"/>
            <a:ext cx="457200" cy="457200"/>
          </a:xfrm>
          <a:prstGeom prst="ellipse">
            <a:avLst/>
          </a:prstGeom>
          <a:solidFill>
            <a:srgbClr val="2A7F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8321040" y="16642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27" name="Google Shape;227;p13"/>
          <p:cNvSpPr/>
          <p:nvPr/>
        </p:nvSpPr>
        <p:spPr>
          <a:xfrm>
            <a:off x="8897112" y="1664208"/>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THE CONSEQUENCE</a:t>
            </a:r>
            <a:endParaRPr b="0" i="0" sz="1600" u="none" cap="none" strike="noStrike">
              <a:solidFill>
                <a:schemeClr val="dk1"/>
              </a:solidFill>
              <a:latin typeface="Calibri"/>
              <a:ea typeface="Calibri"/>
              <a:cs typeface="Calibri"/>
              <a:sym typeface="Calibri"/>
            </a:endParaRPr>
          </a:p>
        </p:txBody>
      </p:sp>
      <p:sp>
        <p:nvSpPr>
          <p:cNvPr id="228" name="Google Shape;228;p13"/>
          <p:cNvSpPr/>
          <p:nvPr/>
        </p:nvSpPr>
        <p:spPr>
          <a:xfrm>
            <a:off x="8339328" y="2212848"/>
            <a:ext cx="3108960" cy="118872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4A6180"/>
              </a:buClr>
              <a:buSzPts val="950"/>
              <a:buFont typeface="Calibri"/>
              <a:buNone/>
            </a:pPr>
            <a:r>
              <a:rPr b="0" i="0" lang="en-US" sz="950" u="none" cap="none" strike="noStrike">
                <a:solidFill>
                  <a:srgbClr val="4A6180"/>
                </a:solidFill>
                <a:latin typeface="Calibri"/>
                <a:ea typeface="Calibri"/>
                <a:cs typeface="Calibri"/>
                <a:sym typeface="Calibri"/>
              </a:rPr>
              <a:t>Scarcity and choice together lead economists to model behavior as RATIONAL, INCENTIVIZABLE and MARGINAL.</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36842"/>
              </a:lnSpc>
              <a:spcBef>
                <a:spcPts val="0"/>
              </a:spcBef>
              <a:spcAft>
                <a:spcPts val="0"/>
              </a:spcAft>
              <a:buClr>
                <a:srgbClr val="4A6180"/>
              </a:buClr>
              <a:buSzPts val="950"/>
              <a:buFont typeface="Calibri"/>
              <a:buNone/>
            </a:pPr>
            <a:r>
              <a:rPr b="0" i="0" lang="en-US" sz="950" u="none" cap="none" strike="noStrike">
                <a:solidFill>
                  <a:srgbClr val="4A6180"/>
                </a:solidFill>
                <a:latin typeface="Calibri"/>
                <a:ea typeface="Calibri"/>
                <a:cs typeface="Calibri"/>
                <a:sym typeface="Calibri"/>
              </a:rPr>
              <a:t>These three assumptions are the load-bearing walls of the neoclassical models in Modules 3–6 and 9–11.</a:t>
            </a:r>
            <a:endParaRPr b="0" i="0" sz="950" u="none" cap="none" strike="noStrike">
              <a:solidFill>
                <a:schemeClr val="dk1"/>
              </a:solidFill>
              <a:latin typeface="Calibri"/>
              <a:ea typeface="Calibri"/>
              <a:cs typeface="Calibri"/>
              <a:sym typeface="Calibri"/>
            </a:endParaRPr>
          </a:p>
        </p:txBody>
      </p:sp>
      <p:sp>
        <p:nvSpPr>
          <p:cNvPr id="229" name="Google Shape;229;p13"/>
          <p:cNvSpPr/>
          <p:nvPr/>
        </p:nvSpPr>
        <p:spPr>
          <a:xfrm>
            <a:off x="502920" y="3840480"/>
            <a:ext cx="11183112" cy="9144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685800" y="3968496"/>
            <a:ext cx="1081735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INFINITE wants   ≠   LIMITED resources and factors of production</a:t>
            </a:r>
            <a:endParaRPr b="0" i="0" sz="2000" u="none" cap="none" strike="noStrike">
              <a:solidFill>
                <a:schemeClr val="dk1"/>
              </a:solidFill>
              <a:latin typeface="Calibri"/>
              <a:ea typeface="Calibri"/>
              <a:cs typeface="Calibri"/>
              <a:sym typeface="Calibri"/>
            </a:endParaRPr>
          </a:p>
        </p:txBody>
      </p:sp>
      <p:sp>
        <p:nvSpPr>
          <p:cNvPr id="231" name="Google Shape;231;p13"/>
          <p:cNvSpPr/>
          <p:nvPr/>
        </p:nvSpPr>
        <p:spPr>
          <a:xfrm>
            <a:off x="685800" y="4242816"/>
            <a:ext cx="10817352"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Scarcity is not poverty. Scarcity is the permanent gap between what we want and what we can produce.</a:t>
            </a:r>
            <a:endParaRPr b="0" i="0" sz="1150" u="none" cap="none" strike="noStrike">
              <a:solidFill>
                <a:schemeClr val="dk1"/>
              </a:solidFill>
              <a:latin typeface="Calibri"/>
              <a:ea typeface="Calibri"/>
              <a:cs typeface="Calibri"/>
              <a:sym typeface="Calibri"/>
            </a:endParaRPr>
          </a:p>
        </p:txBody>
      </p:sp>
      <p:sp>
        <p:nvSpPr>
          <p:cNvPr id="232" name="Google Shape;232;p13"/>
          <p:cNvSpPr/>
          <p:nvPr/>
        </p:nvSpPr>
        <p:spPr>
          <a:xfrm>
            <a:off x="502920" y="4956048"/>
            <a:ext cx="11183112" cy="11887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758952" y="5138928"/>
            <a:ext cx="106710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OPPORTUNITY COST — the formal definition</a:t>
            </a:r>
            <a:endParaRPr b="0" i="0" sz="1550" u="none" cap="none" strike="noStrike">
              <a:solidFill>
                <a:schemeClr val="dk1"/>
              </a:solidFill>
              <a:latin typeface="Calibri"/>
              <a:ea typeface="Calibri"/>
              <a:cs typeface="Calibri"/>
              <a:sym typeface="Calibri"/>
            </a:endParaRPr>
          </a:p>
        </p:txBody>
      </p:sp>
      <p:sp>
        <p:nvSpPr>
          <p:cNvPr id="234" name="Google Shape;234;p13"/>
          <p:cNvSpPr/>
          <p:nvPr/>
        </p:nvSpPr>
        <p:spPr>
          <a:xfrm>
            <a:off x="758952" y="5541264"/>
            <a:ext cx="10671048" cy="36576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The value of the NEXT-BEST alternative forgone when a choice is made. It is always expressed in terms of the other good, never in the abstract. Opportunity cost includes both explicit costs (an outlay of money) and implicit costs (no outlay — forgone wages, forgone interest, forgone time). This is why economists say: THE COST OF SOMETHING IS WHAT YOU GIVE UP TO GET IT.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4"/>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2 · SOCIETY'S SCARCE RESOURCES</a:t>
            </a:r>
            <a:endParaRPr b="0" i="0" sz="1100" u="none" cap="none" strike="noStrike">
              <a:solidFill>
                <a:schemeClr val="dk1"/>
              </a:solidFill>
              <a:latin typeface="Calibri"/>
              <a:ea typeface="Calibri"/>
              <a:cs typeface="Calibri"/>
              <a:sym typeface="Calibri"/>
            </a:endParaRPr>
          </a:p>
        </p:txBody>
      </p:sp>
      <p:sp>
        <p:nvSpPr>
          <p:cNvPr id="241" name="Google Shape;241;p14"/>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Four Factors of Production</a:t>
            </a:r>
            <a:endParaRPr b="0" i="0" sz="3000" u="none" cap="none" strike="noStrike">
              <a:solidFill>
                <a:schemeClr val="dk1"/>
              </a:solidFill>
              <a:latin typeface="Calibri"/>
              <a:ea typeface="Calibri"/>
              <a:cs typeface="Calibri"/>
              <a:sym typeface="Calibri"/>
            </a:endParaRPr>
          </a:p>
        </p:txBody>
      </p:sp>
      <p:sp>
        <p:nvSpPr>
          <p:cNvPr id="242" name="Google Shape;242;p14"/>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243" name="Google Shape;243;p14"/>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pic>
        <p:nvPicPr>
          <p:cNvPr descr="figs/m1_factors.png" id="244" name="Google Shape;244;p14"/>
          <p:cNvPicPr preferRelativeResize="0"/>
          <p:nvPr/>
        </p:nvPicPr>
        <p:blipFill rotWithShape="1">
          <a:blip r:embed="rId3">
            <a:alphaModFix/>
          </a:blip>
          <a:srcRect b="0" l="0" r="0" t="0"/>
          <a:stretch/>
        </p:blipFill>
        <p:spPr>
          <a:xfrm>
            <a:off x="1005840" y="1689537"/>
            <a:ext cx="10149840" cy="2143901"/>
          </a:xfrm>
          <a:prstGeom prst="rect">
            <a:avLst/>
          </a:prstGeom>
          <a:noFill/>
          <a:ln>
            <a:noFill/>
          </a:ln>
        </p:spPr>
      </p:pic>
      <p:graphicFrame>
        <p:nvGraphicFramePr>
          <p:cNvPr id="245" name="Google Shape;245;p14"/>
          <p:cNvGraphicFramePr/>
          <p:nvPr/>
        </p:nvGraphicFramePr>
        <p:xfrm>
          <a:off x="502920" y="4315968"/>
          <a:ext cx="3000000" cy="3000000"/>
        </p:xfrm>
        <a:graphic>
          <a:graphicData uri="http://schemas.openxmlformats.org/drawingml/2006/table">
            <a:tbl>
              <a:tblPr>
                <a:noFill/>
                <a:tableStyleId>{5412CA50-F7BB-49FB-A1FD-1592E326B74B}</a:tableStyleId>
              </a:tblPr>
              <a:tblGrid>
                <a:gridCol w="1600200"/>
                <a:gridCol w="5486400"/>
                <a:gridCol w="1005850"/>
                <a:gridCol w="3090675"/>
              </a:tblGrid>
              <a:tr h="2743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FACTOR</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FORMAL DEFINITION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PAYMENT</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HISTORICAL EXAMPLE</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27432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Land</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All natural resources — soil, water, timber, mineral and energy deposits — supplied by nature, not produced.</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Rent</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Enclosed common fields, England, 1750–1830 (Module 6)</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Labor</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The physical and mental effort of human beings applied to production; measured in hours and in skill.</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Wages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Lancashire mill workers, 1780–1850 (Modules 6 &amp; 8)</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7432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Capital</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Produced means of production — tools, machines, buildings, infrastructure and financial assets. Unlike land and labor, capital must be created and invested in, and it raises productivity over time.</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Interest</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Water frame and spinning mule, 1769–1779</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Innovation /</a:t>
                      </a:r>
                      <a:endParaRPr sz="1050" u="none" cap="none" strike="noStrike">
                        <a:latin typeface="Calibri"/>
                        <a:ea typeface="Calibri"/>
                        <a:cs typeface="Calibri"/>
                        <a:sym typeface="Calibri"/>
                      </a:endParaRPr>
                    </a:p>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Entrepreneurship</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The organizing, risk-bearing input that combines the other three factors into an enterprise and bears the residual outcome.</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Profit</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Josiah Wedgwood's division of labor in pottery, 1769</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15"/>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2 · DECISION-MAKING AT THE MARGIN</a:t>
            </a:r>
            <a:endParaRPr b="0" i="0" sz="1100" u="none" cap="none" strike="noStrike">
              <a:solidFill>
                <a:schemeClr val="dk1"/>
              </a:solidFill>
              <a:latin typeface="Calibri"/>
              <a:ea typeface="Calibri"/>
              <a:cs typeface="Calibri"/>
              <a:sym typeface="Calibri"/>
            </a:endParaRPr>
          </a:p>
        </p:txBody>
      </p:sp>
      <p:sp>
        <p:nvSpPr>
          <p:cNvPr id="252" name="Google Shape;252;p15"/>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Marginal Analysis: The Economist's Core Operation</a:t>
            </a:r>
            <a:endParaRPr b="0" i="0" sz="3000" u="none" cap="none" strike="noStrike">
              <a:solidFill>
                <a:schemeClr val="dk1"/>
              </a:solidFill>
              <a:latin typeface="Calibri"/>
              <a:ea typeface="Calibri"/>
              <a:cs typeface="Calibri"/>
              <a:sym typeface="Calibri"/>
            </a:endParaRPr>
          </a:p>
        </p:txBody>
      </p:sp>
      <p:sp>
        <p:nvSpPr>
          <p:cNvPr id="253" name="Google Shape;253;p15"/>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254" name="Google Shape;254;p15"/>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255" name="Google Shape;255;p15"/>
          <p:cNvSpPr/>
          <p:nvPr/>
        </p:nvSpPr>
        <p:spPr>
          <a:xfrm>
            <a:off x="502920" y="1444752"/>
            <a:ext cx="11155680" cy="685800"/>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4A6180"/>
              </a:buClr>
              <a:buSzPts val="1350"/>
              <a:buFont typeface="Calibri"/>
              <a:buNone/>
            </a:pPr>
            <a:r>
              <a:rPr b="0" i="0" lang="en-US" sz="1350" u="none" cap="none" strike="noStrike">
                <a:solidFill>
                  <a:srgbClr val="4A6180"/>
                </a:solidFill>
                <a:latin typeface="Calibri"/>
                <a:ea typeface="Calibri"/>
                <a:cs typeface="Calibri"/>
                <a:sym typeface="Calibri"/>
              </a:rPr>
              <a:t>Marginal means EXTRA — it refers to what has changed over a period or with one more unit. Economics' focus on marginality creates a constant need to calculate small units of change. Calculus, and in particular the derivative, is built for exactly this; in this course we will simplify to algebra and ratios.</a:t>
            </a:r>
            <a:endParaRPr b="0" i="0" sz="1350" u="none" cap="none" strike="noStrike">
              <a:solidFill>
                <a:schemeClr val="dk1"/>
              </a:solidFill>
              <a:latin typeface="Calibri"/>
              <a:ea typeface="Calibri"/>
              <a:cs typeface="Calibri"/>
              <a:sym typeface="Calibri"/>
            </a:endParaRPr>
          </a:p>
        </p:txBody>
      </p:sp>
      <p:sp>
        <p:nvSpPr>
          <p:cNvPr id="256" name="Google Shape;256;p15"/>
          <p:cNvSpPr/>
          <p:nvPr/>
        </p:nvSpPr>
        <p:spPr>
          <a:xfrm>
            <a:off x="502920" y="2212848"/>
            <a:ext cx="3611880" cy="13716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685800" y="2340864"/>
            <a:ext cx="324612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MB  =  ΔTotal Benefit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ΔQuantity</a:t>
            </a:r>
            <a:endParaRPr b="0" i="0" sz="1600" u="none" cap="none" strike="noStrike">
              <a:solidFill>
                <a:schemeClr val="dk1"/>
              </a:solidFill>
              <a:latin typeface="Calibri"/>
              <a:ea typeface="Calibri"/>
              <a:cs typeface="Calibri"/>
              <a:sym typeface="Calibri"/>
            </a:endParaRPr>
          </a:p>
        </p:txBody>
      </p:sp>
      <p:sp>
        <p:nvSpPr>
          <p:cNvPr id="258" name="Google Shape;258;p15"/>
          <p:cNvSpPr/>
          <p:nvPr/>
        </p:nvSpPr>
        <p:spPr>
          <a:xfrm>
            <a:off x="685800" y="3072384"/>
            <a:ext cx="324612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180"/>
              </a:buClr>
              <a:buSzPts val="1150"/>
              <a:buFont typeface="Calibri"/>
              <a:buNone/>
            </a:pPr>
            <a:r>
              <a:rPr b="0" i="1" lang="en-US" sz="1150" u="none" cap="none" strike="noStrike">
                <a:solidFill>
                  <a:srgbClr val="4A6180"/>
                </a:solidFill>
                <a:latin typeface="Calibri"/>
                <a:ea typeface="Calibri"/>
                <a:cs typeface="Calibri"/>
                <a:sym typeface="Calibri"/>
              </a:rPr>
              <a:t>MARGINAL BENEFIT — the additional gain from one more unit</a:t>
            </a:r>
            <a:endParaRPr b="0" i="0" sz="1150" u="none" cap="none" strike="noStrike">
              <a:solidFill>
                <a:schemeClr val="dk1"/>
              </a:solidFill>
              <a:latin typeface="Calibri"/>
              <a:ea typeface="Calibri"/>
              <a:cs typeface="Calibri"/>
              <a:sym typeface="Calibri"/>
            </a:endParaRPr>
          </a:p>
        </p:txBody>
      </p:sp>
      <p:sp>
        <p:nvSpPr>
          <p:cNvPr id="259" name="Google Shape;259;p15"/>
          <p:cNvSpPr/>
          <p:nvPr/>
        </p:nvSpPr>
        <p:spPr>
          <a:xfrm>
            <a:off x="4315968" y="2212848"/>
            <a:ext cx="3611880" cy="13716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4498848" y="2340864"/>
            <a:ext cx="324612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MC  =  ΔTotal Cost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ΔQuantity</a:t>
            </a:r>
            <a:endParaRPr b="0" i="0" sz="1600" u="none" cap="none" strike="noStrike">
              <a:solidFill>
                <a:schemeClr val="dk1"/>
              </a:solidFill>
              <a:latin typeface="Calibri"/>
              <a:ea typeface="Calibri"/>
              <a:cs typeface="Calibri"/>
              <a:sym typeface="Calibri"/>
            </a:endParaRPr>
          </a:p>
        </p:txBody>
      </p:sp>
      <p:sp>
        <p:nvSpPr>
          <p:cNvPr id="261" name="Google Shape;261;p15"/>
          <p:cNvSpPr/>
          <p:nvPr/>
        </p:nvSpPr>
        <p:spPr>
          <a:xfrm>
            <a:off x="4498848" y="3072384"/>
            <a:ext cx="324612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180"/>
              </a:buClr>
              <a:buSzPts val="1150"/>
              <a:buFont typeface="Calibri"/>
              <a:buNone/>
            </a:pPr>
            <a:r>
              <a:rPr b="0" i="1" lang="en-US" sz="1150" u="none" cap="none" strike="noStrike">
                <a:solidFill>
                  <a:srgbClr val="4A6180"/>
                </a:solidFill>
                <a:latin typeface="Calibri"/>
                <a:ea typeface="Calibri"/>
                <a:cs typeface="Calibri"/>
                <a:sym typeface="Calibri"/>
              </a:rPr>
              <a:t>MARGINAL COST — the additional cost of one more unit</a:t>
            </a:r>
            <a:endParaRPr b="0" i="0" sz="1150" u="none" cap="none" strike="noStrike">
              <a:solidFill>
                <a:schemeClr val="dk1"/>
              </a:solidFill>
              <a:latin typeface="Calibri"/>
              <a:ea typeface="Calibri"/>
              <a:cs typeface="Calibri"/>
              <a:sym typeface="Calibri"/>
            </a:endParaRPr>
          </a:p>
        </p:txBody>
      </p:sp>
      <p:sp>
        <p:nvSpPr>
          <p:cNvPr id="262" name="Google Shape;262;p15"/>
          <p:cNvSpPr/>
          <p:nvPr/>
        </p:nvSpPr>
        <p:spPr>
          <a:xfrm>
            <a:off x="8119872" y="2212848"/>
            <a:ext cx="3566160" cy="13716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8302752" y="2340864"/>
            <a:ext cx="320040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Produce / consume</a:t>
            </a:r>
            <a:endParaRPr b="0" i="0" sz="2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while  MB  ≥  MC</a:t>
            </a:r>
            <a:endParaRPr b="0" i="0" sz="2200" u="none" cap="none" strike="noStrike">
              <a:solidFill>
                <a:schemeClr val="dk1"/>
              </a:solidFill>
              <a:latin typeface="Calibri"/>
              <a:ea typeface="Calibri"/>
              <a:cs typeface="Calibri"/>
              <a:sym typeface="Calibri"/>
            </a:endParaRPr>
          </a:p>
        </p:txBody>
      </p:sp>
      <p:sp>
        <p:nvSpPr>
          <p:cNvPr id="264" name="Google Shape;264;p15"/>
          <p:cNvSpPr/>
          <p:nvPr/>
        </p:nvSpPr>
        <p:spPr>
          <a:xfrm>
            <a:off x="8302752" y="3072384"/>
            <a:ext cx="320040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THE GOLDEN RULE — optimum where MB = MC</a:t>
            </a:r>
            <a:endParaRPr b="0" i="0" sz="1150" u="none" cap="none" strike="noStrike">
              <a:solidFill>
                <a:schemeClr val="dk1"/>
              </a:solidFill>
              <a:latin typeface="Calibri"/>
              <a:ea typeface="Calibri"/>
              <a:cs typeface="Calibri"/>
              <a:sym typeface="Calibri"/>
            </a:endParaRPr>
          </a:p>
        </p:txBody>
      </p:sp>
      <p:sp>
        <p:nvSpPr>
          <p:cNvPr id="265" name="Google Shape;265;p15"/>
          <p:cNvSpPr/>
          <p:nvPr/>
        </p:nvSpPr>
        <p:spPr>
          <a:xfrm>
            <a:off x="502920" y="3794760"/>
            <a:ext cx="5486400" cy="14173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758952" y="397764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WHY AT THE MARGIN, NOT IN AGGREGATE?</a:t>
            </a:r>
            <a:endParaRPr b="0" i="0" sz="1550" u="none" cap="none" strike="noStrike">
              <a:solidFill>
                <a:schemeClr val="dk1"/>
              </a:solidFill>
              <a:latin typeface="Calibri"/>
              <a:ea typeface="Calibri"/>
              <a:cs typeface="Calibri"/>
              <a:sym typeface="Calibri"/>
            </a:endParaRPr>
          </a:p>
        </p:txBody>
      </p:sp>
      <p:sp>
        <p:nvSpPr>
          <p:cNvPr id="267" name="Google Shape;267;p15"/>
          <p:cNvSpPr/>
          <p:nvPr/>
        </p:nvSpPr>
        <p:spPr>
          <a:xfrm>
            <a:off x="758952" y="4379976"/>
            <a:ext cx="4974336" cy="59436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Because decisions are almost never all-or-nothing. You do not choose between studying and not studying; you choose whether to study one more hour. The relevant comparison is therefore always between the benefit and the cost of that ONE additional unit — never between the totals.</a:t>
            </a:r>
            <a:endParaRPr b="0" i="0" sz="850" u="none" cap="none" strike="noStrike">
              <a:solidFill>
                <a:schemeClr val="dk1"/>
              </a:solidFill>
              <a:latin typeface="Calibri"/>
              <a:ea typeface="Calibri"/>
              <a:cs typeface="Calibri"/>
              <a:sym typeface="Calibri"/>
            </a:endParaRPr>
          </a:p>
        </p:txBody>
      </p:sp>
      <p:sp>
        <p:nvSpPr>
          <p:cNvPr id="268" name="Google Shape;268;p15"/>
          <p:cNvSpPr/>
          <p:nvPr/>
        </p:nvSpPr>
        <p:spPr>
          <a:xfrm>
            <a:off x="6199632" y="3794760"/>
            <a:ext cx="5486400" cy="14173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a:off x="6455664" y="397764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RATIONAL BEHAVIOR — the assumption</a:t>
            </a:r>
            <a:endParaRPr b="0" i="0" sz="1550" u="none" cap="none" strike="noStrike">
              <a:solidFill>
                <a:schemeClr val="dk1"/>
              </a:solidFill>
              <a:latin typeface="Calibri"/>
              <a:ea typeface="Calibri"/>
              <a:cs typeface="Calibri"/>
              <a:sym typeface="Calibri"/>
            </a:endParaRPr>
          </a:p>
        </p:txBody>
      </p:sp>
      <p:sp>
        <p:nvSpPr>
          <p:cNvPr id="270" name="Google Shape;270;p15"/>
          <p:cNvSpPr/>
          <p:nvPr/>
        </p:nvSpPr>
        <p:spPr>
          <a:xfrm>
            <a:off x="6455664" y="4379976"/>
            <a:ext cx="4974336" cy="59436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Agents respond systematically to incentives and choose the option with the highest net marginal benefit. Formally: an agent expands an activity so long as MB ≥ MC and stops where MB = MC. Rationality here means CONSISTENT, not wise, selfish, or correct.</a:t>
            </a:r>
            <a:endParaRPr b="0" i="0" sz="900" u="none" cap="none" strike="noStrike">
              <a:solidFill>
                <a:schemeClr val="dk1"/>
              </a:solidFill>
              <a:latin typeface="Calibri"/>
              <a:ea typeface="Calibri"/>
              <a:cs typeface="Calibri"/>
              <a:sym typeface="Calibri"/>
            </a:endParaRPr>
          </a:p>
        </p:txBody>
      </p:sp>
      <p:sp>
        <p:nvSpPr>
          <p:cNvPr id="271" name="Google Shape;271;p15"/>
          <p:cNvSpPr/>
          <p:nvPr/>
        </p:nvSpPr>
        <p:spPr>
          <a:xfrm>
            <a:off x="502920" y="539496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250"/>
              <a:buFont typeface="Calibri"/>
              <a:buNone/>
            </a:pPr>
            <a:r>
              <a:rPr b="0" i="1" lang="en-US" sz="1250" u="none" cap="none" strike="noStrike">
                <a:solidFill>
                  <a:srgbClr val="C0892E"/>
                </a:solidFill>
                <a:latin typeface="Calibri"/>
                <a:ea typeface="Calibri"/>
                <a:cs typeface="Calibri"/>
                <a:sym typeface="Calibri"/>
              </a:rPr>
              <a:t>Helpful brain tip: connect the word EACH with PER and with ONE. "Marginal" is always a per-one-more quantity.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6"/>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2 · THE CONTESTED ASSUMPTION</a:t>
            </a:r>
            <a:endParaRPr b="0" i="0" sz="1100" u="none" cap="none" strike="noStrike">
              <a:solidFill>
                <a:schemeClr val="dk1"/>
              </a:solidFill>
              <a:latin typeface="Calibri"/>
              <a:ea typeface="Calibri"/>
              <a:cs typeface="Calibri"/>
              <a:sym typeface="Calibri"/>
            </a:endParaRPr>
          </a:p>
        </p:txBody>
      </p:sp>
      <p:sp>
        <p:nvSpPr>
          <p:cNvPr id="278" name="Google Shape;278;p16"/>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Where the Rationality Model Breaks Down</a:t>
            </a:r>
            <a:endParaRPr b="0" i="0" sz="3000" u="none" cap="none" strike="noStrike">
              <a:solidFill>
                <a:schemeClr val="dk1"/>
              </a:solidFill>
              <a:latin typeface="Calibri"/>
              <a:ea typeface="Calibri"/>
              <a:cs typeface="Calibri"/>
              <a:sym typeface="Calibri"/>
            </a:endParaRPr>
          </a:p>
        </p:txBody>
      </p:sp>
      <p:sp>
        <p:nvSpPr>
          <p:cNvPr id="279" name="Google Shape;279;p16"/>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280" name="Google Shape;280;p16"/>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281" name="Google Shape;281;p16"/>
          <p:cNvSpPr/>
          <p:nvPr/>
        </p:nvSpPr>
        <p:spPr>
          <a:xfrm>
            <a:off x="502920" y="1444752"/>
            <a:ext cx="11155680" cy="960120"/>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4A6180"/>
              </a:buClr>
              <a:buSzPts val="1350"/>
              <a:buFont typeface="Calibri"/>
              <a:buNone/>
            </a:pPr>
            <a:r>
              <a:rPr b="0" i="0" lang="en-US" sz="1350" u="none" cap="none" strike="noStrike">
                <a:solidFill>
                  <a:srgbClr val="4A6180"/>
                </a:solidFill>
                <a:latin typeface="Calibri"/>
                <a:ea typeface="Calibri"/>
                <a:cs typeface="Calibri"/>
                <a:sym typeface="Calibri"/>
              </a:rPr>
              <a:t>Many economists assume behavior is rational, self-interested and driven by monetary incentives, and that discrete parts of life (education, finance, public policy) can be accurately quantified. Yet research across behavioral, experimental and even classical economics shows the relationship between incentives, choice and financial decision-making is more complex. Money is a powerful motivator — but it operates alongside social norms, identity and intrinsic motivation, particularly where cooperation or altruism are essential.</a:t>
            </a:r>
            <a:endParaRPr b="0" i="0" sz="1350" u="none" cap="none" strike="noStrike">
              <a:solidFill>
                <a:schemeClr val="dk1"/>
              </a:solidFill>
              <a:latin typeface="Calibri"/>
              <a:ea typeface="Calibri"/>
              <a:cs typeface="Calibri"/>
              <a:sym typeface="Calibri"/>
            </a:endParaRPr>
          </a:p>
        </p:txBody>
      </p:sp>
      <p:sp>
        <p:nvSpPr>
          <p:cNvPr id="282" name="Google Shape;282;p16"/>
          <p:cNvSpPr/>
          <p:nvPr/>
        </p:nvSpPr>
        <p:spPr>
          <a:xfrm>
            <a:off x="502920" y="2542032"/>
            <a:ext cx="3611880" cy="22860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758952" y="2724912"/>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SCARCITY OF THE MIND</a:t>
            </a:r>
            <a:endParaRPr b="0" i="0" sz="1550" u="none" cap="none" strike="noStrike">
              <a:solidFill>
                <a:schemeClr val="dk1"/>
              </a:solidFill>
              <a:latin typeface="Calibri"/>
              <a:ea typeface="Calibri"/>
              <a:cs typeface="Calibri"/>
              <a:sym typeface="Calibri"/>
            </a:endParaRPr>
          </a:p>
        </p:txBody>
      </p:sp>
      <p:sp>
        <p:nvSpPr>
          <p:cNvPr id="284" name="Google Shape;284;p16"/>
          <p:cNvSpPr/>
          <p:nvPr/>
        </p:nvSpPr>
        <p:spPr>
          <a:xfrm>
            <a:off x="758952" y="3127248"/>
            <a:ext cx="3099816"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6180"/>
              </a:buClr>
              <a:buSzPts val="1000"/>
              <a:buFont typeface="Calibri"/>
              <a:buNone/>
            </a:pPr>
            <a:r>
              <a:rPr b="0" i="0" lang="en-US" sz="1000" u="none" cap="none" strike="noStrike">
                <a:solidFill>
                  <a:srgbClr val="4A6180"/>
                </a:solidFill>
                <a:latin typeface="Calibri"/>
                <a:ea typeface="Calibri"/>
                <a:cs typeface="Calibri"/>
                <a:sym typeface="Calibri"/>
              </a:rPr>
              <a:t>Mullainathan &amp; Shafir (2013) show that scarcity — of money, time, or resources — captures attention and narrows focus. This "tunneling effect" reduces mental bandwidth, making long-term planning harder and producing choices that look irrational but are rational responses to pressure.</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A6180"/>
              </a:buClr>
              <a:buSzPts val="1000"/>
              <a:buFont typeface="Calibri"/>
              <a:buNone/>
            </a:pPr>
            <a:r>
              <a:rPr b="0" i="0" lang="en-US" sz="1000" u="none" cap="none" strike="noStrike">
                <a:solidFill>
                  <a:srgbClr val="4A6180"/>
                </a:solidFill>
                <a:latin typeface="Calibri"/>
                <a:ea typeface="Calibri"/>
                <a:cs typeface="Calibri"/>
                <a:sym typeface="Calibri"/>
              </a:rPr>
              <a:t>Returns in Modules 2, 8 and 12.</a:t>
            </a:r>
            <a:endParaRPr b="0" i="0" sz="1000" u="none" cap="none" strike="noStrike">
              <a:solidFill>
                <a:schemeClr val="dk1"/>
              </a:solidFill>
              <a:latin typeface="Calibri"/>
              <a:ea typeface="Calibri"/>
              <a:cs typeface="Calibri"/>
              <a:sym typeface="Calibri"/>
            </a:endParaRPr>
          </a:p>
        </p:txBody>
      </p:sp>
      <p:sp>
        <p:nvSpPr>
          <p:cNvPr id="285" name="Google Shape;285;p16"/>
          <p:cNvSpPr/>
          <p:nvPr/>
        </p:nvSpPr>
        <p:spPr>
          <a:xfrm>
            <a:off x="4315968" y="2542032"/>
            <a:ext cx="3611880" cy="22860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4572000" y="2724912"/>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BOUNDED RATIONALITY</a:t>
            </a:r>
            <a:endParaRPr b="0" i="0" sz="1550" u="none" cap="none" strike="noStrike">
              <a:solidFill>
                <a:schemeClr val="dk1"/>
              </a:solidFill>
              <a:latin typeface="Calibri"/>
              <a:ea typeface="Calibri"/>
              <a:cs typeface="Calibri"/>
              <a:sym typeface="Calibri"/>
            </a:endParaRPr>
          </a:p>
        </p:txBody>
      </p:sp>
      <p:sp>
        <p:nvSpPr>
          <p:cNvPr id="287" name="Google Shape;287;p16"/>
          <p:cNvSpPr/>
          <p:nvPr/>
        </p:nvSpPr>
        <p:spPr>
          <a:xfrm>
            <a:off x="4572000" y="3127248"/>
            <a:ext cx="3099816" cy="1463040"/>
          </a:xfrm>
          <a:prstGeom prst="rect">
            <a:avLst/>
          </a:prstGeom>
          <a:noFill/>
          <a:ln>
            <a:noFill/>
          </a:ln>
        </p:spPr>
        <p:txBody>
          <a:bodyPr anchorCtr="0" anchor="t" bIns="0" lIns="0" spcFirstLastPara="1" rIns="0" wrap="square" tIns="0">
            <a:noAutofit/>
          </a:bodyPr>
          <a:lstStyle/>
          <a:p>
            <a:pPr indent="0" lvl="0" marL="0" marR="0" rtl="0" algn="l">
              <a:lnSpc>
                <a:spcPct val="139130"/>
              </a:lnSpc>
              <a:spcBef>
                <a:spcPts val="0"/>
              </a:spcBef>
              <a:spcAft>
                <a:spcPts val="0"/>
              </a:spcAft>
              <a:buClr>
                <a:srgbClr val="4A6180"/>
              </a:buClr>
              <a:buSzPts val="1150"/>
              <a:buFont typeface="Calibri"/>
              <a:buNone/>
            </a:pPr>
            <a:r>
              <a:rPr b="0" i="0" lang="en-US" sz="1150" u="none" cap="none" strike="noStrike">
                <a:solidFill>
                  <a:srgbClr val="4A6180"/>
                </a:solidFill>
                <a:latin typeface="Calibri"/>
                <a:ea typeface="Calibri"/>
                <a:cs typeface="Calibri"/>
                <a:sym typeface="Calibri"/>
              </a:rPr>
              <a:t>Herbert Simon (1955): people SATISFICE — they accept the first option meeting a minimum threshold — rather than maximize. Cognitive limits, time constraints and incomplete information prevent full optimization.</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4A6180"/>
              </a:buClr>
              <a:buSzPts val="1150"/>
              <a:buFont typeface="Calibri"/>
              <a:buNone/>
            </a:pPr>
            <a:r>
              <a:rPr b="0" i="0" lang="en-US" sz="1150" u="none" cap="none" strike="noStrike">
                <a:solidFill>
                  <a:srgbClr val="4A6180"/>
                </a:solidFill>
                <a:latin typeface="Calibri"/>
                <a:ea typeface="Calibri"/>
                <a:cs typeface="Calibri"/>
                <a:sym typeface="Calibri"/>
              </a:rPr>
              <a:t>Preview of Module 12.</a:t>
            </a:r>
            <a:endParaRPr b="0" i="0" sz="1150" u="none" cap="none" strike="noStrike">
              <a:solidFill>
                <a:schemeClr val="dk1"/>
              </a:solidFill>
              <a:latin typeface="Calibri"/>
              <a:ea typeface="Calibri"/>
              <a:cs typeface="Calibri"/>
              <a:sym typeface="Calibri"/>
            </a:endParaRPr>
          </a:p>
        </p:txBody>
      </p:sp>
      <p:sp>
        <p:nvSpPr>
          <p:cNvPr id="288" name="Google Shape;288;p16"/>
          <p:cNvSpPr/>
          <p:nvPr/>
        </p:nvSpPr>
        <p:spPr>
          <a:xfrm>
            <a:off x="8119872" y="2542032"/>
            <a:ext cx="3566160" cy="22860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8385054" y="2633487"/>
            <a:ext cx="3054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MODELS AS MAPS</a:t>
            </a:r>
            <a:endParaRPr b="0" i="0" sz="1550" u="none" cap="none" strike="noStrike">
              <a:solidFill>
                <a:schemeClr val="dk1"/>
              </a:solidFill>
              <a:latin typeface="Calibri"/>
              <a:ea typeface="Calibri"/>
              <a:cs typeface="Calibri"/>
              <a:sym typeface="Calibri"/>
            </a:endParaRPr>
          </a:p>
        </p:txBody>
      </p:sp>
      <p:sp>
        <p:nvSpPr>
          <p:cNvPr id="290" name="Google Shape;290;p16"/>
          <p:cNvSpPr/>
          <p:nvPr/>
        </p:nvSpPr>
        <p:spPr>
          <a:xfrm>
            <a:off x="8375904" y="3127248"/>
            <a:ext cx="3054096" cy="146304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This course teaches two kinds of economic thinking. NEOCLASSICAL models (M3–5, M9–11) are powerful maps — among the best we have for understanding how markets coordinate millions of decisions. BEHAVIORAL models (M2, M7, M12) tell us when and why human agents deviate from those maps.</a:t>
            </a:r>
            <a:endParaRPr sz="900">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Our job is to know which map to use, and where each one breaks down.</a:t>
            </a:r>
            <a:endParaRPr b="0" i="0" sz="900" u="none" cap="none" strike="noStrike">
              <a:solidFill>
                <a:schemeClr val="dk1"/>
              </a:solidFill>
              <a:latin typeface="Calibri"/>
              <a:ea typeface="Calibri"/>
              <a:cs typeface="Calibri"/>
              <a:sym typeface="Calibri"/>
            </a:endParaRPr>
          </a:p>
        </p:txBody>
      </p:sp>
      <p:sp>
        <p:nvSpPr>
          <p:cNvPr id="291" name="Google Shape;291;p16"/>
          <p:cNvSpPr/>
          <p:nvPr/>
        </p:nvSpPr>
        <p:spPr>
          <a:xfrm>
            <a:off x="502920" y="5029200"/>
            <a:ext cx="11183112" cy="105156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a:off x="758952" y="515721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WORKSHEET QUESTION 2 &amp; 3</a:t>
            </a:r>
            <a:endParaRPr b="0" i="0" sz="1050" u="none" cap="none" strike="noStrike">
              <a:solidFill>
                <a:schemeClr val="dk1"/>
              </a:solidFill>
              <a:latin typeface="Calibri"/>
              <a:ea typeface="Calibri"/>
              <a:cs typeface="Calibri"/>
              <a:sym typeface="Calibri"/>
            </a:endParaRPr>
          </a:p>
        </p:txBody>
      </p:sp>
      <p:sp>
        <p:nvSpPr>
          <p:cNvPr id="293" name="Google Shape;293;p16"/>
          <p:cNvSpPr/>
          <p:nvPr/>
        </p:nvSpPr>
        <p:spPr>
          <a:xfrm>
            <a:off x="758952" y="5431536"/>
            <a:ext cx="10671048" cy="484632"/>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Give an example from your own experience where your behavior WAS rational at the margin, and one where it was NOT. A cartographer omits trees and fences to make a map legible — what does an economist omit, and what does that tell us about when a model is useful versus misleading?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17"/>
          <p:cNvSpPr/>
          <p:nvPr/>
        </p:nvSpPr>
        <p:spPr>
          <a:xfrm>
            <a:off x="0" y="0"/>
            <a:ext cx="4160520" cy="6858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
          <p:cNvSpPr/>
          <p:nvPr/>
        </p:nvSpPr>
        <p:spPr>
          <a:xfrm>
            <a:off x="685800" y="1965960"/>
            <a:ext cx="29260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3000"/>
              <a:buFont typeface="Cambria"/>
              <a:buNone/>
            </a:pPr>
            <a:r>
              <a:rPr b="1" i="0" lang="en-US" sz="13000" u="none" cap="none" strike="noStrike">
                <a:solidFill>
                  <a:srgbClr val="C0892E"/>
                </a:solidFill>
                <a:latin typeface="Cambria"/>
                <a:ea typeface="Cambria"/>
                <a:cs typeface="Cambria"/>
                <a:sym typeface="Cambria"/>
              </a:rPr>
              <a:t>03</a:t>
            </a:r>
            <a:endParaRPr b="0" i="0" sz="13000" u="none" cap="none" strike="noStrike">
              <a:solidFill>
                <a:schemeClr val="dk1"/>
              </a:solidFill>
              <a:latin typeface="Calibri"/>
              <a:ea typeface="Calibri"/>
              <a:cs typeface="Calibri"/>
              <a:sym typeface="Calibri"/>
            </a:endParaRPr>
          </a:p>
        </p:txBody>
      </p:sp>
      <p:sp>
        <p:nvSpPr>
          <p:cNvPr id="301" name="Google Shape;301;p17"/>
          <p:cNvSpPr/>
          <p:nvPr/>
        </p:nvSpPr>
        <p:spPr>
          <a:xfrm>
            <a:off x="777240" y="3703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400"/>
              <a:buFont typeface="Calibri"/>
              <a:buNone/>
            </a:pPr>
            <a:r>
              <a:rPr b="1" i="0" lang="en-US" sz="1400" u="none" cap="none" strike="noStrike">
                <a:solidFill>
                  <a:srgbClr val="4A6180"/>
                </a:solidFill>
                <a:latin typeface="Calibri"/>
                <a:ea typeface="Calibri"/>
                <a:cs typeface="Calibri"/>
                <a:sym typeface="Calibri"/>
              </a:rPr>
              <a:t>PART</a:t>
            </a:r>
            <a:endParaRPr b="0" i="0" sz="1400" u="none" cap="none" strike="noStrike">
              <a:solidFill>
                <a:schemeClr val="dk1"/>
              </a:solidFill>
              <a:latin typeface="Calibri"/>
              <a:ea typeface="Calibri"/>
              <a:cs typeface="Calibri"/>
              <a:sym typeface="Calibri"/>
            </a:endParaRPr>
          </a:p>
        </p:txBody>
      </p:sp>
      <p:sp>
        <p:nvSpPr>
          <p:cNvPr id="302" name="Google Shape;302;p17"/>
          <p:cNvSpPr/>
          <p:nvPr/>
        </p:nvSpPr>
        <p:spPr>
          <a:xfrm>
            <a:off x="4937760" y="1965960"/>
            <a:ext cx="6675120" cy="1554480"/>
          </a:xfrm>
          <a:prstGeom prst="rect">
            <a:avLst/>
          </a:prstGeom>
          <a:noFill/>
          <a:ln>
            <a:noFill/>
          </a:ln>
        </p:spPr>
        <p:txBody>
          <a:bodyPr anchorCtr="0" anchor="b" bIns="0" lIns="0" spcFirstLastPara="1" rIns="0" wrap="square" tIns="0">
            <a:noAutofit/>
          </a:bodyPr>
          <a:lstStyle/>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Models as Maps &amp;</a:t>
            </a:r>
            <a:endParaRPr b="0" i="0" sz="3300" u="none" cap="none" strike="noStrike">
              <a:solidFill>
                <a:schemeClr val="dk1"/>
              </a:solidFill>
              <a:latin typeface="Calibri"/>
              <a:ea typeface="Calibri"/>
              <a:cs typeface="Calibri"/>
              <a:sym typeface="Calibri"/>
            </a:endParaRPr>
          </a:p>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the History of Economic Thought</a:t>
            </a:r>
            <a:endParaRPr b="0" i="0" sz="3300" u="none" cap="none" strike="noStrike">
              <a:solidFill>
                <a:schemeClr val="dk1"/>
              </a:solidFill>
              <a:latin typeface="Calibri"/>
              <a:ea typeface="Calibri"/>
              <a:cs typeface="Calibri"/>
              <a:sym typeface="Calibri"/>
            </a:endParaRPr>
          </a:p>
        </p:txBody>
      </p:sp>
      <p:sp>
        <p:nvSpPr>
          <p:cNvPr id="303" name="Google Shape;303;p17"/>
          <p:cNvSpPr/>
          <p:nvPr/>
        </p:nvSpPr>
        <p:spPr>
          <a:xfrm>
            <a:off x="4937760" y="3657600"/>
            <a:ext cx="6675120" cy="155448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0892E"/>
              </a:buClr>
              <a:buSzPts val="1200"/>
              <a:buFont typeface="Calibri"/>
              <a:buNone/>
            </a:pPr>
            <a:r>
              <a:rPr b="1" i="0" lang="en-US" sz="1200" u="none" cap="none" strike="noStrike">
                <a:solidFill>
                  <a:srgbClr val="C0892E"/>
                </a:solidFill>
                <a:latin typeface="Calibri"/>
                <a:ea typeface="Calibri"/>
                <a:cs typeface="Calibri"/>
                <a:sym typeface="Calibri"/>
              </a:rPr>
              <a:t>OBJECTIVE   </a:t>
            </a:r>
            <a:r>
              <a:rPr b="0" i="0" lang="en-US" sz="1500" u="none" cap="none" strike="noStrike">
                <a:solidFill>
                  <a:srgbClr val="4A6180"/>
                </a:solidFill>
                <a:latin typeface="Calibri"/>
                <a:ea typeface="Calibri"/>
                <a:cs typeface="Calibri"/>
                <a:sym typeface="Calibri"/>
              </a:rPr>
              <a:t>Trace economic theory from Classical through Neoclassical to Behavioral and Heterodox traditions; situate each thinker on a human-history timeline.</a:t>
            </a:r>
            <a:endParaRPr b="0" i="0" sz="1200" u="none" cap="none" strike="noStrike">
              <a:solidFill>
                <a:schemeClr val="dk1"/>
              </a:solidFill>
              <a:latin typeface="Calibri"/>
              <a:ea typeface="Calibri"/>
              <a:cs typeface="Calibri"/>
              <a:sym typeface="Calibri"/>
            </a:endParaRPr>
          </a:p>
        </p:txBody>
      </p:sp>
      <p:sp>
        <p:nvSpPr>
          <p:cNvPr id="304" name="Google Shape;304;p17"/>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305" name="Google Shape;305;p17"/>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18"/>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3 · ORIENTATION</a:t>
            </a:r>
            <a:endParaRPr b="0" i="0" sz="1100" u="none" cap="none" strike="noStrike">
              <a:solidFill>
                <a:schemeClr val="dk1"/>
              </a:solidFill>
              <a:latin typeface="Calibri"/>
              <a:ea typeface="Calibri"/>
              <a:cs typeface="Calibri"/>
              <a:sym typeface="Calibri"/>
            </a:endParaRPr>
          </a:p>
        </p:txBody>
      </p:sp>
      <p:sp>
        <p:nvSpPr>
          <p:cNvPr id="312" name="Google Shape;312;p18"/>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Course Question &amp; Why History Matters</a:t>
            </a:r>
            <a:endParaRPr b="0" i="0" sz="3000" u="none" cap="none" strike="noStrike">
              <a:solidFill>
                <a:schemeClr val="dk1"/>
              </a:solidFill>
              <a:latin typeface="Calibri"/>
              <a:ea typeface="Calibri"/>
              <a:cs typeface="Calibri"/>
              <a:sym typeface="Calibri"/>
            </a:endParaRPr>
          </a:p>
        </p:txBody>
      </p:sp>
      <p:sp>
        <p:nvSpPr>
          <p:cNvPr id="313" name="Google Shape;313;p18"/>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314" name="Google Shape;314;p18"/>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315" name="Google Shape;315;p18"/>
          <p:cNvSpPr/>
          <p:nvPr/>
        </p:nvSpPr>
        <p:spPr>
          <a:xfrm>
            <a:off x="502920" y="1417320"/>
            <a:ext cx="11183112" cy="105156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758952" y="154533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THE COURSE QUESTION</a:t>
            </a:r>
            <a:endParaRPr b="0" i="0" sz="1050" u="none" cap="none" strike="noStrike">
              <a:solidFill>
                <a:schemeClr val="dk1"/>
              </a:solidFill>
              <a:latin typeface="Calibri"/>
              <a:ea typeface="Calibri"/>
              <a:cs typeface="Calibri"/>
              <a:sym typeface="Calibri"/>
            </a:endParaRPr>
          </a:p>
        </p:txBody>
      </p:sp>
      <p:sp>
        <p:nvSpPr>
          <p:cNvPr id="317" name="Google Shape;317;p18"/>
          <p:cNvSpPr/>
          <p:nvPr/>
        </p:nvSpPr>
        <p:spPr>
          <a:xfrm>
            <a:off x="758952" y="1819656"/>
            <a:ext cx="10671048" cy="484632"/>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Why do markets sometimes fail to allocate resources in ways that equitably meet human needs — and what, if anything, should be done about it?</a:t>
            </a:r>
            <a:endParaRPr b="0" i="0" sz="1300" u="none" cap="none" strike="noStrike">
              <a:solidFill>
                <a:schemeClr val="dk1"/>
              </a:solidFill>
              <a:latin typeface="Calibri"/>
              <a:ea typeface="Calibri"/>
              <a:cs typeface="Calibri"/>
              <a:sym typeface="Calibri"/>
            </a:endParaRPr>
          </a:p>
        </p:txBody>
      </p:sp>
      <p:sp>
        <p:nvSpPr>
          <p:cNvPr id="318" name="Google Shape;318;p18"/>
          <p:cNvSpPr/>
          <p:nvPr/>
        </p:nvSpPr>
        <p:spPr>
          <a:xfrm>
            <a:off x="502920" y="2670048"/>
            <a:ext cx="5486400" cy="16916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
          <p:cNvSpPr/>
          <p:nvPr/>
        </p:nvSpPr>
        <p:spPr>
          <a:xfrm>
            <a:off x="758952" y="2852928"/>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WHY STUDY HISTORY WITH MICROECONOMICS?</a:t>
            </a:r>
            <a:endParaRPr b="0" i="0" sz="1550" u="none" cap="none" strike="noStrike">
              <a:solidFill>
                <a:schemeClr val="dk1"/>
              </a:solidFill>
              <a:latin typeface="Calibri"/>
              <a:ea typeface="Calibri"/>
              <a:cs typeface="Calibri"/>
              <a:sym typeface="Calibri"/>
            </a:endParaRPr>
          </a:p>
        </p:txBody>
      </p:sp>
      <p:sp>
        <p:nvSpPr>
          <p:cNvPr id="320" name="Google Shape;320;p18"/>
          <p:cNvSpPr/>
          <p:nvPr/>
        </p:nvSpPr>
        <p:spPr>
          <a:xfrm>
            <a:off x="758952" y="3255264"/>
            <a:ext cx="4974336" cy="86868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4A6180"/>
              </a:buClr>
              <a:buSzPts val="950"/>
              <a:buFont typeface="Calibri"/>
              <a:buNone/>
            </a:pPr>
            <a:r>
              <a:rPr b="0" i="0" lang="en-US" sz="950" u="none" cap="none" strike="noStrike">
                <a:solidFill>
                  <a:srgbClr val="4A6180"/>
                </a:solidFill>
                <a:latin typeface="Calibri"/>
                <a:ea typeface="Calibri"/>
                <a:cs typeface="Calibri"/>
                <a:sym typeface="Calibri"/>
              </a:rPr>
              <a:t>Because history supplies the natural experiments economics cannot run in a laboratory. Enclosure, industrialization, famine, war mobilization and financial panic each change one set of conditions while holding much else fixed. History is also the record of which models were believed, by whom, and with what consequences.</a:t>
            </a:r>
            <a:endParaRPr b="0" i="0" sz="950" u="none" cap="none" strike="noStrike">
              <a:solidFill>
                <a:schemeClr val="dk1"/>
              </a:solidFill>
              <a:latin typeface="Calibri"/>
              <a:ea typeface="Calibri"/>
              <a:cs typeface="Calibri"/>
              <a:sym typeface="Calibri"/>
            </a:endParaRPr>
          </a:p>
        </p:txBody>
      </p:sp>
      <p:sp>
        <p:nvSpPr>
          <p:cNvPr id="321" name="Google Shape;321;p18"/>
          <p:cNvSpPr/>
          <p:nvPr/>
        </p:nvSpPr>
        <p:spPr>
          <a:xfrm>
            <a:off x="6199632" y="2670048"/>
            <a:ext cx="5486400" cy="16916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8"/>
          <p:cNvSpPr/>
          <p:nvPr/>
        </p:nvSpPr>
        <p:spPr>
          <a:xfrm>
            <a:off x="6455664" y="2852928"/>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WHAT IS AN ECONOMIC MODEL?</a:t>
            </a:r>
            <a:endParaRPr b="0" i="0" sz="1550" u="none" cap="none" strike="noStrike">
              <a:solidFill>
                <a:schemeClr val="dk1"/>
              </a:solidFill>
              <a:latin typeface="Calibri"/>
              <a:ea typeface="Calibri"/>
              <a:cs typeface="Calibri"/>
              <a:sym typeface="Calibri"/>
            </a:endParaRPr>
          </a:p>
        </p:txBody>
      </p:sp>
      <p:sp>
        <p:nvSpPr>
          <p:cNvPr id="323" name="Google Shape;323;p18"/>
          <p:cNvSpPr/>
          <p:nvPr/>
        </p:nvSpPr>
        <p:spPr>
          <a:xfrm>
            <a:off x="6455664" y="3255264"/>
            <a:ext cx="4974336" cy="868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6180"/>
              </a:buClr>
              <a:buSzPts val="1000"/>
              <a:buFont typeface="Calibri"/>
              <a:buNone/>
            </a:pPr>
            <a:r>
              <a:rPr b="0" i="0" lang="en-US" sz="1000" u="none" cap="none" strike="noStrike">
                <a:solidFill>
                  <a:srgbClr val="4A6180"/>
                </a:solidFill>
                <a:latin typeface="Calibri"/>
                <a:ea typeface="Calibri"/>
                <a:cs typeface="Calibri"/>
                <a:sym typeface="Calibri"/>
              </a:rPr>
              <a:t>A SIMPLIFIED representation of reality that isolates the relationships an economist judges essential, expresses them precisely enough to generate testable predictions, and deliberately omits everything else. A model is judged not by its realism but by the usefulness and accuracy of its predictions.</a:t>
            </a:r>
            <a:endParaRPr b="0" i="0" sz="1000" u="none" cap="none" strike="noStrike">
              <a:solidFill>
                <a:schemeClr val="dk1"/>
              </a:solidFill>
              <a:latin typeface="Calibri"/>
              <a:ea typeface="Calibri"/>
              <a:cs typeface="Calibri"/>
              <a:sym typeface="Calibri"/>
            </a:endParaRPr>
          </a:p>
        </p:txBody>
      </p:sp>
      <p:sp>
        <p:nvSpPr>
          <p:cNvPr id="324" name="Google Shape;324;p18"/>
          <p:cNvSpPr/>
          <p:nvPr/>
        </p:nvSpPr>
        <p:spPr>
          <a:xfrm>
            <a:off x="502920" y="4553712"/>
            <a:ext cx="11155680" cy="502920"/>
          </a:xfrm>
          <a:prstGeom prst="rect">
            <a:avLst/>
          </a:prstGeom>
          <a:noFill/>
          <a:ln>
            <a:noFill/>
          </a:ln>
        </p:spPr>
        <p:txBody>
          <a:bodyPr anchorCtr="0" anchor="ctr" bIns="0" lIns="0" spcFirstLastPara="1" rIns="0" wrap="square" tIns="0">
            <a:noAutofit/>
          </a:bodyPr>
          <a:lstStyle/>
          <a:p>
            <a:pPr indent="0" lvl="0" marL="0" marR="0" rtl="0" algn="l">
              <a:lnSpc>
                <a:spcPct val="153846"/>
              </a:lnSpc>
              <a:spcBef>
                <a:spcPts val="0"/>
              </a:spcBef>
              <a:spcAft>
                <a:spcPts val="0"/>
              </a:spcAft>
              <a:buClr>
                <a:srgbClr val="4A6180"/>
              </a:buClr>
              <a:buSzPts val="1300"/>
              <a:buFont typeface="Calibri"/>
              <a:buNone/>
            </a:pPr>
            <a:r>
              <a:rPr b="0" i="1" lang="en-US" sz="1300" u="none" cap="none" strike="noStrike">
                <a:solidFill>
                  <a:srgbClr val="4A6180"/>
                </a:solidFill>
                <a:latin typeface="Calibri"/>
                <a:ea typeface="Calibri"/>
                <a:cs typeface="Calibri"/>
                <a:sym typeface="Calibri"/>
              </a:rPr>
              <a:t>Though relatively young compared with our long past, economics has developed into a vital field whose tools and frameworks now serve as the foundation for understanding an increasingly quantitative world.</a:t>
            </a:r>
            <a:endParaRPr b="0" i="0" sz="1300" u="none" cap="none" strike="noStrike">
              <a:solidFill>
                <a:schemeClr val="dk1"/>
              </a:solidFill>
              <a:latin typeface="Calibri"/>
              <a:ea typeface="Calibri"/>
              <a:cs typeface="Calibri"/>
              <a:sym typeface="Calibri"/>
            </a:endParaRPr>
          </a:p>
        </p:txBody>
      </p:sp>
      <p:sp>
        <p:nvSpPr>
          <p:cNvPr id="325" name="Google Shape;325;p18"/>
          <p:cNvSpPr/>
          <p:nvPr/>
        </p:nvSpPr>
        <p:spPr>
          <a:xfrm>
            <a:off x="502920" y="5138928"/>
            <a:ext cx="11183112" cy="9144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p:nvPr/>
        </p:nvSpPr>
        <p:spPr>
          <a:xfrm>
            <a:off x="685800" y="5266944"/>
            <a:ext cx="1081735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A map that showed every tree and fence would be useless.</a:t>
            </a:r>
            <a:endParaRPr b="0" i="0" sz="2000" u="none" cap="none" strike="noStrike">
              <a:solidFill>
                <a:schemeClr val="dk1"/>
              </a:solidFill>
              <a:latin typeface="Calibri"/>
              <a:ea typeface="Calibri"/>
              <a:cs typeface="Calibri"/>
              <a:sym typeface="Calibri"/>
            </a:endParaRPr>
          </a:p>
        </p:txBody>
      </p:sp>
      <p:sp>
        <p:nvSpPr>
          <p:cNvPr id="327" name="Google Shape;327;p18"/>
          <p:cNvSpPr/>
          <p:nvPr/>
        </p:nvSpPr>
        <p:spPr>
          <a:xfrm>
            <a:off x="685800" y="5541264"/>
            <a:ext cx="10817352"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The art of economics is knowing what to leave out — and remembering that you left it out.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sp>
        <p:nvSpPr>
          <p:cNvPr id="333" name="Google Shape;333;p19"/>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3 · THE LONG VIEW</a:t>
            </a:r>
            <a:endParaRPr b="0" i="0" sz="1100" u="none" cap="none" strike="noStrike">
              <a:solidFill>
                <a:schemeClr val="dk1"/>
              </a:solidFill>
              <a:latin typeface="Calibri"/>
              <a:ea typeface="Calibri"/>
              <a:cs typeface="Calibri"/>
              <a:sym typeface="Calibri"/>
            </a:endParaRPr>
          </a:p>
        </p:txBody>
      </p:sp>
      <p:sp>
        <p:nvSpPr>
          <p:cNvPr id="334" name="Google Shape;334;p19"/>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A Timeline of Economic Thought</a:t>
            </a:r>
            <a:endParaRPr b="0" i="0" sz="3000" u="none" cap="none" strike="noStrike">
              <a:solidFill>
                <a:schemeClr val="dk1"/>
              </a:solidFill>
              <a:latin typeface="Calibri"/>
              <a:ea typeface="Calibri"/>
              <a:cs typeface="Calibri"/>
              <a:sym typeface="Calibri"/>
            </a:endParaRPr>
          </a:p>
        </p:txBody>
      </p:sp>
      <p:sp>
        <p:nvSpPr>
          <p:cNvPr id="335" name="Google Shape;335;p19"/>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336" name="Google Shape;336;p19"/>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pic>
        <p:nvPicPr>
          <p:cNvPr descr="figs/m1_timeline.png" id="337" name="Google Shape;337;p19"/>
          <p:cNvPicPr preferRelativeResize="0"/>
          <p:nvPr/>
        </p:nvPicPr>
        <p:blipFill rotWithShape="1">
          <a:blip r:embed="rId3">
            <a:alphaModFix/>
          </a:blip>
          <a:srcRect b="0" l="0" r="0" t="0"/>
          <a:stretch/>
        </p:blipFill>
        <p:spPr>
          <a:xfrm>
            <a:off x="457200" y="1487204"/>
            <a:ext cx="11292840" cy="3289232"/>
          </a:xfrm>
          <a:prstGeom prst="rect">
            <a:avLst/>
          </a:prstGeom>
          <a:noFill/>
          <a:ln>
            <a:noFill/>
          </a:ln>
        </p:spPr>
      </p:pic>
      <p:sp>
        <p:nvSpPr>
          <p:cNvPr id="338" name="Google Shape;338;p19"/>
          <p:cNvSpPr/>
          <p:nvPr/>
        </p:nvSpPr>
        <p:spPr>
          <a:xfrm>
            <a:off x="502920" y="4892040"/>
            <a:ext cx="3611880" cy="12344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758952" y="5074920"/>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ANCIENT &amp; MEDIEVAL</a:t>
            </a:r>
            <a:endParaRPr b="0" i="0" sz="1550" u="none" cap="none" strike="noStrike">
              <a:solidFill>
                <a:schemeClr val="dk1"/>
              </a:solidFill>
              <a:latin typeface="Calibri"/>
              <a:ea typeface="Calibri"/>
              <a:cs typeface="Calibri"/>
              <a:sym typeface="Calibri"/>
            </a:endParaRPr>
          </a:p>
        </p:txBody>
      </p:sp>
      <p:sp>
        <p:nvSpPr>
          <p:cNvPr id="340" name="Google Shape;340;p19"/>
          <p:cNvSpPr/>
          <p:nvPr/>
        </p:nvSpPr>
        <p:spPr>
          <a:xfrm>
            <a:off x="758952" y="5477256"/>
            <a:ext cx="3099816" cy="41148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Economics as a branch of moral philosophy: the just purposes of exchange, the ethics of usury, the rise and fall of states.</a:t>
            </a:r>
            <a:endParaRPr b="0" i="0" sz="850" u="none" cap="none" strike="noStrike">
              <a:solidFill>
                <a:schemeClr val="dk1"/>
              </a:solidFill>
              <a:latin typeface="Calibri"/>
              <a:ea typeface="Calibri"/>
              <a:cs typeface="Calibri"/>
              <a:sym typeface="Calibri"/>
            </a:endParaRPr>
          </a:p>
        </p:txBody>
      </p:sp>
      <p:sp>
        <p:nvSpPr>
          <p:cNvPr id="341" name="Google Shape;341;p19"/>
          <p:cNvSpPr/>
          <p:nvPr/>
        </p:nvSpPr>
        <p:spPr>
          <a:xfrm>
            <a:off x="4315968" y="4892040"/>
            <a:ext cx="3611880" cy="12344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p:nvPr/>
        </p:nvSpPr>
        <p:spPr>
          <a:xfrm>
            <a:off x="4572000" y="5074920"/>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CLASSICAL &amp; NEOCLASSICAL</a:t>
            </a:r>
            <a:endParaRPr b="0" i="0" sz="1550" u="none" cap="none" strike="noStrike">
              <a:solidFill>
                <a:schemeClr val="dk1"/>
              </a:solidFill>
              <a:latin typeface="Calibri"/>
              <a:ea typeface="Calibri"/>
              <a:cs typeface="Calibri"/>
              <a:sym typeface="Calibri"/>
            </a:endParaRPr>
          </a:p>
        </p:txBody>
      </p:sp>
      <p:sp>
        <p:nvSpPr>
          <p:cNvPr id="343" name="Google Shape;343;p19"/>
          <p:cNvSpPr/>
          <p:nvPr/>
        </p:nvSpPr>
        <p:spPr>
          <a:xfrm>
            <a:off x="4572000" y="5477256"/>
            <a:ext cx="3099816" cy="41148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1776–1890. Markets as coordinating systems; then the Marginal Revolution formalizes them with calculus and geometry.</a:t>
            </a:r>
            <a:endParaRPr b="0" i="0" sz="850" u="none" cap="none" strike="noStrike">
              <a:solidFill>
                <a:schemeClr val="dk1"/>
              </a:solidFill>
              <a:latin typeface="Calibri"/>
              <a:ea typeface="Calibri"/>
              <a:cs typeface="Calibri"/>
              <a:sym typeface="Calibri"/>
            </a:endParaRPr>
          </a:p>
        </p:txBody>
      </p:sp>
      <p:sp>
        <p:nvSpPr>
          <p:cNvPr id="344" name="Google Shape;344;p19"/>
          <p:cNvSpPr/>
          <p:nvPr/>
        </p:nvSpPr>
        <p:spPr>
          <a:xfrm>
            <a:off x="8119872" y="4892040"/>
            <a:ext cx="3566160" cy="12344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a:off x="8375904" y="5074920"/>
            <a:ext cx="305409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CRITIQUES &amp; EXPANSIONS</a:t>
            </a:r>
            <a:endParaRPr b="0" i="0" sz="1550" u="none" cap="none" strike="noStrike">
              <a:solidFill>
                <a:schemeClr val="dk1"/>
              </a:solidFill>
              <a:latin typeface="Calibri"/>
              <a:ea typeface="Calibri"/>
              <a:cs typeface="Calibri"/>
              <a:sym typeface="Calibri"/>
            </a:endParaRPr>
          </a:p>
        </p:txBody>
      </p:sp>
      <p:sp>
        <p:nvSpPr>
          <p:cNvPr id="346" name="Google Shape;346;p19"/>
          <p:cNvSpPr/>
          <p:nvPr/>
        </p:nvSpPr>
        <p:spPr>
          <a:xfrm>
            <a:off x="8375904" y="5477256"/>
            <a:ext cx="3054096" cy="41148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1867–present. Class, institutions, uncertainty, cognition, capability and the commons — where the neoclassical map runs out.</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20"/>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3 · THE POWER OF BEING A "RATIONAL" BEING</a:t>
            </a:r>
            <a:endParaRPr b="0" i="0" sz="1100" u="none" cap="none" strike="noStrike">
              <a:solidFill>
                <a:schemeClr val="dk1"/>
              </a:solidFill>
              <a:latin typeface="Calibri"/>
              <a:ea typeface="Calibri"/>
              <a:cs typeface="Calibri"/>
              <a:sym typeface="Calibri"/>
            </a:endParaRPr>
          </a:p>
        </p:txBody>
      </p:sp>
      <p:sp>
        <p:nvSpPr>
          <p:cNvPr id="353" name="Google Shape;353;p20"/>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Classical &amp; Neoclassical Theorists</a:t>
            </a:r>
            <a:endParaRPr b="0" i="0" sz="3000" u="none" cap="none" strike="noStrike">
              <a:solidFill>
                <a:schemeClr val="dk1"/>
              </a:solidFill>
              <a:latin typeface="Calibri"/>
              <a:ea typeface="Calibri"/>
              <a:cs typeface="Calibri"/>
              <a:sym typeface="Calibri"/>
            </a:endParaRPr>
          </a:p>
        </p:txBody>
      </p:sp>
      <p:sp>
        <p:nvSpPr>
          <p:cNvPr id="354" name="Google Shape;354;p20"/>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355" name="Google Shape;355;p20"/>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356" name="Google Shape;356;p20"/>
          <p:cNvSpPr/>
          <p:nvPr/>
        </p:nvSpPr>
        <p:spPr>
          <a:xfrm>
            <a:off x="502920" y="1417320"/>
            <a:ext cx="11155680" cy="82296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4A6180"/>
              </a:buClr>
              <a:buSzPts val="1300"/>
              <a:buFont typeface="Calibri"/>
              <a:buNone/>
            </a:pPr>
            <a:r>
              <a:rPr b="0" i="0" lang="en-US" sz="1300" u="none" cap="none" strike="noStrike">
                <a:solidFill>
                  <a:srgbClr val="4A6180"/>
                </a:solidFill>
                <a:latin typeface="Calibri"/>
                <a:ea typeface="Calibri"/>
                <a:cs typeface="Calibri"/>
                <a:sym typeface="Calibri"/>
              </a:rPr>
              <a:t>While the history of economic thought has ancient roots, many mark 1776 as the start of classical economics and Western economic thought, because of the release of Adam Smith's Wealth of Nations — which laid the groundwork for capitalist economic systems. Following Newton's development of calculus, the Marginal Revolution of the late 19th century — Jevons, Menger, Walras — formalized these earlier ideas, culminating in neoclassical economics in 1890 with Alfred Marshall's Principles of Economics.</a:t>
            </a:r>
            <a:endParaRPr b="0" i="0" sz="1300" u="none" cap="none" strike="noStrike">
              <a:solidFill>
                <a:schemeClr val="dk1"/>
              </a:solidFill>
              <a:latin typeface="Calibri"/>
              <a:ea typeface="Calibri"/>
              <a:cs typeface="Calibri"/>
              <a:sym typeface="Calibri"/>
            </a:endParaRPr>
          </a:p>
        </p:txBody>
      </p:sp>
      <p:graphicFrame>
        <p:nvGraphicFramePr>
          <p:cNvPr id="357" name="Google Shape;357;p20"/>
          <p:cNvGraphicFramePr/>
          <p:nvPr/>
        </p:nvGraphicFramePr>
        <p:xfrm>
          <a:off x="502920" y="2331720"/>
          <a:ext cx="3000000" cy="3000000"/>
        </p:xfrm>
        <a:graphic>
          <a:graphicData uri="http://schemas.openxmlformats.org/drawingml/2006/table">
            <a:tbl>
              <a:tblPr>
                <a:noFill/>
                <a:tableStyleId>{5412CA50-F7BB-49FB-A1FD-1592E326B74B}</a:tableStyleId>
              </a:tblPr>
              <a:tblGrid>
                <a:gridCol w="731525"/>
                <a:gridCol w="3657600"/>
                <a:gridCol w="6794000"/>
              </a:tblGrid>
              <a:tr h="256025">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YEAR</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THINKER &amp; WORK</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CORE CONTRIBUTION</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1776</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Adam Smith — The Wealth of Nations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Self-interest and the "invisible hand" guide markets to socially beneficial outcomes without central coordination; the division of labor drives productivity growth (the pin factory).</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1789</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Jeremy Bentham — Principles of Morals and Legislation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Utilitarianism: individuals act to maximize pleasure and minimize pain. The origin of the utility function.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1798</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Thomas Malthus — Essay on the Principle of Population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Population grows geometrically while food supply grows arithmetically; diminishing returns to land. Returns in Module 7.</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1803</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Jean-Baptiste Say — Treatise on Political Economy</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Say's Law: supply creates its own demand.</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1817</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David Ricardo — Principles of Political Economy and Taxation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Comparative advantage: both parties gain from trade when each specializes where opportunity cost is lowest. Also the theory of economic rent. ← PART 6 TODAY</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1861</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John Stuart Mill — Utilitarianism</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Refined utilitarianism; distinguished higher from lower pleasures; social welfare matters.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1871</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Jevons &amp; Menger — marginal utility</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Marginal utility theory and the subjectivist theory of value; launched the Marginal Revolution.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1874</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Léon Walras — Elements of Pure Economics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General equilibrium theory; formalized markets mathematically.</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1890</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Alfred Marshall — Principles of Economics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Synthesized classical economics with calculus and geometry: the supply-and-demand diagram, consumer surplus, elasticity and partial equilibrium — the toolkit of Modules 3–5.</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1906</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Vilfredo Pareto — Manual of Political Economy</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Pareto efficiency; distribution and welfare theory. Returns in Modules 5 and 11.</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sp>
        <p:nvSpPr>
          <p:cNvPr id="363" name="Google Shape;363;p21"/>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3 · HETERODOX AND EMERGING ECONOMICS</a:t>
            </a:r>
            <a:endParaRPr b="0" i="0" sz="1100" u="none" cap="none" strike="noStrike">
              <a:solidFill>
                <a:schemeClr val="dk1"/>
              </a:solidFill>
              <a:latin typeface="Calibri"/>
              <a:ea typeface="Calibri"/>
              <a:cs typeface="Calibri"/>
              <a:sym typeface="Calibri"/>
            </a:endParaRPr>
          </a:p>
        </p:txBody>
      </p:sp>
      <p:sp>
        <p:nvSpPr>
          <p:cNvPr id="364" name="Google Shape;364;p21"/>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Critiques &amp; Expansions — "</a:t>
            </a:r>
            <a:r>
              <a:rPr b="1" lang="en-US" sz="3000">
                <a:solidFill>
                  <a:srgbClr val="1A2E4A"/>
                </a:solidFill>
                <a:latin typeface="Cambria"/>
                <a:ea typeface="Cambria"/>
                <a:cs typeface="Cambria"/>
                <a:sym typeface="Cambria"/>
              </a:rPr>
              <a:t>Heterodox</a:t>
            </a:r>
            <a:r>
              <a:rPr b="1" i="0" lang="en-US" sz="3000" u="none" cap="none" strike="noStrike">
                <a:solidFill>
                  <a:srgbClr val="1A2E4A"/>
                </a:solidFill>
                <a:latin typeface="Cambria"/>
                <a:ea typeface="Cambria"/>
                <a:cs typeface="Cambria"/>
                <a:sym typeface="Cambria"/>
              </a:rPr>
              <a:t>" Thought</a:t>
            </a:r>
            <a:endParaRPr b="0" i="0" sz="3000" u="none" cap="none" strike="noStrike">
              <a:solidFill>
                <a:schemeClr val="dk1"/>
              </a:solidFill>
              <a:latin typeface="Calibri"/>
              <a:ea typeface="Calibri"/>
              <a:cs typeface="Calibri"/>
              <a:sym typeface="Calibri"/>
            </a:endParaRPr>
          </a:p>
        </p:txBody>
      </p:sp>
      <p:sp>
        <p:nvSpPr>
          <p:cNvPr id="365" name="Google Shape;365;p21"/>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366" name="Google Shape;366;p21"/>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367" name="Google Shape;367;p21"/>
          <p:cNvSpPr/>
          <p:nvPr/>
        </p:nvSpPr>
        <p:spPr>
          <a:xfrm>
            <a:off x="502920" y="1417320"/>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250"/>
              <a:buFont typeface="Calibri"/>
              <a:buNone/>
            </a:pPr>
            <a:r>
              <a:rPr b="0" i="1" lang="en-US" sz="1250" u="none" cap="none" strike="noStrike">
                <a:solidFill>
                  <a:srgbClr val="C0892E"/>
                </a:solidFill>
                <a:latin typeface="Calibri"/>
                <a:ea typeface="Calibri"/>
                <a:cs typeface="Calibri"/>
                <a:sym typeface="Calibri"/>
              </a:rPr>
              <a:t>These scholars are in no way "irrational" within their own work — the term emphasizes how they challenge and extend neoclassical thought.</a:t>
            </a:r>
            <a:endParaRPr b="0" i="0" sz="1250" u="none" cap="none" strike="noStrike">
              <a:solidFill>
                <a:schemeClr val="dk1"/>
              </a:solidFill>
              <a:latin typeface="Calibri"/>
              <a:ea typeface="Calibri"/>
              <a:cs typeface="Calibri"/>
              <a:sym typeface="Calibri"/>
            </a:endParaRPr>
          </a:p>
        </p:txBody>
      </p:sp>
      <p:graphicFrame>
        <p:nvGraphicFramePr>
          <p:cNvPr id="368" name="Google Shape;368;p21"/>
          <p:cNvGraphicFramePr/>
          <p:nvPr/>
        </p:nvGraphicFramePr>
        <p:xfrm>
          <a:off x="502920" y="1828800"/>
          <a:ext cx="3000000" cy="3000000"/>
        </p:xfrm>
        <a:graphic>
          <a:graphicData uri="http://schemas.openxmlformats.org/drawingml/2006/table">
            <a:tbl>
              <a:tblPr>
                <a:noFill/>
                <a:tableStyleId>{5412CA50-F7BB-49FB-A1FD-1592E326B74B}</a:tableStyleId>
              </a:tblPr>
              <a:tblGrid>
                <a:gridCol w="731525"/>
                <a:gridCol w="3200400"/>
                <a:gridCol w="7251200"/>
              </a:tblGrid>
              <a:tr h="246900">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YEAR</a:t>
                      </a:r>
                      <a:endParaRPr sz="9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THINKER &amp; WORK</a:t>
                      </a:r>
                      <a:endParaRPr sz="9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CORE CONTRIBUTION</a:t>
                      </a:r>
                      <a:endParaRPr sz="9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1867</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Karl Marx — Das Kapital, Vol. I</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Theory of surplus value: capitalism generates profit by paying workers less than the full value of their labor. Predicted overproduction, falling profit rates and class conflict.</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1899</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Thorstein Veblen — The Theory of the Leisure Class</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"Conspicuous consumption": consumption is driven by social status, not utility maximization. Founded institutionalism.</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1936</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John Maynard Keynes — The General Theory</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Markets can stick at high-unemployment equilibrium; fiscal policy can restore full employment; "animal spirits" drive volatile investment.</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1942</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Joseph Schumpeter — Capitalism, Socialism and Democracy</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"Creative destruction": entrepreneurs disrupt and replace existing industries; innovation, not static equilibrium, is the engine of growth.</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1944</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Friedrich Hayek — The Road to Serfdom</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The knowledge problem: prices aggregate dispersed local knowledge no central authority could collect. Spontaneous order outperforms designed allocation.</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1947</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Herbert Simon — Administrative Behavior</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Bounded rationality: people satisfice rather than optimize, given cognitive limits, time constraints and incomplete information.</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1963</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Milton Friedman — A Monetary History of the U.S.</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Inflation is always and everywhere a monetary phenomenon; a constant money-growth rule; revived classical liberalism.</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1950s</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John Nash — Non-Cooperative Games</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Every finite game has at least one equilibrium in which no player gains by changing strategy unilaterally. Foundation of Module 11.</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1970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George Akerlof — The Market for Lemons</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Asymmetric information causes market failure. Foundation of Modules 8 and 12.</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1979</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Kahneman &amp; Tversky — Prospect Theory</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People evaluate outcomes against a reference point and weigh losses roughly twice as heavily as equivalent gains; systematic violations of expected utility.</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1990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North · Ostrom</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Institutions shape long-run development (North). Communities sustainably self-govern common-pool resources without privatization or state mandate (Ostrom, Nobel 2009).</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1999+</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Sen · Thaler &amp; Sunstein · Banerjee &amp; Duflo · Piketty</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Capabilities, not income, measure development (Sen). Choice architecture improves decisions without restricting freedom (Nudge, 2008). RCTs bring experimental rigor to poverty policy. r &gt; g: wealth grows faster than income, so capitalism trends toward inequality (Piketty, 2013).</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2"/>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3 · MATH IS THE FIRST LANGUAGE OF ECONOMICS</a:t>
            </a:r>
            <a:endParaRPr b="0" i="0" sz="1100" u="none" cap="none" strike="noStrike">
              <a:solidFill>
                <a:schemeClr val="dk1"/>
              </a:solidFill>
              <a:latin typeface="Calibri"/>
              <a:ea typeface="Calibri"/>
              <a:cs typeface="Calibri"/>
              <a:sym typeface="Calibri"/>
            </a:endParaRPr>
          </a:p>
        </p:txBody>
      </p:sp>
      <p:sp>
        <p:nvSpPr>
          <p:cNvPr id="375" name="Google Shape;375;p22"/>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Scope of Mathematical Reasoning in Economics</a:t>
            </a:r>
            <a:endParaRPr b="0" i="0" sz="3000" u="none" cap="none" strike="noStrike">
              <a:solidFill>
                <a:schemeClr val="dk1"/>
              </a:solidFill>
              <a:latin typeface="Calibri"/>
              <a:ea typeface="Calibri"/>
              <a:cs typeface="Calibri"/>
              <a:sym typeface="Calibri"/>
            </a:endParaRPr>
          </a:p>
        </p:txBody>
      </p:sp>
      <p:sp>
        <p:nvSpPr>
          <p:cNvPr id="376" name="Google Shape;376;p22"/>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377" name="Google Shape;377;p22"/>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graphicFrame>
        <p:nvGraphicFramePr>
          <p:cNvPr id="378" name="Google Shape;378;p22"/>
          <p:cNvGraphicFramePr/>
          <p:nvPr/>
        </p:nvGraphicFramePr>
        <p:xfrm>
          <a:off x="504445" y="1432658"/>
          <a:ext cx="3000000" cy="3000000"/>
        </p:xfrm>
        <a:graphic>
          <a:graphicData uri="http://schemas.openxmlformats.org/drawingml/2006/table">
            <a:tbl>
              <a:tblPr>
                <a:noFill/>
                <a:tableStyleId>{5412CA50-F7BB-49FB-A1FD-1592E326B74B}</a:tableStyleId>
              </a:tblPr>
              <a:tblGrid>
                <a:gridCol w="3566150"/>
                <a:gridCol w="1371600"/>
                <a:gridCol w="6245350"/>
              </a:tblGrid>
              <a:tr h="4572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LEVEL OF REASONING</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TYPICAL AGE</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WHAT IT LETS AN ECONOMIST DO</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457200">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Operational &amp; Fractional Reasoning</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5 – 10</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Basic operations, multiplicative reasoning, decimals and fractions.</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Proportional Reasoning</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10 – 14</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Rates, ratios, and graphing simple relationships in the coordinate plane. ← ELASTICITY, MODULE 4</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457200">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Algebraic Reasoning</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11 – 16</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Solving and graphing functions and equations. ← BUDGET CONSTRAINT &amp; MARKET MODEL, MODULES 1 &amp; 3</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Calculus — Marginal Reasoning</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16 – 20</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Solving complex functions; differentiation and integration. </a:t>
                      </a:r>
                      <a:endParaRPr sz="1200" u="none" cap="none" strike="noStrike">
                        <a:solidFill>
                          <a:srgbClr val="1A2E4A"/>
                        </a:solidFill>
                        <a:latin typeface="Calibri"/>
                        <a:ea typeface="Calibri"/>
                        <a:cs typeface="Calibri"/>
                        <a:sym typeface="Calibri"/>
                      </a:endParaRPr>
                    </a:p>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This is TRUE marginal (economic) thought. ← MR = MC, MODULES 9–11</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457200">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Statistical &amp; Applied Reasoning</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18 – 22</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200"/>
                        <a:buFont typeface="Calibri"/>
                        <a:buNone/>
                      </a:pPr>
                      <a:r>
                        <a:rPr lang="en-US" sz="1200" u="none" cap="none" strike="noStrike">
                          <a:solidFill>
                            <a:srgbClr val="1A2E4A"/>
                          </a:solidFill>
                          <a:latin typeface="Calibri"/>
                          <a:ea typeface="Calibri"/>
                          <a:cs typeface="Calibri"/>
                          <a:sym typeface="Calibri"/>
                        </a:rPr>
                        <a:t>Often includes linear algebra; given statistical software this area has become less theoretical and more technical, centered on big-data coding solutions.</a:t>
                      </a:r>
                      <a:endParaRPr sz="12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bl>
          </a:graphicData>
        </a:graphic>
      </p:graphicFrame>
      <p:sp>
        <p:nvSpPr>
          <p:cNvPr id="379" name="Google Shape;379;p22"/>
          <p:cNvSpPr/>
          <p:nvPr/>
        </p:nvSpPr>
        <p:spPr>
          <a:xfrm>
            <a:off x="502920" y="4438068"/>
            <a:ext cx="11183100" cy="9600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758952" y="4566084"/>
            <a:ext cx="1067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WHAT THIS MEANS FOR YOU</a:t>
            </a:r>
            <a:endParaRPr b="0" i="0" sz="1050" u="none" cap="none" strike="noStrike">
              <a:solidFill>
                <a:schemeClr val="dk1"/>
              </a:solidFill>
              <a:latin typeface="Calibri"/>
              <a:ea typeface="Calibri"/>
              <a:cs typeface="Calibri"/>
              <a:sym typeface="Calibri"/>
            </a:endParaRPr>
          </a:p>
        </p:txBody>
      </p:sp>
      <p:sp>
        <p:nvSpPr>
          <p:cNvPr id="381" name="Google Shape;381;p22"/>
          <p:cNvSpPr/>
          <p:nvPr/>
        </p:nvSpPr>
        <p:spPr>
          <a:xfrm>
            <a:off x="758952" y="4840404"/>
            <a:ext cx="10671000" cy="3933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We will simplify mathematical expressions wherever possible, focusing on algebra and ratios to support internalization of the concepts. Where calculus is the true tool, we will name it — and then compute the same answer with a slope.</a:t>
            </a:r>
            <a:endParaRPr b="0" i="0" sz="1050" u="none" cap="none" strike="noStrike">
              <a:solidFill>
                <a:schemeClr val="dk1"/>
              </a:solidFill>
              <a:latin typeface="Calibri"/>
              <a:ea typeface="Calibri"/>
              <a:cs typeface="Calibri"/>
              <a:sym typeface="Calibri"/>
            </a:endParaRPr>
          </a:p>
        </p:txBody>
      </p:sp>
      <p:sp>
        <p:nvSpPr>
          <p:cNvPr id="382" name="Google Shape;382;p22"/>
          <p:cNvSpPr/>
          <p:nvPr/>
        </p:nvSpPr>
        <p:spPr>
          <a:xfrm>
            <a:off x="502920" y="5486568"/>
            <a:ext cx="111558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300"/>
              <a:buFont typeface="Calibri"/>
              <a:buNone/>
            </a:pPr>
            <a:r>
              <a:rPr b="0" i="1" lang="en-US" sz="1300" u="none" cap="none" strike="noStrike">
                <a:solidFill>
                  <a:srgbClr val="4A6180"/>
                </a:solidFill>
                <a:latin typeface="Calibri"/>
                <a:ea typeface="Calibri"/>
                <a:cs typeface="Calibri"/>
                <a:sym typeface="Calibri"/>
              </a:rPr>
              <a:t>Think of the first economists physically calculating and writing in the MARGINS of old accounting books. </a:t>
            </a:r>
            <a:endParaRPr b="0" i="1" sz="1300" u="none" cap="none" strike="noStrike">
              <a:solidFill>
                <a:srgbClr val="4A6180"/>
              </a:solidFill>
              <a:latin typeface="Calibri"/>
              <a:ea typeface="Calibri"/>
              <a:cs typeface="Calibri"/>
              <a:sym typeface="Calibri"/>
            </a:endParaRPr>
          </a:p>
          <a:p>
            <a:pPr indent="0" lvl="0" marL="0" marR="0" rtl="0" algn="l">
              <a:spcBef>
                <a:spcPts val="0"/>
              </a:spcBef>
              <a:spcAft>
                <a:spcPts val="0"/>
              </a:spcAft>
              <a:buClr>
                <a:srgbClr val="4A6180"/>
              </a:buClr>
              <a:buSzPts val="1300"/>
              <a:buFont typeface="Calibri"/>
              <a:buNone/>
            </a:pPr>
            <a:r>
              <a:t/>
            </a:r>
            <a:endParaRPr i="1" sz="1300">
              <a:solidFill>
                <a:srgbClr val="4A6180"/>
              </a:solidFill>
              <a:latin typeface="Calibri"/>
              <a:ea typeface="Calibri"/>
              <a:cs typeface="Calibri"/>
              <a:sym typeface="Calibri"/>
            </a:endParaRPr>
          </a:p>
          <a:p>
            <a:pPr indent="0" lvl="0" marL="0" marR="0" rtl="0" algn="l">
              <a:spcBef>
                <a:spcPts val="0"/>
              </a:spcBef>
              <a:spcAft>
                <a:spcPts val="0"/>
              </a:spcAft>
              <a:buClr>
                <a:srgbClr val="4A6180"/>
              </a:buClr>
              <a:buSzPts val="1300"/>
              <a:buFont typeface="Calibri"/>
              <a:buNone/>
            </a:pPr>
            <a:r>
              <a:rPr b="0" i="1" lang="en-US" sz="1300" u="none" cap="none" strike="noStrike">
                <a:solidFill>
                  <a:srgbClr val="4A6180"/>
                </a:solidFill>
                <a:latin typeface="Calibri"/>
                <a:ea typeface="Calibri"/>
                <a:cs typeface="Calibri"/>
                <a:sym typeface="Calibri"/>
              </a:rPr>
              <a:t>That is where the word comes from — but the real instrument was calculus.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387" name="Shape 387"/>
        <p:cNvGrpSpPr/>
        <p:nvPr/>
      </p:nvGrpSpPr>
      <p:grpSpPr>
        <a:xfrm>
          <a:off x="0" y="0"/>
          <a:ext cx="0" cy="0"/>
          <a:chOff x="0" y="0"/>
          <a:chExt cx="0" cy="0"/>
        </a:xfrm>
      </p:grpSpPr>
      <p:sp>
        <p:nvSpPr>
          <p:cNvPr id="388" name="Google Shape;388;p23"/>
          <p:cNvSpPr/>
          <p:nvPr/>
        </p:nvSpPr>
        <p:spPr>
          <a:xfrm>
            <a:off x="822960" y="12344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400"/>
              <a:buFont typeface="Calibri"/>
              <a:buNone/>
            </a:pPr>
            <a:r>
              <a:rPr b="1" i="0" lang="en-US" sz="1400" u="none" cap="none" strike="noStrike">
                <a:solidFill>
                  <a:srgbClr val="C0892E"/>
                </a:solidFill>
                <a:latin typeface="Calibri"/>
                <a:ea typeface="Calibri"/>
                <a:cs typeface="Calibri"/>
                <a:sym typeface="Calibri"/>
              </a:rPr>
              <a:t>YOU TRY</a:t>
            </a:r>
            <a:endParaRPr b="0" i="0" sz="1400" u="none" cap="none" strike="noStrike">
              <a:solidFill>
                <a:schemeClr val="dk1"/>
              </a:solidFill>
              <a:latin typeface="Calibri"/>
              <a:ea typeface="Calibri"/>
              <a:cs typeface="Calibri"/>
              <a:sym typeface="Calibri"/>
            </a:endParaRPr>
          </a:p>
        </p:txBody>
      </p:sp>
      <p:sp>
        <p:nvSpPr>
          <p:cNvPr id="389" name="Google Shape;389;p23"/>
          <p:cNvSpPr/>
          <p:nvPr/>
        </p:nvSpPr>
        <p:spPr>
          <a:xfrm>
            <a:off x="822960" y="164592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Section I — Check for Understanding</a:t>
            </a:r>
            <a:endParaRPr b="0" i="0" sz="3400" u="none" cap="none" strike="noStrike">
              <a:solidFill>
                <a:schemeClr val="dk1"/>
              </a:solidFill>
              <a:latin typeface="Calibri"/>
              <a:ea typeface="Calibri"/>
              <a:cs typeface="Calibri"/>
              <a:sym typeface="Calibri"/>
            </a:endParaRPr>
          </a:p>
        </p:txBody>
      </p:sp>
      <p:sp>
        <p:nvSpPr>
          <p:cNvPr id="390" name="Google Shape;390;p23"/>
          <p:cNvSpPr/>
          <p:nvPr/>
        </p:nvSpPr>
        <p:spPr>
          <a:xfrm>
            <a:off x="822960" y="2834640"/>
            <a:ext cx="7863840" cy="2651760"/>
          </a:xfrm>
          <a:prstGeom prst="rect">
            <a:avLst/>
          </a:prstGeom>
          <a:noFill/>
          <a:ln>
            <a:noFill/>
          </a:ln>
        </p:spPr>
        <p:txBody>
          <a:bodyPr anchorCtr="0" anchor="ctr" bIns="0" lIns="0" spcFirstLastPara="1" rIns="0" wrap="square" tIns="0">
            <a:noAutofit/>
          </a:bodyPr>
          <a:lstStyle/>
          <a:p>
            <a:pPr indent="-203200" lvl="0" marL="203200" marR="0" rtl="0" algn="l">
              <a:lnSpc>
                <a:spcPct val="160000"/>
              </a:lnSpc>
              <a:spcBef>
                <a:spcPts val="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Complete PART 1, PART 2 and PART 3 of the Module 1 Worksheet.</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Pay particular attention to the thinker-matching exercise on pages 4–6 — twenty thinkers, twenty contributions, each used exactly once.</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Then answer reflection questions ✦2 and ✦3 in complete sentences.</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If you finish early: begin defining the Part 4 vocabulary — budget constraint, feasible set, slope.</a:t>
            </a:r>
            <a:endParaRPr b="0" i="0" sz="1500" u="none" cap="none" strike="noStrike">
              <a:solidFill>
                <a:schemeClr val="dk1"/>
              </a:solidFill>
              <a:latin typeface="Calibri"/>
              <a:ea typeface="Calibri"/>
              <a:cs typeface="Calibri"/>
              <a:sym typeface="Calibri"/>
            </a:endParaRPr>
          </a:p>
        </p:txBody>
      </p:sp>
      <p:sp>
        <p:nvSpPr>
          <p:cNvPr id="391" name="Google Shape;391;p23"/>
          <p:cNvSpPr/>
          <p:nvPr/>
        </p:nvSpPr>
        <p:spPr>
          <a:xfrm>
            <a:off x="9326880" y="3017520"/>
            <a:ext cx="1828800" cy="1828800"/>
          </a:xfrm>
          <a:prstGeom prst="ellipse">
            <a:avLst/>
          </a:prstGeom>
          <a:solidFill>
            <a:srgbClr val="C08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3"/>
          <p:cNvSpPr/>
          <p:nvPr/>
        </p:nvSpPr>
        <p:spPr>
          <a:xfrm>
            <a:off x="9326880" y="3017520"/>
            <a:ext cx="1828800" cy="182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15</a:t>
            </a:r>
            <a:endParaRPr b="0" i="0" sz="3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MIN</a:t>
            </a:r>
            <a:endParaRPr b="0" i="0" sz="3000" u="none" cap="none" strike="noStrike">
              <a:solidFill>
                <a:schemeClr val="dk1"/>
              </a:solidFill>
              <a:latin typeface="Calibri"/>
              <a:ea typeface="Calibri"/>
              <a:cs typeface="Calibri"/>
              <a:sym typeface="Calibri"/>
            </a:endParaRPr>
          </a:p>
        </p:txBody>
      </p:sp>
      <p:sp>
        <p:nvSpPr>
          <p:cNvPr id="393" name="Google Shape;393;p23"/>
          <p:cNvSpPr/>
          <p:nvPr/>
        </p:nvSpPr>
        <p:spPr>
          <a:xfrm>
            <a:off x="822960" y="6345936"/>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398" name="Shape 398"/>
        <p:cNvGrpSpPr/>
        <p:nvPr/>
      </p:nvGrpSpPr>
      <p:grpSpPr>
        <a:xfrm>
          <a:off x="0" y="0"/>
          <a:ext cx="0" cy="0"/>
          <a:chOff x="0" y="0"/>
          <a:chExt cx="0" cy="0"/>
        </a:xfrm>
      </p:grpSpPr>
      <p:sp>
        <p:nvSpPr>
          <p:cNvPr id="399" name="Google Shape;399;p24"/>
          <p:cNvSpPr/>
          <p:nvPr/>
        </p:nvSpPr>
        <p:spPr>
          <a:xfrm>
            <a:off x="914400" y="1371600"/>
            <a:ext cx="10332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00"/>
              <a:buFont typeface="Calibri"/>
              <a:buNone/>
            </a:pPr>
            <a:r>
              <a:rPr b="1" i="0" lang="en-US" sz="1500" u="none" cap="none" strike="noStrike">
                <a:solidFill>
                  <a:srgbClr val="C0892E"/>
                </a:solidFill>
                <a:latin typeface="Calibri"/>
                <a:ea typeface="Calibri"/>
                <a:cs typeface="Calibri"/>
                <a:sym typeface="Calibri"/>
              </a:rPr>
              <a:t>SECTION II</a:t>
            </a:r>
            <a:endParaRPr b="0" i="0" sz="1500" u="none" cap="none" strike="noStrike">
              <a:solidFill>
                <a:schemeClr val="dk1"/>
              </a:solidFill>
              <a:latin typeface="Calibri"/>
              <a:ea typeface="Calibri"/>
              <a:cs typeface="Calibri"/>
              <a:sym typeface="Calibri"/>
            </a:endParaRPr>
          </a:p>
        </p:txBody>
      </p:sp>
      <p:sp>
        <p:nvSpPr>
          <p:cNvPr id="400" name="Google Shape;400;p24"/>
          <p:cNvSpPr/>
          <p:nvPr/>
        </p:nvSpPr>
        <p:spPr>
          <a:xfrm>
            <a:off x="914400" y="1828800"/>
            <a:ext cx="100584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Economic Modeling</a:t>
            </a:r>
            <a:endParaRPr b="0" i="0" sz="4600" u="none" cap="none" strike="noStrike">
              <a:solidFill>
                <a:schemeClr val="dk1"/>
              </a:solidFill>
              <a:latin typeface="Calibri"/>
              <a:ea typeface="Calibri"/>
              <a:cs typeface="Calibri"/>
              <a:sym typeface="Calibri"/>
            </a:endParaRPr>
          </a:p>
        </p:txBody>
      </p:sp>
      <p:sp>
        <p:nvSpPr>
          <p:cNvPr id="401" name="Google Shape;401;p24"/>
          <p:cNvSpPr/>
          <p:nvPr/>
        </p:nvSpPr>
        <p:spPr>
          <a:xfrm>
            <a:off x="914400" y="3291840"/>
            <a:ext cx="10058400" cy="237744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FD9E5"/>
              </a:buClr>
              <a:buSzPts val="1500"/>
              <a:buFont typeface="Calibri"/>
              <a:buNone/>
            </a:pPr>
            <a:r>
              <a:rPr b="0" i="0" lang="en-US" sz="1500" u="none" cap="none" strike="noStrike">
                <a:solidFill>
                  <a:srgbClr val="CFD9E5"/>
                </a:solidFill>
                <a:latin typeface="Calibri"/>
                <a:ea typeface="Calibri"/>
                <a:cs typeface="Calibri"/>
                <a:sym typeface="Calibri"/>
              </a:rPr>
              <a:t>Part 4  ·  Build the budget constraint — table → equation → graph; calculate opportunity cost; apply feasibility rules</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800"/>
              </a:spcBef>
              <a:spcAft>
                <a:spcPts val="0"/>
              </a:spcAft>
              <a:buClr>
                <a:srgbClr val="CFD9E5"/>
              </a:buClr>
              <a:buSzPts val="1500"/>
              <a:buFont typeface="Calibri"/>
              <a:buNone/>
            </a:pPr>
            <a:r>
              <a:rPr b="0" i="0" lang="en-US" sz="1500" u="none" cap="none" strike="noStrike">
                <a:solidFill>
                  <a:srgbClr val="CFD9E5"/>
                </a:solidFill>
                <a:latin typeface="Calibri"/>
                <a:ea typeface="Calibri"/>
                <a:cs typeface="Calibri"/>
                <a:sym typeface="Calibri"/>
              </a:rPr>
              <a:t>Part 5  ·  Build the production possibilities model; explain the law of increasing opportunity cost</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800"/>
              </a:spcBef>
              <a:spcAft>
                <a:spcPts val="0"/>
              </a:spcAft>
              <a:buClr>
                <a:srgbClr val="CFD9E5"/>
              </a:buClr>
              <a:buSzPts val="1500"/>
              <a:buFont typeface="Calibri"/>
              <a:buNone/>
            </a:pPr>
            <a:r>
              <a:rPr b="0" i="0" lang="en-US" sz="1500" u="none" cap="none" strike="noStrike">
                <a:solidFill>
                  <a:srgbClr val="CFD9E5"/>
                </a:solidFill>
                <a:latin typeface="Calibri"/>
                <a:ea typeface="Calibri"/>
                <a:cs typeface="Calibri"/>
                <a:sym typeface="Calibri"/>
              </a:rPr>
              <a:t>Part 6  ·  Use the PPM of two producers to explain comparative advantage and the gains from trade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25"/>
          <p:cNvSpPr/>
          <p:nvPr/>
        </p:nvSpPr>
        <p:spPr>
          <a:xfrm>
            <a:off x="0" y="0"/>
            <a:ext cx="4160520" cy="6858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5"/>
          <p:cNvSpPr/>
          <p:nvPr/>
        </p:nvSpPr>
        <p:spPr>
          <a:xfrm>
            <a:off x="685800" y="1965960"/>
            <a:ext cx="29260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3000"/>
              <a:buFont typeface="Cambria"/>
              <a:buNone/>
            </a:pPr>
            <a:r>
              <a:rPr b="1" i="0" lang="en-US" sz="13000" u="none" cap="none" strike="noStrike">
                <a:solidFill>
                  <a:srgbClr val="C0892E"/>
                </a:solidFill>
                <a:latin typeface="Cambria"/>
                <a:ea typeface="Cambria"/>
                <a:cs typeface="Cambria"/>
                <a:sym typeface="Cambria"/>
              </a:rPr>
              <a:t>04</a:t>
            </a:r>
            <a:endParaRPr b="0" i="0" sz="13000" u="none" cap="none" strike="noStrike">
              <a:solidFill>
                <a:schemeClr val="dk1"/>
              </a:solidFill>
              <a:latin typeface="Calibri"/>
              <a:ea typeface="Calibri"/>
              <a:cs typeface="Calibri"/>
              <a:sym typeface="Calibri"/>
            </a:endParaRPr>
          </a:p>
        </p:txBody>
      </p:sp>
      <p:sp>
        <p:nvSpPr>
          <p:cNvPr id="409" name="Google Shape;409;p25"/>
          <p:cNvSpPr/>
          <p:nvPr/>
        </p:nvSpPr>
        <p:spPr>
          <a:xfrm>
            <a:off x="777240" y="3703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400"/>
              <a:buFont typeface="Calibri"/>
              <a:buNone/>
            </a:pPr>
            <a:r>
              <a:rPr b="1" i="0" lang="en-US" sz="1400" u="none" cap="none" strike="noStrike">
                <a:solidFill>
                  <a:srgbClr val="4A6180"/>
                </a:solidFill>
                <a:latin typeface="Calibri"/>
                <a:ea typeface="Calibri"/>
                <a:cs typeface="Calibri"/>
                <a:sym typeface="Calibri"/>
              </a:rPr>
              <a:t>PART</a:t>
            </a:r>
            <a:endParaRPr b="0" i="0" sz="1400" u="none" cap="none" strike="noStrike">
              <a:solidFill>
                <a:schemeClr val="dk1"/>
              </a:solidFill>
              <a:latin typeface="Calibri"/>
              <a:ea typeface="Calibri"/>
              <a:cs typeface="Calibri"/>
              <a:sym typeface="Calibri"/>
            </a:endParaRPr>
          </a:p>
        </p:txBody>
      </p:sp>
      <p:sp>
        <p:nvSpPr>
          <p:cNvPr id="410" name="Google Shape;410;p25"/>
          <p:cNvSpPr/>
          <p:nvPr/>
        </p:nvSpPr>
        <p:spPr>
          <a:xfrm>
            <a:off x="4937760" y="1965960"/>
            <a:ext cx="6675120" cy="1554480"/>
          </a:xfrm>
          <a:prstGeom prst="rect">
            <a:avLst/>
          </a:prstGeom>
          <a:noFill/>
          <a:ln>
            <a:noFill/>
          </a:ln>
        </p:spPr>
        <p:txBody>
          <a:bodyPr anchorCtr="0" anchor="b" bIns="0" lIns="0" spcFirstLastPara="1" rIns="0" wrap="square" tIns="0">
            <a:noAutofit/>
          </a:bodyPr>
          <a:lstStyle/>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Model a Consumer:</a:t>
            </a:r>
            <a:endParaRPr b="0" i="0" sz="3300" u="none" cap="none" strike="noStrike">
              <a:solidFill>
                <a:schemeClr val="dk1"/>
              </a:solidFill>
              <a:latin typeface="Calibri"/>
              <a:ea typeface="Calibri"/>
              <a:cs typeface="Calibri"/>
              <a:sym typeface="Calibri"/>
            </a:endParaRPr>
          </a:p>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The Budget Constraint</a:t>
            </a:r>
            <a:endParaRPr b="0" i="0" sz="3300" u="none" cap="none" strike="noStrike">
              <a:solidFill>
                <a:schemeClr val="dk1"/>
              </a:solidFill>
              <a:latin typeface="Calibri"/>
              <a:ea typeface="Calibri"/>
              <a:cs typeface="Calibri"/>
              <a:sym typeface="Calibri"/>
            </a:endParaRPr>
          </a:p>
        </p:txBody>
      </p:sp>
      <p:sp>
        <p:nvSpPr>
          <p:cNvPr id="411" name="Google Shape;411;p25"/>
          <p:cNvSpPr/>
          <p:nvPr/>
        </p:nvSpPr>
        <p:spPr>
          <a:xfrm>
            <a:off x="4937760" y="3657600"/>
            <a:ext cx="6675120" cy="155448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0892E"/>
              </a:buClr>
              <a:buSzPts val="1200"/>
              <a:buFont typeface="Calibri"/>
              <a:buNone/>
            </a:pPr>
            <a:r>
              <a:rPr b="1" i="0" lang="en-US" sz="1200" u="none" cap="none" strike="noStrike">
                <a:solidFill>
                  <a:srgbClr val="C0892E"/>
                </a:solidFill>
                <a:latin typeface="Calibri"/>
                <a:ea typeface="Calibri"/>
                <a:cs typeface="Calibri"/>
                <a:sym typeface="Calibri"/>
              </a:rPr>
              <a:t>OBJECTIVE   </a:t>
            </a:r>
            <a:r>
              <a:rPr b="0" i="0" lang="en-US" sz="1500" u="none" cap="none" strike="noStrike">
                <a:solidFill>
                  <a:srgbClr val="4A6180"/>
                </a:solidFill>
                <a:latin typeface="Calibri"/>
                <a:ea typeface="Calibri"/>
                <a:cs typeface="Calibri"/>
                <a:sym typeface="Calibri"/>
              </a:rPr>
              <a:t>Build the budget constraint from a table, derive its equation, graph it, and analyze the effect of a price shock.</a:t>
            </a:r>
            <a:endParaRPr b="0" i="0" sz="1200" u="none" cap="none" strike="noStrike">
              <a:solidFill>
                <a:schemeClr val="dk1"/>
              </a:solidFill>
              <a:latin typeface="Calibri"/>
              <a:ea typeface="Calibri"/>
              <a:cs typeface="Calibri"/>
              <a:sym typeface="Calibri"/>
            </a:endParaRPr>
          </a:p>
        </p:txBody>
      </p:sp>
      <p:sp>
        <p:nvSpPr>
          <p:cNvPr id="412" name="Google Shape;412;p25"/>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413" name="Google Shape;413;p25"/>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sp>
        <p:nvSpPr>
          <p:cNvPr id="419" name="Google Shape;419;p26"/>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4 · LIMITED INCOME, UNLIMITED DESIRES</a:t>
            </a:r>
            <a:endParaRPr b="0" i="0" sz="1100" u="none" cap="none" strike="noStrike">
              <a:solidFill>
                <a:schemeClr val="dk1"/>
              </a:solidFill>
              <a:latin typeface="Calibri"/>
              <a:ea typeface="Calibri"/>
              <a:cs typeface="Calibri"/>
              <a:sym typeface="Calibri"/>
            </a:endParaRPr>
          </a:p>
        </p:txBody>
      </p:sp>
      <p:sp>
        <p:nvSpPr>
          <p:cNvPr id="420" name="Google Shape;420;p26"/>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Budget Constraint — Conceptual Narrative</a:t>
            </a:r>
            <a:endParaRPr b="0" i="0" sz="3000" u="none" cap="none" strike="noStrike">
              <a:solidFill>
                <a:schemeClr val="dk1"/>
              </a:solidFill>
              <a:latin typeface="Calibri"/>
              <a:ea typeface="Calibri"/>
              <a:cs typeface="Calibri"/>
              <a:sym typeface="Calibri"/>
            </a:endParaRPr>
          </a:p>
        </p:txBody>
      </p:sp>
      <p:sp>
        <p:nvSpPr>
          <p:cNvPr id="421" name="Google Shape;421;p26"/>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422" name="Google Shape;422;p26"/>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423" name="Google Shape;423;p26"/>
          <p:cNvSpPr/>
          <p:nvPr/>
        </p:nvSpPr>
        <p:spPr>
          <a:xfrm>
            <a:off x="502920" y="1417320"/>
            <a:ext cx="11183112" cy="6858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6"/>
          <p:cNvSpPr/>
          <p:nvPr/>
        </p:nvSpPr>
        <p:spPr>
          <a:xfrm>
            <a:off x="758952" y="154533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LEADING QUESTION</a:t>
            </a:r>
            <a:endParaRPr b="0" i="0" sz="1050" u="none" cap="none" strike="noStrike">
              <a:solidFill>
                <a:schemeClr val="dk1"/>
              </a:solidFill>
              <a:latin typeface="Calibri"/>
              <a:ea typeface="Calibri"/>
              <a:cs typeface="Calibri"/>
              <a:sym typeface="Calibri"/>
            </a:endParaRPr>
          </a:p>
        </p:txBody>
      </p:sp>
      <p:sp>
        <p:nvSpPr>
          <p:cNvPr id="425" name="Google Shape;425;p26"/>
          <p:cNvSpPr/>
          <p:nvPr/>
        </p:nvSpPr>
        <p:spPr>
          <a:xfrm>
            <a:off x="758952" y="1819656"/>
            <a:ext cx="10671048" cy="11887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How does a consumer with limited income make a choice between two goods?</a:t>
            </a:r>
            <a:endParaRPr b="0" i="0" sz="1000" u="none" cap="none" strike="noStrike">
              <a:solidFill>
                <a:schemeClr val="dk1"/>
              </a:solidFill>
              <a:latin typeface="Calibri"/>
              <a:ea typeface="Calibri"/>
              <a:cs typeface="Calibri"/>
              <a:sym typeface="Calibri"/>
            </a:endParaRPr>
          </a:p>
        </p:txBody>
      </p:sp>
      <p:sp>
        <p:nvSpPr>
          <p:cNvPr id="426" name="Google Shape;426;p26"/>
          <p:cNvSpPr/>
          <p:nvPr/>
        </p:nvSpPr>
        <p:spPr>
          <a:xfrm>
            <a:off x="502920" y="2286000"/>
            <a:ext cx="11155680" cy="777240"/>
          </a:xfrm>
          <a:prstGeom prst="rect">
            <a:avLst/>
          </a:prstGeom>
          <a:noFill/>
          <a:ln>
            <a:noFill/>
          </a:ln>
        </p:spPr>
        <p:txBody>
          <a:bodyPr anchorCtr="0" anchor="ctr" bIns="0" lIns="0" spcFirstLastPara="1" rIns="0" wrap="square" tIns="0">
            <a:noAutofit/>
          </a:bodyPr>
          <a:lstStyle/>
          <a:p>
            <a:pPr indent="0" lvl="0" marL="0" marR="0" rtl="0" algn="l">
              <a:lnSpc>
                <a:spcPct val="155555"/>
              </a:lnSpc>
              <a:spcBef>
                <a:spcPts val="0"/>
              </a:spcBef>
              <a:spcAft>
                <a:spcPts val="0"/>
              </a:spcAft>
              <a:buClr>
                <a:srgbClr val="4A6180"/>
              </a:buClr>
              <a:buSzPts val="1350"/>
              <a:buFont typeface="Calibri"/>
              <a:buNone/>
            </a:pPr>
            <a:r>
              <a:rPr b="0" i="0" lang="en-US" sz="1350" u="none" cap="none" strike="noStrike">
                <a:solidFill>
                  <a:srgbClr val="4A6180"/>
                </a:solidFill>
                <a:latin typeface="Calibri"/>
                <a:ea typeface="Calibri"/>
                <a:cs typeface="Calibri"/>
                <a:sym typeface="Calibri"/>
              </a:rPr>
              <a:t>If a consumer has limited income and a choice between two goods, the total amount spent cannot exceed income. As a result there are set pairings — CONSUMPTION BUNDLES — that the individual can afford. Based on individual preference, or the utility function over these goods, the person selects a combination. The budget constraint tells us what is POSSIBLE; preferences (Module 2) tell us which possibility is CHOSEN.</a:t>
            </a:r>
            <a:endParaRPr b="0" i="0" sz="1350" u="none" cap="none" strike="noStrike">
              <a:solidFill>
                <a:schemeClr val="dk1"/>
              </a:solidFill>
              <a:latin typeface="Calibri"/>
              <a:ea typeface="Calibri"/>
              <a:cs typeface="Calibri"/>
              <a:sym typeface="Calibri"/>
            </a:endParaRPr>
          </a:p>
        </p:txBody>
      </p:sp>
      <p:sp>
        <p:nvSpPr>
          <p:cNvPr id="427" name="Google Shape;427;p26"/>
          <p:cNvSpPr/>
          <p:nvPr/>
        </p:nvSpPr>
        <p:spPr>
          <a:xfrm>
            <a:off x="502920" y="3154680"/>
            <a:ext cx="5486400" cy="123444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6"/>
          <p:cNvSpPr/>
          <p:nvPr/>
        </p:nvSpPr>
        <p:spPr>
          <a:xfrm>
            <a:off x="685800" y="3282696"/>
            <a:ext cx="5120640"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I  =  Px · X  +  Py · Y</a:t>
            </a:r>
            <a:endParaRPr b="0" i="0" sz="2200" u="none" cap="none" strike="noStrike">
              <a:solidFill>
                <a:schemeClr val="dk1"/>
              </a:solidFill>
              <a:latin typeface="Calibri"/>
              <a:ea typeface="Calibri"/>
              <a:cs typeface="Calibri"/>
              <a:sym typeface="Calibri"/>
            </a:endParaRPr>
          </a:p>
        </p:txBody>
      </p:sp>
      <p:sp>
        <p:nvSpPr>
          <p:cNvPr id="429" name="Google Shape;429;p26"/>
          <p:cNvSpPr/>
          <p:nvPr/>
        </p:nvSpPr>
        <p:spPr>
          <a:xfrm>
            <a:off x="685800" y="3877056"/>
            <a:ext cx="51206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GENERAL FORM — income exactly exhausted on two goods</a:t>
            </a:r>
            <a:endParaRPr b="0" i="0" sz="1150" u="none" cap="none" strike="noStrike">
              <a:solidFill>
                <a:schemeClr val="dk1"/>
              </a:solidFill>
              <a:latin typeface="Calibri"/>
              <a:ea typeface="Calibri"/>
              <a:cs typeface="Calibri"/>
              <a:sym typeface="Calibri"/>
            </a:endParaRPr>
          </a:p>
        </p:txBody>
      </p:sp>
      <p:sp>
        <p:nvSpPr>
          <p:cNvPr id="430" name="Google Shape;430;p26"/>
          <p:cNvSpPr/>
          <p:nvPr/>
        </p:nvSpPr>
        <p:spPr>
          <a:xfrm>
            <a:off x="6199632" y="3154680"/>
            <a:ext cx="5486400" cy="123444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6"/>
          <p:cNvSpPr/>
          <p:nvPr/>
        </p:nvSpPr>
        <p:spPr>
          <a:xfrm>
            <a:off x="6382512" y="3282696"/>
            <a:ext cx="5120640"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2200"/>
              <a:buFont typeface="Cambria"/>
              <a:buNone/>
            </a:pPr>
            <a:r>
              <a:rPr b="1" i="0" lang="en-US" sz="2200" u="none" cap="none" strike="noStrike">
                <a:solidFill>
                  <a:srgbClr val="1A2E4A"/>
                </a:solidFill>
                <a:latin typeface="Cambria"/>
                <a:ea typeface="Cambria"/>
                <a:cs typeface="Cambria"/>
                <a:sym typeface="Cambria"/>
              </a:rPr>
              <a:t>Y  =  I/Py  −  (Px/Py) · X</a:t>
            </a:r>
            <a:endParaRPr b="0" i="0" sz="2200" u="none" cap="none" strike="noStrike">
              <a:solidFill>
                <a:schemeClr val="dk1"/>
              </a:solidFill>
              <a:latin typeface="Calibri"/>
              <a:ea typeface="Calibri"/>
              <a:cs typeface="Calibri"/>
              <a:sym typeface="Calibri"/>
            </a:endParaRPr>
          </a:p>
        </p:txBody>
      </p:sp>
      <p:sp>
        <p:nvSpPr>
          <p:cNvPr id="432" name="Google Shape;432;p26"/>
          <p:cNvSpPr/>
          <p:nvPr/>
        </p:nvSpPr>
        <p:spPr>
          <a:xfrm>
            <a:off x="6382512" y="3877056"/>
            <a:ext cx="51206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6180"/>
              </a:buClr>
              <a:buSzPts val="1150"/>
              <a:buFont typeface="Calibri"/>
              <a:buNone/>
            </a:pPr>
            <a:r>
              <a:rPr b="0" i="1" lang="en-US" sz="1150" u="none" cap="none" strike="noStrike">
                <a:solidFill>
                  <a:srgbClr val="4A6180"/>
                </a:solidFill>
                <a:latin typeface="Calibri"/>
                <a:ea typeface="Calibri"/>
                <a:cs typeface="Calibri"/>
                <a:sym typeface="Calibri"/>
              </a:rPr>
              <a:t>SLOPE-INTERCEPT FORM — solve for the vertical-axis good</a:t>
            </a:r>
            <a:endParaRPr b="0" i="0" sz="1150" u="none" cap="none" strike="noStrike">
              <a:solidFill>
                <a:schemeClr val="dk1"/>
              </a:solidFill>
              <a:latin typeface="Calibri"/>
              <a:ea typeface="Calibri"/>
              <a:cs typeface="Calibri"/>
              <a:sym typeface="Calibri"/>
            </a:endParaRPr>
          </a:p>
        </p:txBody>
      </p:sp>
      <p:sp>
        <p:nvSpPr>
          <p:cNvPr id="433" name="Google Shape;433;p26"/>
          <p:cNvSpPr/>
          <p:nvPr/>
        </p:nvSpPr>
        <p:spPr>
          <a:xfrm>
            <a:off x="502920" y="4553712"/>
            <a:ext cx="3611880" cy="155448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6"/>
          <p:cNvSpPr/>
          <p:nvPr/>
        </p:nvSpPr>
        <p:spPr>
          <a:xfrm>
            <a:off x="758952" y="4736592"/>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THE VERTICAL INTERCEPT</a:t>
            </a:r>
            <a:endParaRPr b="0" i="0" sz="1550" u="none" cap="none" strike="noStrike">
              <a:solidFill>
                <a:schemeClr val="dk1"/>
              </a:solidFill>
              <a:latin typeface="Calibri"/>
              <a:ea typeface="Calibri"/>
              <a:cs typeface="Calibri"/>
              <a:sym typeface="Calibri"/>
            </a:endParaRPr>
          </a:p>
        </p:txBody>
      </p:sp>
      <p:sp>
        <p:nvSpPr>
          <p:cNvPr id="435" name="Google Shape;435;p26"/>
          <p:cNvSpPr/>
          <p:nvPr/>
        </p:nvSpPr>
        <p:spPr>
          <a:xfrm>
            <a:off x="758952" y="5138928"/>
            <a:ext cx="3099816" cy="73152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I / Py. The maximum quantity of good Y obtainable if the entire income is devoted to Y. Set X = 0.</a:t>
            </a:r>
            <a:endParaRPr b="0" i="0" sz="1250" u="none" cap="none" strike="noStrike">
              <a:solidFill>
                <a:schemeClr val="dk1"/>
              </a:solidFill>
              <a:latin typeface="Calibri"/>
              <a:ea typeface="Calibri"/>
              <a:cs typeface="Calibri"/>
              <a:sym typeface="Calibri"/>
            </a:endParaRPr>
          </a:p>
        </p:txBody>
      </p:sp>
      <p:sp>
        <p:nvSpPr>
          <p:cNvPr id="436" name="Google Shape;436;p26"/>
          <p:cNvSpPr/>
          <p:nvPr/>
        </p:nvSpPr>
        <p:spPr>
          <a:xfrm>
            <a:off x="4315968" y="4553712"/>
            <a:ext cx="3611880" cy="155448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6"/>
          <p:cNvSpPr/>
          <p:nvPr/>
        </p:nvSpPr>
        <p:spPr>
          <a:xfrm>
            <a:off x="4572000" y="4736592"/>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THE HORIZONTAL INTERCEPT</a:t>
            </a:r>
            <a:endParaRPr b="0" i="0" sz="1550" u="none" cap="none" strike="noStrike">
              <a:solidFill>
                <a:schemeClr val="dk1"/>
              </a:solidFill>
              <a:latin typeface="Calibri"/>
              <a:ea typeface="Calibri"/>
              <a:cs typeface="Calibri"/>
              <a:sym typeface="Calibri"/>
            </a:endParaRPr>
          </a:p>
        </p:txBody>
      </p:sp>
      <p:sp>
        <p:nvSpPr>
          <p:cNvPr id="438" name="Google Shape;438;p26"/>
          <p:cNvSpPr/>
          <p:nvPr/>
        </p:nvSpPr>
        <p:spPr>
          <a:xfrm>
            <a:off x="4572000" y="5138928"/>
            <a:ext cx="3099816" cy="73152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I / Px. The maximum quantity of good X obtainable if the entire income is devoted to X. Set Y = 0.</a:t>
            </a:r>
            <a:endParaRPr b="0" i="0" sz="1250" u="none" cap="none" strike="noStrike">
              <a:solidFill>
                <a:schemeClr val="dk1"/>
              </a:solidFill>
              <a:latin typeface="Calibri"/>
              <a:ea typeface="Calibri"/>
              <a:cs typeface="Calibri"/>
              <a:sym typeface="Calibri"/>
            </a:endParaRPr>
          </a:p>
        </p:txBody>
      </p:sp>
      <p:sp>
        <p:nvSpPr>
          <p:cNvPr id="439" name="Google Shape;439;p26"/>
          <p:cNvSpPr/>
          <p:nvPr/>
        </p:nvSpPr>
        <p:spPr>
          <a:xfrm>
            <a:off x="8119872" y="4553712"/>
            <a:ext cx="3566160" cy="155448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a:off x="8375904" y="4736592"/>
            <a:ext cx="305409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THE SLOPE  =  −Px / Py</a:t>
            </a:r>
            <a:endParaRPr b="0" i="0" sz="1550" u="none" cap="none" strike="noStrike">
              <a:solidFill>
                <a:schemeClr val="dk1"/>
              </a:solidFill>
              <a:latin typeface="Calibri"/>
              <a:ea typeface="Calibri"/>
              <a:cs typeface="Calibri"/>
              <a:sym typeface="Calibri"/>
            </a:endParaRPr>
          </a:p>
        </p:txBody>
      </p:sp>
      <p:sp>
        <p:nvSpPr>
          <p:cNvPr id="441" name="Google Shape;441;p26"/>
          <p:cNvSpPr/>
          <p:nvPr/>
        </p:nvSpPr>
        <p:spPr>
          <a:xfrm>
            <a:off x="8375904" y="5138928"/>
            <a:ext cx="3054096" cy="731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6180"/>
              </a:buClr>
              <a:buSzPts val="1000"/>
              <a:buFont typeface="Calibri"/>
              <a:buNone/>
            </a:pPr>
            <a:r>
              <a:rPr b="0" i="0" lang="en-US" sz="1000" u="none" cap="none" strike="noStrike">
                <a:solidFill>
                  <a:srgbClr val="4A6180"/>
                </a:solidFill>
                <a:latin typeface="Calibri"/>
                <a:ea typeface="Calibri"/>
                <a:cs typeface="Calibri"/>
                <a:sym typeface="Calibri"/>
              </a:rPr>
              <a:t>The negative ratio of prices. This is the OPPORTUNITY COST of one more unit of X, measured in units of Y. It is the market's exchange rate between the two goods.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27"/>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4 · RULES OF THUMB</a:t>
            </a:r>
            <a:endParaRPr b="0" i="0" sz="1100" u="none" cap="none" strike="noStrike">
              <a:solidFill>
                <a:schemeClr val="dk1"/>
              </a:solidFill>
              <a:latin typeface="Calibri"/>
              <a:ea typeface="Calibri"/>
              <a:cs typeface="Calibri"/>
              <a:sym typeface="Calibri"/>
            </a:endParaRPr>
          </a:p>
        </p:txBody>
      </p:sp>
      <p:sp>
        <p:nvSpPr>
          <p:cNvPr id="448" name="Google Shape;448;p27"/>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Reading the Budget Line</a:t>
            </a:r>
            <a:endParaRPr b="0" i="0" sz="3000" u="none" cap="none" strike="noStrike">
              <a:solidFill>
                <a:schemeClr val="dk1"/>
              </a:solidFill>
              <a:latin typeface="Calibri"/>
              <a:ea typeface="Calibri"/>
              <a:cs typeface="Calibri"/>
              <a:sym typeface="Calibri"/>
            </a:endParaRPr>
          </a:p>
        </p:txBody>
      </p:sp>
      <p:sp>
        <p:nvSpPr>
          <p:cNvPr id="449" name="Google Shape;449;p27"/>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450" name="Google Shape;450;p27"/>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451" name="Google Shape;451;p27"/>
          <p:cNvSpPr/>
          <p:nvPr/>
        </p:nvSpPr>
        <p:spPr>
          <a:xfrm>
            <a:off x="502920" y="1463040"/>
            <a:ext cx="3611880" cy="173736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7"/>
          <p:cNvSpPr/>
          <p:nvPr/>
        </p:nvSpPr>
        <p:spPr>
          <a:xfrm>
            <a:off x="704088" y="1664208"/>
            <a:ext cx="457200" cy="457200"/>
          </a:xfrm>
          <a:prstGeom prst="ellipse">
            <a:avLst/>
          </a:prstGeom>
          <a:solidFill>
            <a:srgbClr val="2A7F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7"/>
          <p:cNvSpPr/>
          <p:nvPr/>
        </p:nvSpPr>
        <p:spPr>
          <a:xfrm>
            <a:off x="704088" y="16642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54" name="Google Shape;454;p27"/>
          <p:cNvSpPr/>
          <p:nvPr/>
        </p:nvSpPr>
        <p:spPr>
          <a:xfrm>
            <a:off x="1280160" y="166420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INSIDE the line</a:t>
            </a:r>
            <a:endParaRPr b="0" i="0" sz="1600" u="none" cap="none" strike="noStrike">
              <a:solidFill>
                <a:schemeClr val="dk1"/>
              </a:solidFill>
              <a:latin typeface="Calibri"/>
              <a:ea typeface="Calibri"/>
              <a:cs typeface="Calibri"/>
              <a:sym typeface="Calibri"/>
            </a:endParaRPr>
          </a:p>
        </p:txBody>
      </p:sp>
      <p:sp>
        <p:nvSpPr>
          <p:cNvPr id="455" name="Google Shape;455;p27"/>
          <p:cNvSpPr/>
          <p:nvPr/>
        </p:nvSpPr>
        <p:spPr>
          <a:xfrm>
            <a:off x="722376" y="2212848"/>
            <a:ext cx="3154680" cy="77724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FEASIBLE but INEFFICIENT. The bundle is affordable, but income is left unspent — the consumer could have more of at least one good at no cost in the other.</a:t>
            </a:r>
            <a:endParaRPr b="0" i="0" sz="1050" u="none" cap="none" strike="noStrike">
              <a:solidFill>
                <a:schemeClr val="dk1"/>
              </a:solidFill>
              <a:latin typeface="Calibri"/>
              <a:ea typeface="Calibri"/>
              <a:cs typeface="Calibri"/>
              <a:sym typeface="Calibri"/>
            </a:endParaRPr>
          </a:p>
        </p:txBody>
      </p:sp>
      <p:sp>
        <p:nvSpPr>
          <p:cNvPr id="456" name="Google Shape;456;p27"/>
          <p:cNvSpPr/>
          <p:nvPr/>
        </p:nvSpPr>
        <p:spPr>
          <a:xfrm>
            <a:off x="4315968" y="1463040"/>
            <a:ext cx="3611880" cy="173736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7"/>
          <p:cNvSpPr/>
          <p:nvPr/>
        </p:nvSpPr>
        <p:spPr>
          <a:xfrm>
            <a:off x="4517136" y="1664208"/>
            <a:ext cx="457200" cy="457200"/>
          </a:xfrm>
          <a:prstGeom prst="ellipse">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7"/>
          <p:cNvSpPr/>
          <p:nvPr/>
        </p:nvSpPr>
        <p:spPr>
          <a:xfrm>
            <a:off x="4517136" y="16642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59" name="Google Shape;459;p27"/>
          <p:cNvSpPr/>
          <p:nvPr/>
        </p:nvSpPr>
        <p:spPr>
          <a:xfrm>
            <a:off x="5093208" y="166420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ON the line</a:t>
            </a:r>
            <a:endParaRPr b="0" i="0" sz="1600" u="none" cap="none" strike="noStrike">
              <a:solidFill>
                <a:schemeClr val="dk1"/>
              </a:solidFill>
              <a:latin typeface="Calibri"/>
              <a:ea typeface="Calibri"/>
              <a:cs typeface="Calibri"/>
              <a:sym typeface="Calibri"/>
            </a:endParaRPr>
          </a:p>
        </p:txBody>
      </p:sp>
      <p:sp>
        <p:nvSpPr>
          <p:cNvPr id="460" name="Google Shape;460;p27"/>
          <p:cNvSpPr/>
          <p:nvPr/>
        </p:nvSpPr>
        <p:spPr>
          <a:xfrm>
            <a:off x="4535424" y="2212848"/>
            <a:ext cx="3154680" cy="777240"/>
          </a:xfrm>
          <a:prstGeom prst="rect">
            <a:avLst/>
          </a:prstGeom>
          <a:noFill/>
          <a:ln>
            <a:noFill/>
          </a:ln>
        </p:spPr>
        <p:txBody>
          <a:bodyPr anchorCtr="0" anchor="t" bIns="0" lIns="0" spcFirstLastPara="1" rIns="0" wrap="square" tIns="0">
            <a:noAutofit/>
          </a:bodyPr>
          <a:lstStyle/>
          <a:p>
            <a:pPr indent="0" lvl="0" marL="0" marR="0" rtl="0" algn="l">
              <a:lnSpc>
                <a:spcPct val="145454"/>
              </a:lnSpc>
              <a:spcBef>
                <a:spcPts val="0"/>
              </a:spcBef>
              <a:spcAft>
                <a:spcPts val="0"/>
              </a:spcAft>
              <a:buClr>
                <a:srgbClr val="4A6180"/>
              </a:buClr>
              <a:buSzPts val="1100"/>
              <a:buFont typeface="Calibri"/>
              <a:buNone/>
            </a:pPr>
            <a:r>
              <a:rPr b="0" i="0" lang="en-US" sz="1100" u="none" cap="none" strike="noStrike">
                <a:solidFill>
                  <a:srgbClr val="4A6180"/>
                </a:solidFill>
                <a:latin typeface="Calibri"/>
                <a:ea typeface="Calibri"/>
                <a:cs typeface="Calibri"/>
                <a:sym typeface="Calibri"/>
              </a:rPr>
              <a:t>FEASIBLE and EFFICIENT. Income is exactly exhausted. Every bundle on the line satisfies I = PxX + PyY. Optimal choice must lie here.</a:t>
            </a:r>
            <a:endParaRPr b="0" i="0" sz="1100" u="none" cap="none" strike="noStrike">
              <a:solidFill>
                <a:schemeClr val="dk1"/>
              </a:solidFill>
              <a:latin typeface="Calibri"/>
              <a:ea typeface="Calibri"/>
              <a:cs typeface="Calibri"/>
              <a:sym typeface="Calibri"/>
            </a:endParaRPr>
          </a:p>
        </p:txBody>
      </p:sp>
      <p:sp>
        <p:nvSpPr>
          <p:cNvPr id="461" name="Google Shape;461;p27"/>
          <p:cNvSpPr/>
          <p:nvPr/>
        </p:nvSpPr>
        <p:spPr>
          <a:xfrm>
            <a:off x="8119872" y="1463040"/>
            <a:ext cx="3566160" cy="173736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7"/>
          <p:cNvSpPr/>
          <p:nvPr/>
        </p:nvSpPr>
        <p:spPr>
          <a:xfrm>
            <a:off x="8321040" y="1664208"/>
            <a:ext cx="457200" cy="457200"/>
          </a:xfrm>
          <a:prstGeom prst="ellipse">
            <a:avLst/>
          </a:prstGeom>
          <a:solidFill>
            <a:srgbClr val="9E2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7"/>
          <p:cNvSpPr/>
          <p:nvPr/>
        </p:nvSpPr>
        <p:spPr>
          <a:xfrm>
            <a:off x="8321040" y="16642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64" name="Google Shape;464;p27"/>
          <p:cNvSpPr/>
          <p:nvPr/>
        </p:nvSpPr>
        <p:spPr>
          <a:xfrm>
            <a:off x="8897112" y="1664208"/>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OUTSIDE the line</a:t>
            </a:r>
            <a:endParaRPr b="0" i="0" sz="1600" u="none" cap="none" strike="noStrike">
              <a:solidFill>
                <a:schemeClr val="dk1"/>
              </a:solidFill>
              <a:latin typeface="Calibri"/>
              <a:ea typeface="Calibri"/>
              <a:cs typeface="Calibri"/>
              <a:sym typeface="Calibri"/>
            </a:endParaRPr>
          </a:p>
        </p:txBody>
      </p:sp>
      <p:sp>
        <p:nvSpPr>
          <p:cNvPr id="465" name="Google Shape;465;p27"/>
          <p:cNvSpPr/>
          <p:nvPr/>
        </p:nvSpPr>
        <p:spPr>
          <a:xfrm>
            <a:off x="8339328" y="2212848"/>
            <a:ext cx="3108960" cy="77724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NOT FEASIBLE — unattainable at current income and prices. Reaching it requires higher income or lower prices.</a:t>
            </a:r>
            <a:endParaRPr b="0" i="0" sz="1250" u="none" cap="none" strike="noStrike">
              <a:solidFill>
                <a:schemeClr val="dk1"/>
              </a:solidFill>
              <a:latin typeface="Calibri"/>
              <a:ea typeface="Calibri"/>
              <a:cs typeface="Calibri"/>
              <a:sym typeface="Calibri"/>
            </a:endParaRPr>
          </a:p>
        </p:txBody>
      </p:sp>
      <p:graphicFrame>
        <p:nvGraphicFramePr>
          <p:cNvPr id="466" name="Google Shape;466;p27"/>
          <p:cNvGraphicFramePr/>
          <p:nvPr/>
        </p:nvGraphicFramePr>
        <p:xfrm>
          <a:off x="502920" y="3364992"/>
          <a:ext cx="3000000" cy="3000000"/>
        </p:xfrm>
        <a:graphic>
          <a:graphicData uri="http://schemas.openxmlformats.org/drawingml/2006/table">
            <a:tbl>
              <a:tblPr>
                <a:noFill/>
                <a:tableStyleId>{5412CA50-F7BB-49FB-A1FD-1592E326B74B}</a:tableStyleId>
              </a:tblPr>
              <a:tblGrid>
                <a:gridCol w="2743200"/>
                <a:gridCol w="3291850"/>
                <a:gridCol w="5148075"/>
              </a:tblGrid>
              <a:tr h="3840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CHANGE</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EFFECT ON THE LINE</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ECONOMIC MEANING</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384050">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Income rises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PARALLEL shift OUTWARD (right)</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Both intercepts rise proportionally; the relative price — the slope — is unchanged.</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Income falls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PARALLEL shift INWARD (left)</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Both intercepts fall proportionally; the slope is unchanged.</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84050">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Price of X rises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ROTATION inward around the Y-intercept</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The Y-intercept is ANCHORED (Py unchanged), the X-intercept falls, the line steepens.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Price of Y rises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ROTATION inward around the X-intercept</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00"/>
                        <a:buFont typeface="Calibri"/>
                        <a:buNone/>
                      </a:pPr>
                      <a:r>
                        <a:rPr lang="en-US" sz="1100" u="none" cap="none" strike="noStrike">
                          <a:solidFill>
                            <a:srgbClr val="1A2E4A"/>
                          </a:solidFill>
                          <a:latin typeface="Calibri"/>
                          <a:ea typeface="Calibri"/>
                          <a:cs typeface="Calibri"/>
                          <a:sym typeface="Calibri"/>
                        </a:rPr>
                        <a:t>The X-intercept is anchored, the Y-intercept falls, the line flattens.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
        <p:nvSpPr>
          <p:cNvPr id="467" name="Google Shape;467;p27"/>
          <p:cNvSpPr/>
          <p:nvPr/>
        </p:nvSpPr>
        <p:spPr>
          <a:xfrm>
            <a:off x="502925" y="5349225"/>
            <a:ext cx="11183100" cy="7773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7"/>
          <p:cNvSpPr/>
          <p:nvPr/>
        </p:nvSpPr>
        <p:spPr>
          <a:xfrm>
            <a:off x="758952" y="5449856"/>
            <a:ext cx="1067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WORKSHEET ✦ 4  ·  AND ONE MORE RULE</a:t>
            </a:r>
            <a:endParaRPr b="0" i="0" sz="1050" u="none" cap="none" strike="noStrike">
              <a:solidFill>
                <a:schemeClr val="dk1"/>
              </a:solidFill>
              <a:latin typeface="Calibri"/>
              <a:ea typeface="Calibri"/>
              <a:cs typeface="Calibri"/>
              <a:sym typeface="Calibri"/>
            </a:endParaRPr>
          </a:p>
        </p:txBody>
      </p:sp>
      <p:sp>
        <p:nvSpPr>
          <p:cNvPr id="469" name="Google Shape;469;p27"/>
          <p:cNvSpPr/>
          <p:nvPr/>
        </p:nvSpPr>
        <p:spPr>
          <a:xfrm>
            <a:off x="758952" y="5710426"/>
            <a:ext cx="10671000" cy="21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When the price of iron tools rises, the budget constraint ROTATES — it does not shift in parallel. Explain geometrically and intuitively why one intercept is anchored while the other changes.  NOTE: if all prices AND income rise by the same percentage, the budget set does not change at all — money illusion is ruled out.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sp>
        <p:nvSpPr>
          <p:cNvPr id="475" name="Google Shape;475;p28"/>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SCENARIO 1.1 · MESOPOTAMIA, C. 3000 BCE</a:t>
            </a:r>
            <a:endParaRPr b="0" i="0" sz="1100" u="none" cap="none" strike="noStrike">
              <a:solidFill>
                <a:schemeClr val="dk1"/>
              </a:solidFill>
              <a:latin typeface="Calibri"/>
              <a:ea typeface="Calibri"/>
              <a:cs typeface="Calibri"/>
              <a:sym typeface="Calibri"/>
            </a:endParaRPr>
          </a:p>
        </p:txBody>
      </p:sp>
      <p:sp>
        <p:nvSpPr>
          <p:cNvPr id="476" name="Google Shape;476;p28"/>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Farmers of Ur</a:t>
            </a:r>
            <a:endParaRPr b="0" i="0" sz="3000" u="none" cap="none" strike="noStrike">
              <a:solidFill>
                <a:schemeClr val="dk1"/>
              </a:solidFill>
              <a:latin typeface="Calibri"/>
              <a:ea typeface="Calibri"/>
              <a:cs typeface="Calibri"/>
              <a:sym typeface="Calibri"/>
            </a:endParaRPr>
          </a:p>
        </p:txBody>
      </p:sp>
      <p:sp>
        <p:nvSpPr>
          <p:cNvPr id="477" name="Google Shape;477;p28"/>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478" name="Google Shape;478;p28"/>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479" name="Google Shape;479;p28"/>
          <p:cNvSpPr/>
          <p:nvPr/>
        </p:nvSpPr>
        <p:spPr>
          <a:xfrm>
            <a:off x="502920" y="1444752"/>
            <a:ext cx="5486400" cy="105156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4A6180"/>
              </a:buClr>
              <a:buSzPts val="1300"/>
              <a:buFont typeface="Calibri"/>
              <a:buNone/>
            </a:pPr>
            <a:r>
              <a:rPr b="0" i="0" lang="en-US" sz="1300" u="none" cap="none" strike="noStrike">
                <a:solidFill>
                  <a:srgbClr val="4A6180"/>
                </a:solidFill>
                <a:latin typeface="Calibri"/>
                <a:ea typeface="Calibri"/>
                <a:cs typeface="Calibri"/>
                <a:sym typeface="Calibri"/>
              </a:rPr>
              <a:t>You are a farmer in Mesopotamia around 3000 BCE. You receive 30 shekels of silver each month from selling dates at market. You can spend this income on two goods: barley (food and seed) — 1 shekel buys 10 units — and wool (for clothing and trade) — 1 shekel buys 2 units.</a:t>
            </a:r>
            <a:endParaRPr b="0" i="0" sz="1300" u="none" cap="none" strike="noStrike">
              <a:solidFill>
                <a:schemeClr val="dk1"/>
              </a:solidFill>
              <a:latin typeface="Calibri"/>
              <a:ea typeface="Calibri"/>
              <a:cs typeface="Calibri"/>
              <a:sym typeface="Calibri"/>
            </a:endParaRPr>
          </a:p>
        </p:txBody>
      </p:sp>
      <p:sp>
        <p:nvSpPr>
          <p:cNvPr id="480" name="Google Shape;480;p28"/>
          <p:cNvSpPr/>
          <p:nvPr/>
        </p:nvSpPr>
        <p:spPr>
          <a:xfrm>
            <a:off x="502920" y="2560320"/>
            <a:ext cx="5486400" cy="100584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8"/>
          <p:cNvSpPr/>
          <p:nvPr/>
        </p:nvSpPr>
        <p:spPr>
          <a:xfrm>
            <a:off x="685800" y="2688336"/>
            <a:ext cx="5120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PB = 1/10 = 0.10 shekel      PW = 1/2 = 0.50 shekel</a:t>
            </a:r>
            <a:endParaRPr b="0" i="0" sz="1500" u="none" cap="none" strike="noStrike">
              <a:solidFill>
                <a:schemeClr val="dk1"/>
              </a:solidFill>
              <a:latin typeface="Calibri"/>
              <a:ea typeface="Calibri"/>
              <a:cs typeface="Calibri"/>
              <a:sym typeface="Calibri"/>
            </a:endParaRPr>
          </a:p>
        </p:txBody>
      </p:sp>
      <p:sp>
        <p:nvSpPr>
          <p:cNvPr id="482" name="Google Shape;482;p28"/>
          <p:cNvSpPr/>
          <p:nvPr/>
        </p:nvSpPr>
        <p:spPr>
          <a:xfrm>
            <a:off x="685800" y="3054096"/>
            <a:ext cx="51206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Price per unit = shekels ÷ units obtained per shekel</a:t>
            </a:r>
            <a:endParaRPr b="0" i="0" sz="1150" u="none" cap="none" strike="noStrike">
              <a:solidFill>
                <a:schemeClr val="dk1"/>
              </a:solidFill>
              <a:latin typeface="Calibri"/>
              <a:ea typeface="Calibri"/>
              <a:cs typeface="Calibri"/>
              <a:sym typeface="Calibri"/>
            </a:endParaRPr>
          </a:p>
        </p:txBody>
      </p:sp>
      <p:graphicFrame>
        <p:nvGraphicFramePr>
          <p:cNvPr id="483" name="Google Shape;483;p28"/>
          <p:cNvGraphicFramePr/>
          <p:nvPr/>
        </p:nvGraphicFramePr>
        <p:xfrm>
          <a:off x="502933" y="3639295"/>
          <a:ext cx="3000000" cy="3000000"/>
        </p:xfrm>
        <a:graphic>
          <a:graphicData uri="http://schemas.openxmlformats.org/drawingml/2006/table">
            <a:tbl>
              <a:tblPr>
                <a:noFill/>
                <a:tableStyleId>{5412CA50-F7BB-49FB-A1FD-1592E326B74B}</a:tableStyleId>
              </a:tblPr>
              <a:tblGrid>
                <a:gridCol w="1325875"/>
                <a:gridCol w="1325875"/>
                <a:gridCol w="1280150"/>
                <a:gridCol w="1554475"/>
              </a:tblGrid>
              <a:tr h="310900">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INCOME (shekels)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BARLEY (units)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WOOL (units)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CHECK: 0.10B + 0.50W</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310900">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60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0 + 30 = 30 ✓</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10900">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50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50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5 + 25 = 30 ✓</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10900">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100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40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10 + 20 = 30 ✓</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10900">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150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15 + 15 = 30 ✓</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10900">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 + 0 = 30 ✓</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bl>
          </a:graphicData>
        </a:graphic>
      </p:graphicFrame>
      <p:pic>
        <p:nvPicPr>
          <p:cNvPr descr="figs/m1_ur.png" id="484" name="Google Shape;484;p28"/>
          <p:cNvPicPr preferRelativeResize="0"/>
          <p:nvPr/>
        </p:nvPicPr>
        <p:blipFill rotWithShape="1">
          <a:blip r:embed="rId3">
            <a:alphaModFix/>
          </a:blip>
          <a:srcRect b="0" l="0" r="0" t="0"/>
          <a:stretch/>
        </p:blipFill>
        <p:spPr>
          <a:xfrm>
            <a:off x="6284716" y="1417320"/>
            <a:ext cx="5398528" cy="3822192"/>
          </a:xfrm>
          <a:prstGeom prst="rect">
            <a:avLst/>
          </a:prstGeom>
          <a:noFill/>
          <a:ln>
            <a:noFill/>
          </a:ln>
        </p:spPr>
      </p:pic>
      <p:sp>
        <p:nvSpPr>
          <p:cNvPr id="485" name="Google Shape;485;p28"/>
          <p:cNvSpPr/>
          <p:nvPr/>
        </p:nvSpPr>
        <p:spPr>
          <a:xfrm>
            <a:off x="502920" y="5577840"/>
            <a:ext cx="11183112" cy="566928"/>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8"/>
          <p:cNvSpPr/>
          <p:nvPr/>
        </p:nvSpPr>
        <p:spPr>
          <a:xfrm>
            <a:off x="758952" y="570585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TRADE-OFF</a:t>
            </a:r>
            <a:endParaRPr b="0" i="0" sz="1050" u="none" cap="none" strike="noStrike">
              <a:solidFill>
                <a:schemeClr val="dk1"/>
              </a:solidFill>
              <a:latin typeface="Calibri"/>
              <a:ea typeface="Calibri"/>
              <a:cs typeface="Calibri"/>
              <a:sym typeface="Calibri"/>
            </a:endParaRPr>
          </a:p>
        </p:txBody>
      </p:sp>
      <p:sp>
        <p:nvSpPr>
          <p:cNvPr id="487" name="Google Shape;487;p28"/>
          <p:cNvSpPr/>
          <p:nvPr/>
        </p:nvSpPr>
        <p:spPr>
          <a:xfrm>
            <a:off x="758952" y="5980176"/>
            <a:ext cx="10671048" cy="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For every 1 unit of WOOL the farmer must give up 5 units of BARLEY. Opportunity cost is ALWAYS expressed in terms of the other good.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29"/>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SCENARIO 1.2 · SHANG CHINA, C. 1200 BCE</a:t>
            </a:r>
            <a:endParaRPr b="0" i="0" sz="1100" u="none" cap="none" strike="noStrike">
              <a:solidFill>
                <a:schemeClr val="dk1"/>
              </a:solidFill>
              <a:latin typeface="Calibri"/>
              <a:ea typeface="Calibri"/>
              <a:cs typeface="Calibri"/>
              <a:sym typeface="Calibri"/>
            </a:endParaRPr>
          </a:p>
        </p:txBody>
      </p:sp>
      <p:sp>
        <p:nvSpPr>
          <p:cNvPr id="494" name="Google Shape;494;p29"/>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Farmer of Anyang</a:t>
            </a:r>
            <a:endParaRPr b="0" i="0" sz="3000" u="none" cap="none" strike="noStrike">
              <a:solidFill>
                <a:schemeClr val="dk1"/>
              </a:solidFill>
              <a:latin typeface="Calibri"/>
              <a:ea typeface="Calibri"/>
              <a:cs typeface="Calibri"/>
              <a:sym typeface="Calibri"/>
            </a:endParaRPr>
          </a:p>
        </p:txBody>
      </p:sp>
      <p:sp>
        <p:nvSpPr>
          <p:cNvPr id="495" name="Google Shape;495;p29"/>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496" name="Google Shape;496;p29"/>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497" name="Google Shape;497;p29"/>
          <p:cNvSpPr/>
          <p:nvPr/>
        </p:nvSpPr>
        <p:spPr>
          <a:xfrm>
            <a:off x="502920" y="1444752"/>
            <a:ext cx="5532120" cy="77724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4A6180"/>
              </a:buClr>
              <a:buSzPts val="1300"/>
              <a:buFont typeface="Calibri"/>
              <a:buNone/>
            </a:pPr>
            <a:r>
              <a:rPr b="0" i="0" lang="en-US" sz="1300" u="none" cap="none" strike="noStrike">
                <a:solidFill>
                  <a:srgbClr val="4A6180"/>
                </a:solidFill>
                <a:latin typeface="Calibri"/>
                <a:ea typeface="Calibri"/>
                <a:cs typeface="Calibri"/>
                <a:sym typeface="Calibri"/>
              </a:rPr>
              <a:t>A peasant farmer in Anyang during the late Shang Dynasty has 20 cowrie shells. At market he can buy grain for winter storage or bronze for repairing sickle blades. 1 cowrie shell = 5 units of grain; 1 cowrie shell = 1 unit of bronze.</a:t>
            </a:r>
            <a:endParaRPr b="0" i="0" sz="1300" u="none" cap="none" strike="noStrike">
              <a:solidFill>
                <a:schemeClr val="dk1"/>
              </a:solidFill>
              <a:latin typeface="Calibri"/>
              <a:ea typeface="Calibri"/>
              <a:cs typeface="Calibri"/>
              <a:sym typeface="Calibri"/>
            </a:endParaRPr>
          </a:p>
        </p:txBody>
      </p:sp>
      <p:graphicFrame>
        <p:nvGraphicFramePr>
          <p:cNvPr id="498" name="Google Shape;498;p29"/>
          <p:cNvGraphicFramePr/>
          <p:nvPr/>
        </p:nvGraphicFramePr>
        <p:xfrm>
          <a:off x="502920" y="2331720"/>
          <a:ext cx="3000000" cy="3000000"/>
        </p:xfrm>
        <a:graphic>
          <a:graphicData uri="http://schemas.openxmlformats.org/drawingml/2006/table">
            <a:tbl>
              <a:tblPr>
                <a:noFill/>
                <a:tableStyleId>{5412CA50-F7BB-49FB-A1FD-1592E326B74B}</a:tableStyleId>
              </a:tblPr>
              <a:tblGrid>
                <a:gridCol w="1371600"/>
                <a:gridCol w="1325875"/>
                <a:gridCol w="1371600"/>
                <a:gridCol w="1463050"/>
              </a:tblGrid>
              <a:tr h="274325">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GRAIN BUNDLES (X)</a:t>
                      </a:r>
                      <a:endParaRPr sz="9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BRONZE TOOLS (Y)</a:t>
                      </a:r>
                      <a:endParaRPr sz="9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TOTAL COST (shells)</a:t>
                      </a:r>
                      <a:endParaRPr sz="9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FEASIBLE?</a:t>
                      </a:r>
                      <a:endParaRPr sz="9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274325">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100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20 + 0 = 20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Yes — on the line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75</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5</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15 + 5 = 20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Yes — on the line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74325">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50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10 + 10 = 20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Yes — on the line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25</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15</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5 + 15 = 20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Yes — on the line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74325">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20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0 + 20 = 20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Yes — on the line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50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5</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10 + 5 = 15</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INSIDE (5 unspent)</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274325">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100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10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20 + 10 = 30</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950"/>
                        <a:buFont typeface="Calibri"/>
                        <a:buNone/>
                      </a:pPr>
                      <a:r>
                        <a:rPr lang="en-US" sz="950" u="none" cap="none" strike="noStrike">
                          <a:solidFill>
                            <a:srgbClr val="1A2E4A"/>
                          </a:solidFill>
                          <a:latin typeface="Calibri"/>
                          <a:ea typeface="Calibri"/>
                          <a:cs typeface="Calibri"/>
                          <a:sym typeface="Calibri"/>
                        </a:rPr>
                        <a:t>OUTSIDE — not feasible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bl>
          </a:graphicData>
        </a:graphic>
      </p:graphicFrame>
      <p:sp>
        <p:nvSpPr>
          <p:cNvPr id="499" name="Google Shape;499;p29"/>
          <p:cNvSpPr/>
          <p:nvPr/>
        </p:nvSpPr>
        <p:spPr>
          <a:xfrm>
            <a:off x="502920" y="4846320"/>
            <a:ext cx="5532120" cy="128016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9"/>
          <p:cNvSpPr/>
          <p:nvPr/>
        </p:nvSpPr>
        <p:spPr>
          <a:xfrm>
            <a:off x="685800" y="4974336"/>
            <a:ext cx="51663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20 = 0.2X + 1.0Y   →   Y = 20 − 0.2X</a:t>
            </a:r>
            <a:endParaRPr b="0" i="0" sz="2200" u="none" cap="none" strike="noStrike">
              <a:solidFill>
                <a:schemeClr val="dk1"/>
              </a:solidFill>
              <a:latin typeface="Calibri"/>
              <a:ea typeface="Calibri"/>
              <a:cs typeface="Calibri"/>
              <a:sym typeface="Calibri"/>
            </a:endParaRPr>
          </a:p>
        </p:txBody>
      </p:sp>
      <p:sp>
        <p:nvSpPr>
          <p:cNvPr id="501" name="Google Shape;501;p29"/>
          <p:cNvSpPr/>
          <p:nvPr/>
        </p:nvSpPr>
        <p:spPr>
          <a:xfrm>
            <a:off x="685800" y="5614416"/>
            <a:ext cx="516636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Slope = −Px/Py = −0.2:  one more grain bundle costs 0.2 bronze tools.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X-intercept = 20/0.2 = 100 grain.   Y-intercept = 20/1.0 = 20 tools.</a:t>
            </a:r>
            <a:endParaRPr b="0" i="0" sz="1150" u="none" cap="none" strike="noStrike">
              <a:solidFill>
                <a:schemeClr val="dk1"/>
              </a:solidFill>
              <a:latin typeface="Calibri"/>
              <a:ea typeface="Calibri"/>
              <a:cs typeface="Calibri"/>
              <a:sym typeface="Calibri"/>
            </a:endParaRPr>
          </a:p>
        </p:txBody>
      </p:sp>
      <p:pic>
        <p:nvPicPr>
          <p:cNvPr descr="figs/m1_anyang.png" id="502" name="Google Shape;502;p29"/>
          <p:cNvPicPr preferRelativeResize="0"/>
          <p:nvPr/>
        </p:nvPicPr>
        <p:blipFill rotWithShape="1">
          <a:blip r:embed="rId3">
            <a:alphaModFix/>
          </a:blip>
          <a:srcRect b="0" l="0" r="0" t="0"/>
          <a:stretch/>
        </p:blipFill>
        <p:spPr>
          <a:xfrm>
            <a:off x="6263640" y="1560587"/>
            <a:ext cx="5440680" cy="3535658"/>
          </a:xfrm>
          <a:prstGeom prst="rect">
            <a:avLst/>
          </a:prstGeom>
          <a:noFill/>
          <a:ln>
            <a:noFill/>
          </a:ln>
        </p:spPr>
      </p:pic>
      <p:sp>
        <p:nvSpPr>
          <p:cNvPr id="503" name="Google Shape;503;p29"/>
          <p:cNvSpPr/>
          <p:nvPr/>
        </p:nvSpPr>
        <p:spPr>
          <a:xfrm>
            <a:off x="6263640" y="5349240"/>
            <a:ext cx="5440680" cy="640080"/>
          </a:xfrm>
          <a:prstGeom prst="rect">
            <a:avLst/>
          </a:prstGeom>
          <a:noFill/>
          <a:ln>
            <a:noFill/>
          </a:ln>
        </p:spPr>
        <p:txBody>
          <a:bodyPr anchorCtr="0" anchor="ctr" bIns="0" lIns="0" spcFirstLastPara="1" rIns="0" wrap="square" tIns="0">
            <a:noAutofit/>
          </a:bodyPr>
          <a:lstStyle/>
          <a:p>
            <a:pPr indent="0" lvl="0" marL="0" marR="0" rtl="0" algn="l">
              <a:lnSpc>
                <a:spcPct val="147826"/>
              </a:lnSpc>
              <a:spcBef>
                <a:spcPts val="0"/>
              </a:spcBef>
              <a:spcAft>
                <a:spcPts val="0"/>
              </a:spcAft>
              <a:buClr>
                <a:srgbClr val="4A6180"/>
              </a:buClr>
              <a:buSzPts val="1150"/>
              <a:buFont typeface="Calibri"/>
              <a:buNone/>
            </a:pPr>
            <a:r>
              <a:rPr b="0" i="1" lang="en-US" sz="1150" u="none" cap="none" strike="noStrike">
                <a:solidFill>
                  <a:srgbClr val="4A6180"/>
                </a:solidFill>
                <a:latin typeface="Calibri"/>
                <a:ea typeface="Calibri"/>
                <a:cs typeface="Calibri"/>
                <a:sym typeface="Calibri"/>
              </a:rPr>
              <a:t>Note the price computation: P_grain = 1 shell ÷ 5 units = 0.2 shells per unit.  P_bronze = 1 shell ÷ 1 unit = 1.0 shell per unit.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8" name="Shape 508"/>
        <p:cNvGrpSpPr/>
        <p:nvPr/>
      </p:nvGrpSpPr>
      <p:grpSpPr>
        <a:xfrm>
          <a:off x="0" y="0"/>
          <a:ext cx="0" cy="0"/>
          <a:chOff x="0" y="0"/>
          <a:chExt cx="0" cy="0"/>
        </a:xfrm>
      </p:grpSpPr>
      <p:sp>
        <p:nvSpPr>
          <p:cNvPr id="509" name="Google Shape;509;p30"/>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SCENARIO 1.3 · UPPER NIGER, C. 1000 BCE</a:t>
            </a:r>
            <a:endParaRPr b="0" i="0" sz="1100" u="none" cap="none" strike="noStrike">
              <a:solidFill>
                <a:schemeClr val="dk1"/>
              </a:solidFill>
              <a:latin typeface="Calibri"/>
              <a:ea typeface="Calibri"/>
              <a:cs typeface="Calibri"/>
              <a:sym typeface="Calibri"/>
            </a:endParaRPr>
          </a:p>
        </p:txBody>
      </p:sp>
      <p:sp>
        <p:nvSpPr>
          <p:cNvPr id="510" name="Google Shape;510;p30"/>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Herder Faro — and the Price Shock</a:t>
            </a:r>
            <a:endParaRPr b="0" i="0" sz="3000" u="none" cap="none" strike="noStrike">
              <a:solidFill>
                <a:schemeClr val="dk1"/>
              </a:solidFill>
              <a:latin typeface="Calibri"/>
              <a:ea typeface="Calibri"/>
              <a:cs typeface="Calibri"/>
              <a:sym typeface="Calibri"/>
            </a:endParaRPr>
          </a:p>
        </p:txBody>
      </p:sp>
      <p:sp>
        <p:nvSpPr>
          <p:cNvPr id="511" name="Google Shape;511;p30"/>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512" name="Google Shape;512;p30"/>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513" name="Google Shape;513;p30"/>
          <p:cNvSpPr/>
          <p:nvPr/>
        </p:nvSpPr>
        <p:spPr>
          <a:xfrm>
            <a:off x="502925" y="1417325"/>
            <a:ext cx="5394900" cy="1865400"/>
          </a:xfrm>
          <a:prstGeom prst="rect">
            <a:avLst/>
          </a:prstGeom>
          <a:noFill/>
          <a:ln>
            <a:noFill/>
          </a:ln>
        </p:spPr>
        <p:txBody>
          <a:bodyPr anchorCtr="0" anchor="ctr" bIns="0" lIns="0" spcFirstLastPara="1" rIns="0" wrap="square" tIns="0">
            <a:noAutofit/>
          </a:bodyPr>
          <a:lstStyle/>
          <a:p>
            <a:pPr indent="0" lvl="0" marL="0" marR="0" rtl="0" algn="l">
              <a:lnSpc>
                <a:spcPct val="148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In the Upper Niger around 1000 BCE a herder named Faro arrives at a bustling market carrying 10 gold-dust rings, the product of trading calves and milk. Millet is life: 1 ring buys 4 sacks, enough to feed his household and store in the village granary for the dry season. But iron tools are power: 1 ring buys a sickle or spearhead forged by blacksmiths, whose craft was already shaping West African societies. Faro must decide — secure food for his family, or invest in the tools that protect his cattle and his future?</a:t>
            </a:r>
            <a:endParaRPr b="0" i="0" sz="1250" u="none" cap="none" strike="noStrike">
              <a:solidFill>
                <a:schemeClr val="dk1"/>
              </a:solidFill>
              <a:latin typeface="Calibri"/>
              <a:ea typeface="Calibri"/>
              <a:cs typeface="Calibri"/>
              <a:sym typeface="Calibri"/>
            </a:endParaRPr>
          </a:p>
        </p:txBody>
      </p:sp>
      <p:graphicFrame>
        <p:nvGraphicFramePr>
          <p:cNvPr id="514" name="Google Shape;514;p30"/>
          <p:cNvGraphicFramePr/>
          <p:nvPr/>
        </p:nvGraphicFramePr>
        <p:xfrm>
          <a:off x="502920" y="3502200"/>
          <a:ext cx="3000000" cy="3000000"/>
        </p:xfrm>
        <a:graphic>
          <a:graphicData uri="http://schemas.openxmlformats.org/drawingml/2006/table">
            <a:tbl>
              <a:tblPr>
                <a:noFill/>
                <a:tableStyleId>{5412CA50-F7BB-49FB-A1FD-1592E326B74B}</a:tableStyleId>
              </a:tblPr>
              <a:tblGrid>
                <a:gridCol w="1965950"/>
                <a:gridCol w="3429000"/>
              </a:tblGrid>
              <a:tr h="3291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QUESTION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ANSWER</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32917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All 10 rings on millet?</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10 × 4 = 40 sacks of millet, 0 iron tools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All 10 rings on iron tools?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10 × 1 = 10 iron tools, 0 sacks of millet</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2917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Price of millet</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 ÷ 4 = 0.25 rings per sack</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Price of iron tools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 ÷ 1 = 1.0 ring per tool</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2917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Slope (OC of 1 tool)</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−P_tool/P_millet = −1.0/0.25 = −4 sacks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The trade-off</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Each additional iron tool costs Faro 4 sacks of millet — roughly a month of household food.</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pic>
        <p:nvPicPr>
          <p:cNvPr descr="figs/m1_rotate.png" id="515" name="Google Shape;515;p30"/>
          <p:cNvPicPr preferRelativeResize="0"/>
          <p:nvPr/>
        </p:nvPicPr>
        <p:blipFill rotWithShape="1">
          <a:blip r:embed="rId3">
            <a:alphaModFix/>
          </a:blip>
          <a:srcRect b="0" l="0" r="0" t="0"/>
          <a:stretch/>
        </p:blipFill>
        <p:spPr>
          <a:xfrm>
            <a:off x="6126480" y="1630609"/>
            <a:ext cx="5577840" cy="2353199"/>
          </a:xfrm>
          <a:prstGeom prst="rect">
            <a:avLst/>
          </a:prstGeom>
          <a:noFill/>
          <a:ln>
            <a:noFill/>
          </a:ln>
        </p:spPr>
      </p:pic>
      <p:sp>
        <p:nvSpPr>
          <p:cNvPr id="516" name="Google Shape;516;p30"/>
          <p:cNvSpPr/>
          <p:nvPr/>
        </p:nvSpPr>
        <p:spPr>
          <a:xfrm>
            <a:off x="6126480" y="4160520"/>
            <a:ext cx="5577840" cy="196596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0"/>
          <p:cNvSpPr/>
          <p:nvPr/>
        </p:nvSpPr>
        <p:spPr>
          <a:xfrm>
            <a:off x="6382512" y="4343400"/>
            <a:ext cx="506577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✦4  WHY A ROTATION, NOT A SHIFT</a:t>
            </a:r>
            <a:endParaRPr b="0" i="0" sz="1550" u="none" cap="none" strike="noStrike">
              <a:solidFill>
                <a:schemeClr val="dk1"/>
              </a:solidFill>
              <a:latin typeface="Calibri"/>
              <a:ea typeface="Calibri"/>
              <a:cs typeface="Calibri"/>
              <a:sym typeface="Calibri"/>
            </a:endParaRPr>
          </a:p>
        </p:txBody>
      </p:sp>
      <p:sp>
        <p:nvSpPr>
          <p:cNvPr id="518" name="Google Shape;518;p30"/>
          <p:cNvSpPr/>
          <p:nvPr/>
        </p:nvSpPr>
        <p:spPr>
          <a:xfrm>
            <a:off x="6382512" y="4745736"/>
            <a:ext cx="5065776" cy="114300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GEOMETRICALLY: a change in Px alters the X-intercept (I/Px) but leaves the Y-intercept (I/Py) untouched, because the Y-intercept contains no Px term. The line therefore pivots about the anchored intercept.</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INTUITIVELY: if you were spending everything on Y, a change in the price of X cannot affect what you can afford. It only bites once you buy some X — and it bites harder the more X you buy.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31"/>
          <p:cNvSpPr/>
          <p:nvPr/>
        </p:nvSpPr>
        <p:spPr>
          <a:xfrm>
            <a:off x="0" y="0"/>
            <a:ext cx="4160520" cy="6858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1"/>
          <p:cNvSpPr/>
          <p:nvPr/>
        </p:nvSpPr>
        <p:spPr>
          <a:xfrm>
            <a:off x="685800" y="1965960"/>
            <a:ext cx="29260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3000"/>
              <a:buFont typeface="Cambria"/>
              <a:buNone/>
            </a:pPr>
            <a:r>
              <a:rPr b="1" i="0" lang="en-US" sz="13000" u="none" cap="none" strike="noStrike">
                <a:solidFill>
                  <a:srgbClr val="C0892E"/>
                </a:solidFill>
                <a:latin typeface="Cambria"/>
                <a:ea typeface="Cambria"/>
                <a:cs typeface="Cambria"/>
                <a:sym typeface="Cambria"/>
              </a:rPr>
              <a:t>05</a:t>
            </a:r>
            <a:endParaRPr b="0" i="0" sz="13000" u="none" cap="none" strike="noStrike">
              <a:solidFill>
                <a:schemeClr val="dk1"/>
              </a:solidFill>
              <a:latin typeface="Calibri"/>
              <a:ea typeface="Calibri"/>
              <a:cs typeface="Calibri"/>
              <a:sym typeface="Calibri"/>
            </a:endParaRPr>
          </a:p>
        </p:txBody>
      </p:sp>
      <p:sp>
        <p:nvSpPr>
          <p:cNvPr id="526" name="Google Shape;526;p31"/>
          <p:cNvSpPr/>
          <p:nvPr/>
        </p:nvSpPr>
        <p:spPr>
          <a:xfrm>
            <a:off x="777240" y="3703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400"/>
              <a:buFont typeface="Calibri"/>
              <a:buNone/>
            </a:pPr>
            <a:r>
              <a:rPr b="1" i="0" lang="en-US" sz="1400" u="none" cap="none" strike="noStrike">
                <a:solidFill>
                  <a:srgbClr val="4A6180"/>
                </a:solidFill>
                <a:latin typeface="Calibri"/>
                <a:ea typeface="Calibri"/>
                <a:cs typeface="Calibri"/>
                <a:sym typeface="Calibri"/>
              </a:rPr>
              <a:t>PART</a:t>
            </a:r>
            <a:endParaRPr b="0" i="0" sz="1400" u="none" cap="none" strike="noStrike">
              <a:solidFill>
                <a:schemeClr val="dk1"/>
              </a:solidFill>
              <a:latin typeface="Calibri"/>
              <a:ea typeface="Calibri"/>
              <a:cs typeface="Calibri"/>
              <a:sym typeface="Calibri"/>
            </a:endParaRPr>
          </a:p>
        </p:txBody>
      </p:sp>
      <p:sp>
        <p:nvSpPr>
          <p:cNvPr id="527" name="Google Shape;527;p31"/>
          <p:cNvSpPr/>
          <p:nvPr/>
        </p:nvSpPr>
        <p:spPr>
          <a:xfrm>
            <a:off x="4937760" y="1965960"/>
            <a:ext cx="6675120" cy="1554480"/>
          </a:xfrm>
          <a:prstGeom prst="rect">
            <a:avLst/>
          </a:prstGeom>
          <a:noFill/>
          <a:ln>
            <a:noFill/>
          </a:ln>
        </p:spPr>
        <p:txBody>
          <a:bodyPr anchorCtr="0" anchor="b" bIns="0" lIns="0" spcFirstLastPara="1" rIns="0" wrap="square" tIns="0">
            <a:noAutofit/>
          </a:bodyPr>
          <a:lstStyle/>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Model a Producer:</a:t>
            </a:r>
            <a:endParaRPr b="0" i="0" sz="3300" u="none" cap="none" strike="noStrike">
              <a:solidFill>
                <a:schemeClr val="dk1"/>
              </a:solidFill>
              <a:latin typeface="Calibri"/>
              <a:ea typeface="Calibri"/>
              <a:cs typeface="Calibri"/>
              <a:sym typeface="Calibri"/>
            </a:endParaRPr>
          </a:p>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The Production Possibilities Model</a:t>
            </a:r>
            <a:endParaRPr b="0" i="0" sz="3300" u="none" cap="none" strike="noStrike">
              <a:solidFill>
                <a:schemeClr val="dk1"/>
              </a:solidFill>
              <a:latin typeface="Calibri"/>
              <a:ea typeface="Calibri"/>
              <a:cs typeface="Calibri"/>
              <a:sym typeface="Calibri"/>
            </a:endParaRPr>
          </a:p>
        </p:txBody>
      </p:sp>
      <p:sp>
        <p:nvSpPr>
          <p:cNvPr id="528" name="Google Shape;528;p31"/>
          <p:cNvSpPr/>
          <p:nvPr/>
        </p:nvSpPr>
        <p:spPr>
          <a:xfrm>
            <a:off x="4937760" y="3657600"/>
            <a:ext cx="6675120" cy="155448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0892E"/>
              </a:buClr>
              <a:buSzPts val="1200"/>
              <a:buFont typeface="Calibri"/>
              <a:buNone/>
            </a:pPr>
            <a:r>
              <a:rPr b="1" i="0" lang="en-US" sz="1200" u="none" cap="none" strike="noStrike">
                <a:solidFill>
                  <a:srgbClr val="C0892E"/>
                </a:solidFill>
                <a:latin typeface="Calibri"/>
                <a:ea typeface="Calibri"/>
                <a:cs typeface="Calibri"/>
                <a:sym typeface="Calibri"/>
              </a:rPr>
              <a:t>OBJECTIVE   </a:t>
            </a:r>
            <a:r>
              <a:rPr b="0" i="0" lang="en-US" sz="1500" u="none" cap="none" strike="noStrike">
                <a:solidFill>
                  <a:srgbClr val="4A6180"/>
                </a:solidFill>
                <a:latin typeface="Calibri"/>
                <a:ea typeface="Calibri"/>
                <a:cs typeface="Calibri"/>
                <a:sym typeface="Calibri"/>
              </a:rPr>
              <a:t>Build the PPM; explain the law of increasing opportunity cost; distinguish efficient, inefficient and unattainable points.</a:t>
            </a:r>
            <a:endParaRPr b="0" i="0" sz="1200" u="none" cap="none" strike="noStrike">
              <a:solidFill>
                <a:schemeClr val="dk1"/>
              </a:solidFill>
              <a:latin typeface="Calibri"/>
              <a:ea typeface="Calibri"/>
              <a:cs typeface="Calibri"/>
              <a:sym typeface="Calibri"/>
            </a:endParaRPr>
          </a:p>
        </p:txBody>
      </p:sp>
      <p:sp>
        <p:nvSpPr>
          <p:cNvPr id="529" name="Google Shape;529;p31"/>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530" name="Google Shape;530;p31"/>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5" name="Shape 535"/>
        <p:cNvGrpSpPr/>
        <p:nvPr/>
      </p:nvGrpSpPr>
      <p:grpSpPr>
        <a:xfrm>
          <a:off x="0" y="0"/>
          <a:ext cx="0" cy="0"/>
          <a:chOff x="0" y="0"/>
          <a:chExt cx="0" cy="0"/>
        </a:xfrm>
      </p:grpSpPr>
      <p:sp>
        <p:nvSpPr>
          <p:cNvPr id="536" name="Google Shape;536;p32"/>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5 · LIMITED RESOURCES | LIMITED TECHNOLOGY | UNLIMITED DESIRES</a:t>
            </a:r>
            <a:endParaRPr b="0" i="0" sz="1100" u="none" cap="none" strike="noStrike">
              <a:solidFill>
                <a:schemeClr val="dk1"/>
              </a:solidFill>
              <a:latin typeface="Calibri"/>
              <a:ea typeface="Calibri"/>
              <a:cs typeface="Calibri"/>
              <a:sym typeface="Calibri"/>
            </a:endParaRPr>
          </a:p>
        </p:txBody>
      </p:sp>
      <p:sp>
        <p:nvSpPr>
          <p:cNvPr id="537" name="Google Shape;537;p32"/>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Production Possibilities Model — Conceptual Narrative</a:t>
            </a:r>
            <a:endParaRPr b="0" i="0" sz="3000" u="none" cap="none" strike="noStrike">
              <a:solidFill>
                <a:schemeClr val="dk1"/>
              </a:solidFill>
              <a:latin typeface="Calibri"/>
              <a:ea typeface="Calibri"/>
              <a:cs typeface="Calibri"/>
              <a:sym typeface="Calibri"/>
            </a:endParaRPr>
          </a:p>
        </p:txBody>
      </p:sp>
      <p:sp>
        <p:nvSpPr>
          <p:cNvPr id="538" name="Google Shape;538;p32"/>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539" name="Google Shape;539;p32"/>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540" name="Google Shape;540;p32"/>
          <p:cNvSpPr/>
          <p:nvPr/>
        </p:nvSpPr>
        <p:spPr>
          <a:xfrm>
            <a:off x="502920" y="1417320"/>
            <a:ext cx="11183112" cy="6858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2"/>
          <p:cNvSpPr/>
          <p:nvPr/>
        </p:nvSpPr>
        <p:spPr>
          <a:xfrm>
            <a:off x="758952" y="154533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LEADING QUESTION</a:t>
            </a:r>
            <a:endParaRPr b="0" i="0" sz="1050" u="none" cap="none" strike="noStrike">
              <a:solidFill>
                <a:schemeClr val="dk1"/>
              </a:solidFill>
              <a:latin typeface="Calibri"/>
              <a:ea typeface="Calibri"/>
              <a:cs typeface="Calibri"/>
              <a:sym typeface="Calibri"/>
            </a:endParaRPr>
          </a:p>
        </p:txBody>
      </p:sp>
      <p:sp>
        <p:nvSpPr>
          <p:cNvPr id="542" name="Google Shape;542;p32"/>
          <p:cNvSpPr/>
          <p:nvPr/>
        </p:nvSpPr>
        <p:spPr>
          <a:xfrm>
            <a:off x="758952" y="1819656"/>
            <a:ext cx="10671048" cy="11887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How does a producer with limited resources and fixed technology make a choice between producing two goods?</a:t>
            </a:r>
            <a:endParaRPr b="0" i="0" sz="1000" u="none" cap="none" strike="noStrike">
              <a:solidFill>
                <a:schemeClr val="dk1"/>
              </a:solidFill>
              <a:latin typeface="Calibri"/>
              <a:ea typeface="Calibri"/>
              <a:cs typeface="Calibri"/>
              <a:sym typeface="Calibri"/>
            </a:endParaRPr>
          </a:p>
        </p:txBody>
      </p:sp>
      <p:sp>
        <p:nvSpPr>
          <p:cNvPr id="543" name="Google Shape;543;p32"/>
          <p:cNvSpPr/>
          <p:nvPr/>
        </p:nvSpPr>
        <p:spPr>
          <a:xfrm>
            <a:off x="502920" y="2267712"/>
            <a:ext cx="11155680" cy="685800"/>
          </a:xfrm>
          <a:prstGeom prst="rect">
            <a:avLst/>
          </a:prstGeom>
          <a:noFill/>
          <a:ln>
            <a:noFill/>
          </a:ln>
        </p:spPr>
        <p:txBody>
          <a:bodyPr anchorCtr="0" anchor="ctr" bIns="0" lIns="0" spcFirstLastPara="1" rIns="0" wrap="square" tIns="0">
            <a:noAutofit/>
          </a:bodyPr>
          <a:lstStyle/>
          <a:p>
            <a:pPr indent="0" lvl="0" marL="0" marR="0" rtl="0" algn="l">
              <a:lnSpc>
                <a:spcPct val="155555"/>
              </a:lnSpc>
              <a:spcBef>
                <a:spcPts val="0"/>
              </a:spcBef>
              <a:spcAft>
                <a:spcPts val="0"/>
              </a:spcAft>
              <a:buClr>
                <a:srgbClr val="4A6180"/>
              </a:buClr>
              <a:buSzPts val="1350"/>
              <a:buFont typeface="Calibri"/>
              <a:buNone/>
            </a:pPr>
            <a:r>
              <a:rPr b="0" i="0" lang="en-US" sz="1350" u="none" cap="none" strike="noStrike">
                <a:solidFill>
                  <a:srgbClr val="4A6180"/>
                </a:solidFill>
                <a:latin typeface="Calibri"/>
                <a:ea typeface="Calibri"/>
                <a:cs typeface="Calibri"/>
                <a:sym typeface="Calibri"/>
              </a:rPr>
              <a:t>If a producer has limited labor and technology and is choosing between two goods, they face a downward-sloping, CURVED production possibilities curve. This is because as they want more of a good, the opportunity cost — expressed in terms of the other good — is increasing, causing an increasing slope along the curve.</a:t>
            </a:r>
            <a:endParaRPr b="0" i="0" sz="1350" u="none" cap="none" strike="noStrike">
              <a:solidFill>
                <a:schemeClr val="dk1"/>
              </a:solidFill>
              <a:latin typeface="Calibri"/>
              <a:ea typeface="Calibri"/>
              <a:cs typeface="Calibri"/>
              <a:sym typeface="Calibri"/>
            </a:endParaRPr>
          </a:p>
        </p:txBody>
      </p:sp>
      <p:sp>
        <p:nvSpPr>
          <p:cNvPr id="544" name="Google Shape;544;p32"/>
          <p:cNvSpPr/>
          <p:nvPr/>
        </p:nvSpPr>
        <p:spPr>
          <a:xfrm>
            <a:off x="502920" y="3063240"/>
            <a:ext cx="3611880" cy="16002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2"/>
          <p:cNvSpPr/>
          <p:nvPr/>
        </p:nvSpPr>
        <p:spPr>
          <a:xfrm>
            <a:off x="758952" y="3246120"/>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POINTS ON THE CURVE</a:t>
            </a:r>
            <a:endParaRPr b="0" i="0" sz="1550" u="none" cap="none" strike="noStrike">
              <a:solidFill>
                <a:schemeClr val="dk1"/>
              </a:solidFill>
              <a:latin typeface="Calibri"/>
              <a:ea typeface="Calibri"/>
              <a:cs typeface="Calibri"/>
              <a:sym typeface="Calibri"/>
            </a:endParaRPr>
          </a:p>
        </p:txBody>
      </p:sp>
      <p:sp>
        <p:nvSpPr>
          <p:cNvPr id="546" name="Google Shape;546;p32"/>
          <p:cNvSpPr/>
          <p:nvPr/>
        </p:nvSpPr>
        <p:spPr>
          <a:xfrm>
            <a:off x="758952" y="3648456"/>
            <a:ext cx="3099816" cy="77724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EFFICIENT and ATTAINABLE. All resources are fully and best employed. Producing more of one good necessarily requires producing less of the other.</a:t>
            </a:r>
            <a:endParaRPr b="0" i="0" sz="1050" u="none" cap="none" strike="noStrike">
              <a:solidFill>
                <a:schemeClr val="dk1"/>
              </a:solidFill>
              <a:latin typeface="Calibri"/>
              <a:ea typeface="Calibri"/>
              <a:cs typeface="Calibri"/>
              <a:sym typeface="Calibri"/>
            </a:endParaRPr>
          </a:p>
        </p:txBody>
      </p:sp>
      <p:sp>
        <p:nvSpPr>
          <p:cNvPr id="547" name="Google Shape;547;p32"/>
          <p:cNvSpPr/>
          <p:nvPr/>
        </p:nvSpPr>
        <p:spPr>
          <a:xfrm>
            <a:off x="4315968" y="3063240"/>
            <a:ext cx="3611880" cy="16002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2"/>
          <p:cNvSpPr/>
          <p:nvPr/>
        </p:nvSpPr>
        <p:spPr>
          <a:xfrm>
            <a:off x="4572000" y="3246120"/>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POINTS INSIDE THE CURVE</a:t>
            </a:r>
            <a:endParaRPr b="0" i="0" sz="1550" u="none" cap="none" strike="noStrike">
              <a:solidFill>
                <a:schemeClr val="dk1"/>
              </a:solidFill>
              <a:latin typeface="Calibri"/>
              <a:ea typeface="Calibri"/>
              <a:cs typeface="Calibri"/>
              <a:sym typeface="Calibri"/>
            </a:endParaRPr>
          </a:p>
        </p:txBody>
      </p:sp>
      <p:sp>
        <p:nvSpPr>
          <p:cNvPr id="549" name="Google Shape;549;p32"/>
          <p:cNvSpPr/>
          <p:nvPr/>
        </p:nvSpPr>
        <p:spPr>
          <a:xfrm>
            <a:off x="4572000" y="3648456"/>
            <a:ext cx="3099816" cy="77724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ATTAINABLE but INEFFICIENT. Resources are unemployed or misallocated — an economy in recession, idle capital, or underused labor. More of BOTH goods is possible.</a:t>
            </a:r>
            <a:endParaRPr b="0" i="0" sz="1050" u="none" cap="none" strike="noStrike">
              <a:solidFill>
                <a:schemeClr val="dk1"/>
              </a:solidFill>
              <a:latin typeface="Calibri"/>
              <a:ea typeface="Calibri"/>
              <a:cs typeface="Calibri"/>
              <a:sym typeface="Calibri"/>
            </a:endParaRPr>
          </a:p>
        </p:txBody>
      </p:sp>
      <p:sp>
        <p:nvSpPr>
          <p:cNvPr id="550" name="Google Shape;550;p32"/>
          <p:cNvSpPr/>
          <p:nvPr/>
        </p:nvSpPr>
        <p:spPr>
          <a:xfrm>
            <a:off x="8119872" y="3063240"/>
            <a:ext cx="3566160" cy="16002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2"/>
          <p:cNvSpPr/>
          <p:nvPr/>
        </p:nvSpPr>
        <p:spPr>
          <a:xfrm>
            <a:off x="8375904" y="3246120"/>
            <a:ext cx="305409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POINTS OUTSIDE THE CURVE</a:t>
            </a:r>
            <a:endParaRPr b="0" i="0" sz="1550" u="none" cap="none" strike="noStrike">
              <a:solidFill>
                <a:schemeClr val="dk1"/>
              </a:solidFill>
              <a:latin typeface="Calibri"/>
              <a:ea typeface="Calibri"/>
              <a:cs typeface="Calibri"/>
              <a:sym typeface="Calibri"/>
            </a:endParaRPr>
          </a:p>
        </p:txBody>
      </p:sp>
      <p:sp>
        <p:nvSpPr>
          <p:cNvPr id="552" name="Google Shape;552;p32"/>
          <p:cNvSpPr/>
          <p:nvPr/>
        </p:nvSpPr>
        <p:spPr>
          <a:xfrm>
            <a:off x="8375904" y="3648456"/>
            <a:ext cx="3054096" cy="77724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UNATTAINABLE with current resources and technology. Reaching them requires economic GROWTH: new resources, better technology, or a larger labor force.</a:t>
            </a:r>
            <a:endParaRPr b="0" i="0" sz="1050" u="none" cap="none" strike="noStrike">
              <a:solidFill>
                <a:schemeClr val="dk1"/>
              </a:solidFill>
              <a:latin typeface="Calibri"/>
              <a:ea typeface="Calibri"/>
              <a:cs typeface="Calibri"/>
              <a:sym typeface="Calibri"/>
            </a:endParaRPr>
          </a:p>
        </p:txBody>
      </p:sp>
      <p:sp>
        <p:nvSpPr>
          <p:cNvPr id="553" name="Google Shape;553;p32"/>
          <p:cNvSpPr/>
          <p:nvPr/>
        </p:nvSpPr>
        <p:spPr>
          <a:xfrm>
            <a:off x="502920" y="4864608"/>
            <a:ext cx="11183112" cy="123444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2"/>
          <p:cNvSpPr/>
          <p:nvPr/>
        </p:nvSpPr>
        <p:spPr>
          <a:xfrm>
            <a:off x="685800" y="4992624"/>
            <a:ext cx="10817352"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LAW OF INCREASING OPPORTUNITY COST</a:t>
            </a:r>
            <a:endParaRPr b="0" i="0" sz="2200" u="none" cap="none" strike="noStrike">
              <a:solidFill>
                <a:schemeClr val="dk1"/>
              </a:solidFill>
              <a:latin typeface="Calibri"/>
              <a:ea typeface="Calibri"/>
              <a:cs typeface="Calibri"/>
              <a:sym typeface="Calibri"/>
            </a:endParaRPr>
          </a:p>
        </p:txBody>
      </p:sp>
      <p:sp>
        <p:nvSpPr>
          <p:cNvPr id="555" name="Google Shape;555;p32"/>
          <p:cNvSpPr/>
          <p:nvPr/>
        </p:nvSpPr>
        <p:spPr>
          <a:xfrm>
            <a:off x="685800" y="5586984"/>
            <a:ext cx="10817352"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The more you want of good X, the more and more of good Y you must give up — and vice versa.</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ALLEGORY: the mountain gets steeper as you climb, so you must give up more weight to keep going.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33"/>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SCENARIO 1.4 · MESOAMERICA, C. 800 BCE</a:t>
            </a:r>
            <a:endParaRPr b="0" i="0" sz="1100" u="none" cap="none" strike="noStrike">
              <a:solidFill>
                <a:schemeClr val="dk1"/>
              </a:solidFill>
              <a:latin typeface="Calibri"/>
              <a:ea typeface="Calibri"/>
              <a:cs typeface="Calibri"/>
              <a:sym typeface="Calibri"/>
            </a:endParaRPr>
          </a:p>
        </p:txBody>
      </p:sp>
      <p:sp>
        <p:nvSpPr>
          <p:cNvPr id="562" name="Google Shape;562;p33"/>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The People of Olmec — Deriving Opportunity Cost</a:t>
            </a:r>
            <a:endParaRPr b="0" i="0" sz="3000" u="none" cap="none" strike="noStrike">
              <a:solidFill>
                <a:schemeClr val="dk1"/>
              </a:solidFill>
              <a:latin typeface="Calibri"/>
              <a:ea typeface="Calibri"/>
              <a:cs typeface="Calibri"/>
              <a:sym typeface="Calibri"/>
            </a:endParaRPr>
          </a:p>
        </p:txBody>
      </p:sp>
      <p:sp>
        <p:nvSpPr>
          <p:cNvPr id="563" name="Google Shape;563;p33"/>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564" name="Google Shape;564;p33"/>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565" name="Google Shape;565;p33"/>
          <p:cNvSpPr/>
          <p:nvPr/>
        </p:nvSpPr>
        <p:spPr>
          <a:xfrm>
            <a:off x="502920" y="1417320"/>
            <a:ext cx="5440800" cy="685800"/>
          </a:xfrm>
          <a:prstGeom prst="rect">
            <a:avLst/>
          </a:prstGeom>
          <a:noFill/>
          <a:ln>
            <a:noFill/>
          </a:ln>
        </p:spPr>
        <p:txBody>
          <a:bodyPr anchorCtr="0" anchor="ctr" bIns="0" lIns="0" spcFirstLastPara="1" rIns="0" wrap="square" tIns="0">
            <a:noAutofit/>
          </a:bodyPr>
          <a:lstStyle/>
          <a:p>
            <a:pPr indent="0" lvl="0" marL="0" marR="0" rtl="0" algn="l">
              <a:lnSpc>
                <a:spcPct val="148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The Olmecs made strategic production decisions between agriculture (food) and obsidian, a volcanic glass used for tools and trade. With fixed land, labor and technology, each unit of obsidian required diverting resources from agriculture.</a:t>
            </a:r>
            <a:endParaRPr b="0" i="0" sz="1250" u="none" cap="none" strike="noStrike">
              <a:solidFill>
                <a:schemeClr val="dk1"/>
              </a:solidFill>
              <a:latin typeface="Calibri"/>
              <a:ea typeface="Calibri"/>
              <a:cs typeface="Calibri"/>
              <a:sym typeface="Calibri"/>
            </a:endParaRPr>
          </a:p>
        </p:txBody>
      </p:sp>
      <p:graphicFrame>
        <p:nvGraphicFramePr>
          <p:cNvPr id="566" name="Google Shape;566;p33"/>
          <p:cNvGraphicFramePr/>
          <p:nvPr/>
        </p:nvGraphicFramePr>
        <p:xfrm>
          <a:off x="502920" y="2240280"/>
          <a:ext cx="3000000" cy="3000000"/>
        </p:xfrm>
        <a:graphic>
          <a:graphicData uri="http://schemas.openxmlformats.org/drawingml/2006/table">
            <a:tbl>
              <a:tblPr>
                <a:noFill/>
                <a:tableStyleId>{5412CA50-F7BB-49FB-A1FD-1592E326B74B}</a:tableStyleId>
              </a:tblPr>
              <a:tblGrid>
                <a:gridCol w="685800"/>
                <a:gridCol w="960125"/>
                <a:gridCol w="1234450"/>
                <a:gridCol w="1417325"/>
                <a:gridCol w="1143000"/>
              </a:tblGrid>
              <a:tr h="310900">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POINT</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OBSIDIAN</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AGRICULTURE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OC OF 1 MORE OBSIDIAN</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OC OF 1 MORE AGR.</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310900">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A</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100</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10900">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B</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98</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2 tons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0.50 obsidian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10900">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C</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2</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92</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6 tons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0.17 obsidian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10900">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D</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3</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80</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12 tons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0.08 obsidian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10900">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E</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4</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60</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20 tons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0.05 obsidian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10900">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F</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5</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60 tons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0.017 obsidian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
        <p:nvSpPr>
          <p:cNvPr id="567" name="Google Shape;567;p33"/>
          <p:cNvSpPr/>
          <p:nvPr/>
        </p:nvSpPr>
        <p:spPr>
          <a:xfrm>
            <a:off x="502920" y="4617720"/>
            <a:ext cx="5440680" cy="146304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3"/>
          <p:cNvSpPr/>
          <p:nvPr/>
        </p:nvSpPr>
        <p:spPr>
          <a:xfrm>
            <a:off x="758952" y="4745736"/>
            <a:ext cx="49286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WHERE THE MATH LIVES</a:t>
            </a:r>
            <a:endParaRPr b="0" i="0" sz="1050" u="none" cap="none" strike="noStrike">
              <a:solidFill>
                <a:schemeClr val="dk1"/>
              </a:solidFill>
              <a:latin typeface="Calibri"/>
              <a:ea typeface="Calibri"/>
              <a:cs typeface="Calibri"/>
              <a:sym typeface="Calibri"/>
            </a:endParaRPr>
          </a:p>
        </p:txBody>
      </p:sp>
      <p:sp>
        <p:nvSpPr>
          <p:cNvPr id="569" name="Google Shape;569;p33"/>
          <p:cNvSpPr/>
          <p:nvPr/>
        </p:nvSpPr>
        <p:spPr>
          <a:xfrm>
            <a:off x="758952" y="5020056"/>
            <a:ext cx="4928616" cy="896112"/>
          </a:xfrm>
          <a:prstGeom prst="rect">
            <a:avLst/>
          </a:prstGeom>
          <a:noFill/>
          <a:ln>
            <a:noFill/>
          </a:ln>
        </p:spPr>
        <p:txBody>
          <a:bodyPr anchorCtr="0" anchor="t" bIns="0" lIns="0" spcFirstLastPara="1" rIns="0" wrap="square" tIns="0">
            <a:noAutofit/>
          </a:bodyPr>
          <a:lstStyle/>
          <a:p>
            <a:pPr indent="0" lvl="0" marL="0" marR="0" rtl="0" algn="l">
              <a:lnSpc>
                <a:spcPct val="13913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LOOK TO THE MARGINS OF THE TABLE. Opportunity cost is the vertical change ÷ the horizontal change between adjacent rows — the slope. OC of obsidian rises 2 → 6 → 12 → 20 → 60. That rise IS the law of increasing opportunity cost, and it is why the curve bows outward.</a:t>
            </a:r>
            <a:endParaRPr b="0" i="0" sz="1150" u="none" cap="none" strike="noStrike">
              <a:solidFill>
                <a:schemeClr val="dk1"/>
              </a:solidFill>
              <a:latin typeface="Calibri"/>
              <a:ea typeface="Calibri"/>
              <a:cs typeface="Calibri"/>
              <a:sym typeface="Calibri"/>
            </a:endParaRPr>
          </a:p>
        </p:txBody>
      </p:sp>
      <p:pic>
        <p:nvPicPr>
          <p:cNvPr descr="figs/m1_olmec.png" id="570" name="Google Shape;570;p33"/>
          <p:cNvPicPr preferRelativeResize="0"/>
          <p:nvPr/>
        </p:nvPicPr>
        <p:blipFill rotWithShape="1">
          <a:blip r:embed="rId3">
            <a:alphaModFix/>
          </a:blip>
          <a:srcRect b="0" l="0" r="0" t="0"/>
          <a:stretch/>
        </p:blipFill>
        <p:spPr>
          <a:xfrm>
            <a:off x="6263640" y="1579796"/>
            <a:ext cx="5440680" cy="3378368"/>
          </a:xfrm>
          <a:prstGeom prst="rect">
            <a:avLst/>
          </a:prstGeom>
          <a:noFill/>
          <a:ln>
            <a:noFill/>
          </a:ln>
        </p:spPr>
      </p:pic>
      <p:sp>
        <p:nvSpPr>
          <p:cNvPr id="571" name="Google Shape;571;p33"/>
          <p:cNvSpPr/>
          <p:nvPr/>
        </p:nvSpPr>
        <p:spPr>
          <a:xfrm>
            <a:off x="6263640" y="5303520"/>
            <a:ext cx="5440680" cy="82296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4A6180"/>
              </a:buClr>
              <a:buSzPts val="1100"/>
              <a:buFont typeface="Calibri"/>
              <a:buNone/>
            </a:pPr>
            <a:r>
              <a:rPr b="0" i="1" lang="en-US" sz="1100" u="none" cap="none" strike="noStrike">
                <a:solidFill>
                  <a:srgbClr val="4A6180"/>
                </a:solidFill>
                <a:latin typeface="Calibri"/>
                <a:ea typeface="Calibri"/>
                <a:cs typeface="Calibri"/>
                <a:sym typeface="Calibri"/>
              </a:rPr>
              <a:t>✦5  Why does the PPM bow outward rather than appear as a straight line? Because resources are NOT perfectly adaptable between uses — the land and labor best suited to obsidian are drawn in first, and each further unit must draw on resources progressively better suited to agriculture.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34"/>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5 · ECONOMIC GROWTH</a:t>
            </a:r>
            <a:endParaRPr b="0" i="0" sz="1100" u="none" cap="none" strike="noStrike">
              <a:solidFill>
                <a:schemeClr val="dk1"/>
              </a:solidFill>
              <a:latin typeface="Calibri"/>
              <a:ea typeface="Calibri"/>
              <a:cs typeface="Calibri"/>
              <a:sym typeface="Calibri"/>
            </a:endParaRPr>
          </a:p>
        </p:txBody>
      </p:sp>
      <p:sp>
        <p:nvSpPr>
          <p:cNvPr id="578" name="Google Shape;578;p34"/>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Shifting the Production Possibilities Curve</a:t>
            </a:r>
            <a:endParaRPr b="0" i="0" sz="3000" u="none" cap="none" strike="noStrike">
              <a:solidFill>
                <a:schemeClr val="dk1"/>
              </a:solidFill>
              <a:latin typeface="Calibri"/>
              <a:ea typeface="Calibri"/>
              <a:cs typeface="Calibri"/>
              <a:sym typeface="Calibri"/>
            </a:endParaRPr>
          </a:p>
        </p:txBody>
      </p:sp>
      <p:sp>
        <p:nvSpPr>
          <p:cNvPr id="579" name="Google Shape;579;p34"/>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580" name="Google Shape;580;p34"/>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pic>
        <p:nvPicPr>
          <p:cNvPr descr="figs/m1_ppcshift.png" id="581" name="Google Shape;581;p34"/>
          <p:cNvPicPr preferRelativeResize="0"/>
          <p:nvPr/>
        </p:nvPicPr>
        <p:blipFill rotWithShape="1">
          <a:blip r:embed="rId3">
            <a:alphaModFix/>
          </a:blip>
          <a:srcRect b="0" l="0" r="0" t="0"/>
          <a:stretch/>
        </p:blipFill>
        <p:spPr>
          <a:xfrm>
            <a:off x="548640" y="1438696"/>
            <a:ext cx="5852160" cy="3907456"/>
          </a:xfrm>
          <a:prstGeom prst="rect">
            <a:avLst/>
          </a:prstGeom>
          <a:noFill/>
          <a:ln>
            <a:noFill/>
          </a:ln>
        </p:spPr>
      </p:pic>
      <p:sp>
        <p:nvSpPr>
          <p:cNvPr id="582" name="Google Shape;582;p34"/>
          <p:cNvSpPr/>
          <p:nvPr/>
        </p:nvSpPr>
        <p:spPr>
          <a:xfrm>
            <a:off x="6675120" y="1463040"/>
            <a:ext cx="5010912" cy="178308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4"/>
          <p:cNvSpPr/>
          <p:nvPr/>
        </p:nvSpPr>
        <p:spPr>
          <a:xfrm>
            <a:off x="6931152" y="1645920"/>
            <a:ext cx="44988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SHIFTS OUTWARD WHEN…</a:t>
            </a:r>
            <a:endParaRPr b="0" i="0" sz="1550" u="none" cap="none" strike="noStrike">
              <a:solidFill>
                <a:schemeClr val="dk1"/>
              </a:solidFill>
              <a:latin typeface="Calibri"/>
              <a:ea typeface="Calibri"/>
              <a:cs typeface="Calibri"/>
              <a:sym typeface="Calibri"/>
            </a:endParaRPr>
          </a:p>
        </p:txBody>
      </p:sp>
      <p:sp>
        <p:nvSpPr>
          <p:cNvPr id="584" name="Google Shape;584;p34"/>
          <p:cNvSpPr/>
          <p:nvPr/>
        </p:nvSpPr>
        <p:spPr>
          <a:xfrm>
            <a:off x="6931152" y="2048256"/>
            <a:ext cx="4498848" cy="9601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(1) New resources are discovered or acquired — land, mineral deposits, water.</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(2) Technology improves — the same inputs yield more output.</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(3) The labor force grows, in size or in human capital.</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(4) Capital accumulates through investment.</a:t>
            </a:r>
            <a:endParaRPr b="0" i="0" sz="1050" u="none" cap="none" strike="noStrike">
              <a:solidFill>
                <a:schemeClr val="dk1"/>
              </a:solidFill>
              <a:latin typeface="Calibri"/>
              <a:ea typeface="Calibri"/>
              <a:cs typeface="Calibri"/>
              <a:sym typeface="Calibri"/>
            </a:endParaRPr>
          </a:p>
        </p:txBody>
      </p:sp>
      <p:sp>
        <p:nvSpPr>
          <p:cNvPr id="585" name="Google Shape;585;p34"/>
          <p:cNvSpPr/>
          <p:nvPr/>
        </p:nvSpPr>
        <p:spPr>
          <a:xfrm>
            <a:off x="6675120" y="3383280"/>
            <a:ext cx="5010912" cy="141732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4"/>
          <p:cNvSpPr/>
          <p:nvPr/>
        </p:nvSpPr>
        <p:spPr>
          <a:xfrm>
            <a:off x="6931152" y="3566160"/>
            <a:ext cx="44988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SHIFTS INWARD WHEN…</a:t>
            </a:r>
            <a:endParaRPr b="0" i="0" sz="1550" u="none" cap="none" strike="noStrike">
              <a:solidFill>
                <a:schemeClr val="dk1"/>
              </a:solidFill>
              <a:latin typeface="Calibri"/>
              <a:ea typeface="Calibri"/>
              <a:cs typeface="Calibri"/>
              <a:sym typeface="Calibri"/>
            </a:endParaRPr>
          </a:p>
        </p:txBody>
      </p:sp>
      <p:sp>
        <p:nvSpPr>
          <p:cNvPr id="587" name="Google Shape;587;p34"/>
          <p:cNvSpPr/>
          <p:nvPr/>
        </p:nvSpPr>
        <p:spPr>
          <a:xfrm>
            <a:off x="6931152" y="3968496"/>
            <a:ext cx="4498848" cy="59436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Resources are destroyed or lost: drought destroying farmland, war, epidemic, capital depreciation without replacement. Worksheet: a drought destroys 20% of Olmec farmland — show it.</a:t>
            </a:r>
            <a:endParaRPr b="0" i="0" sz="1050" u="none" cap="none" strike="noStrike">
              <a:solidFill>
                <a:schemeClr val="dk1"/>
              </a:solidFill>
              <a:latin typeface="Calibri"/>
              <a:ea typeface="Calibri"/>
              <a:cs typeface="Calibri"/>
              <a:sym typeface="Calibri"/>
            </a:endParaRPr>
          </a:p>
        </p:txBody>
      </p:sp>
      <p:sp>
        <p:nvSpPr>
          <p:cNvPr id="588" name="Google Shape;588;p34"/>
          <p:cNvSpPr/>
          <p:nvPr/>
        </p:nvSpPr>
        <p:spPr>
          <a:xfrm>
            <a:off x="6675120" y="4937760"/>
            <a:ext cx="5010912" cy="118872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4"/>
          <p:cNvSpPr/>
          <p:nvPr/>
        </p:nvSpPr>
        <p:spPr>
          <a:xfrm>
            <a:off x="6931152" y="5065776"/>
            <a:ext cx="4498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CAREFUL — A DISTINCTION WE WILL REUSE</a:t>
            </a:r>
            <a:endParaRPr b="0" i="0" sz="1050" u="none" cap="none" strike="noStrike">
              <a:solidFill>
                <a:schemeClr val="dk1"/>
              </a:solidFill>
              <a:latin typeface="Calibri"/>
              <a:ea typeface="Calibri"/>
              <a:cs typeface="Calibri"/>
              <a:sym typeface="Calibri"/>
            </a:endParaRPr>
          </a:p>
        </p:txBody>
      </p:sp>
      <p:sp>
        <p:nvSpPr>
          <p:cNvPr id="590" name="Google Shape;590;p34"/>
          <p:cNvSpPr/>
          <p:nvPr/>
        </p:nvSpPr>
        <p:spPr>
          <a:xfrm>
            <a:off x="6931152" y="5340096"/>
            <a:ext cx="4498848" cy="621792"/>
          </a:xfrm>
          <a:prstGeom prst="rect">
            <a:avLst/>
          </a:prstGeom>
          <a:noFill/>
          <a:ln>
            <a:noFill/>
          </a:ln>
        </p:spPr>
        <p:txBody>
          <a:bodyPr anchorCtr="0" anchor="t" bIns="0" lIns="0" spcFirstLastPara="1" rIns="0" wrap="square" tIns="0">
            <a:noAutofit/>
          </a:bodyPr>
          <a:lstStyle/>
          <a:p>
            <a:pPr indent="0" lvl="0" marL="0" marR="0" rtl="0" algn="l">
              <a:lnSpc>
                <a:spcPct val="145454"/>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MOVING ALONG the curve is reallocation. SHIFTING the curve is growth. Confusing the two is the single most common error on Module 1 assessments.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35"/>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SCENARIO 1.5 · CARIBBEAN BASIN, C. 350 BCE</a:t>
            </a:r>
            <a:endParaRPr b="0" i="0" sz="1100" u="none" cap="none" strike="noStrike">
              <a:solidFill>
                <a:schemeClr val="dk1"/>
              </a:solidFill>
              <a:latin typeface="Calibri"/>
              <a:ea typeface="Calibri"/>
              <a:cs typeface="Calibri"/>
              <a:sym typeface="Calibri"/>
            </a:endParaRPr>
          </a:p>
        </p:txBody>
      </p:sp>
      <p:sp>
        <p:nvSpPr>
          <p:cNvPr id="597" name="Google Shape;597;p35"/>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Early Saladoid Settlements</a:t>
            </a:r>
            <a:endParaRPr b="0" i="0" sz="3000" u="none" cap="none" strike="noStrike">
              <a:solidFill>
                <a:schemeClr val="dk1"/>
              </a:solidFill>
              <a:latin typeface="Calibri"/>
              <a:ea typeface="Calibri"/>
              <a:cs typeface="Calibri"/>
              <a:sym typeface="Calibri"/>
            </a:endParaRPr>
          </a:p>
        </p:txBody>
      </p:sp>
      <p:sp>
        <p:nvSpPr>
          <p:cNvPr id="598" name="Google Shape;598;p35"/>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599" name="Google Shape;599;p35"/>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600" name="Google Shape;600;p35"/>
          <p:cNvSpPr/>
          <p:nvPr/>
        </p:nvSpPr>
        <p:spPr>
          <a:xfrm>
            <a:off x="502925" y="1417325"/>
            <a:ext cx="5598600" cy="731400"/>
          </a:xfrm>
          <a:prstGeom prst="rect">
            <a:avLst/>
          </a:prstGeom>
          <a:noFill/>
          <a:ln>
            <a:noFill/>
          </a:ln>
        </p:spPr>
        <p:txBody>
          <a:bodyPr anchorCtr="0" anchor="ctr" bIns="0" lIns="0" spcFirstLastPara="1" rIns="0" wrap="square" tIns="0">
            <a:noAutofit/>
          </a:bodyPr>
          <a:lstStyle/>
          <a:p>
            <a:pPr indent="0" lvl="0" marL="0" marR="0" rtl="0" algn="l">
              <a:lnSpc>
                <a:spcPct val="148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The early Saladoid culture made production decisions between agriculture (food crops) and ceramics (pottery for trade and storage). Their ceramic tradition was remarkable for its quality — but every hour spent on pottery was an hour away from farming.</a:t>
            </a:r>
            <a:endParaRPr b="0" i="0" sz="1250" u="none" cap="none" strike="noStrike">
              <a:solidFill>
                <a:schemeClr val="dk1"/>
              </a:solidFill>
              <a:latin typeface="Calibri"/>
              <a:ea typeface="Calibri"/>
              <a:cs typeface="Calibri"/>
              <a:sym typeface="Calibri"/>
            </a:endParaRPr>
          </a:p>
        </p:txBody>
      </p:sp>
      <p:graphicFrame>
        <p:nvGraphicFramePr>
          <p:cNvPr id="601" name="Google Shape;601;p35"/>
          <p:cNvGraphicFramePr/>
          <p:nvPr/>
        </p:nvGraphicFramePr>
        <p:xfrm>
          <a:off x="502920" y="2286000"/>
          <a:ext cx="3000000" cy="3000000"/>
        </p:xfrm>
        <a:graphic>
          <a:graphicData uri="http://schemas.openxmlformats.org/drawingml/2006/table">
            <a:tbl>
              <a:tblPr>
                <a:noFill/>
                <a:tableStyleId>{5412CA50-F7BB-49FB-A1FD-1592E326B74B}</a:tableStyleId>
              </a:tblPr>
              <a:tblGrid>
                <a:gridCol w="868675"/>
                <a:gridCol w="1280150"/>
                <a:gridCol w="1554475"/>
                <a:gridCol w="1737350"/>
              </a:tblGrid>
              <a:tr h="329175">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POINT</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CERAMICS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AGRICULTURE</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ΔAGR PER 10 CERAMICS</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329175">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A</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80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29175">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B</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70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10 tons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29175">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C</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50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20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5 tons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329175">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D</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20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3.3 tons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329175">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E</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40</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50"/>
                        <a:buFont typeface="Calibri"/>
                        <a:buNone/>
                      </a:pPr>
                      <a:r>
                        <a:rPr lang="en-US" sz="1050" u="none" cap="none" strike="noStrike">
                          <a:solidFill>
                            <a:srgbClr val="1A2E4A"/>
                          </a:solidFill>
                          <a:latin typeface="Calibri"/>
                          <a:ea typeface="Calibri"/>
                          <a:cs typeface="Calibri"/>
                          <a:sym typeface="Calibri"/>
                        </a:rPr>
                        <a:t>5 tons</a:t>
                      </a:r>
                      <a:endParaRPr sz="10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bl>
          </a:graphicData>
        </a:graphic>
      </p:graphicFrame>
      <p:sp>
        <p:nvSpPr>
          <p:cNvPr id="602" name="Google Shape;602;p35"/>
          <p:cNvSpPr/>
          <p:nvPr/>
        </p:nvSpPr>
        <p:spPr>
          <a:xfrm>
            <a:off x="502920" y="4434840"/>
            <a:ext cx="5440680" cy="16916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5"/>
          <p:cNvSpPr/>
          <p:nvPr/>
        </p:nvSpPr>
        <p:spPr>
          <a:xfrm>
            <a:off x="758952" y="4617720"/>
            <a:ext cx="49286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READ THE TABLE IN THE OTHER DIRECTION</a:t>
            </a:r>
            <a:endParaRPr b="0" i="0" sz="1550" u="none" cap="none" strike="noStrike">
              <a:solidFill>
                <a:schemeClr val="dk1"/>
              </a:solidFill>
              <a:latin typeface="Calibri"/>
              <a:ea typeface="Calibri"/>
              <a:cs typeface="Calibri"/>
              <a:sym typeface="Calibri"/>
            </a:endParaRPr>
          </a:p>
        </p:txBody>
      </p:sp>
      <p:sp>
        <p:nvSpPr>
          <p:cNvPr id="604" name="Google Shape;604;p35"/>
          <p:cNvSpPr/>
          <p:nvPr/>
        </p:nvSpPr>
        <p:spPr>
          <a:xfrm>
            <a:off x="758952" y="5020056"/>
            <a:ext cx="4928616" cy="86868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A → B: 10 more ceramics costs 10 tons of agriculture.</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C → D: moving from C to D gains 10 tons of agriculture but costs 30 ceramics.</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Ask the worksheet's question precisely: as the Saladoid produce MORE CERAMICS (moving E → A), does each additional ceramic cost more or less agriculture? Track the direction of travel before you compute.</a:t>
            </a:r>
            <a:endParaRPr b="0" i="0" sz="850" u="none" cap="none" strike="noStrike">
              <a:solidFill>
                <a:schemeClr val="dk1"/>
              </a:solidFill>
              <a:latin typeface="Calibri"/>
              <a:ea typeface="Calibri"/>
              <a:cs typeface="Calibri"/>
              <a:sym typeface="Calibri"/>
            </a:endParaRPr>
          </a:p>
        </p:txBody>
      </p:sp>
      <p:pic>
        <p:nvPicPr>
          <p:cNvPr descr="figs/m1_saladoid.png" id="605" name="Google Shape;605;p35"/>
          <p:cNvPicPr preferRelativeResize="0"/>
          <p:nvPr/>
        </p:nvPicPr>
        <p:blipFill rotWithShape="1">
          <a:blip r:embed="rId3">
            <a:alphaModFix/>
          </a:blip>
          <a:srcRect b="0" l="0" r="0" t="0"/>
          <a:stretch/>
        </p:blipFill>
        <p:spPr>
          <a:xfrm>
            <a:off x="6263640" y="1530347"/>
            <a:ext cx="5440680" cy="363271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36"/>
          <p:cNvSpPr/>
          <p:nvPr/>
        </p:nvSpPr>
        <p:spPr>
          <a:xfrm>
            <a:off x="0" y="0"/>
            <a:ext cx="4160520" cy="685800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6"/>
          <p:cNvSpPr/>
          <p:nvPr/>
        </p:nvSpPr>
        <p:spPr>
          <a:xfrm>
            <a:off x="685800" y="1965960"/>
            <a:ext cx="29260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3000"/>
              <a:buFont typeface="Cambria"/>
              <a:buNone/>
            </a:pPr>
            <a:r>
              <a:rPr b="1" i="0" lang="en-US" sz="13000" u="none" cap="none" strike="noStrike">
                <a:solidFill>
                  <a:srgbClr val="C0892E"/>
                </a:solidFill>
                <a:latin typeface="Cambria"/>
                <a:ea typeface="Cambria"/>
                <a:cs typeface="Cambria"/>
                <a:sym typeface="Cambria"/>
              </a:rPr>
              <a:t>06</a:t>
            </a:r>
            <a:endParaRPr b="0" i="0" sz="13000" u="none" cap="none" strike="noStrike">
              <a:solidFill>
                <a:schemeClr val="dk1"/>
              </a:solidFill>
              <a:latin typeface="Calibri"/>
              <a:ea typeface="Calibri"/>
              <a:cs typeface="Calibri"/>
              <a:sym typeface="Calibri"/>
            </a:endParaRPr>
          </a:p>
        </p:txBody>
      </p:sp>
      <p:sp>
        <p:nvSpPr>
          <p:cNvPr id="613" name="Google Shape;613;p36"/>
          <p:cNvSpPr/>
          <p:nvPr/>
        </p:nvSpPr>
        <p:spPr>
          <a:xfrm>
            <a:off x="777240" y="3703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1400"/>
              <a:buFont typeface="Calibri"/>
              <a:buNone/>
            </a:pPr>
            <a:r>
              <a:rPr b="1" i="0" lang="en-US" sz="1400" u="none" cap="none" strike="noStrike">
                <a:solidFill>
                  <a:srgbClr val="4A6180"/>
                </a:solidFill>
                <a:latin typeface="Calibri"/>
                <a:ea typeface="Calibri"/>
                <a:cs typeface="Calibri"/>
                <a:sym typeface="Calibri"/>
              </a:rPr>
              <a:t>PART</a:t>
            </a:r>
            <a:endParaRPr b="0" i="0" sz="1400" u="none" cap="none" strike="noStrike">
              <a:solidFill>
                <a:schemeClr val="dk1"/>
              </a:solidFill>
              <a:latin typeface="Calibri"/>
              <a:ea typeface="Calibri"/>
              <a:cs typeface="Calibri"/>
              <a:sym typeface="Calibri"/>
            </a:endParaRPr>
          </a:p>
        </p:txBody>
      </p:sp>
      <p:sp>
        <p:nvSpPr>
          <p:cNvPr id="614" name="Google Shape;614;p36"/>
          <p:cNvSpPr/>
          <p:nvPr/>
        </p:nvSpPr>
        <p:spPr>
          <a:xfrm>
            <a:off x="4937760" y="1965960"/>
            <a:ext cx="6675120" cy="1554480"/>
          </a:xfrm>
          <a:prstGeom prst="rect">
            <a:avLst/>
          </a:prstGeom>
          <a:noFill/>
          <a:ln>
            <a:noFill/>
          </a:ln>
        </p:spPr>
        <p:txBody>
          <a:bodyPr anchorCtr="0" anchor="b" bIns="0" lIns="0" spcFirstLastPara="1" rIns="0" wrap="square" tIns="0">
            <a:noAutofit/>
          </a:bodyPr>
          <a:lstStyle/>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Model Two Producers:</a:t>
            </a:r>
            <a:endParaRPr b="0" i="0" sz="3300" u="none" cap="none" strike="noStrike">
              <a:solidFill>
                <a:schemeClr val="dk1"/>
              </a:solidFill>
              <a:latin typeface="Calibri"/>
              <a:ea typeface="Calibri"/>
              <a:cs typeface="Calibri"/>
              <a:sym typeface="Calibri"/>
            </a:endParaRPr>
          </a:p>
          <a:p>
            <a:pPr indent="0" lvl="0" marL="0" marR="0" rtl="0" algn="l">
              <a:lnSpc>
                <a:spcPct val="121212"/>
              </a:lnSpc>
              <a:spcBef>
                <a:spcPts val="0"/>
              </a:spcBef>
              <a:spcAft>
                <a:spcPts val="0"/>
              </a:spcAft>
              <a:buClr>
                <a:srgbClr val="1A2E4A"/>
              </a:buClr>
              <a:buSzPts val="3300"/>
              <a:buFont typeface="Cambria"/>
              <a:buNone/>
            </a:pPr>
            <a:r>
              <a:rPr b="1" i="0" lang="en-US" sz="3300" u="none" cap="none" strike="noStrike">
                <a:solidFill>
                  <a:srgbClr val="1A2E4A"/>
                </a:solidFill>
                <a:latin typeface="Cambria"/>
                <a:ea typeface="Cambria"/>
                <a:cs typeface="Cambria"/>
                <a:sym typeface="Cambria"/>
              </a:rPr>
              <a:t>Comparative Advantage &amp; Trade</a:t>
            </a:r>
            <a:endParaRPr b="0" i="0" sz="3300" u="none" cap="none" strike="noStrike">
              <a:solidFill>
                <a:schemeClr val="dk1"/>
              </a:solidFill>
              <a:latin typeface="Calibri"/>
              <a:ea typeface="Calibri"/>
              <a:cs typeface="Calibri"/>
              <a:sym typeface="Calibri"/>
            </a:endParaRPr>
          </a:p>
        </p:txBody>
      </p:sp>
      <p:sp>
        <p:nvSpPr>
          <p:cNvPr id="615" name="Google Shape;615;p36"/>
          <p:cNvSpPr/>
          <p:nvPr/>
        </p:nvSpPr>
        <p:spPr>
          <a:xfrm>
            <a:off x="4937760" y="3657600"/>
            <a:ext cx="6675120" cy="155448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C0892E"/>
              </a:buClr>
              <a:buSzPts val="1200"/>
              <a:buFont typeface="Calibri"/>
              <a:buNone/>
            </a:pPr>
            <a:r>
              <a:rPr b="1" i="0" lang="en-US" sz="1200" u="none" cap="none" strike="noStrike">
                <a:solidFill>
                  <a:srgbClr val="C0892E"/>
                </a:solidFill>
                <a:latin typeface="Calibri"/>
                <a:ea typeface="Calibri"/>
                <a:cs typeface="Calibri"/>
                <a:sym typeface="Calibri"/>
              </a:rPr>
              <a:t>OBJECTIVE   </a:t>
            </a:r>
            <a:r>
              <a:rPr b="0" i="0" lang="en-US" sz="1500" u="none" cap="none" strike="noStrike">
                <a:solidFill>
                  <a:srgbClr val="4A6180"/>
                </a:solidFill>
                <a:latin typeface="Calibri"/>
                <a:ea typeface="Calibri"/>
                <a:cs typeface="Calibri"/>
                <a:sym typeface="Calibri"/>
              </a:rPr>
              <a:t>Use PPM data to calculate opportunity costs, identify comparative advantage, and demonstrate that both parties gain from specialization and trade.</a:t>
            </a:r>
            <a:endParaRPr b="0" i="0" sz="1200" u="none" cap="none" strike="noStrike">
              <a:solidFill>
                <a:schemeClr val="dk1"/>
              </a:solidFill>
              <a:latin typeface="Calibri"/>
              <a:ea typeface="Calibri"/>
              <a:cs typeface="Calibri"/>
              <a:sym typeface="Calibri"/>
            </a:endParaRPr>
          </a:p>
        </p:txBody>
      </p:sp>
      <p:sp>
        <p:nvSpPr>
          <p:cNvPr id="616" name="Google Shape;616;p36"/>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617" name="Google Shape;617;p36"/>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2" name="Shape 622"/>
        <p:cNvGrpSpPr/>
        <p:nvPr/>
      </p:nvGrpSpPr>
      <p:grpSpPr>
        <a:xfrm>
          <a:off x="0" y="0"/>
          <a:ext cx="0" cy="0"/>
          <a:chOff x="0" y="0"/>
          <a:chExt cx="0" cy="0"/>
        </a:xfrm>
      </p:grpSpPr>
      <p:sp>
        <p:nvSpPr>
          <p:cNvPr id="623" name="Google Shape;623;p37"/>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6 · LIMITED RESOURCES | LIMITED TECHNOLOGY | UNLIMITED DESIRES</a:t>
            </a:r>
            <a:endParaRPr b="0" i="0" sz="1100" u="none" cap="none" strike="noStrike">
              <a:solidFill>
                <a:schemeClr val="dk1"/>
              </a:solidFill>
              <a:latin typeface="Calibri"/>
              <a:ea typeface="Calibri"/>
              <a:cs typeface="Calibri"/>
              <a:sym typeface="Calibri"/>
            </a:endParaRPr>
          </a:p>
        </p:txBody>
      </p:sp>
      <p:sp>
        <p:nvSpPr>
          <p:cNvPr id="624" name="Google Shape;624;p37"/>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Comparative Advantage — Conceptual Narrative</a:t>
            </a:r>
            <a:endParaRPr b="0" i="0" sz="3000" u="none" cap="none" strike="noStrike">
              <a:solidFill>
                <a:schemeClr val="dk1"/>
              </a:solidFill>
              <a:latin typeface="Calibri"/>
              <a:ea typeface="Calibri"/>
              <a:cs typeface="Calibri"/>
              <a:sym typeface="Calibri"/>
            </a:endParaRPr>
          </a:p>
        </p:txBody>
      </p:sp>
      <p:sp>
        <p:nvSpPr>
          <p:cNvPr id="625" name="Google Shape;625;p37"/>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626" name="Google Shape;626;p37"/>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627" name="Google Shape;627;p37"/>
          <p:cNvSpPr/>
          <p:nvPr/>
        </p:nvSpPr>
        <p:spPr>
          <a:xfrm>
            <a:off x="502920" y="1417320"/>
            <a:ext cx="11183112" cy="6858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7"/>
          <p:cNvSpPr/>
          <p:nvPr/>
        </p:nvSpPr>
        <p:spPr>
          <a:xfrm>
            <a:off x="758952" y="154533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LEADING QUESTION</a:t>
            </a:r>
            <a:endParaRPr b="0" i="0" sz="1050" u="none" cap="none" strike="noStrike">
              <a:solidFill>
                <a:schemeClr val="dk1"/>
              </a:solidFill>
              <a:latin typeface="Calibri"/>
              <a:ea typeface="Calibri"/>
              <a:cs typeface="Calibri"/>
              <a:sym typeface="Calibri"/>
            </a:endParaRPr>
          </a:p>
        </p:txBody>
      </p:sp>
      <p:sp>
        <p:nvSpPr>
          <p:cNvPr id="629" name="Google Shape;629;p37"/>
          <p:cNvSpPr/>
          <p:nvPr/>
        </p:nvSpPr>
        <p:spPr>
          <a:xfrm>
            <a:off x="758952" y="1819656"/>
            <a:ext cx="10671048" cy="11887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How does a producer choose between two goods when they have the option to specialize in one and trade for the other?</a:t>
            </a:r>
            <a:endParaRPr b="0" i="0" sz="1000" u="none" cap="none" strike="noStrike">
              <a:solidFill>
                <a:schemeClr val="dk1"/>
              </a:solidFill>
              <a:latin typeface="Calibri"/>
              <a:ea typeface="Calibri"/>
              <a:cs typeface="Calibri"/>
              <a:sym typeface="Calibri"/>
            </a:endParaRPr>
          </a:p>
        </p:txBody>
      </p:sp>
      <p:sp>
        <p:nvSpPr>
          <p:cNvPr id="630" name="Google Shape;630;p37"/>
          <p:cNvSpPr/>
          <p:nvPr/>
        </p:nvSpPr>
        <p:spPr>
          <a:xfrm>
            <a:off x="502920" y="2267712"/>
            <a:ext cx="11155680" cy="868680"/>
          </a:xfrm>
          <a:prstGeom prst="rect">
            <a:avLst/>
          </a:prstGeom>
          <a:noFill/>
          <a:ln>
            <a:noFill/>
          </a:ln>
        </p:spPr>
        <p:txBody>
          <a:bodyPr anchorCtr="0" anchor="ctr" bIns="0" lIns="0" spcFirstLastPara="1" rIns="0" wrap="square" tIns="0">
            <a:noAutofit/>
          </a:bodyPr>
          <a:lstStyle/>
          <a:p>
            <a:pPr indent="0" lvl="0" marL="0" marR="0" rtl="0" algn="l">
              <a:lnSpc>
                <a:spcPct val="155555"/>
              </a:lnSpc>
              <a:spcBef>
                <a:spcPts val="0"/>
              </a:spcBef>
              <a:spcAft>
                <a:spcPts val="0"/>
              </a:spcAft>
              <a:buClr>
                <a:srgbClr val="4A6180"/>
              </a:buClr>
              <a:buSzPts val="1350"/>
              <a:buFont typeface="Calibri"/>
              <a:buNone/>
            </a:pPr>
            <a:r>
              <a:rPr b="0" i="0" lang="en-US" sz="1350" u="none" cap="none" strike="noStrike">
                <a:solidFill>
                  <a:srgbClr val="4A6180"/>
                </a:solidFill>
                <a:latin typeface="Calibri"/>
                <a:ea typeface="Calibri"/>
                <a:cs typeface="Calibri"/>
                <a:sym typeface="Calibri"/>
              </a:rPr>
              <a:t>If two producers make a good and trade is possible, we must look to their OPPORTUNITY COSTS to understand who should produce what. The key: the producer with the lower opportunity cost — not merely the one who makes the most — should specialize in that good and trade for the other. Focus your work on the goods that require you to give up the least, and trade for the rest. This creates an overall GAIN FROM TRADE, where total output has increased globally.</a:t>
            </a:r>
            <a:endParaRPr b="0" i="0" sz="1350" u="none" cap="none" strike="noStrike">
              <a:solidFill>
                <a:schemeClr val="dk1"/>
              </a:solidFill>
              <a:latin typeface="Calibri"/>
              <a:ea typeface="Calibri"/>
              <a:cs typeface="Calibri"/>
              <a:sym typeface="Calibri"/>
            </a:endParaRPr>
          </a:p>
        </p:txBody>
      </p:sp>
      <p:sp>
        <p:nvSpPr>
          <p:cNvPr id="631" name="Google Shape;631;p37"/>
          <p:cNvSpPr/>
          <p:nvPr/>
        </p:nvSpPr>
        <p:spPr>
          <a:xfrm>
            <a:off x="502920" y="3246120"/>
            <a:ext cx="5486400" cy="13716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7"/>
          <p:cNvSpPr/>
          <p:nvPr/>
        </p:nvSpPr>
        <p:spPr>
          <a:xfrm>
            <a:off x="758952" y="342900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ABSOLUTE ADVANTAGE</a:t>
            </a:r>
            <a:endParaRPr b="0" i="0" sz="1550" u="none" cap="none" strike="noStrike">
              <a:solidFill>
                <a:schemeClr val="dk1"/>
              </a:solidFill>
              <a:latin typeface="Calibri"/>
              <a:ea typeface="Calibri"/>
              <a:cs typeface="Calibri"/>
              <a:sym typeface="Calibri"/>
            </a:endParaRPr>
          </a:p>
        </p:txBody>
      </p:sp>
      <p:sp>
        <p:nvSpPr>
          <p:cNvPr id="633" name="Google Shape;633;p37"/>
          <p:cNvSpPr/>
          <p:nvPr/>
        </p:nvSpPr>
        <p:spPr>
          <a:xfrm>
            <a:off x="758952" y="3831336"/>
            <a:ext cx="4974336" cy="54864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The ability to produce a GREATER QUANTITY of a good using the same quantity of resources — or the same quantity using fewer resources. It is a statement about productivity.</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GRAPHICALLY: whose intercept is higher on that good's axis?</a:t>
            </a:r>
            <a:endParaRPr b="0" i="0" sz="850" u="none" cap="none" strike="noStrike">
              <a:solidFill>
                <a:schemeClr val="dk1"/>
              </a:solidFill>
              <a:latin typeface="Calibri"/>
              <a:ea typeface="Calibri"/>
              <a:cs typeface="Calibri"/>
              <a:sym typeface="Calibri"/>
            </a:endParaRPr>
          </a:p>
        </p:txBody>
      </p:sp>
      <p:sp>
        <p:nvSpPr>
          <p:cNvPr id="634" name="Google Shape;634;p37"/>
          <p:cNvSpPr/>
          <p:nvPr/>
        </p:nvSpPr>
        <p:spPr>
          <a:xfrm>
            <a:off x="6199632" y="3246120"/>
            <a:ext cx="5486400" cy="13716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7"/>
          <p:cNvSpPr/>
          <p:nvPr/>
        </p:nvSpPr>
        <p:spPr>
          <a:xfrm>
            <a:off x="6455664" y="3429000"/>
            <a:ext cx="49743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COMPARATIVE ADVANTAGE</a:t>
            </a:r>
            <a:endParaRPr b="0" i="0" sz="1550" u="none" cap="none" strike="noStrike">
              <a:solidFill>
                <a:schemeClr val="dk1"/>
              </a:solidFill>
              <a:latin typeface="Calibri"/>
              <a:ea typeface="Calibri"/>
              <a:cs typeface="Calibri"/>
              <a:sym typeface="Calibri"/>
            </a:endParaRPr>
          </a:p>
        </p:txBody>
      </p:sp>
      <p:sp>
        <p:nvSpPr>
          <p:cNvPr id="636" name="Google Shape;636;p37"/>
          <p:cNvSpPr/>
          <p:nvPr/>
        </p:nvSpPr>
        <p:spPr>
          <a:xfrm>
            <a:off x="6455664" y="3831336"/>
            <a:ext cx="4974336" cy="54864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The ability to produce a good at a LOWER OPPORTUNITY COST than another producer. It is a statement about trade-offs, not productivity.</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GRAPHICALLY: whose PPC is FLATTER in that good? Compare slopes, not heights.</a:t>
            </a:r>
            <a:endParaRPr b="0" i="0" sz="850" u="none" cap="none" strike="noStrike">
              <a:solidFill>
                <a:schemeClr val="dk1"/>
              </a:solidFill>
              <a:latin typeface="Calibri"/>
              <a:ea typeface="Calibri"/>
              <a:cs typeface="Calibri"/>
              <a:sym typeface="Calibri"/>
            </a:endParaRPr>
          </a:p>
        </p:txBody>
      </p:sp>
      <p:sp>
        <p:nvSpPr>
          <p:cNvPr id="637" name="Google Shape;637;p37"/>
          <p:cNvSpPr/>
          <p:nvPr/>
        </p:nvSpPr>
        <p:spPr>
          <a:xfrm>
            <a:off x="502920" y="4800600"/>
            <a:ext cx="11183112" cy="128016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7"/>
          <p:cNvSpPr/>
          <p:nvPr/>
        </p:nvSpPr>
        <p:spPr>
          <a:xfrm>
            <a:off x="685800" y="4928616"/>
            <a:ext cx="10817352"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OC of 1 unit of X   =   (units of Y given up) ÷ (units of X gained)</a:t>
            </a:r>
            <a:endParaRPr b="0" i="0" sz="2200" u="none" cap="none" strike="noStrike">
              <a:solidFill>
                <a:schemeClr val="dk1"/>
              </a:solidFill>
              <a:latin typeface="Calibri"/>
              <a:ea typeface="Calibri"/>
              <a:cs typeface="Calibri"/>
              <a:sym typeface="Calibri"/>
            </a:endParaRPr>
          </a:p>
        </p:txBody>
      </p:sp>
      <p:sp>
        <p:nvSpPr>
          <p:cNvPr id="639" name="Google Shape;639;p37"/>
          <p:cNvSpPr/>
          <p:nvPr/>
        </p:nvSpPr>
        <p:spPr>
          <a:xfrm>
            <a:off x="685800" y="5568696"/>
            <a:ext cx="10817352"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RULE OF THUMB: specialize where your opportunity cost is LOWER. Ricardo (1817) proved that two parties both gain from trade</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C87A"/>
              </a:buClr>
              <a:buSzPts val="1150"/>
              <a:buFont typeface="Calibri"/>
              <a:buNone/>
            </a:pPr>
            <a:r>
              <a:rPr b="0" i="1" lang="en-US" sz="1150" u="none" cap="none" strike="noStrike">
                <a:solidFill>
                  <a:srgbClr val="E8C87A"/>
                </a:solidFill>
                <a:latin typeface="Calibri"/>
                <a:ea typeface="Calibri"/>
                <a:cs typeface="Calibri"/>
                <a:sym typeface="Calibri"/>
              </a:rPr>
              <a:t>when each specializes where opportunity cost is lowest — EVEN IF one party is absolutely more productive at everything.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38"/>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SCENARIO 1.6 · C. 200 BCE</a:t>
            </a:r>
            <a:endParaRPr b="0" i="0" sz="1100" u="none" cap="none" strike="noStrike">
              <a:solidFill>
                <a:schemeClr val="dk1"/>
              </a:solidFill>
              <a:latin typeface="Calibri"/>
              <a:ea typeface="Calibri"/>
              <a:cs typeface="Calibri"/>
              <a:sym typeface="Calibri"/>
            </a:endParaRPr>
          </a:p>
        </p:txBody>
      </p:sp>
      <p:sp>
        <p:nvSpPr>
          <p:cNvPr id="646" name="Google Shape;646;p38"/>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Maurya India &amp; Hellenistic Greece</a:t>
            </a:r>
            <a:endParaRPr b="0" i="0" sz="3000" u="none" cap="none" strike="noStrike">
              <a:solidFill>
                <a:schemeClr val="dk1"/>
              </a:solidFill>
              <a:latin typeface="Calibri"/>
              <a:ea typeface="Calibri"/>
              <a:cs typeface="Calibri"/>
              <a:sym typeface="Calibri"/>
            </a:endParaRPr>
          </a:p>
        </p:txBody>
      </p:sp>
      <p:sp>
        <p:nvSpPr>
          <p:cNvPr id="647" name="Google Shape;647;p38"/>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648" name="Google Shape;648;p38"/>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649" name="Google Shape;649;p38"/>
          <p:cNvSpPr/>
          <p:nvPr/>
        </p:nvSpPr>
        <p:spPr>
          <a:xfrm>
            <a:off x="502920" y="1417320"/>
            <a:ext cx="11155680" cy="68580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4A6180"/>
              </a:buClr>
              <a:buSzPts val="1300"/>
              <a:buFont typeface="Calibri"/>
              <a:buNone/>
            </a:pPr>
            <a:r>
              <a:rPr b="0" i="0" lang="en-US" sz="1300" u="none" cap="none" strike="noStrike">
                <a:solidFill>
                  <a:srgbClr val="4A6180"/>
                </a:solidFill>
                <a:latin typeface="Calibri"/>
                <a:ea typeface="Calibri"/>
                <a:cs typeface="Calibri"/>
                <a:sym typeface="Calibri"/>
              </a:rPr>
              <a:t>Merchants in Hellenistic Greece craved spices and textiles, while the courts of Maurya India prized silver and luxury goods. Both civilizations had workers who could produce either category, but productivity differed. In one day a GREEK worker can produce either 6 units of silver goods OR 3 units of spices. An INDIAN worker can produce either 4 units of silver goods OR 8 units of spices.</a:t>
            </a:r>
            <a:endParaRPr b="0" i="0" sz="1300" u="none" cap="none" strike="noStrike">
              <a:solidFill>
                <a:schemeClr val="dk1"/>
              </a:solidFill>
              <a:latin typeface="Calibri"/>
              <a:ea typeface="Calibri"/>
              <a:cs typeface="Calibri"/>
              <a:sym typeface="Calibri"/>
            </a:endParaRPr>
          </a:p>
        </p:txBody>
      </p:sp>
      <p:graphicFrame>
        <p:nvGraphicFramePr>
          <p:cNvPr id="650" name="Google Shape;650;p38"/>
          <p:cNvGraphicFramePr/>
          <p:nvPr/>
        </p:nvGraphicFramePr>
        <p:xfrm>
          <a:off x="502920" y="2286000"/>
          <a:ext cx="3000000" cy="3000000"/>
        </p:xfrm>
        <a:graphic>
          <a:graphicData uri="http://schemas.openxmlformats.org/drawingml/2006/table">
            <a:tbl>
              <a:tblPr>
                <a:noFill/>
                <a:tableStyleId>{5412CA50-F7BB-49FB-A1FD-1592E326B74B}</a:tableStyleId>
              </a:tblPr>
              <a:tblGrid>
                <a:gridCol w="2194550"/>
                <a:gridCol w="2194550"/>
                <a:gridCol w="1828800"/>
                <a:gridCol w="2514600"/>
                <a:gridCol w="2450600"/>
              </a:tblGrid>
              <a:tr h="4572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PRODUCER (10 workers)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MAX SILVER GOODS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MAX SPICES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OC OF 1 SPICE (in silver)</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OC OF 1 SILVER (in spices)</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457200">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India</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40  (10 × 4)</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80  (10 × 8)</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40/80 = 0.5 silver  ← LOWER</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80/40 = 2.0 spices</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Greece</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60  (10 × 6)</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30  (10 × 3)</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60/30 = 2.0 silver</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30/60 = 0.5 spices  ← LOWER</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
        <p:nvSpPr>
          <p:cNvPr id="651" name="Google Shape;651;p38"/>
          <p:cNvSpPr/>
          <p:nvPr/>
        </p:nvSpPr>
        <p:spPr>
          <a:xfrm>
            <a:off x="502920" y="3977640"/>
            <a:ext cx="3611880" cy="12344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8"/>
          <p:cNvSpPr/>
          <p:nvPr/>
        </p:nvSpPr>
        <p:spPr>
          <a:xfrm>
            <a:off x="758952" y="4160520"/>
            <a:ext cx="30998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COMPARATIVE ADVANTAGE</a:t>
            </a:r>
            <a:endParaRPr b="0" i="0" sz="1550" u="none" cap="none" strike="noStrike">
              <a:solidFill>
                <a:schemeClr val="dk1"/>
              </a:solidFill>
              <a:latin typeface="Calibri"/>
              <a:ea typeface="Calibri"/>
              <a:cs typeface="Calibri"/>
              <a:sym typeface="Calibri"/>
            </a:endParaRPr>
          </a:p>
        </p:txBody>
      </p:sp>
      <p:sp>
        <p:nvSpPr>
          <p:cNvPr id="653" name="Google Shape;653;p38"/>
          <p:cNvSpPr/>
          <p:nvPr/>
        </p:nvSpPr>
        <p:spPr>
          <a:xfrm>
            <a:off x="758952" y="4562856"/>
            <a:ext cx="3099816" cy="41148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4A6180"/>
              </a:buClr>
              <a:buSzPts val="1100"/>
              <a:buFont typeface="Calibri"/>
              <a:buNone/>
            </a:pPr>
            <a:r>
              <a:rPr b="0" i="0" lang="en-US" sz="1100" u="none" cap="none" strike="noStrike">
                <a:solidFill>
                  <a:srgbClr val="4A6180"/>
                </a:solidFill>
                <a:latin typeface="Calibri"/>
                <a:ea typeface="Calibri"/>
                <a:cs typeface="Calibri"/>
                <a:sym typeface="Calibri"/>
              </a:rPr>
              <a:t>INDIA in SPICES (0.5 &lt; 2.0).</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4A6180"/>
              </a:buClr>
              <a:buSzPts val="1100"/>
              <a:buFont typeface="Calibri"/>
              <a:buNone/>
            </a:pPr>
            <a:r>
              <a:rPr b="0" i="0" lang="en-US" sz="1100" u="none" cap="none" strike="noStrike">
                <a:solidFill>
                  <a:srgbClr val="4A6180"/>
                </a:solidFill>
                <a:latin typeface="Calibri"/>
                <a:ea typeface="Calibri"/>
                <a:cs typeface="Calibri"/>
                <a:sym typeface="Calibri"/>
              </a:rPr>
              <a:t>GREECE in SILVER GOODS (0.5 &lt; 2.0).</a:t>
            </a:r>
            <a:endParaRPr b="0" i="0" sz="1100" u="none" cap="none" strike="noStrike">
              <a:solidFill>
                <a:schemeClr val="dk1"/>
              </a:solidFill>
              <a:latin typeface="Calibri"/>
              <a:ea typeface="Calibri"/>
              <a:cs typeface="Calibri"/>
              <a:sym typeface="Calibri"/>
            </a:endParaRPr>
          </a:p>
        </p:txBody>
      </p:sp>
      <p:sp>
        <p:nvSpPr>
          <p:cNvPr id="654" name="Google Shape;654;p38"/>
          <p:cNvSpPr/>
          <p:nvPr/>
        </p:nvSpPr>
        <p:spPr>
          <a:xfrm>
            <a:off x="4315968" y="3977640"/>
            <a:ext cx="3611880" cy="12344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8"/>
          <p:cNvSpPr/>
          <p:nvPr/>
        </p:nvSpPr>
        <p:spPr>
          <a:xfrm>
            <a:off x="4567425" y="4032495"/>
            <a:ext cx="309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ABSOLUTE ADVANTAGE</a:t>
            </a:r>
            <a:endParaRPr b="0" i="0" sz="1550" u="none" cap="none" strike="noStrike">
              <a:solidFill>
                <a:schemeClr val="dk1"/>
              </a:solidFill>
              <a:latin typeface="Calibri"/>
              <a:ea typeface="Calibri"/>
              <a:cs typeface="Calibri"/>
              <a:sym typeface="Calibri"/>
            </a:endParaRPr>
          </a:p>
        </p:txBody>
      </p:sp>
      <p:sp>
        <p:nvSpPr>
          <p:cNvPr id="656" name="Google Shape;656;p38"/>
          <p:cNvSpPr/>
          <p:nvPr/>
        </p:nvSpPr>
        <p:spPr>
          <a:xfrm>
            <a:off x="4567388" y="4389056"/>
            <a:ext cx="3099900" cy="4116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SILVER GOODS: Greece (60 &gt; 40).</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SPICES: India (80 &gt; 30).</a:t>
            </a:r>
            <a:endParaRPr b="0" i="0" sz="850" u="none" cap="none" strike="noStrike">
              <a:solidFill>
                <a:schemeClr val="dk1"/>
              </a:solidFill>
              <a:latin typeface="Calibri"/>
              <a:ea typeface="Calibri"/>
              <a:cs typeface="Calibri"/>
              <a:sym typeface="Calibri"/>
            </a:endParaRPr>
          </a:p>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Here each holds one — so comparative and absolute advantage happen to coincide.</a:t>
            </a:r>
            <a:endParaRPr b="0" i="0" sz="850" u="none" cap="none" strike="noStrike">
              <a:solidFill>
                <a:schemeClr val="dk1"/>
              </a:solidFill>
              <a:latin typeface="Calibri"/>
              <a:ea typeface="Calibri"/>
              <a:cs typeface="Calibri"/>
              <a:sym typeface="Calibri"/>
            </a:endParaRPr>
          </a:p>
        </p:txBody>
      </p:sp>
      <p:sp>
        <p:nvSpPr>
          <p:cNvPr id="657" name="Google Shape;657;p38"/>
          <p:cNvSpPr/>
          <p:nvPr/>
        </p:nvSpPr>
        <p:spPr>
          <a:xfrm>
            <a:off x="8119872" y="3977640"/>
            <a:ext cx="3566160" cy="12344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8"/>
          <p:cNvSpPr/>
          <p:nvPr/>
        </p:nvSpPr>
        <p:spPr>
          <a:xfrm>
            <a:off x="8375904" y="4160520"/>
            <a:ext cx="305409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A2B"/>
              </a:buClr>
              <a:buSzPts val="1550"/>
              <a:buFont typeface="Cambria"/>
              <a:buNone/>
            </a:pPr>
            <a:r>
              <a:rPr b="1" i="0" lang="en-US" sz="1550" u="none" cap="none" strike="noStrike">
                <a:solidFill>
                  <a:srgbClr val="9E2A2B"/>
                </a:solidFill>
                <a:latin typeface="Cambria"/>
                <a:ea typeface="Cambria"/>
                <a:cs typeface="Cambria"/>
                <a:sym typeface="Cambria"/>
              </a:rPr>
              <a:t>TERMS OF TRADE</a:t>
            </a:r>
            <a:endParaRPr b="0" i="0" sz="1550" u="none" cap="none" strike="noStrike">
              <a:solidFill>
                <a:schemeClr val="dk1"/>
              </a:solidFill>
              <a:latin typeface="Calibri"/>
              <a:ea typeface="Calibri"/>
              <a:cs typeface="Calibri"/>
              <a:sym typeface="Calibri"/>
            </a:endParaRPr>
          </a:p>
        </p:txBody>
      </p:sp>
      <p:sp>
        <p:nvSpPr>
          <p:cNvPr id="659" name="Google Shape;659;p38"/>
          <p:cNvSpPr/>
          <p:nvPr/>
        </p:nvSpPr>
        <p:spPr>
          <a:xfrm>
            <a:off x="8375904" y="4562856"/>
            <a:ext cx="3054096" cy="41148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Any price between 0.5 and 2.0 silver per spice benefits BOTH. Outside that band, one party does better producing for itself.</a:t>
            </a:r>
            <a:endParaRPr b="0" i="0" sz="850" u="none" cap="none" strike="noStrike">
              <a:solidFill>
                <a:schemeClr val="dk1"/>
              </a:solidFill>
              <a:latin typeface="Calibri"/>
              <a:ea typeface="Calibri"/>
              <a:cs typeface="Calibri"/>
              <a:sym typeface="Calibri"/>
            </a:endParaRPr>
          </a:p>
        </p:txBody>
      </p:sp>
      <p:sp>
        <p:nvSpPr>
          <p:cNvPr id="660" name="Google Shape;660;p38"/>
          <p:cNvSpPr/>
          <p:nvPr/>
        </p:nvSpPr>
        <p:spPr>
          <a:xfrm>
            <a:off x="502920" y="5394960"/>
            <a:ext cx="11183112" cy="73152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8"/>
          <p:cNvSpPr/>
          <p:nvPr/>
        </p:nvSpPr>
        <p:spPr>
          <a:xfrm>
            <a:off x="758952" y="552297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THE WORKSHEET TABLE USES PER-WORKER FIGURES</a:t>
            </a:r>
            <a:endParaRPr b="0" i="0" sz="1050" u="none" cap="none" strike="noStrike">
              <a:solidFill>
                <a:schemeClr val="dk1"/>
              </a:solidFill>
              <a:latin typeface="Calibri"/>
              <a:ea typeface="Calibri"/>
              <a:cs typeface="Calibri"/>
              <a:sym typeface="Calibri"/>
            </a:endParaRPr>
          </a:p>
        </p:txBody>
      </p:sp>
      <p:sp>
        <p:nvSpPr>
          <p:cNvPr id="662" name="Google Shape;662;p38"/>
          <p:cNvSpPr/>
          <p:nvPr/>
        </p:nvSpPr>
        <p:spPr>
          <a:xfrm>
            <a:off x="758952" y="5797296"/>
            <a:ext cx="10671048" cy="16459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The worksheet lists India 60/120 and Greece 40/40 — different totals, identical opportunity-cost ratios. Comparative advantage depends only on the RATIO, never on the scale of the economy.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7" name="Shape 667"/>
        <p:cNvGrpSpPr/>
        <p:nvPr/>
      </p:nvGrpSpPr>
      <p:grpSpPr>
        <a:xfrm>
          <a:off x="0" y="0"/>
          <a:ext cx="0" cy="0"/>
          <a:chOff x="0" y="0"/>
          <a:chExt cx="0" cy="0"/>
        </a:xfrm>
      </p:grpSpPr>
      <p:sp>
        <p:nvSpPr>
          <p:cNvPr id="668" name="Google Shape;668;p39"/>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SCENARIO 1.7 · C. 30 BCE</a:t>
            </a:r>
            <a:endParaRPr b="0" i="0" sz="1100" u="none" cap="none" strike="noStrike">
              <a:solidFill>
                <a:schemeClr val="dk1"/>
              </a:solidFill>
              <a:latin typeface="Calibri"/>
              <a:ea typeface="Calibri"/>
              <a:cs typeface="Calibri"/>
              <a:sym typeface="Calibri"/>
            </a:endParaRPr>
          </a:p>
        </p:txBody>
      </p:sp>
      <p:sp>
        <p:nvSpPr>
          <p:cNvPr id="669" name="Google Shape;669;p39"/>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Egypt &amp; Rome under Cleopatra VII</a:t>
            </a:r>
            <a:endParaRPr b="0" i="0" sz="3000" u="none" cap="none" strike="noStrike">
              <a:solidFill>
                <a:schemeClr val="dk1"/>
              </a:solidFill>
              <a:latin typeface="Calibri"/>
              <a:ea typeface="Calibri"/>
              <a:cs typeface="Calibri"/>
              <a:sym typeface="Calibri"/>
            </a:endParaRPr>
          </a:p>
        </p:txBody>
      </p:sp>
      <p:sp>
        <p:nvSpPr>
          <p:cNvPr id="670" name="Google Shape;670;p39"/>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671" name="Google Shape;671;p39"/>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672" name="Google Shape;672;p39"/>
          <p:cNvSpPr/>
          <p:nvPr/>
        </p:nvSpPr>
        <p:spPr>
          <a:xfrm>
            <a:off x="502920" y="1417320"/>
            <a:ext cx="5577840" cy="731520"/>
          </a:xfrm>
          <a:prstGeom prst="rect">
            <a:avLst/>
          </a:prstGeom>
          <a:noFill/>
          <a:ln>
            <a:noFill/>
          </a:ln>
        </p:spPr>
        <p:txBody>
          <a:bodyPr anchorCtr="0" anchor="ctr" bIns="0" lIns="0" spcFirstLastPara="1" rIns="0" wrap="square" tIns="0">
            <a:noAutofit/>
          </a:bodyPr>
          <a:lstStyle/>
          <a:p>
            <a:pPr indent="0" lvl="0" marL="0" marR="0" rtl="0" algn="l">
              <a:lnSpc>
                <a:spcPct val="148000"/>
              </a:lnSpc>
              <a:spcBef>
                <a:spcPts val="0"/>
              </a:spcBef>
              <a:spcAft>
                <a:spcPts val="0"/>
              </a:spcAft>
              <a:buClr>
                <a:srgbClr val="4A6180"/>
              </a:buClr>
              <a:buSzPts val="1250"/>
              <a:buFont typeface="Calibri"/>
              <a:buNone/>
            </a:pPr>
            <a:r>
              <a:rPr b="0" i="0" lang="en-US" sz="1250" u="none" cap="none" strike="noStrike">
                <a:solidFill>
                  <a:srgbClr val="4A6180"/>
                </a:solidFill>
                <a:latin typeface="Calibri"/>
                <a:ea typeface="Calibri"/>
                <a:cs typeface="Calibri"/>
                <a:sym typeface="Calibri"/>
              </a:rPr>
              <a:t>Cleopatra VII commanded a civilization rich in grain and papyrus, entangled politically and economically with Rome, which was rich in military power and wine. In one day an EGYPTIAN worker produces either 10 grain OR 2 wine; a ROMAN worker produces either 3 grain OR 6 wine.</a:t>
            </a:r>
            <a:endParaRPr b="0" i="0" sz="1250" u="none" cap="none" strike="noStrike">
              <a:solidFill>
                <a:schemeClr val="dk1"/>
              </a:solidFill>
              <a:latin typeface="Calibri"/>
              <a:ea typeface="Calibri"/>
              <a:cs typeface="Calibri"/>
              <a:sym typeface="Calibri"/>
            </a:endParaRPr>
          </a:p>
        </p:txBody>
      </p:sp>
      <p:graphicFrame>
        <p:nvGraphicFramePr>
          <p:cNvPr id="673" name="Google Shape;673;p39"/>
          <p:cNvGraphicFramePr/>
          <p:nvPr/>
        </p:nvGraphicFramePr>
        <p:xfrm>
          <a:off x="502920" y="2286000"/>
          <a:ext cx="3000000" cy="3000000"/>
        </p:xfrm>
        <a:graphic>
          <a:graphicData uri="http://schemas.openxmlformats.org/drawingml/2006/table">
            <a:tbl>
              <a:tblPr>
                <a:noFill/>
                <a:tableStyleId>{5412CA50-F7BB-49FB-A1FD-1592E326B74B}</a:tableStyleId>
              </a:tblPr>
              <a:tblGrid>
                <a:gridCol w="822950"/>
                <a:gridCol w="1143000"/>
                <a:gridCol w="1097275"/>
                <a:gridCol w="1325875"/>
                <a:gridCol w="1188725"/>
              </a:tblGrid>
              <a:tr h="402325">
                <a:tc>
                  <a:txBody>
                    <a:bodyPr/>
                    <a:lstStyle/>
                    <a:p>
                      <a:pPr indent="0" lvl="0" marL="0" marR="0" rtl="0" algn="ctr">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GRAIN / DAY</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WINE / DAY</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OC OF 1 GRAIN</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ctr">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OC OF 1 WINE</a:t>
                      </a:r>
                      <a:endParaRPr sz="9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402325">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Egypt</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10</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2</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0.2 wine  ← LOWER</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5.0 grain</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402325">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Rome</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3</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6</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2.0 wine</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ctr">
                        <a:spcBef>
                          <a:spcPts val="0"/>
                        </a:spcBef>
                        <a:spcAft>
                          <a:spcPts val="0"/>
                        </a:spcAft>
                        <a:buClr>
                          <a:srgbClr val="1A2E4A"/>
                        </a:buClr>
                        <a:buSzPts val="1000"/>
                        <a:buFont typeface="Calibri"/>
                        <a:buNone/>
                      </a:pPr>
                      <a:r>
                        <a:rPr lang="en-US" sz="1000" u="none" cap="none" strike="noStrike">
                          <a:solidFill>
                            <a:srgbClr val="1A2E4A"/>
                          </a:solidFill>
                          <a:latin typeface="Calibri"/>
                          <a:ea typeface="Calibri"/>
                          <a:cs typeface="Calibri"/>
                          <a:sym typeface="Calibri"/>
                        </a:rPr>
                        <a:t>0.5 grain  ← LOWER</a:t>
                      </a:r>
                      <a:endParaRPr sz="10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
        <p:nvSpPr>
          <p:cNvPr id="674" name="Google Shape;674;p39"/>
          <p:cNvSpPr/>
          <p:nvPr/>
        </p:nvSpPr>
        <p:spPr>
          <a:xfrm>
            <a:off x="502920" y="3639312"/>
            <a:ext cx="5577840" cy="123444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9"/>
          <p:cNvSpPr/>
          <p:nvPr/>
        </p:nvSpPr>
        <p:spPr>
          <a:xfrm>
            <a:off x="758952" y="3822192"/>
            <a:ext cx="506577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550"/>
              <a:buFont typeface="Cambria"/>
              <a:buNone/>
            </a:pPr>
            <a:r>
              <a:rPr b="1" i="0" lang="en-US" sz="1550" u="none" cap="none" strike="noStrike">
                <a:solidFill>
                  <a:srgbClr val="C0892E"/>
                </a:solidFill>
                <a:latin typeface="Cambria"/>
                <a:ea typeface="Cambria"/>
                <a:cs typeface="Cambria"/>
                <a:sym typeface="Cambria"/>
              </a:rPr>
              <a:t>EFFICIENT SPECIALIZATION</a:t>
            </a:r>
            <a:endParaRPr b="0" i="0" sz="1550" u="none" cap="none" strike="noStrike">
              <a:solidFill>
                <a:schemeClr val="dk1"/>
              </a:solidFill>
              <a:latin typeface="Calibri"/>
              <a:ea typeface="Calibri"/>
              <a:cs typeface="Calibri"/>
              <a:sym typeface="Calibri"/>
            </a:endParaRPr>
          </a:p>
        </p:txBody>
      </p:sp>
      <p:sp>
        <p:nvSpPr>
          <p:cNvPr id="676" name="Google Shape;676;p39"/>
          <p:cNvSpPr/>
          <p:nvPr/>
        </p:nvSpPr>
        <p:spPr>
          <a:xfrm>
            <a:off x="758952" y="4224528"/>
            <a:ext cx="5065776" cy="411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6180"/>
              </a:buClr>
              <a:buSzPts val="1000"/>
              <a:buFont typeface="Calibri"/>
              <a:buNone/>
            </a:pPr>
            <a:r>
              <a:rPr b="0" i="0" lang="en-US" sz="1000" u="none" cap="none" strike="noStrike">
                <a:solidFill>
                  <a:srgbClr val="4A6180"/>
                </a:solidFill>
                <a:latin typeface="Calibri"/>
                <a:ea typeface="Calibri"/>
                <a:cs typeface="Calibri"/>
                <a:sym typeface="Calibri"/>
              </a:rPr>
              <a:t>EGYPT produces GRAIN — its OC of grain (0.2 wine) is below Rome's (2.0 wine).</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A6180"/>
              </a:buClr>
              <a:buSzPts val="1000"/>
              <a:buFont typeface="Calibri"/>
              <a:buNone/>
            </a:pPr>
            <a:r>
              <a:rPr b="0" i="0" lang="en-US" sz="1000" u="none" cap="none" strike="noStrike">
                <a:solidFill>
                  <a:srgbClr val="4A6180"/>
                </a:solidFill>
                <a:latin typeface="Calibri"/>
                <a:ea typeface="Calibri"/>
                <a:cs typeface="Calibri"/>
                <a:sym typeface="Calibri"/>
              </a:rPr>
              <a:t>ROME produces WINE — its OC of wine (0.5 grain) is below Egypt's (5.0 grain).</a:t>
            </a:r>
            <a:endParaRPr b="0" i="0" sz="1000" u="none" cap="none" strike="noStrike">
              <a:solidFill>
                <a:schemeClr val="dk1"/>
              </a:solidFill>
              <a:latin typeface="Calibri"/>
              <a:ea typeface="Calibri"/>
              <a:cs typeface="Calibri"/>
              <a:sym typeface="Calibri"/>
            </a:endParaRPr>
          </a:p>
        </p:txBody>
      </p:sp>
      <p:sp>
        <p:nvSpPr>
          <p:cNvPr id="677" name="Google Shape;677;p39"/>
          <p:cNvSpPr/>
          <p:nvPr/>
        </p:nvSpPr>
        <p:spPr>
          <a:xfrm>
            <a:off x="502920" y="4983480"/>
            <a:ext cx="5577840" cy="114300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9"/>
          <p:cNvSpPr/>
          <p:nvPr/>
        </p:nvSpPr>
        <p:spPr>
          <a:xfrm>
            <a:off x="758952" y="5166360"/>
            <a:ext cx="506577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550"/>
              <a:buFont typeface="Cambria"/>
              <a:buNone/>
            </a:pPr>
            <a:r>
              <a:rPr b="1" i="0" lang="en-US" sz="1550" u="none" cap="none" strike="noStrike">
                <a:solidFill>
                  <a:srgbClr val="1A2E4A"/>
                </a:solidFill>
                <a:latin typeface="Cambria"/>
                <a:ea typeface="Cambria"/>
                <a:cs typeface="Cambria"/>
                <a:sym typeface="Cambria"/>
              </a:rPr>
              <a:t>NOTE ON ABSOLUTE ADVANTAGE</a:t>
            </a:r>
            <a:endParaRPr b="0" i="0" sz="1550" u="none" cap="none" strike="noStrike">
              <a:solidFill>
                <a:schemeClr val="dk1"/>
              </a:solidFill>
              <a:latin typeface="Calibri"/>
              <a:ea typeface="Calibri"/>
              <a:cs typeface="Calibri"/>
              <a:sym typeface="Calibri"/>
            </a:endParaRPr>
          </a:p>
        </p:txBody>
      </p:sp>
      <p:sp>
        <p:nvSpPr>
          <p:cNvPr id="679" name="Google Shape;679;p39"/>
          <p:cNvSpPr/>
          <p:nvPr/>
        </p:nvSpPr>
        <p:spPr>
          <a:xfrm>
            <a:off x="758952" y="5568696"/>
            <a:ext cx="5065776" cy="32004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4A6180"/>
              </a:buClr>
              <a:buSzPts val="850"/>
              <a:buFont typeface="Calibri"/>
              <a:buNone/>
            </a:pPr>
            <a:r>
              <a:rPr b="0" i="0" lang="en-US" sz="850" u="none" cap="none" strike="noStrike">
                <a:solidFill>
                  <a:srgbClr val="4A6180"/>
                </a:solidFill>
                <a:latin typeface="Calibri"/>
                <a:ea typeface="Calibri"/>
                <a:cs typeface="Calibri"/>
                <a:sym typeface="Calibri"/>
              </a:rPr>
              <a:t>Egypt is absolutely better at grain; Rome absolutely better at wine. Change the numbers so Egypt is better at BOTH and the specialization pattern does not change — only the ratios matter.</a:t>
            </a:r>
            <a:endParaRPr b="0" i="0" sz="850" u="none" cap="none" strike="noStrike">
              <a:solidFill>
                <a:schemeClr val="dk1"/>
              </a:solidFill>
              <a:latin typeface="Calibri"/>
              <a:ea typeface="Calibri"/>
              <a:cs typeface="Calibri"/>
              <a:sym typeface="Calibri"/>
            </a:endParaRPr>
          </a:p>
        </p:txBody>
      </p:sp>
      <p:pic>
        <p:nvPicPr>
          <p:cNvPr descr="figs/m1_trade.png" id="680" name="Google Shape;680;p39"/>
          <p:cNvPicPr preferRelativeResize="0"/>
          <p:nvPr/>
        </p:nvPicPr>
        <p:blipFill rotWithShape="1">
          <a:blip r:embed="rId3">
            <a:alphaModFix/>
          </a:blip>
          <a:srcRect b="0" l="0" r="0" t="0"/>
          <a:stretch/>
        </p:blipFill>
        <p:spPr>
          <a:xfrm>
            <a:off x="6309360" y="1437016"/>
            <a:ext cx="5394960" cy="3426183"/>
          </a:xfrm>
          <a:prstGeom prst="rect">
            <a:avLst/>
          </a:prstGeom>
          <a:noFill/>
          <a:ln>
            <a:noFill/>
          </a:ln>
        </p:spPr>
      </p:pic>
      <p:sp>
        <p:nvSpPr>
          <p:cNvPr id="681" name="Google Shape;681;p39"/>
          <p:cNvSpPr/>
          <p:nvPr/>
        </p:nvSpPr>
        <p:spPr>
          <a:xfrm>
            <a:off x="6309360" y="5029200"/>
            <a:ext cx="5394960" cy="109728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9"/>
          <p:cNvSpPr/>
          <p:nvPr/>
        </p:nvSpPr>
        <p:spPr>
          <a:xfrm>
            <a:off x="6565392" y="5157216"/>
            <a:ext cx="48828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THE GAIN FROM TRADE</a:t>
            </a:r>
            <a:endParaRPr b="0" i="0" sz="1050" u="none" cap="none" strike="noStrike">
              <a:solidFill>
                <a:schemeClr val="dk1"/>
              </a:solidFill>
              <a:latin typeface="Calibri"/>
              <a:ea typeface="Calibri"/>
              <a:cs typeface="Calibri"/>
              <a:sym typeface="Calibri"/>
            </a:endParaRPr>
          </a:p>
        </p:txBody>
      </p:sp>
      <p:sp>
        <p:nvSpPr>
          <p:cNvPr id="683" name="Google Shape;683;p39"/>
          <p:cNvSpPr/>
          <p:nvPr/>
        </p:nvSpPr>
        <p:spPr>
          <a:xfrm>
            <a:off x="6565392" y="5431536"/>
            <a:ext cx="4882896" cy="53035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After specialization and trade, BOTH parties can consume OUTSIDE their individual PPC. The dashed joint line lies above both — that region is the gain.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8" name="Shape 688"/>
        <p:cNvGrpSpPr/>
        <p:nvPr/>
      </p:nvGrpSpPr>
      <p:grpSpPr>
        <a:xfrm>
          <a:off x="0" y="0"/>
          <a:ext cx="0" cy="0"/>
          <a:chOff x="0" y="0"/>
          <a:chExt cx="0" cy="0"/>
        </a:xfrm>
      </p:grpSpPr>
      <p:sp>
        <p:nvSpPr>
          <p:cNvPr id="689" name="Google Shape;689;p40"/>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PART 6 · SYNTHESIS</a:t>
            </a:r>
            <a:endParaRPr b="0" i="0" sz="1100" u="none" cap="none" strike="noStrike">
              <a:solidFill>
                <a:schemeClr val="dk1"/>
              </a:solidFill>
              <a:latin typeface="Calibri"/>
              <a:ea typeface="Calibri"/>
              <a:cs typeface="Calibri"/>
              <a:sym typeface="Calibri"/>
            </a:endParaRPr>
          </a:p>
        </p:txBody>
      </p:sp>
      <p:sp>
        <p:nvSpPr>
          <p:cNvPr id="690" name="Google Shape;690;p40"/>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Trade, Leverage &amp; the Limits of the Model</a:t>
            </a:r>
            <a:endParaRPr b="0" i="0" sz="3000" u="none" cap="none" strike="noStrike">
              <a:solidFill>
                <a:schemeClr val="dk1"/>
              </a:solidFill>
              <a:latin typeface="Calibri"/>
              <a:ea typeface="Calibri"/>
              <a:cs typeface="Calibri"/>
              <a:sym typeface="Calibri"/>
            </a:endParaRPr>
          </a:p>
        </p:txBody>
      </p:sp>
      <p:sp>
        <p:nvSpPr>
          <p:cNvPr id="691" name="Google Shape;691;p40"/>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692" name="Google Shape;692;p40"/>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693" name="Google Shape;693;p40"/>
          <p:cNvSpPr/>
          <p:nvPr/>
        </p:nvSpPr>
        <p:spPr>
          <a:xfrm>
            <a:off x="502920" y="1417320"/>
            <a:ext cx="11183112" cy="9144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0"/>
          <p:cNvSpPr/>
          <p:nvPr/>
        </p:nvSpPr>
        <p:spPr>
          <a:xfrm>
            <a:off x="758952" y="154533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 WORKSHEET QUESTION 7 — SYNTHESIS</a:t>
            </a:r>
            <a:endParaRPr b="0" i="0" sz="1050" u="none" cap="none" strike="noStrike">
              <a:solidFill>
                <a:schemeClr val="dk1"/>
              </a:solidFill>
              <a:latin typeface="Calibri"/>
              <a:ea typeface="Calibri"/>
              <a:cs typeface="Calibri"/>
              <a:sym typeface="Calibri"/>
            </a:endParaRPr>
          </a:p>
        </p:txBody>
      </p:sp>
      <p:sp>
        <p:nvSpPr>
          <p:cNvPr id="695" name="Google Shape;695;p40"/>
          <p:cNvSpPr/>
          <p:nvPr/>
        </p:nvSpPr>
        <p:spPr>
          <a:xfrm>
            <a:off x="758952" y="1819656"/>
            <a:ext cx="10671048" cy="34747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Cleopatra understood that Egypt's grain surplus gave her leverage over Rome's food security. Using comparative advantage AND the budget constraint: (a) why did Egypt have an incentive to trade even though it could produce wine? (b) how could Cleopatra use comparative advantage as political leverage? Does comparative advantage always lead to mutually beneficial trade in the real world?</a:t>
            </a:r>
            <a:endParaRPr b="0" i="0" sz="1000" u="none" cap="none" strike="noStrike">
              <a:solidFill>
                <a:schemeClr val="dk1"/>
              </a:solidFill>
              <a:latin typeface="Calibri"/>
              <a:ea typeface="Calibri"/>
              <a:cs typeface="Calibri"/>
              <a:sym typeface="Calibri"/>
            </a:endParaRPr>
          </a:p>
        </p:txBody>
      </p:sp>
      <p:sp>
        <p:nvSpPr>
          <p:cNvPr id="696" name="Google Shape;696;p40"/>
          <p:cNvSpPr/>
          <p:nvPr/>
        </p:nvSpPr>
        <p:spPr>
          <a:xfrm>
            <a:off x="502920" y="2514600"/>
            <a:ext cx="3611880" cy="210312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0"/>
          <p:cNvSpPr/>
          <p:nvPr/>
        </p:nvSpPr>
        <p:spPr>
          <a:xfrm>
            <a:off x="704088" y="2715768"/>
            <a:ext cx="457200" cy="457200"/>
          </a:xfrm>
          <a:prstGeom prst="ellipse">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0"/>
          <p:cNvSpPr/>
          <p:nvPr/>
        </p:nvSpPr>
        <p:spPr>
          <a:xfrm>
            <a:off x="704088" y="27157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a:t>
            </a:r>
            <a:endParaRPr b="0" i="0" sz="1300" u="none" cap="none" strike="noStrike">
              <a:solidFill>
                <a:schemeClr val="dk1"/>
              </a:solidFill>
              <a:latin typeface="Calibri"/>
              <a:ea typeface="Calibri"/>
              <a:cs typeface="Calibri"/>
              <a:sym typeface="Calibri"/>
            </a:endParaRPr>
          </a:p>
        </p:txBody>
      </p:sp>
      <p:sp>
        <p:nvSpPr>
          <p:cNvPr id="699" name="Google Shape;699;p40"/>
          <p:cNvSpPr/>
          <p:nvPr/>
        </p:nvSpPr>
        <p:spPr>
          <a:xfrm>
            <a:off x="1280160" y="271576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WHY TRADE ANYWAY</a:t>
            </a:r>
            <a:endParaRPr b="0" i="0" sz="1600" u="none" cap="none" strike="noStrike">
              <a:solidFill>
                <a:schemeClr val="dk1"/>
              </a:solidFill>
              <a:latin typeface="Calibri"/>
              <a:ea typeface="Calibri"/>
              <a:cs typeface="Calibri"/>
              <a:sym typeface="Calibri"/>
            </a:endParaRPr>
          </a:p>
        </p:txBody>
      </p:sp>
      <p:sp>
        <p:nvSpPr>
          <p:cNvPr id="700" name="Google Shape;700;p40"/>
          <p:cNvSpPr/>
          <p:nvPr/>
        </p:nvSpPr>
        <p:spPr>
          <a:xfrm>
            <a:off x="722376" y="3264408"/>
            <a:ext cx="3154680" cy="1143000"/>
          </a:xfrm>
          <a:prstGeom prst="rect">
            <a:avLst/>
          </a:prstGeom>
          <a:noFill/>
          <a:ln>
            <a:noFill/>
          </a:ln>
        </p:spPr>
        <p:txBody>
          <a:bodyPr anchorCtr="0" anchor="t" bIns="0" lIns="0" spcFirstLastPara="1" rIns="0" wrap="square" tIns="0">
            <a:noAutofit/>
          </a:bodyPr>
          <a:lstStyle/>
          <a:p>
            <a:pPr indent="0" lvl="0" marL="0" marR="0" rtl="0" algn="l">
              <a:lnSpc>
                <a:spcPct val="145454"/>
              </a:lnSpc>
              <a:spcBef>
                <a:spcPts val="0"/>
              </a:spcBef>
              <a:spcAft>
                <a:spcPts val="0"/>
              </a:spcAft>
              <a:buClr>
                <a:srgbClr val="4A6180"/>
              </a:buClr>
              <a:buSzPts val="1100"/>
              <a:buFont typeface="Calibri"/>
              <a:buNone/>
            </a:pPr>
            <a:r>
              <a:rPr b="0" i="0" lang="en-US" sz="1100" u="none" cap="none" strike="noStrike">
                <a:solidFill>
                  <a:srgbClr val="4A6180"/>
                </a:solidFill>
                <a:latin typeface="Calibri"/>
                <a:ea typeface="Calibri"/>
                <a:cs typeface="Calibri"/>
                <a:sym typeface="Calibri"/>
              </a:rPr>
              <a:t>Egypt COULD produce wine, but only by giving up 5 units of grain per unit of wine. Buying wine from Rome at any rate below 5 grain leaves Egypt with more of both. Capability is not the question — opportunity cost is.</a:t>
            </a:r>
            <a:endParaRPr b="0" i="0" sz="1100" u="none" cap="none" strike="noStrike">
              <a:solidFill>
                <a:schemeClr val="dk1"/>
              </a:solidFill>
              <a:latin typeface="Calibri"/>
              <a:ea typeface="Calibri"/>
              <a:cs typeface="Calibri"/>
              <a:sym typeface="Calibri"/>
            </a:endParaRPr>
          </a:p>
        </p:txBody>
      </p:sp>
      <p:sp>
        <p:nvSpPr>
          <p:cNvPr id="701" name="Google Shape;701;p40"/>
          <p:cNvSpPr/>
          <p:nvPr/>
        </p:nvSpPr>
        <p:spPr>
          <a:xfrm>
            <a:off x="4315968" y="2514600"/>
            <a:ext cx="3611880" cy="210312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0"/>
          <p:cNvSpPr/>
          <p:nvPr/>
        </p:nvSpPr>
        <p:spPr>
          <a:xfrm>
            <a:off x="4517136" y="2715768"/>
            <a:ext cx="457200" cy="457200"/>
          </a:xfrm>
          <a:prstGeom prst="ellipse">
            <a:avLst/>
          </a:prstGeom>
          <a:solidFill>
            <a:srgbClr val="C08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0"/>
          <p:cNvSpPr/>
          <p:nvPr/>
        </p:nvSpPr>
        <p:spPr>
          <a:xfrm>
            <a:off x="4517136" y="27157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a:t>
            </a:r>
            <a:endParaRPr b="0" i="0" sz="1300" u="none" cap="none" strike="noStrike">
              <a:solidFill>
                <a:schemeClr val="dk1"/>
              </a:solidFill>
              <a:latin typeface="Calibri"/>
              <a:ea typeface="Calibri"/>
              <a:cs typeface="Calibri"/>
              <a:sym typeface="Calibri"/>
            </a:endParaRPr>
          </a:p>
        </p:txBody>
      </p:sp>
      <p:sp>
        <p:nvSpPr>
          <p:cNvPr id="704" name="Google Shape;704;p40"/>
          <p:cNvSpPr/>
          <p:nvPr/>
        </p:nvSpPr>
        <p:spPr>
          <a:xfrm>
            <a:off x="5093208" y="2715768"/>
            <a:ext cx="2606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450"/>
              <a:buFont typeface="Cambria"/>
              <a:buNone/>
            </a:pPr>
            <a:r>
              <a:rPr b="1" i="0" lang="en-US" sz="1450" u="none" cap="none" strike="noStrike">
                <a:solidFill>
                  <a:srgbClr val="1A2E4A"/>
                </a:solidFill>
                <a:latin typeface="Cambria"/>
                <a:ea typeface="Cambria"/>
                <a:cs typeface="Cambria"/>
                <a:sym typeface="Cambria"/>
              </a:rPr>
              <a:t>SPECIALIZATION AS LEVERAGE</a:t>
            </a:r>
            <a:endParaRPr b="0" i="0" sz="1450" u="none" cap="none" strike="noStrike">
              <a:solidFill>
                <a:schemeClr val="dk1"/>
              </a:solidFill>
              <a:latin typeface="Calibri"/>
              <a:ea typeface="Calibri"/>
              <a:cs typeface="Calibri"/>
              <a:sym typeface="Calibri"/>
            </a:endParaRPr>
          </a:p>
        </p:txBody>
      </p:sp>
      <p:sp>
        <p:nvSpPr>
          <p:cNvPr id="705" name="Google Shape;705;p40"/>
          <p:cNvSpPr/>
          <p:nvPr/>
        </p:nvSpPr>
        <p:spPr>
          <a:xfrm>
            <a:off x="4535424" y="3264408"/>
            <a:ext cx="3154680" cy="1143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Specialization creates DEPENDENCE. Rome's specialization in wine made its food supply contingent on Egyptian grain. The gains from trade are real — but so is the bargaining power they concentrate in whoever supplies the necessity.</a:t>
            </a:r>
            <a:endParaRPr b="0" i="0" sz="1050" u="none" cap="none" strike="noStrike">
              <a:solidFill>
                <a:schemeClr val="dk1"/>
              </a:solidFill>
              <a:latin typeface="Calibri"/>
              <a:ea typeface="Calibri"/>
              <a:cs typeface="Calibri"/>
              <a:sym typeface="Calibri"/>
            </a:endParaRPr>
          </a:p>
        </p:txBody>
      </p:sp>
      <p:sp>
        <p:nvSpPr>
          <p:cNvPr id="706" name="Google Shape;706;p40"/>
          <p:cNvSpPr/>
          <p:nvPr/>
        </p:nvSpPr>
        <p:spPr>
          <a:xfrm>
            <a:off x="8119872" y="2514600"/>
            <a:ext cx="3566160" cy="2103120"/>
          </a:xfrm>
          <a:prstGeom prst="rect">
            <a:avLst/>
          </a:prstGeom>
          <a:solidFill>
            <a:srgbClr val="E8ED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0"/>
          <p:cNvSpPr/>
          <p:nvPr/>
        </p:nvSpPr>
        <p:spPr>
          <a:xfrm>
            <a:off x="8321040" y="2715768"/>
            <a:ext cx="457200" cy="457200"/>
          </a:xfrm>
          <a:prstGeom prst="ellipse">
            <a:avLst/>
          </a:prstGeom>
          <a:solidFill>
            <a:srgbClr val="9E2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0"/>
          <p:cNvSpPr/>
          <p:nvPr/>
        </p:nvSpPr>
        <p:spPr>
          <a:xfrm>
            <a:off x="8321040" y="27157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t>
            </a:r>
            <a:endParaRPr b="0" i="0" sz="1300" u="none" cap="none" strike="noStrike">
              <a:solidFill>
                <a:schemeClr val="dk1"/>
              </a:solidFill>
              <a:latin typeface="Calibri"/>
              <a:ea typeface="Calibri"/>
              <a:cs typeface="Calibri"/>
              <a:sym typeface="Calibri"/>
            </a:endParaRPr>
          </a:p>
        </p:txBody>
      </p:sp>
      <p:sp>
        <p:nvSpPr>
          <p:cNvPr id="709" name="Google Shape;709;p40"/>
          <p:cNvSpPr/>
          <p:nvPr/>
        </p:nvSpPr>
        <p:spPr>
          <a:xfrm>
            <a:off x="8897099" y="2715775"/>
            <a:ext cx="2761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600"/>
              <a:buFont typeface="Cambria"/>
              <a:buNone/>
            </a:pPr>
            <a:r>
              <a:rPr b="1" i="0" lang="en-US" sz="1600" u="none" cap="none" strike="noStrike">
                <a:solidFill>
                  <a:srgbClr val="1A2E4A"/>
                </a:solidFill>
                <a:latin typeface="Cambria"/>
                <a:ea typeface="Cambria"/>
                <a:cs typeface="Cambria"/>
                <a:sym typeface="Cambria"/>
              </a:rPr>
              <a:t>WHERE THE MODEL BREAKS</a:t>
            </a:r>
            <a:endParaRPr b="0" i="0" sz="1600" u="none" cap="none" strike="noStrike">
              <a:solidFill>
                <a:schemeClr val="dk1"/>
              </a:solidFill>
              <a:latin typeface="Calibri"/>
              <a:ea typeface="Calibri"/>
              <a:cs typeface="Calibri"/>
              <a:sym typeface="Calibri"/>
            </a:endParaRPr>
          </a:p>
        </p:txBody>
      </p:sp>
      <p:sp>
        <p:nvSpPr>
          <p:cNvPr id="710" name="Google Shape;710;p40"/>
          <p:cNvSpPr/>
          <p:nvPr/>
        </p:nvSpPr>
        <p:spPr>
          <a:xfrm>
            <a:off x="8339328" y="3264408"/>
            <a:ext cx="3108960" cy="1143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A6180"/>
              </a:buClr>
              <a:buSzPts val="1050"/>
              <a:buFont typeface="Calibri"/>
              <a:buNone/>
            </a:pPr>
            <a:r>
              <a:rPr b="0" i="0" lang="en-US" sz="1050" u="none" cap="none" strike="noStrike">
                <a:solidFill>
                  <a:srgbClr val="4A6180"/>
                </a:solidFill>
                <a:latin typeface="Calibri"/>
                <a:ea typeface="Calibri"/>
                <a:cs typeface="Calibri"/>
                <a:sym typeface="Calibri"/>
              </a:rPr>
              <a:t>The model assumes no transport costs, no transition costs for displaced workers, full employment, constant returns, and that the GAINS are actually shared. Each assumption fails somewhere — and each failure is a later module.</a:t>
            </a:r>
            <a:endParaRPr b="0" i="0" sz="1050" u="none" cap="none" strike="noStrike">
              <a:solidFill>
                <a:schemeClr val="dk1"/>
              </a:solidFill>
              <a:latin typeface="Calibri"/>
              <a:ea typeface="Calibri"/>
              <a:cs typeface="Calibri"/>
              <a:sym typeface="Calibri"/>
            </a:endParaRPr>
          </a:p>
        </p:txBody>
      </p:sp>
      <p:sp>
        <p:nvSpPr>
          <p:cNvPr id="711" name="Google Shape;711;p40"/>
          <p:cNvSpPr/>
          <p:nvPr/>
        </p:nvSpPr>
        <p:spPr>
          <a:xfrm>
            <a:off x="502920" y="4846320"/>
            <a:ext cx="11183112" cy="1280160"/>
          </a:xfrm>
          <a:prstGeom prst="rect">
            <a:avLst/>
          </a:prstGeom>
          <a:solidFill>
            <a:srgbClr val="FFFFFF"/>
          </a:solidFill>
          <a:ln cap="flat" cmpd="sng" w="12700">
            <a:solidFill>
              <a:srgbClr val="CFD9E5"/>
            </a:solidFill>
            <a:prstDash val="solid"/>
            <a:round/>
            <a:headEnd len="sm" w="sm" type="none"/>
            <a:tailEnd len="sm" w="sm" type="none"/>
          </a:ln>
          <a:effectLst>
            <a:outerShdw blurRad="101600" rotWithShape="0" algn="bl" dir="5400000" dist="25400">
              <a:srgbClr val="88888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0"/>
          <p:cNvSpPr/>
          <p:nvPr/>
        </p:nvSpPr>
        <p:spPr>
          <a:xfrm>
            <a:off x="758952" y="5029200"/>
            <a:ext cx="106710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F84"/>
              </a:buClr>
              <a:buSzPts val="1550"/>
              <a:buFont typeface="Cambria"/>
              <a:buNone/>
            </a:pPr>
            <a:r>
              <a:rPr b="1" i="0" lang="en-US" sz="1550" u="none" cap="none" strike="noStrike">
                <a:solidFill>
                  <a:srgbClr val="2A7F84"/>
                </a:solidFill>
                <a:latin typeface="Cambria"/>
                <a:ea typeface="Cambria"/>
                <a:cs typeface="Cambria"/>
                <a:sym typeface="Cambria"/>
              </a:rPr>
              <a:t>PREVIEW — THE NARRATIVE THREAD</a:t>
            </a:r>
            <a:endParaRPr b="0" i="0" sz="1550" u="none" cap="none" strike="noStrike">
              <a:solidFill>
                <a:schemeClr val="dk1"/>
              </a:solidFill>
              <a:latin typeface="Calibri"/>
              <a:ea typeface="Calibri"/>
              <a:cs typeface="Calibri"/>
              <a:sym typeface="Calibri"/>
            </a:endParaRPr>
          </a:p>
        </p:txBody>
      </p:sp>
      <p:sp>
        <p:nvSpPr>
          <p:cNvPr id="713" name="Google Shape;713;p40"/>
          <p:cNvSpPr/>
          <p:nvPr/>
        </p:nvSpPr>
        <p:spPr>
          <a:xfrm>
            <a:off x="758952" y="5431536"/>
            <a:ext cx="10671048" cy="457200"/>
          </a:xfrm>
          <a:prstGeom prst="rect">
            <a:avLst/>
          </a:prstGeom>
          <a:noFill/>
          <a:ln>
            <a:noFill/>
          </a:ln>
        </p:spPr>
        <p:txBody>
          <a:bodyPr anchorCtr="0" anchor="t" bIns="0" lIns="0" spcFirstLastPara="1" rIns="0" wrap="square" tIns="0">
            <a:noAutofit/>
          </a:bodyPr>
          <a:lstStyle/>
          <a:p>
            <a:pPr indent="0" lvl="0" marL="0" marR="0" rtl="0" algn="l">
              <a:lnSpc>
                <a:spcPct val="139130"/>
              </a:lnSpc>
              <a:spcBef>
                <a:spcPts val="0"/>
              </a:spcBef>
              <a:spcAft>
                <a:spcPts val="0"/>
              </a:spcAft>
              <a:buClr>
                <a:srgbClr val="4A6180"/>
              </a:buClr>
              <a:buSzPts val="1150"/>
              <a:buFont typeface="Calibri"/>
              <a:buNone/>
            </a:pPr>
            <a:r>
              <a:rPr b="0" i="0" lang="en-US" sz="1150" u="none" cap="none" strike="noStrike">
                <a:solidFill>
                  <a:srgbClr val="4A6180"/>
                </a:solidFill>
                <a:latin typeface="Calibri"/>
                <a:ea typeface="Calibri"/>
                <a:cs typeface="Calibri"/>
                <a:sym typeface="Calibri"/>
              </a:rPr>
              <a:t>In Module 2 you will meet Marcus and Ray. Their economic relationship — wages, rents, gains, constraints — mirrors the structure of comparative advantage. Ask yourself as the course unfolds: WHO SPECIALIZES, AND WHO CAPTURES THE GAINS? That question is the spine of Modules 6, 7 and 8.</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718" name="Shape 718"/>
        <p:cNvGrpSpPr/>
        <p:nvPr/>
      </p:nvGrpSpPr>
      <p:grpSpPr>
        <a:xfrm>
          <a:off x="0" y="0"/>
          <a:ext cx="0" cy="0"/>
          <a:chOff x="0" y="0"/>
          <a:chExt cx="0" cy="0"/>
        </a:xfrm>
      </p:grpSpPr>
      <p:sp>
        <p:nvSpPr>
          <p:cNvPr id="719" name="Google Shape;719;p41"/>
          <p:cNvSpPr/>
          <p:nvPr/>
        </p:nvSpPr>
        <p:spPr>
          <a:xfrm>
            <a:off x="822960" y="12344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400"/>
              <a:buFont typeface="Calibri"/>
              <a:buNone/>
            </a:pPr>
            <a:r>
              <a:rPr b="1" i="0" lang="en-US" sz="1400" u="none" cap="none" strike="noStrike">
                <a:solidFill>
                  <a:srgbClr val="C0892E"/>
                </a:solidFill>
                <a:latin typeface="Calibri"/>
                <a:ea typeface="Calibri"/>
                <a:cs typeface="Calibri"/>
                <a:sym typeface="Calibri"/>
              </a:rPr>
              <a:t>YOU TRY</a:t>
            </a:r>
            <a:endParaRPr b="0" i="0" sz="1400" u="none" cap="none" strike="noStrike">
              <a:solidFill>
                <a:schemeClr val="dk1"/>
              </a:solidFill>
              <a:latin typeface="Calibri"/>
              <a:ea typeface="Calibri"/>
              <a:cs typeface="Calibri"/>
              <a:sym typeface="Calibri"/>
            </a:endParaRPr>
          </a:p>
        </p:txBody>
      </p:sp>
      <p:sp>
        <p:nvSpPr>
          <p:cNvPr id="720" name="Google Shape;720;p41"/>
          <p:cNvSpPr/>
          <p:nvPr/>
        </p:nvSpPr>
        <p:spPr>
          <a:xfrm>
            <a:off x="822960" y="164592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Section II — Independent Practice</a:t>
            </a:r>
            <a:endParaRPr b="0" i="0" sz="3400" u="none" cap="none" strike="noStrike">
              <a:solidFill>
                <a:schemeClr val="dk1"/>
              </a:solidFill>
              <a:latin typeface="Calibri"/>
              <a:ea typeface="Calibri"/>
              <a:cs typeface="Calibri"/>
              <a:sym typeface="Calibri"/>
            </a:endParaRPr>
          </a:p>
        </p:txBody>
      </p:sp>
      <p:sp>
        <p:nvSpPr>
          <p:cNvPr id="721" name="Google Shape;721;p41"/>
          <p:cNvSpPr/>
          <p:nvPr/>
        </p:nvSpPr>
        <p:spPr>
          <a:xfrm>
            <a:off x="822960" y="2834640"/>
            <a:ext cx="7863840" cy="2651760"/>
          </a:xfrm>
          <a:prstGeom prst="rect">
            <a:avLst/>
          </a:prstGeom>
          <a:noFill/>
          <a:ln>
            <a:noFill/>
          </a:ln>
        </p:spPr>
        <p:txBody>
          <a:bodyPr anchorCtr="0" anchor="ctr" bIns="0" lIns="0" spcFirstLastPara="1" rIns="0" wrap="square" tIns="0">
            <a:noAutofit/>
          </a:bodyPr>
          <a:lstStyle/>
          <a:p>
            <a:pPr indent="-203200" lvl="0" marL="203200" marR="0" rtl="0" algn="l">
              <a:lnSpc>
                <a:spcPct val="160000"/>
              </a:lnSpc>
              <a:spcBef>
                <a:spcPts val="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Complete PARTS 4, 5 and 6 of the Module 1 Worksheet, including all graphs — axes, intercepts, slope and feasible region fully labeled.</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Khan Academy: Basic Economic Concepts Quiz 1 and Quiz 2 — reach mastery.</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Khan Academy: Basic Economic Concepts Quiz 3 — focus on cost-benefit analysis; exposure is all that is required.</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HEADS UP: Utility appears in Quiz 3 but is not covered in class until Module 2. Try the questions as exposure.</a:t>
            </a:r>
            <a:endParaRPr b="0" i="0" sz="1500" u="none" cap="none" strike="noStrike">
              <a:solidFill>
                <a:schemeClr val="dk1"/>
              </a:solidFill>
              <a:latin typeface="Calibri"/>
              <a:ea typeface="Calibri"/>
              <a:cs typeface="Calibri"/>
              <a:sym typeface="Calibri"/>
            </a:endParaRPr>
          </a:p>
          <a:p>
            <a:pPr indent="-203200" lvl="0" marL="203200" marR="0" rtl="0" algn="l">
              <a:lnSpc>
                <a:spcPct val="160000"/>
              </a:lnSpc>
              <a:spcBef>
                <a:spcPts val="1000"/>
              </a:spcBef>
              <a:spcAft>
                <a:spcPts val="0"/>
              </a:spcAft>
              <a:buClr>
                <a:srgbClr val="CFD9E5"/>
              </a:buClr>
              <a:buSzPts val="1500"/>
              <a:buFont typeface="Calibri"/>
              <a:buChar char="•"/>
            </a:pPr>
            <a:r>
              <a:rPr b="0" i="0" lang="en-US" sz="1500" u="none" cap="none" strike="noStrike">
                <a:solidFill>
                  <a:srgbClr val="CFD9E5"/>
                </a:solidFill>
                <a:latin typeface="Calibri"/>
                <a:ea typeface="Calibri"/>
                <a:cs typeface="Calibri"/>
                <a:sym typeface="Calibri"/>
              </a:rPr>
              <a:t>HOMEWORK RULE OF THUMB: above 80% → move on. Below 80% → retry once or twice. Consistently below 80% → office hours, immediately.</a:t>
            </a:r>
            <a:endParaRPr b="0" i="0" sz="1500" u="none" cap="none" strike="noStrike">
              <a:solidFill>
                <a:schemeClr val="dk1"/>
              </a:solidFill>
              <a:latin typeface="Calibri"/>
              <a:ea typeface="Calibri"/>
              <a:cs typeface="Calibri"/>
              <a:sym typeface="Calibri"/>
            </a:endParaRPr>
          </a:p>
        </p:txBody>
      </p:sp>
      <p:sp>
        <p:nvSpPr>
          <p:cNvPr id="722" name="Google Shape;722;p41"/>
          <p:cNvSpPr/>
          <p:nvPr/>
        </p:nvSpPr>
        <p:spPr>
          <a:xfrm>
            <a:off x="9326880" y="3017520"/>
            <a:ext cx="1828800" cy="1828800"/>
          </a:xfrm>
          <a:prstGeom prst="ellipse">
            <a:avLst/>
          </a:prstGeom>
          <a:solidFill>
            <a:srgbClr val="C08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1"/>
          <p:cNvSpPr/>
          <p:nvPr/>
        </p:nvSpPr>
        <p:spPr>
          <a:xfrm>
            <a:off x="9326880" y="3017520"/>
            <a:ext cx="1828800" cy="182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20</a:t>
            </a:r>
            <a:endParaRPr b="0" i="0" sz="3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MIN</a:t>
            </a:r>
            <a:endParaRPr b="0" i="0" sz="3000" u="none" cap="none" strike="noStrike">
              <a:solidFill>
                <a:schemeClr val="dk1"/>
              </a:solidFill>
              <a:latin typeface="Calibri"/>
              <a:ea typeface="Calibri"/>
              <a:cs typeface="Calibri"/>
              <a:sym typeface="Calibri"/>
            </a:endParaRPr>
          </a:p>
        </p:txBody>
      </p:sp>
      <p:sp>
        <p:nvSpPr>
          <p:cNvPr id="724" name="Google Shape;724;p41"/>
          <p:cNvSpPr/>
          <p:nvPr/>
        </p:nvSpPr>
        <p:spPr>
          <a:xfrm>
            <a:off x="822960" y="6345936"/>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180"/>
              </a:buClr>
              <a:buSzPts val="900"/>
              <a:buFont typeface="Calibri"/>
              <a:buNone/>
            </a:pPr>
            <a:r>
              <a:rPr b="0" i="0" lang="en-US" sz="900" u="none" cap="none" strike="noStrike">
                <a:solidFill>
                  <a:srgbClr val="4A6180"/>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sp>
        <p:nvSpPr>
          <p:cNvPr id="730" name="Google Shape;730;p42"/>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731" name="Google Shape;731;p42"/>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What You Should Be Able to Do</a:t>
            </a:r>
            <a:endParaRPr b="0" i="0" sz="3000" u="none" cap="none" strike="noStrike">
              <a:solidFill>
                <a:schemeClr val="dk1"/>
              </a:solidFill>
              <a:latin typeface="Calibri"/>
              <a:ea typeface="Calibri"/>
              <a:cs typeface="Calibri"/>
              <a:sym typeface="Calibri"/>
            </a:endParaRPr>
          </a:p>
        </p:txBody>
      </p:sp>
      <p:sp>
        <p:nvSpPr>
          <p:cNvPr id="732" name="Google Shape;732;p42"/>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733" name="Google Shape;733;p42"/>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graphicFrame>
        <p:nvGraphicFramePr>
          <p:cNvPr id="734" name="Google Shape;734;p42"/>
          <p:cNvGraphicFramePr/>
          <p:nvPr/>
        </p:nvGraphicFramePr>
        <p:xfrm>
          <a:off x="502920" y="1554480"/>
          <a:ext cx="3000000" cy="3000000"/>
        </p:xfrm>
        <a:graphic>
          <a:graphicData uri="http://schemas.openxmlformats.org/drawingml/2006/table">
            <a:tbl>
              <a:tblPr>
                <a:noFill/>
                <a:tableStyleId>{5412CA50-F7BB-49FB-A1FD-1592E326B74B}</a:tableStyleId>
              </a:tblPr>
              <a:tblGrid>
                <a:gridCol w="1188725"/>
                <a:gridCol w="9994400"/>
              </a:tblGrid>
              <a:tr h="566925">
                <a:tc>
                  <a:txBody>
                    <a:bodyPr/>
                    <a:lstStyle/>
                    <a:p>
                      <a:pPr indent="0" lvl="0" marL="0" marR="0" rtl="0" algn="l">
                        <a:spcBef>
                          <a:spcPts val="0"/>
                        </a:spcBef>
                        <a:spcAft>
                          <a:spcPts val="0"/>
                        </a:spcAft>
                        <a:buClr>
                          <a:schemeClr val="dk1"/>
                        </a:buClr>
                        <a:buSzPts val="1100"/>
                        <a:buFont typeface="Calibri"/>
                        <a:buNone/>
                      </a:pPr>
                      <a:r>
                        <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LEARNING OUTCOME</a:t>
                      </a:r>
                      <a:endParaRPr sz="110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1A2E4A"/>
                    </a:solidFill>
                  </a:tcPr>
                </a:tc>
              </a:tr>
              <a:tr h="56692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1</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State the scientific method as applied in economics; classify any statement as positive or normative; define ceteris paribus, natural experiment, micro, macro, short-run and long-run.</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2</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Define scarcity, choice and opportunity cost formally; name and define the four factors of production and their factor payments; compute marginal benefit and marginal cost and apply the MB ≥ MC decision rule.</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56692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3</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Place at least twelve thinkers in their school and century, and state each one's core contribution; explain the 'models as maps' framing and name one neoclassical assumption worth scrutiny.</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4</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Build a budget constraint from a price-and-income scenario in all three forms; compute both intercepts and the slope; classify any bundle as inside, on, or outside; distinguish rotation from parallel shift.</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r h="56692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5</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Build a PPM from tabular data; compute opportunity cost between adjacent points; explain why the curve bows outward; classify points as efficient, inefficient or unattainable; distinguish movement along from shifts of the curve.</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Part 6</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c>
                  <a:txBody>
                    <a:bodyPr/>
                    <a:lstStyle/>
                    <a:p>
                      <a:pPr indent="0" lvl="0" marL="0" marR="0" rtl="0" algn="l">
                        <a:spcBef>
                          <a:spcPts val="0"/>
                        </a:spcBef>
                        <a:spcAft>
                          <a:spcPts val="0"/>
                        </a:spcAft>
                        <a:buClr>
                          <a:srgbClr val="1A2E4A"/>
                        </a:buClr>
                        <a:buSzPts val="1150"/>
                        <a:buFont typeface="Calibri"/>
                        <a:buNone/>
                      </a:pPr>
                      <a:r>
                        <a:rPr lang="en-US" sz="1150" u="none" cap="none" strike="noStrike">
                          <a:solidFill>
                            <a:srgbClr val="1A2E4A"/>
                          </a:solidFill>
                          <a:latin typeface="Calibri"/>
                          <a:ea typeface="Calibri"/>
                          <a:cs typeface="Calibri"/>
                          <a:sym typeface="Calibri"/>
                        </a:rPr>
                        <a:t>Compute opportunity costs for two producers; identify absolute and comparative advantage; determine the efficient specialization pattern and the range of mutually beneficial terms of trade; show the gains from trade graphically.</a:t>
                      </a:r>
                      <a:endParaRPr sz="1150" u="none" cap="none" strike="noStrike">
                        <a:latin typeface="Calibri"/>
                        <a:ea typeface="Calibri"/>
                        <a:cs typeface="Calibri"/>
                        <a:sym typeface="Calibri"/>
                      </a:endParaRPr>
                    </a:p>
                  </a:txBody>
                  <a:tcPr marT="45725" marB="45725" marR="91450" marL="91450" anchor="ctr">
                    <a:lnL cap="flat" cmpd="sng" w="12700">
                      <a:solidFill>
                        <a:srgbClr val="CFD9E5"/>
                      </a:solidFill>
                      <a:prstDash val="solid"/>
                      <a:round/>
                      <a:headEnd len="sm" w="sm" type="none"/>
                      <a:tailEnd len="sm" w="sm" type="none"/>
                    </a:lnL>
                    <a:lnR cap="flat" cmpd="sng" w="12700">
                      <a:solidFill>
                        <a:srgbClr val="CFD9E5"/>
                      </a:solidFill>
                      <a:prstDash val="solid"/>
                      <a:round/>
                      <a:headEnd len="sm" w="sm" type="none"/>
                      <a:tailEnd len="sm" w="sm" type="none"/>
                    </a:lnR>
                    <a:lnT cap="flat" cmpd="sng" w="12700">
                      <a:solidFill>
                        <a:srgbClr val="CFD9E5"/>
                      </a:solidFill>
                      <a:prstDash val="solid"/>
                      <a:round/>
                      <a:headEnd len="sm" w="sm" type="none"/>
                      <a:tailEnd len="sm" w="sm" type="none"/>
                    </a:lnT>
                    <a:lnB cap="flat" cmpd="sng" w="12700">
                      <a:solidFill>
                        <a:srgbClr val="CFD9E5"/>
                      </a:solidFill>
                      <a:prstDash val="solid"/>
                      <a:round/>
                      <a:headEnd len="sm" w="sm" type="none"/>
                      <a:tailEnd len="sm" w="sm" type="none"/>
                    </a:lnB>
                    <a:solidFill>
                      <a:srgbClr val="E8EDF3"/>
                    </a:solidFill>
                  </a:tcPr>
                </a:tc>
              </a:tr>
            </a:tbl>
          </a:graphicData>
        </a:graphic>
      </p:graphicFrame>
      <p:sp>
        <p:nvSpPr>
          <p:cNvPr id="735" name="Google Shape;735;p42"/>
          <p:cNvSpPr/>
          <p:nvPr/>
        </p:nvSpPr>
        <p:spPr>
          <a:xfrm>
            <a:off x="502920" y="5532120"/>
            <a:ext cx="11183112" cy="59436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2"/>
          <p:cNvSpPr/>
          <p:nvPr/>
        </p:nvSpPr>
        <p:spPr>
          <a:xfrm>
            <a:off x="758952" y="5660136"/>
            <a:ext cx="10671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87A"/>
              </a:buClr>
              <a:buSzPts val="1050"/>
              <a:buFont typeface="Calibri"/>
              <a:buNone/>
            </a:pPr>
            <a:r>
              <a:rPr b="1" i="0" lang="en-US" sz="1050" u="none" cap="none" strike="noStrike">
                <a:solidFill>
                  <a:srgbClr val="E8C87A"/>
                </a:solidFill>
                <a:latin typeface="Calibri"/>
                <a:ea typeface="Calibri"/>
                <a:cs typeface="Calibri"/>
                <a:sym typeface="Calibri"/>
              </a:rPr>
              <a:t>NEXT</a:t>
            </a:r>
            <a:endParaRPr b="0" i="0" sz="1050" u="none" cap="none" strike="noStrike">
              <a:solidFill>
                <a:schemeClr val="dk1"/>
              </a:solidFill>
              <a:latin typeface="Calibri"/>
              <a:ea typeface="Calibri"/>
              <a:cs typeface="Calibri"/>
              <a:sym typeface="Calibri"/>
            </a:endParaRPr>
          </a:p>
        </p:txBody>
      </p:sp>
      <p:sp>
        <p:nvSpPr>
          <p:cNvPr id="737" name="Google Shape;737;p42"/>
          <p:cNvSpPr/>
          <p:nvPr/>
        </p:nvSpPr>
        <p:spPr>
          <a:xfrm>
            <a:off x="758952" y="5934456"/>
            <a:ext cx="10671000" cy="27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MODULE 2 — CHOICE. Utility, indifference curves, and the optimal consumption bundle: where the budget constraint meets preference.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2" name="Shape 742"/>
        <p:cNvGrpSpPr/>
        <p:nvPr/>
      </p:nvGrpSpPr>
      <p:grpSpPr>
        <a:xfrm>
          <a:off x="0" y="0"/>
          <a:ext cx="0" cy="0"/>
          <a:chOff x="0" y="0"/>
          <a:chExt cx="0" cy="0"/>
        </a:xfrm>
      </p:grpSpPr>
      <p:sp>
        <p:nvSpPr>
          <p:cNvPr id="743" name="Google Shape;743;p43"/>
          <p:cNvSpPr/>
          <p:nvPr/>
        </p:nvSpPr>
        <p:spPr>
          <a:xfrm>
            <a:off x="502920" y="34747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92E"/>
              </a:buClr>
              <a:buSzPts val="1100"/>
              <a:buFont typeface="Calibri"/>
              <a:buNone/>
            </a:pPr>
            <a:r>
              <a:rPr b="1" i="0" lang="en-US" sz="1100" u="none" cap="none" strike="noStrike">
                <a:solidFill>
                  <a:srgbClr val="C0892E"/>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744" name="Google Shape;744;p43"/>
          <p:cNvSpPr/>
          <p:nvPr/>
        </p:nvSpPr>
        <p:spPr>
          <a:xfrm>
            <a:off x="502920" y="621792"/>
            <a:ext cx="11155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3000"/>
              <a:buFont typeface="Cambria"/>
              <a:buNone/>
            </a:pPr>
            <a:r>
              <a:rPr b="1" i="0" lang="en-US" sz="3000" u="none" cap="none" strike="noStrike">
                <a:solidFill>
                  <a:srgbClr val="1A2E4A"/>
                </a:solidFill>
                <a:latin typeface="Cambria"/>
                <a:ea typeface="Cambria"/>
                <a:cs typeface="Cambria"/>
                <a:sym typeface="Cambria"/>
              </a:rPr>
              <a:t>References</a:t>
            </a:r>
            <a:endParaRPr b="0" i="0" sz="3000" u="none" cap="none" strike="noStrike">
              <a:solidFill>
                <a:schemeClr val="dk1"/>
              </a:solidFill>
              <a:latin typeface="Calibri"/>
              <a:ea typeface="Calibri"/>
              <a:cs typeface="Calibri"/>
              <a:sym typeface="Calibri"/>
            </a:endParaRPr>
          </a:p>
        </p:txBody>
      </p:sp>
      <p:sp>
        <p:nvSpPr>
          <p:cNvPr id="745" name="Google Shape;745;p43"/>
          <p:cNvSpPr/>
          <p:nvPr/>
        </p:nvSpPr>
        <p:spPr>
          <a:xfrm>
            <a:off x="502920" y="6345936"/>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INTRO TO MICROECONOMICS  |  PROF. VELAZQUEZ</a:t>
            </a:r>
            <a:endParaRPr b="0" i="0" sz="900" u="none" cap="none" strike="noStrike">
              <a:solidFill>
                <a:schemeClr val="dk1"/>
              </a:solidFill>
              <a:latin typeface="Calibri"/>
              <a:ea typeface="Calibri"/>
              <a:cs typeface="Calibri"/>
              <a:sym typeface="Calibri"/>
            </a:endParaRPr>
          </a:p>
        </p:txBody>
      </p:sp>
      <p:sp>
        <p:nvSpPr>
          <p:cNvPr id="746" name="Google Shape;746;p43"/>
          <p:cNvSpPr/>
          <p:nvPr/>
        </p:nvSpPr>
        <p:spPr>
          <a:xfrm>
            <a:off x="5486400" y="6345936"/>
            <a:ext cx="619963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7A8"/>
              </a:buClr>
              <a:buSzPts val="900"/>
              <a:buFont typeface="Calibri"/>
              <a:buNone/>
            </a:pPr>
            <a:r>
              <a:rPr b="0" i="0" lang="en-US" sz="900" u="none" cap="none" strike="noStrike">
                <a:solidFill>
                  <a:srgbClr val="8A97A8"/>
                </a:solidFill>
                <a:latin typeface="Calibri"/>
                <a:ea typeface="Calibri"/>
                <a:cs typeface="Calibri"/>
                <a:sym typeface="Calibri"/>
              </a:rPr>
              <a:t>MODULE 1: OVERVIEW OF ECONOMIC THOUGHT AND MODELING</a:t>
            </a:r>
            <a:endParaRPr b="0" i="0" sz="900" u="none" cap="none" strike="noStrike">
              <a:solidFill>
                <a:schemeClr val="dk1"/>
              </a:solidFill>
              <a:latin typeface="Calibri"/>
              <a:ea typeface="Calibri"/>
              <a:cs typeface="Calibri"/>
              <a:sym typeface="Calibri"/>
            </a:endParaRPr>
          </a:p>
        </p:txBody>
      </p:sp>
      <p:sp>
        <p:nvSpPr>
          <p:cNvPr id="747" name="Google Shape;747;p43"/>
          <p:cNvSpPr/>
          <p:nvPr/>
        </p:nvSpPr>
        <p:spPr>
          <a:xfrm>
            <a:off x="502920" y="1508760"/>
            <a:ext cx="5486400" cy="4572000"/>
          </a:xfrm>
          <a:prstGeom prst="rect">
            <a:avLst/>
          </a:prstGeom>
          <a:noFill/>
          <a:ln>
            <a:noFill/>
          </a:ln>
        </p:spPr>
        <p:txBody>
          <a:bodyPr anchorCtr="0" anchor="ctr" bIns="0" lIns="0" spcFirstLastPara="1" rIns="0" wrap="square" tIns="0">
            <a:noAutofit/>
          </a:bodyPr>
          <a:lstStyle/>
          <a:p>
            <a:pPr indent="-203200" lvl="0" marL="203200" marR="0" rtl="0" algn="l">
              <a:lnSpc>
                <a:spcPct val="140000"/>
              </a:lnSpc>
              <a:spcBef>
                <a:spcPts val="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Akerlof, G. A. (1970). The market for lemons: Quality uncertainty and the market mechanism. Quarterly Journal of Economics, 84(3), 488–500.</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Becker, G. S. (1976). The economic approach to human behavior. University of Chicago Press.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Bentham, J. (1789). An introduction to the principles of morals and legislation. Oxford: Clarendon Press.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Duflo, E., &amp; Banerjee, A. (2011). Poor economics: A radical rethinking of the way to fight global poverty. PublicAffairs.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Kahneman, D., &amp; Tversky, A. (1979). Prospect theory: An analysis of decision under risk. Econometrica, 47(2), 263–292.</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Khaldun, I. (1377/1958). The Muqaddimah: An introduction to history (F. Rosenthal, Trans.). Princeton University Press.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Malthus, T. R. (1798). An essay on the principle of population. London: J. Johnson.</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Marshall, A. (1890). Principles of economics. London: Macmillan.</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Mullainathan, S., &amp; Shafir, E. (2013). Scarcity: Why having too little means so much. Times Books.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North, D. C. (1990). Institutions, institutional change, and economic performance. Cambridge University Press.</a:t>
            </a:r>
            <a:endParaRPr b="0" i="0" sz="1000" u="none" cap="none" strike="noStrike">
              <a:solidFill>
                <a:schemeClr val="dk1"/>
              </a:solidFill>
              <a:latin typeface="Calibri"/>
              <a:ea typeface="Calibri"/>
              <a:cs typeface="Calibri"/>
              <a:sym typeface="Calibri"/>
            </a:endParaRPr>
          </a:p>
        </p:txBody>
      </p:sp>
      <p:sp>
        <p:nvSpPr>
          <p:cNvPr id="748" name="Google Shape;748;p43"/>
          <p:cNvSpPr/>
          <p:nvPr/>
        </p:nvSpPr>
        <p:spPr>
          <a:xfrm>
            <a:off x="6199632" y="1508760"/>
            <a:ext cx="5486400" cy="4572000"/>
          </a:xfrm>
          <a:prstGeom prst="rect">
            <a:avLst/>
          </a:prstGeom>
          <a:noFill/>
          <a:ln>
            <a:noFill/>
          </a:ln>
        </p:spPr>
        <p:txBody>
          <a:bodyPr anchorCtr="0" anchor="ctr" bIns="0" lIns="0" spcFirstLastPara="1" rIns="0" wrap="square" tIns="0">
            <a:noAutofit/>
          </a:bodyPr>
          <a:lstStyle/>
          <a:p>
            <a:pPr indent="-203200" lvl="0" marL="203200" marR="0" rtl="0" algn="l">
              <a:lnSpc>
                <a:spcPct val="140000"/>
              </a:lnSpc>
              <a:spcBef>
                <a:spcPts val="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Ostrom, E. (1990). Governing the commons: The evolution of institutions for collective action. Cambridge University Press.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Piketty, T. (2013). Capital in the twenty-first century. Paris: Seuil. (English ed., 2014, Harvard University Press).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Quesnay, F. (1758). Tableau économique. Versailles.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Ricardo, D. (1817). On the principles of political economy and taxation. London: John Murray.</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Schumpeter, J. A. (1942). Capitalism, socialism and democracy. Harper &amp; Brothers.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Sen, A. (1999). Development as freedom. Alfred A. Knopf.</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Simon, H. A. (1955). A behavioral model of rational choice. Quarterly Journal of Economics, 69(1), 99–118.</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Smith, A. (1776). An inquiry into the nature and causes of the wealth of nations. London: W. Strahan &amp; T. Cadell.</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Thaler, R. H., &amp; Sunstein, C. R. (2008). Nudge: Improving decisions about health, wealth, and happiness. Yale University Press.</a:t>
            </a:r>
            <a:endParaRPr b="0" i="0" sz="1000" u="none" cap="none" strike="noStrike">
              <a:solidFill>
                <a:schemeClr val="dk1"/>
              </a:solidFill>
              <a:latin typeface="Calibri"/>
              <a:ea typeface="Calibri"/>
              <a:cs typeface="Calibri"/>
              <a:sym typeface="Calibri"/>
            </a:endParaRPr>
          </a:p>
          <a:p>
            <a:pPr indent="-203200" lvl="0" marL="203200" marR="0" rtl="0" algn="l">
              <a:lnSpc>
                <a:spcPct val="140000"/>
              </a:lnSpc>
              <a:spcBef>
                <a:spcPts val="700"/>
              </a:spcBef>
              <a:spcAft>
                <a:spcPts val="0"/>
              </a:spcAft>
              <a:buClr>
                <a:srgbClr val="4A6180"/>
              </a:buClr>
              <a:buSzPts val="1000"/>
              <a:buFont typeface="Calibri"/>
              <a:buChar char="•"/>
            </a:pPr>
            <a:r>
              <a:rPr b="0" i="0" lang="en-US" sz="1000" u="none" cap="none" strike="noStrike">
                <a:solidFill>
                  <a:srgbClr val="4A6180"/>
                </a:solidFill>
                <a:latin typeface="Calibri"/>
                <a:ea typeface="Calibri"/>
                <a:cs typeface="Calibri"/>
                <a:sym typeface="Calibri"/>
              </a:rPr>
              <a:t>Veblen, T. (1899). The theory of the leisure class. New York: Macmillan.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2026-08-24T19:11:31Z</dcterms:created>
  <dc:creator>Professor Velazquez</dc:creator>
</cp:coreProperties>
</file>