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E4A"/>
          </a:solidFill>
          <a:ln/>
        </p:spPr>
      </p:sp>
      <p:sp>
        <p:nvSpPr>
          <p:cNvPr id="3" name="Text 1"/>
          <p:cNvSpPr/>
          <p:nvPr/>
        </p:nvSpPr>
        <p:spPr>
          <a:xfrm>
            <a:off x="914400" y="1051560"/>
            <a:ext cx="10332720" cy="365760"/>
          </a:xfrm>
          <a:prstGeom prst="rect">
            <a:avLst/>
          </a:prstGeom>
          <a:noFill/>
          <a:ln/>
        </p:spPr>
        <p:txBody>
          <a:bodyPr wrap="square" lIns="0" tIns="0" rIns="0" bIns="0" rtlCol="0" anchor="ctr"/>
          <a:lstStyle/>
          <a:p>
            <a:pPr indent="0" marL="0">
              <a:buNone/>
            </a:pPr>
            <a:r>
              <a:rPr lang="en-US" sz="1400" b="1" spc="600" kern="0" dirty="0">
                <a:solidFill>
                  <a:srgbClr val="E8C87A"/>
                </a:solidFill>
                <a:latin typeface="Calibri" pitchFamily="34" charset="0"/>
                <a:ea typeface="Calibri" pitchFamily="34" charset="-122"/>
                <a:cs typeface="Calibri" pitchFamily="34" charset="-120"/>
              </a:rPr>
              <a:t>PROFESSOR VELAZQUEZ</a:t>
            </a:r>
            <a:endParaRPr lang="en-US" sz="1400" dirty="0"/>
          </a:p>
        </p:txBody>
      </p:sp>
      <p:sp>
        <p:nvSpPr>
          <p:cNvPr id="4" name="Text 2"/>
          <p:cNvSpPr/>
          <p:nvPr/>
        </p:nvSpPr>
        <p:spPr>
          <a:xfrm>
            <a:off x="914400" y="1600200"/>
            <a:ext cx="10332720" cy="2651760"/>
          </a:xfrm>
          <a:prstGeom prst="rect">
            <a:avLst/>
          </a:prstGeom>
          <a:noFill/>
          <a:ln/>
        </p:spPr>
        <p:txBody>
          <a:bodyPr wrap="square" lIns="0" tIns="0" rIns="0" bIns="0" rtlCol="0" anchor="ctr"/>
          <a:lstStyle/>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INTRODUCTION</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TO</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MICROECONOMICS</a:t>
            </a:r>
            <a:endParaRPr lang="en-US" sz="5400" dirty="0"/>
          </a:p>
        </p:txBody>
      </p:sp>
      <p:sp>
        <p:nvSpPr>
          <p:cNvPr id="5" name="Shape 3"/>
          <p:cNvSpPr/>
          <p:nvPr/>
        </p:nvSpPr>
        <p:spPr>
          <a:xfrm>
            <a:off x="914400" y="4434840"/>
            <a:ext cx="1371600" cy="50292"/>
          </a:xfrm>
          <a:prstGeom prst="rect">
            <a:avLst/>
          </a:prstGeom>
          <a:solidFill>
            <a:srgbClr val="C0892E"/>
          </a:solidFill>
          <a:ln/>
        </p:spPr>
      </p:sp>
      <p:sp>
        <p:nvSpPr>
          <p:cNvPr id="6" name="Text 4"/>
          <p:cNvSpPr/>
          <p:nvPr/>
        </p:nvSpPr>
        <p:spPr>
          <a:xfrm>
            <a:off x="914400" y="4709160"/>
            <a:ext cx="10332720" cy="457200"/>
          </a:xfrm>
          <a:prstGeom prst="rect">
            <a:avLst/>
          </a:prstGeom>
          <a:noFill/>
          <a:ln/>
        </p:spPr>
        <p:txBody>
          <a:bodyPr wrap="square" lIns="0" tIns="0" rIns="0" bIns="0" rtlCol="0" anchor="ctr"/>
          <a:lstStyle/>
          <a:p>
            <a:pPr indent="0" marL="0">
              <a:buNone/>
            </a:pPr>
            <a:r>
              <a:rPr lang="en-US" sz="1700" spc="200" kern="0" dirty="0">
                <a:solidFill>
                  <a:srgbClr val="E8C87A"/>
                </a:solidFill>
                <a:latin typeface="Calibri" pitchFamily="34" charset="0"/>
                <a:ea typeface="Calibri" pitchFamily="34" charset="-122"/>
                <a:cs typeface="Calibri" pitchFamily="34" charset="-120"/>
              </a:rPr>
              <a:t>MODULE 03  ·  SUPPLY AND DEMAND EQUILIBRIUM</a:t>
            </a:r>
            <a:endParaRPr lang="en-US" sz="1700" dirty="0"/>
          </a:p>
        </p:txBody>
      </p:sp>
      <p:sp>
        <p:nvSpPr>
          <p:cNvPr id="7" name="Text 5"/>
          <p:cNvSpPr/>
          <p:nvPr/>
        </p:nvSpPr>
        <p:spPr>
          <a:xfrm>
            <a:off x="914400" y="5212080"/>
            <a:ext cx="10332720" cy="365760"/>
          </a:xfrm>
          <a:prstGeom prst="rect">
            <a:avLst/>
          </a:prstGeom>
          <a:noFill/>
          <a:ln/>
        </p:spPr>
        <p:txBody>
          <a:bodyPr wrap="square" lIns="0" tIns="0" rIns="0" bIns="0" rtlCol="0" anchor="ctr"/>
          <a:lstStyle/>
          <a:p>
            <a:pPr indent="0" marL="0">
              <a:buNone/>
            </a:pPr>
            <a:r>
              <a:rPr lang="en-US" sz="1300" spc="500" kern="0" dirty="0">
                <a:solidFill>
                  <a:srgbClr val="8A97A8"/>
                </a:solidFill>
                <a:latin typeface="Calibri" pitchFamily="34" charset="0"/>
                <a:ea typeface="Calibri" pitchFamily="34" charset="-122"/>
                <a:cs typeface="Calibri" pitchFamily="34" charset="-120"/>
              </a:rPr>
              <a:t>FALL 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3"/>
        </a:solidFill>
      </p:bgPr>
    </p:bg>
    <p:spTree>
      <p:nvGrpSpPr>
        <p:cNvPr id="1" name=""/>
        <p:cNvGrpSpPr/>
        <p:nvPr/>
      </p:nvGrpSpPr>
      <p:grpSpPr>
        <a:xfrm>
          <a:off x="0" y="0"/>
          <a:ext cx="0" cy="0"/>
          <a:chOff x="0" y="0"/>
          <a:chExt cx="0" cy="0"/>
        </a:xfrm>
      </p:grpSpPr>
      <p:sp>
        <p:nvSpPr>
          <p:cNvPr id="2" name="Text 0"/>
          <p:cNvSpPr/>
          <p:nvPr/>
        </p:nvSpPr>
        <p:spPr>
          <a:xfrm>
            <a:off x="822960" y="1417320"/>
            <a:ext cx="3291840" cy="2743200"/>
          </a:xfrm>
          <a:prstGeom prst="rect">
            <a:avLst/>
          </a:prstGeom>
          <a:noFill/>
          <a:ln/>
        </p:spPr>
        <p:txBody>
          <a:bodyPr wrap="square" lIns="0" tIns="0" rIns="0" bIns="0" rtlCol="0" anchor="ctr"/>
          <a:lstStyle/>
          <a:p>
            <a:pPr indent="0" marL="0">
              <a:buNone/>
            </a:pPr>
            <a:r>
              <a:rPr lang="en-US" sz="19000" b="1" dirty="0">
                <a:solidFill>
                  <a:srgbClr val="E8C87A"/>
                </a:solidFill>
                <a:latin typeface="Cambria" pitchFamily="34" charset="0"/>
                <a:ea typeface="Cambria" pitchFamily="34" charset="-122"/>
                <a:cs typeface="Cambria" pitchFamily="34" charset="-120"/>
              </a:rPr>
              <a:t>03</a:t>
            </a:r>
            <a:endParaRPr lang="en-US" sz="19000" dirty="0"/>
          </a:p>
        </p:txBody>
      </p:sp>
      <p:sp>
        <p:nvSpPr>
          <p:cNvPr id="3" name="Text 1"/>
          <p:cNvSpPr/>
          <p:nvPr/>
        </p:nvSpPr>
        <p:spPr>
          <a:xfrm>
            <a:off x="960120" y="4160520"/>
            <a:ext cx="3108960" cy="36576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MODULE</a:t>
            </a:r>
            <a:endParaRPr lang="en-US" sz="1500" dirty="0"/>
          </a:p>
        </p:txBody>
      </p:sp>
      <p:sp>
        <p:nvSpPr>
          <p:cNvPr id="4" name="Text 2"/>
          <p:cNvSpPr/>
          <p:nvPr/>
        </p:nvSpPr>
        <p:spPr>
          <a:xfrm>
            <a:off x="4480560" y="1828800"/>
            <a:ext cx="6949440" cy="1828800"/>
          </a:xfrm>
          <a:prstGeom prst="rect">
            <a:avLst/>
          </a:prstGeom>
          <a:noFill/>
          <a:ln/>
        </p:spPr>
        <p:txBody>
          <a:bodyPr wrap="square" lIns="0" tIns="0" rIns="0" bIns="0" rtlCol="0" anchor="b"/>
          <a:lstStyle/>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Supply and Demand</a:t>
            </a:r>
            <a:endParaRPr lang="en-US" sz="4000" dirty="0"/>
          </a:p>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Equilibrium</a:t>
            </a:r>
            <a:endParaRPr lang="en-US" sz="4000" dirty="0"/>
          </a:p>
        </p:txBody>
      </p:sp>
      <p:sp>
        <p:nvSpPr>
          <p:cNvPr id="5" name="Text 3"/>
          <p:cNvSpPr/>
          <p:nvPr/>
        </p:nvSpPr>
        <p:spPr>
          <a:xfrm>
            <a:off x="4480560" y="3794760"/>
            <a:ext cx="6949440" cy="1463040"/>
          </a:xfrm>
          <a:prstGeom prst="rect">
            <a:avLst/>
          </a:prstGeom>
          <a:noFill/>
          <a:ln/>
        </p:spPr>
        <p:txBody>
          <a:bodyPr wrap="square" lIns="0" tIns="0" rIns="0" bIns="0" rtlCol="0" anchor="ctr"/>
          <a:lstStyle/>
          <a:p>
            <a:pPr indent="0" marL="0">
              <a:lnSpc>
                <a:spcPts val="2400"/>
              </a:lnSpc>
              <a:buNone/>
            </a:pPr>
            <a:r>
              <a:rPr lang="en-US" sz="1500" dirty="0">
                <a:solidFill>
                  <a:srgbClr val="4A6180"/>
                </a:solidFill>
                <a:latin typeface="Calibri" pitchFamily="34" charset="0"/>
                <a:ea typeface="Calibri" pitchFamily="34" charset="-122"/>
                <a:cs typeface="Calibri" pitchFamily="34" charset="-120"/>
              </a:rPr>
              <a:t>Section I builds the market model from consumer and producer data — table to equation to graph. Section II shifts it: the determinants of demand and supply, the ceteris paribus procedure, and the indeterminacy of double shifts.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3</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Agenda, Big Questions &amp; Do Now</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
        <p:nvSpPr>
          <p:cNvPr id="6" name="Shape 4"/>
          <p:cNvSpPr/>
          <p:nvPr/>
        </p:nvSpPr>
        <p:spPr>
          <a:xfrm>
            <a:off x="502920" y="1481328"/>
            <a:ext cx="3611880" cy="2377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64208"/>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BIG QUESTIONS</a:t>
            </a:r>
            <a:endParaRPr lang="en-US" sz="1550" dirty="0"/>
          </a:p>
        </p:txBody>
      </p:sp>
      <p:sp>
        <p:nvSpPr>
          <p:cNvPr id="8" name="Text 6"/>
          <p:cNvSpPr/>
          <p:nvPr/>
        </p:nvSpPr>
        <p:spPr>
          <a:xfrm>
            <a:off x="758952" y="2066544"/>
            <a:ext cx="3099816" cy="15544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(1) How do consumers rank competing bundles of goods, and what determines where they choose to be?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(2) How do dispersed prices coordinate buyers and sellers without any central authority directing them?</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(3) What happens to the equilibrium outcome when a social, political, or ecological force shifts supply or demand — or both simultaneously?</a:t>
            </a:r>
            <a:endParaRPr lang="en-US" sz="900" dirty="0"/>
          </a:p>
        </p:txBody>
      </p:sp>
      <p:sp>
        <p:nvSpPr>
          <p:cNvPr id="9" name="Shape 7"/>
          <p:cNvSpPr/>
          <p:nvPr/>
        </p:nvSpPr>
        <p:spPr>
          <a:xfrm>
            <a:off x="4315968" y="1481328"/>
            <a:ext cx="3611880" cy="2377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64208"/>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PRE-WORK</a:t>
            </a:r>
            <a:endParaRPr lang="en-US" sz="1550" dirty="0"/>
          </a:p>
        </p:txBody>
      </p:sp>
      <p:sp>
        <p:nvSpPr>
          <p:cNvPr id="11" name="Text 9"/>
          <p:cNvSpPr/>
          <p:nvPr/>
        </p:nvSpPr>
        <p:spPr>
          <a:xfrm>
            <a:off x="4572000" y="2066544"/>
            <a:ext cx="3099816" cy="1554480"/>
          </a:xfrm>
          <a:prstGeom prst="rect">
            <a:avLst/>
          </a:prstGeom>
          <a:noFill/>
          <a:ln/>
        </p:spPr>
        <p:txBody>
          <a:bodyPr wrap="square" lIns="0" tIns="0" rIns="0" bIns="0" rtlCol="0" anchor="t"/>
          <a:lstStyle/>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Read Chapters 4–5 (Market Forces of Supply and Demand)</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Complete the Module 3 Vocabulary Checklist</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Khan Academy: Supply and Demand, Quizzes 1–3 — reach mastery</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Bring the Module 3 Worksheet and graph paper</a:t>
            </a:r>
            <a:endParaRPr lang="en-US" sz="1100" dirty="0"/>
          </a:p>
        </p:txBody>
      </p:sp>
      <p:sp>
        <p:nvSpPr>
          <p:cNvPr id="12" name="Shape 10"/>
          <p:cNvSpPr/>
          <p:nvPr/>
        </p:nvSpPr>
        <p:spPr>
          <a:xfrm>
            <a:off x="8119872" y="1481328"/>
            <a:ext cx="3566160" cy="2377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64208"/>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WHAT YOU'LL NEED</a:t>
            </a:r>
            <a:endParaRPr lang="en-US" sz="1550" dirty="0"/>
          </a:p>
        </p:txBody>
      </p:sp>
      <p:sp>
        <p:nvSpPr>
          <p:cNvPr id="14" name="Text 12"/>
          <p:cNvSpPr/>
          <p:nvPr/>
        </p:nvSpPr>
        <p:spPr>
          <a:xfrm>
            <a:off x="8375904" y="2066544"/>
            <a:ext cx="3054096" cy="1554480"/>
          </a:xfrm>
          <a:prstGeom prst="rect">
            <a:avLst/>
          </a:prstGeom>
          <a:noFill/>
          <a:ln/>
        </p:spPr>
        <p:txBody>
          <a:bodyPr wrap="square" lIns="0" tIns="0" rIns="0" bIns="0" rtlCol="0" anchor="t"/>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Module 3 Worksheet (printed)</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Pencil, straight-edge, calculator</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Graph paper — you will draw at least six labeled diagrams today</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Laptop for the classroom Market Model app and the MRU interactive practice</a:t>
            </a:r>
            <a:endParaRPr lang="en-US" sz="1250" dirty="0"/>
          </a:p>
        </p:txBody>
      </p:sp>
      <p:sp>
        <p:nvSpPr>
          <p:cNvPr id="15" name="Shape 13"/>
          <p:cNvSpPr/>
          <p:nvPr/>
        </p:nvSpPr>
        <p:spPr>
          <a:xfrm>
            <a:off x="502920" y="4069080"/>
            <a:ext cx="11183112" cy="914400"/>
          </a:xfrm>
          <a:prstGeom prst="rect">
            <a:avLst/>
          </a:prstGeom>
          <a:solidFill>
            <a:srgbClr val="1A2E4A"/>
          </a:solidFill>
          <a:ln/>
        </p:spPr>
      </p:sp>
      <p:sp>
        <p:nvSpPr>
          <p:cNvPr id="16" name="Text 14"/>
          <p:cNvSpPr/>
          <p:nvPr/>
        </p:nvSpPr>
        <p:spPr>
          <a:xfrm>
            <a:off x="758952" y="41970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DO NOW  ·  OPENING INQUIRY</a:t>
            </a:r>
            <a:endParaRPr lang="en-US" sz="1050" dirty="0"/>
          </a:p>
        </p:txBody>
      </p:sp>
      <p:sp>
        <p:nvSpPr>
          <p:cNvPr id="17" name="Text 15"/>
          <p:cNvSpPr/>
          <p:nvPr/>
        </p:nvSpPr>
        <p:spPr>
          <a:xfrm>
            <a:off x="758952" y="4471416"/>
            <a:ext cx="10671048" cy="34747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In Module 2 you built the Feasible Frontier — the CONSTRAINT side of choice. Today we construct the PREFERENCE side, aggregate individual demand, pair it with supply, and discover how decentralized price signals coordinate millions of strangers. Open the Market Model app and draw the market for dates.</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5166360"/>
          <a:ext cx="11183112" cy="914400"/>
        </p:xfrm>
        <a:graphic>
          <a:graphicData uri="http://schemas.openxmlformats.org/drawingml/2006/table">
            <a:tbl>
              <a:tblPr/>
              <a:tblGrid>
                <a:gridCol w="4297680"/>
                <a:gridCol w="1097280"/>
                <a:gridCol w="4690872"/>
                <a:gridCol w="1097280"/>
              </a:tblGrid>
              <a:tr h="256032">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AGENDA — DAY 1  ·  BUILDING THE MODEL</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AGENDA — DAY 2  ·  SHIFTING THE MODEL</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5603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Do Now + Module 2 bridge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10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Do Now: classify five events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5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1 — Law of demand; the demand model</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30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4 — Determinants of demand (TRIBE) and supply (PROFIT)</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35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5603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2 — Law of supply; the supply model</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25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5 — Double shifts and three historical cases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30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3 — Equilibrium, algebraic and graphical</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10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You Try + independent practice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5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BEFORE WE BEGIN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Vocabulary Checklist — Module 3</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
        <p:nvSpPr>
          <p:cNvPr id="6" name="Shape 4"/>
          <p:cNvSpPr/>
          <p:nvPr/>
        </p:nvSpPr>
        <p:spPr>
          <a:xfrm>
            <a:off x="502920" y="1554480"/>
            <a:ext cx="2121408" cy="3931920"/>
          </a:xfrm>
          <a:prstGeom prst="rect">
            <a:avLst/>
          </a:prstGeom>
          <a:solidFill>
            <a:srgbClr val="E8EDF3"/>
          </a:solidFill>
          <a:ln/>
        </p:spPr>
      </p:sp>
      <p:sp>
        <p:nvSpPr>
          <p:cNvPr id="7" name="Text 5"/>
          <p:cNvSpPr/>
          <p:nvPr/>
        </p:nvSpPr>
        <p:spPr>
          <a:xfrm>
            <a:off x="685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Utility · Total Utility</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Marginal Utility</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Law of Diminishing MU</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Optimal Consumption Rule</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Indifference Curve</a:t>
            </a:r>
            <a:endParaRPr lang="en-US" sz="1100" dirty="0"/>
          </a:p>
        </p:txBody>
      </p:sp>
      <p:sp>
        <p:nvSpPr>
          <p:cNvPr id="8" name="Shape 6"/>
          <p:cNvSpPr/>
          <p:nvPr/>
        </p:nvSpPr>
        <p:spPr>
          <a:xfrm>
            <a:off x="2788920" y="1554480"/>
            <a:ext cx="2121408" cy="3931920"/>
          </a:xfrm>
          <a:prstGeom prst="rect">
            <a:avLst/>
          </a:prstGeom>
          <a:solidFill>
            <a:srgbClr val="E8EDF3"/>
          </a:solidFill>
          <a:ln/>
        </p:spPr>
      </p:sp>
      <p:sp>
        <p:nvSpPr>
          <p:cNvPr id="9" name="Text 7"/>
          <p:cNvSpPr/>
          <p:nvPr/>
        </p:nvSpPr>
        <p:spPr>
          <a:xfrm>
            <a:off x="2971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Marginal Rate of Substitution</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Diminishing MRS</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Optimal Bundle</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MRS = Px/Py</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Law of Demand</a:t>
            </a:r>
            <a:endParaRPr lang="en-US" sz="1100" dirty="0"/>
          </a:p>
        </p:txBody>
      </p:sp>
      <p:sp>
        <p:nvSpPr>
          <p:cNvPr id="10" name="Shape 8"/>
          <p:cNvSpPr/>
          <p:nvPr/>
        </p:nvSpPr>
        <p:spPr>
          <a:xfrm>
            <a:off x="5074920" y="1554480"/>
            <a:ext cx="2121408" cy="3931920"/>
          </a:xfrm>
          <a:prstGeom prst="rect">
            <a:avLst/>
          </a:prstGeom>
          <a:solidFill>
            <a:srgbClr val="E8EDF3"/>
          </a:solidFill>
          <a:ln/>
        </p:spPr>
      </p:sp>
      <p:sp>
        <p:nvSpPr>
          <p:cNvPr id="11" name="Text 9"/>
          <p:cNvSpPr/>
          <p:nvPr/>
        </p:nvSpPr>
        <p:spPr>
          <a:xfrm>
            <a:off x="5257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Law of Supply</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Quantity Demanded</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Quantity Supplied</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Shift in Demand</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Shift in Supply</a:t>
            </a:r>
            <a:endParaRPr lang="en-US" sz="1100" dirty="0"/>
          </a:p>
        </p:txBody>
      </p:sp>
      <p:sp>
        <p:nvSpPr>
          <p:cNvPr id="12" name="Shape 10"/>
          <p:cNvSpPr/>
          <p:nvPr/>
        </p:nvSpPr>
        <p:spPr>
          <a:xfrm>
            <a:off x="7360920" y="1554480"/>
            <a:ext cx="2121408" cy="3931920"/>
          </a:xfrm>
          <a:prstGeom prst="rect">
            <a:avLst/>
          </a:prstGeom>
          <a:solidFill>
            <a:srgbClr val="E8EDF3"/>
          </a:solidFill>
          <a:ln/>
        </p:spPr>
      </p:sp>
      <p:sp>
        <p:nvSpPr>
          <p:cNvPr id="13" name="Text 11"/>
          <p:cNvSpPr/>
          <p:nvPr/>
        </p:nvSpPr>
        <p:spPr>
          <a:xfrm>
            <a:off x="7543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Market Equilibrium</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Equilibrium Price (P*)</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Equilibrium Quantity (Q*)</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Market-Clearing Price</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Shortage · Surplus</a:t>
            </a:r>
            <a:endParaRPr lang="en-US" sz="1100" dirty="0"/>
          </a:p>
        </p:txBody>
      </p:sp>
      <p:sp>
        <p:nvSpPr>
          <p:cNvPr id="14" name="Shape 12"/>
          <p:cNvSpPr/>
          <p:nvPr/>
        </p:nvSpPr>
        <p:spPr>
          <a:xfrm>
            <a:off x="9646920" y="1554480"/>
            <a:ext cx="2121408" cy="3931920"/>
          </a:xfrm>
          <a:prstGeom prst="rect">
            <a:avLst/>
          </a:prstGeom>
          <a:solidFill>
            <a:srgbClr val="E8EDF3"/>
          </a:solidFill>
          <a:ln/>
        </p:spPr>
      </p:sp>
      <p:sp>
        <p:nvSpPr>
          <p:cNvPr id="15" name="Text 13"/>
          <p:cNvSpPr/>
          <p:nvPr/>
        </p:nvSpPr>
        <p:spPr>
          <a:xfrm>
            <a:off x="9829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Normal Good</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Inferior Good</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Substitute Goods</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Complementary Goods</a:t>
            </a:r>
            <a:endParaRPr lang="en-US" sz="1100" dirty="0"/>
          </a:p>
          <a:p>
            <a:pPr marL="203200" indent="-203200">
              <a:lnSpc>
                <a:spcPts val="1600"/>
              </a:lnSpc>
              <a:spcAft>
                <a:spcPts val="1400"/>
              </a:spcAft>
              <a:buSzPct val="100000"/>
              <a:buChar char="•"/>
            </a:pPr>
            <a:r>
              <a:rPr lang="en-US" sz="1100" dirty="0">
                <a:solidFill>
                  <a:srgbClr val="1A2E4A"/>
                </a:solidFill>
                <a:latin typeface="Calibri" pitchFamily="34" charset="0"/>
                <a:ea typeface="Calibri" pitchFamily="34" charset="-122"/>
                <a:cs typeface="Calibri" pitchFamily="34" charset="-120"/>
              </a:rPr>
              <a:t>TRIBE · PROFIT</a:t>
            </a:r>
            <a:endParaRPr lang="en-US" sz="1100" dirty="0"/>
          </a:p>
        </p:txBody>
      </p:sp>
      <p:sp>
        <p:nvSpPr>
          <p:cNvPr id="16" name="Shape 14"/>
          <p:cNvSpPr/>
          <p:nvPr/>
        </p:nvSpPr>
        <p:spPr>
          <a:xfrm>
            <a:off x="502920" y="5623560"/>
            <a:ext cx="11183112" cy="566928"/>
          </a:xfrm>
          <a:prstGeom prst="rect">
            <a:avLst/>
          </a:prstGeom>
          <a:solidFill>
            <a:srgbClr val="1A2E4A"/>
          </a:solidFill>
          <a:ln/>
        </p:spPr>
      </p:sp>
      <p:sp>
        <p:nvSpPr>
          <p:cNvPr id="17" name="Text 15"/>
          <p:cNvSpPr/>
          <p:nvPr/>
        </p:nvSpPr>
        <p:spPr>
          <a:xfrm>
            <a:off x="758952" y="57515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NOTE THE FIRST NINE TERMS</a:t>
            </a:r>
            <a:endParaRPr lang="en-US" sz="1050" dirty="0"/>
          </a:p>
        </p:txBody>
      </p:sp>
      <p:sp>
        <p:nvSpPr>
          <p:cNvPr id="18" name="Text 16"/>
          <p:cNvSpPr/>
          <p:nvPr/>
        </p:nvSpPr>
        <p:spPr>
          <a:xfrm>
            <a:off x="758952" y="6025896"/>
            <a:ext cx="10671048" cy="0"/>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They are Module 2's consumer-choice vocabulary. They are on this list because the DEMAND CURVE is built from them — every point on a demand curve is a consumer's optimal bundle at that price.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Building the Market Model</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The law of demand and the linear demand model: table → equation → graph</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2  ·  The law of supply and the linear supply model: table → equation → graph</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3  ·  Market equilibrium, determined algebraically and graphically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BRIDGE FROM MODULE 2</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Where the Demand Curve Comes From</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
        <p:nvSpPr>
          <p:cNvPr id="6" name="Shape 4"/>
          <p:cNvSpPr/>
          <p:nvPr/>
        </p:nvSpPr>
        <p:spPr>
          <a:xfrm>
            <a:off x="502920" y="1463040"/>
            <a:ext cx="3611880" cy="2103120"/>
          </a:xfrm>
          <a:prstGeom prst="rect">
            <a:avLst/>
          </a:prstGeom>
          <a:solidFill>
            <a:srgbClr val="E8EDF3"/>
          </a:solidFill>
          <a:ln/>
        </p:spPr>
      </p:sp>
      <p:sp>
        <p:nvSpPr>
          <p:cNvPr id="7" name="Shape 5"/>
          <p:cNvSpPr/>
          <p:nvPr/>
        </p:nvSpPr>
        <p:spPr>
          <a:xfrm>
            <a:off x="704088" y="1664208"/>
            <a:ext cx="457200" cy="457200"/>
          </a:xfrm>
          <a:prstGeom prst="ellipse">
            <a:avLst/>
          </a:prstGeom>
          <a:solidFill>
            <a:srgbClr val="1A2E4A"/>
          </a:solidFill>
          <a:ln/>
        </p:spPr>
      </p:sp>
      <p:sp>
        <p:nvSpPr>
          <p:cNvPr id="8" name="Text 6"/>
          <p:cNvSpPr/>
          <p:nvPr/>
        </p:nvSpPr>
        <p:spPr>
          <a:xfrm>
            <a:off x="704088"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66420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START AT THE OPTIMAL BUNDLE</a:t>
            </a:r>
            <a:endParaRPr lang="en-US" sz="1450" dirty="0"/>
          </a:p>
        </p:txBody>
      </p:sp>
      <p:sp>
        <p:nvSpPr>
          <p:cNvPr id="10" name="Text 8"/>
          <p:cNvSpPr/>
          <p:nvPr/>
        </p:nvSpPr>
        <p:spPr>
          <a:xfrm>
            <a:off x="722376" y="2212848"/>
            <a:ext cx="3154680" cy="1143000"/>
          </a:xfrm>
          <a:prstGeom prst="rect">
            <a:avLst/>
          </a:prstGeom>
          <a:noFill/>
          <a:ln/>
        </p:spPr>
        <p:txBody>
          <a:bodyPr wrap="square" lIns="0" tIns="0" rIns="0" bIns="0" rtlCol="0" anchor="t"/>
          <a:lstStyle/>
          <a:p>
            <a:pPr indent="0" marL="0">
              <a:lnSpc>
                <a:spcPts val="1700"/>
              </a:lnSpc>
              <a:buNone/>
            </a:pPr>
            <a:r>
              <a:rPr lang="en-US" sz="1200" dirty="0">
                <a:solidFill>
                  <a:srgbClr val="4A6180"/>
                </a:solidFill>
                <a:latin typeface="Calibri" pitchFamily="34" charset="0"/>
                <a:ea typeface="Calibri" pitchFamily="34" charset="-122"/>
                <a:cs typeface="Calibri" pitchFamily="34" charset="-120"/>
              </a:rPr>
              <a:t>In Module 2 each consumer chose the bundle where MRS = Px/Py — the tangency of the budget line and the highest attainable indifference curve. That tangency yields ONE quantity of good X at ONE price.</a:t>
            </a:r>
            <a:endParaRPr lang="en-US" sz="1200" dirty="0"/>
          </a:p>
        </p:txBody>
      </p:sp>
      <p:sp>
        <p:nvSpPr>
          <p:cNvPr id="11" name="Shape 9"/>
          <p:cNvSpPr/>
          <p:nvPr/>
        </p:nvSpPr>
        <p:spPr>
          <a:xfrm>
            <a:off x="4315968" y="1463040"/>
            <a:ext cx="3611880" cy="2103120"/>
          </a:xfrm>
          <a:prstGeom prst="rect">
            <a:avLst/>
          </a:prstGeom>
          <a:solidFill>
            <a:srgbClr val="E8EDF3"/>
          </a:solidFill>
          <a:ln/>
        </p:spPr>
      </p:sp>
      <p:sp>
        <p:nvSpPr>
          <p:cNvPr id="12" name="Shape 10"/>
          <p:cNvSpPr/>
          <p:nvPr/>
        </p:nvSpPr>
        <p:spPr>
          <a:xfrm>
            <a:off x="4517136" y="1664208"/>
            <a:ext cx="457200" cy="457200"/>
          </a:xfrm>
          <a:prstGeom prst="ellipse">
            <a:avLst/>
          </a:prstGeom>
          <a:solidFill>
            <a:srgbClr val="C0892E"/>
          </a:solidFill>
          <a:ln/>
        </p:spPr>
      </p:sp>
      <p:sp>
        <p:nvSpPr>
          <p:cNvPr id="13" name="Text 11"/>
          <p:cNvSpPr/>
          <p:nvPr/>
        </p:nvSpPr>
        <p:spPr>
          <a:xfrm>
            <a:off x="4517136"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93208" y="166420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CHANGE THE PRICE, RE-OPTIMIZE</a:t>
            </a:r>
            <a:endParaRPr lang="en-US" sz="1450" dirty="0"/>
          </a:p>
        </p:txBody>
      </p:sp>
      <p:sp>
        <p:nvSpPr>
          <p:cNvPr id="15" name="Text 13"/>
          <p:cNvSpPr/>
          <p:nvPr/>
        </p:nvSpPr>
        <p:spPr>
          <a:xfrm>
            <a:off x="4535424" y="2212848"/>
            <a:ext cx="3154680" cy="1143000"/>
          </a:xfrm>
          <a:prstGeom prst="rect">
            <a:avLst/>
          </a:prstGeom>
          <a:noFill/>
          <a:ln/>
        </p:spPr>
        <p:txBody>
          <a:bodyPr wrap="square" lIns="0" tIns="0" rIns="0" bIns="0" rtlCol="0" anchor="t"/>
          <a:lstStyle/>
          <a:p>
            <a:pPr indent="0" marL="0">
              <a:lnSpc>
                <a:spcPts val="1700"/>
              </a:lnSpc>
              <a:buNone/>
            </a:pPr>
            <a:r>
              <a:rPr lang="en-US" sz="1200" dirty="0">
                <a:solidFill>
                  <a:srgbClr val="4A6180"/>
                </a:solidFill>
                <a:latin typeface="Calibri" pitchFamily="34" charset="0"/>
                <a:ea typeface="Calibri" pitchFamily="34" charset="-122"/>
                <a:cs typeface="Calibri" pitchFamily="34" charset="-120"/>
              </a:rPr>
              <a:t>Lower Px and the budget line rotates outward. The consumer re-optimizes at a new tangency, choosing a different quantity of X. Repeat for every price and you trace out the INDIVIDUAL DEMAND CURVE.</a:t>
            </a:r>
            <a:endParaRPr lang="en-US" sz="1200" dirty="0"/>
          </a:p>
        </p:txBody>
      </p:sp>
      <p:sp>
        <p:nvSpPr>
          <p:cNvPr id="16" name="Shape 14"/>
          <p:cNvSpPr/>
          <p:nvPr/>
        </p:nvSpPr>
        <p:spPr>
          <a:xfrm>
            <a:off x="8119872" y="1463040"/>
            <a:ext cx="3566160" cy="2103120"/>
          </a:xfrm>
          <a:prstGeom prst="rect">
            <a:avLst/>
          </a:prstGeom>
          <a:solidFill>
            <a:srgbClr val="E8EDF3"/>
          </a:solidFill>
          <a:ln/>
        </p:spPr>
      </p:sp>
      <p:sp>
        <p:nvSpPr>
          <p:cNvPr id="17" name="Shape 15"/>
          <p:cNvSpPr/>
          <p:nvPr/>
        </p:nvSpPr>
        <p:spPr>
          <a:xfrm>
            <a:off x="8321040" y="1664208"/>
            <a:ext cx="457200" cy="457200"/>
          </a:xfrm>
          <a:prstGeom prst="ellipse">
            <a:avLst/>
          </a:prstGeom>
          <a:solidFill>
            <a:srgbClr val="2A7F84"/>
          </a:solidFill>
          <a:ln/>
        </p:spPr>
      </p:sp>
      <p:sp>
        <p:nvSpPr>
          <p:cNvPr id="18" name="Text 16"/>
          <p:cNvSpPr/>
          <p:nvPr/>
        </p:nvSpPr>
        <p:spPr>
          <a:xfrm>
            <a:off x="8321040"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97112" y="1664208"/>
            <a:ext cx="256032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SUM HORIZONTALLY</a:t>
            </a:r>
            <a:endParaRPr lang="en-US" sz="1600" dirty="0"/>
          </a:p>
        </p:txBody>
      </p:sp>
      <p:sp>
        <p:nvSpPr>
          <p:cNvPr id="20" name="Text 18"/>
          <p:cNvSpPr/>
          <p:nvPr/>
        </p:nvSpPr>
        <p:spPr>
          <a:xfrm>
            <a:off x="8339328" y="2212848"/>
            <a:ext cx="3108960" cy="1143000"/>
          </a:xfrm>
          <a:prstGeom prst="rect">
            <a:avLst/>
          </a:prstGeom>
          <a:noFill/>
          <a:ln/>
        </p:spPr>
        <p:txBody>
          <a:bodyPr wrap="square" lIns="0" tIns="0" rIns="0" bIns="0" rtlCol="0" anchor="t"/>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Add the quantity every consumer demands at each price. That horizontal summation is the MARKET DEMAND CURVE — the curve we will treat as a primitive from here on.</a:t>
            </a:r>
            <a:endParaRPr lang="en-US" sz="1250" dirty="0"/>
          </a:p>
        </p:txBody>
      </p:sp>
      <p:sp>
        <p:nvSpPr>
          <p:cNvPr id="21" name="Shape 19"/>
          <p:cNvSpPr/>
          <p:nvPr/>
        </p:nvSpPr>
        <p:spPr>
          <a:xfrm>
            <a:off x="502920" y="3749040"/>
            <a:ext cx="5486400" cy="14630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2" name="Text 20"/>
          <p:cNvSpPr/>
          <p:nvPr/>
        </p:nvSpPr>
        <p:spPr>
          <a:xfrm>
            <a:off x="758952" y="393192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SUBSTITUTION EFFECT</a:t>
            </a:r>
            <a:endParaRPr lang="en-US" sz="1550" dirty="0"/>
          </a:p>
        </p:txBody>
      </p:sp>
      <p:sp>
        <p:nvSpPr>
          <p:cNvPr id="23" name="Text 21"/>
          <p:cNvSpPr/>
          <p:nvPr/>
        </p:nvSpPr>
        <p:spPr>
          <a:xfrm>
            <a:off x="758952" y="4334256"/>
            <a:ext cx="4974336" cy="64008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When Px falls, X becomes cheaper RELATIVE to other goods, so the consumer substitutes toward X. This effect always pushes quantity demanded in the opposite direction from price — it is what guarantees the law of demand.</a:t>
            </a:r>
            <a:endParaRPr lang="en-US" sz="1050" dirty="0"/>
          </a:p>
        </p:txBody>
      </p:sp>
      <p:sp>
        <p:nvSpPr>
          <p:cNvPr id="24" name="Shape 22"/>
          <p:cNvSpPr/>
          <p:nvPr/>
        </p:nvSpPr>
        <p:spPr>
          <a:xfrm>
            <a:off x="6199632" y="3749040"/>
            <a:ext cx="5486400" cy="14630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5" name="Text 23"/>
          <p:cNvSpPr/>
          <p:nvPr/>
        </p:nvSpPr>
        <p:spPr>
          <a:xfrm>
            <a:off x="6455664" y="393192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INCOME EFFECT</a:t>
            </a:r>
            <a:endParaRPr lang="en-US" sz="1550" dirty="0"/>
          </a:p>
        </p:txBody>
      </p:sp>
      <p:sp>
        <p:nvSpPr>
          <p:cNvPr id="26" name="Text 24"/>
          <p:cNvSpPr/>
          <p:nvPr/>
        </p:nvSpPr>
        <p:spPr>
          <a:xfrm>
            <a:off x="6455664" y="4334256"/>
            <a:ext cx="4974336" cy="640080"/>
          </a:xfrm>
          <a:prstGeom prst="rect">
            <a:avLst/>
          </a:prstGeom>
          <a:noFill/>
          <a:ln/>
        </p:spPr>
        <p:txBody>
          <a:bodyPr wrap="square" lIns="0" tIns="0" rIns="0" bIns="0" rtlCol="0" anchor="t"/>
          <a:lstStyle/>
          <a:p>
            <a:pPr indent="0" marL="0">
              <a:lnSpc>
                <a:spcPts val="1600"/>
              </a:lnSpc>
              <a:buNone/>
            </a:pPr>
            <a:r>
              <a:rPr lang="en-US" sz="1150" dirty="0">
                <a:solidFill>
                  <a:srgbClr val="4A6180"/>
                </a:solidFill>
                <a:latin typeface="Calibri" pitchFamily="34" charset="0"/>
                <a:ea typeface="Calibri" pitchFamily="34" charset="-122"/>
                <a:cs typeface="Calibri" pitchFamily="34" charset="-120"/>
              </a:rPr>
              <a:t>When Px falls, real purchasing power rises — the same nominal income now commands a larger bundle. For a NORMAL good this reinforces the substitution effect; for an INFERIOR good it opposes it.</a:t>
            </a:r>
            <a:endParaRPr lang="en-US" sz="1150" dirty="0"/>
          </a:p>
        </p:txBody>
      </p:sp>
      <p:sp>
        <p:nvSpPr>
          <p:cNvPr id="27" name="Shape 25"/>
          <p:cNvSpPr/>
          <p:nvPr/>
        </p:nvSpPr>
        <p:spPr>
          <a:xfrm>
            <a:off x="502920" y="5394960"/>
            <a:ext cx="11183112" cy="731520"/>
          </a:xfrm>
          <a:prstGeom prst="rect">
            <a:avLst/>
          </a:prstGeom>
          <a:solidFill>
            <a:srgbClr val="1A2E4A"/>
          </a:solidFill>
          <a:ln/>
        </p:spPr>
      </p:sp>
      <p:sp>
        <p:nvSpPr>
          <p:cNvPr id="28" name="Text 26"/>
          <p:cNvSpPr/>
          <p:nvPr/>
        </p:nvSpPr>
        <p:spPr>
          <a:xfrm>
            <a:off x="758952" y="55229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POINT OF THIS SLIDE</a:t>
            </a:r>
            <a:endParaRPr lang="en-US" sz="1050" dirty="0"/>
          </a:p>
        </p:txBody>
      </p:sp>
      <p:sp>
        <p:nvSpPr>
          <p:cNvPr id="29" name="Text 27"/>
          <p:cNvSpPr/>
          <p:nvPr/>
        </p:nvSpPr>
        <p:spPr>
          <a:xfrm>
            <a:off x="758952" y="5797296"/>
            <a:ext cx="10671048" cy="16459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The demand curve is not an assumption. It is a THEOREM derived from constrained optimization — which is exactly why Module 2 had to come first, and why Module 2's vocabulary is on today's checklist.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01</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Law of Demand</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the Demand Curve</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Apply the law of demand; construct a linear demand model from consumer data — table to equation to graph — and interpret its slope and intercepts.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3.1 · SILK ROAD, SAMARKAND TO CONSTANTINOPLE, C. 435 CE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Sogdian Silk Traders — Building a Demand Model</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
        <p:nvSpPr>
          <p:cNvPr id="6" name="Text 4"/>
          <p:cNvSpPr/>
          <p:nvPr/>
        </p:nvSpPr>
        <p:spPr>
          <a:xfrm>
            <a:off x="502920" y="1417320"/>
            <a:ext cx="5440680" cy="91440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The Silk Road connected the peoples of Eurasia for centuries. In 435 CE the Sogdian merchant Nanai-dhat — Sogdians were the trusted neutral parties between the Byzantine and Sassanid Empires — recorded silk transaction data in gold solidi while journeying between trading posts. The data has been 'teleported' forward to us nearly 1,600 years later.</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2450592"/>
          <a:ext cx="5440680" cy="914400"/>
        </p:xfrm>
        <a:graphic>
          <a:graphicData uri="http://schemas.openxmlformats.org/drawingml/2006/table">
            <a:tbl>
              <a:tblPr/>
              <a:tblGrid>
                <a:gridCol w="868680"/>
                <a:gridCol w="1554480"/>
                <a:gridCol w="1554480"/>
                <a:gridCol w="731520"/>
                <a:gridCol w="731520"/>
              </a:tblGrid>
              <a:tr h="29260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POINT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PRICE (gold solidi)</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Qd (bolts of silk)</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ΔQ</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ΔP</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B</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D</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4434840"/>
            <a:ext cx="5440680" cy="1143000"/>
          </a:xfrm>
          <a:prstGeom prst="rect">
            <a:avLst/>
          </a:prstGeom>
          <a:solidFill>
            <a:srgbClr val="1A2E4A"/>
          </a:solidFill>
          <a:ln/>
        </p:spPr>
      </p:sp>
      <p:sp>
        <p:nvSpPr>
          <p:cNvPr id="9" name="Text 6"/>
          <p:cNvSpPr/>
          <p:nvPr/>
        </p:nvSpPr>
        <p:spPr>
          <a:xfrm>
            <a:off x="685800" y="4562856"/>
            <a:ext cx="5074920" cy="5760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P  =  120  −  Q          ⟺          Qd  =  120  −  P</a:t>
            </a:r>
            <a:endParaRPr lang="en-US" sz="1600" dirty="0"/>
          </a:p>
        </p:txBody>
      </p:sp>
      <p:sp>
        <p:nvSpPr>
          <p:cNvPr id="10" name="Text 7"/>
          <p:cNvSpPr/>
          <p:nvPr/>
        </p:nvSpPr>
        <p:spPr>
          <a:xfrm>
            <a:off x="685800" y="5065776"/>
            <a:ext cx="507492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Slope ΔP/ΔQ = −20/+20 = −1.  Vertical intercept (choke price) = 120.  Horizontal intercept = 120.</a:t>
            </a:r>
            <a:endParaRPr lang="en-US" sz="1150" dirty="0"/>
          </a:p>
        </p:txBody>
      </p:sp>
      <p:sp>
        <p:nvSpPr>
          <p:cNvPr id="11" name="Shape 8"/>
          <p:cNvSpPr/>
          <p:nvPr/>
        </p:nvSpPr>
        <p:spPr>
          <a:xfrm>
            <a:off x="502920" y="5669280"/>
            <a:ext cx="5440680" cy="457200"/>
          </a:xfrm>
          <a:prstGeom prst="rect">
            <a:avLst/>
          </a:prstGeom>
          <a:solidFill>
            <a:srgbClr val="1A2E4A"/>
          </a:solidFill>
          <a:ln/>
        </p:spPr>
      </p:sp>
      <p:sp>
        <p:nvSpPr>
          <p:cNvPr id="12" name="Text 9"/>
          <p:cNvSpPr/>
          <p:nvPr/>
        </p:nvSpPr>
        <p:spPr>
          <a:xfrm>
            <a:off x="758952" y="5797296"/>
            <a:ext cx="492861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LAW OF DEMAND</a:t>
            </a:r>
            <a:endParaRPr lang="en-US" sz="1050" dirty="0"/>
          </a:p>
        </p:txBody>
      </p:sp>
      <p:sp>
        <p:nvSpPr>
          <p:cNvPr id="13" name="Text 10"/>
          <p:cNvSpPr/>
          <p:nvPr/>
        </p:nvSpPr>
        <p:spPr>
          <a:xfrm>
            <a:off x="758952" y="6071616"/>
            <a:ext cx="4928616" cy="-109728"/>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As price rises, quantity demanded falls — ceteris paribus.</a:t>
            </a:r>
            <a:endParaRPr lang="en-US" sz="1000" dirty="0"/>
          </a:p>
        </p:txBody>
      </p:sp>
      <p:pic>
        <p:nvPicPr>
          <p:cNvPr id="14" name="Image 0" descr="figs/m3_demand.png">    </p:cNvPr>
          <p:cNvPicPr>
            <a:picLocks noChangeAspect="1"/>
          </p:cNvPicPr>
          <p:nvPr/>
        </p:nvPicPr>
        <p:blipFill>
          <a:blip r:embed="rId1"/>
          <a:stretch>
            <a:fillRect/>
          </a:stretch>
        </p:blipFill>
        <p:spPr>
          <a:xfrm>
            <a:off x="6126480" y="1884048"/>
            <a:ext cx="5577840" cy="37757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THE CRITICAL DISTINCTION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Quantity Demanded vs. Demand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pic>
        <p:nvPicPr>
          <p:cNvPr id="6" name="Image 0" descr="figs/m3_alongshift.png">    </p:cNvPr>
          <p:cNvPicPr>
            <a:picLocks noChangeAspect="1"/>
          </p:cNvPicPr>
          <p:nvPr/>
        </p:nvPicPr>
        <p:blipFill>
          <a:blip r:embed="rId1"/>
          <a:stretch>
            <a:fillRect/>
          </a:stretch>
        </p:blipFill>
        <p:spPr>
          <a:xfrm>
            <a:off x="2011286" y="1417320"/>
            <a:ext cx="8166379" cy="3291840"/>
          </a:xfrm>
          <a:prstGeom prst="rect">
            <a:avLst/>
          </a:prstGeom>
        </p:spPr>
      </p:pic>
      <p:sp>
        <p:nvSpPr>
          <p:cNvPr id="7" name="Shape 4"/>
          <p:cNvSpPr/>
          <p:nvPr/>
        </p:nvSpPr>
        <p:spPr>
          <a:xfrm>
            <a:off x="502920" y="4846320"/>
            <a:ext cx="3611880" cy="12801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58952" y="5029200"/>
            <a:ext cx="309981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CHANGE IN QUANTITY DEMANDED</a:t>
            </a:r>
            <a:endParaRPr lang="en-US" sz="1550" dirty="0"/>
          </a:p>
        </p:txBody>
      </p:sp>
      <p:sp>
        <p:nvSpPr>
          <p:cNvPr id="9" name="Text 6"/>
          <p:cNvSpPr/>
          <p:nvPr/>
        </p:nvSpPr>
        <p:spPr>
          <a:xfrm>
            <a:off x="758952" y="5431536"/>
            <a:ext cx="3099816" cy="4572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Caused by a change in the good's OWN PRICE. It is a MOVEMENT ALONG a fixed demand curve — from one point to another on the same line.</a:t>
            </a:r>
            <a:endParaRPr lang="en-US" sz="850" dirty="0"/>
          </a:p>
        </p:txBody>
      </p:sp>
      <p:sp>
        <p:nvSpPr>
          <p:cNvPr id="10" name="Shape 7"/>
          <p:cNvSpPr/>
          <p:nvPr/>
        </p:nvSpPr>
        <p:spPr>
          <a:xfrm>
            <a:off x="4315968" y="4846320"/>
            <a:ext cx="3611880" cy="12801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4572000" y="5029200"/>
            <a:ext cx="309981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CHANGE IN DEMAND</a:t>
            </a:r>
            <a:endParaRPr lang="en-US" sz="1550" dirty="0"/>
          </a:p>
        </p:txBody>
      </p:sp>
      <p:sp>
        <p:nvSpPr>
          <p:cNvPr id="12" name="Text 9"/>
          <p:cNvSpPr/>
          <p:nvPr/>
        </p:nvSpPr>
        <p:spPr>
          <a:xfrm>
            <a:off x="4572000" y="5431536"/>
            <a:ext cx="3099816" cy="4572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Caused by any determinant OTHER than the good's own price. It is a SHIFT of the entire curve — a new line. RIGHT = increase, LEFT = decrease.</a:t>
            </a:r>
            <a:endParaRPr lang="en-US" sz="850" dirty="0"/>
          </a:p>
        </p:txBody>
      </p:sp>
      <p:sp>
        <p:nvSpPr>
          <p:cNvPr id="13" name="Shape 10"/>
          <p:cNvSpPr/>
          <p:nvPr/>
        </p:nvSpPr>
        <p:spPr>
          <a:xfrm>
            <a:off x="8119872" y="4846320"/>
            <a:ext cx="3566160" cy="1280160"/>
          </a:xfrm>
          <a:prstGeom prst="rect">
            <a:avLst/>
          </a:prstGeom>
          <a:solidFill>
            <a:srgbClr val="1A2E4A"/>
          </a:solidFill>
          <a:ln/>
        </p:spPr>
      </p:sp>
      <p:sp>
        <p:nvSpPr>
          <p:cNvPr id="14" name="Text 11"/>
          <p:cNvSpPr/>
          <p:nvPr/>
        </p:nvSpPr>
        <p:spPr>
          <a:xfrm>
            <a:off x="8375904" y="4974336"/>
            <a:ext cx="305409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RULE OF THUMB</a:t>
            </a:r>
            <a:endParaRPr lang="en-US" sz="1050" dirty="0"/>
          </a:p>
        </p:txBody>
      </p:sp>
      <p:sp>
        <p:nvSpPr>
          <p:cNvPr id="15" name="Text 12"/>
          <p:cNvSpPr/>
          <p:nvPr/>
        </p:nvSpPr>
        <p:spPr>
          <a:xfrm>
            <a:off x="8375904" y="5248656"/>
            <a:ext cx="3054096" cy="71323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PRICE CHANGE = movement ALONG the curve.</a:t>
            </a:r>
            <a:endParaRPr lang="en-US" sz="1000" dirty="0"/>
          </a:p>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ANYTHING ELSE = SHIFT of the curve.</a:t>
            </a:r>
            <a:endParaRPr lang="en-US" sz="1000" dirty="0"/>
          </a:p>
          <a:p>
            <a:pPr indent="0" marL="0">
              <a:lnSpc>
                <a:spcPts val="1400"/>
              </a:lnSpc>
              <a:buNone/>
            </a:pPr>
            <a:endParaRPr lang="en-US" sz="1000" dirty="0"/>
          </a:p>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This single rule accounts for more lost exam points than any other idea in the course.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02</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Law of Supply</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the Supply Curve</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Apply the law of supply; construct a linear supply model from producer data — table to equation to graph — and interpret its slope and intercepts.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3.2 · CAROLINGIAN EMPIRE, C. 800 CE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Frankish Blacksmith — Building a Supply Model</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
        <p:nvSpPr>
          <p:cNvPr id="6" name="Text 4"/>
          <p:cNvSpPr/>
          <p:nvPr/>
        </p:nvSpPr>
        <p:spPr>
          <a:xfrm>
            <a:off x="502920" y="1417320"/>
            <a:ext cx="5440680" cy="77724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When Charlemagne was crowned emperor on Christmas Day 800 CE, his military campaigns created massive demand for iron spearheads. A blacksmith in the imperial workshops recorded his willingness to supply at different prices, measured in silver denarii.</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5440680" cy="914400"/>
        </p:xfrm>
        <a:graphic>
          <a:graphicData uri="http://schemas.openxmlformats.org/drawingml/2006/table">
            <a:tbl>
              <a:tblPr/>
              <a:tblGrid>
                <a:gridCol w="868680"/>
                <a:gridCol w="1645920"/>
                <a:gridCol w="1463040"/>
                <a:gridCol w="731520"/>
                <a:gridCol w="731520"/>
              </a:tblGrid>
              <a:tr h="29260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POINT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PRICE (silver denarii)</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Qs (spearheads)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ΔQ</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ΔP</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B</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D</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90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4297680"/>
            <a:ext cx="5440680" cy="1143000"/>
          </a:xfrm>
          <a:prstGeom prst="rect">
            <a:avLst/>
          </a:prstGeom>
          <a:solidFill>
            <a:srgbClr val="1A2E4A"/>
          </a:solidFill>
          <a:ln/>
        </p:spPr>
      </p:sp>
      <p:sp>
        <p:nvSpPr>
          <p:cNvPr id="9" name="Text 6"/>
          <p:cNvSpPr/>
          <p:nvPr/>
        </p:nvSpPr>
        <p:spPr>
          <a:xfrm>
            <a:off x="685800" y="4425696"/>
            <a:ext cx="5074920" cy="5760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P  =  1  +  0.1 Q          ⟺          Qs  =  10 P  −  10</a:t>
            </a:r>
            <a:endParaRPr lang="en-US" sz="1600" dirty="0"/>
          </a:p>
        </p:txBody>
      </p:sp>
      <p:sp>
        <p:nvSpPr>
          <p:cNvPr id="10" name="Text 7"/>
          <p:cNvSpPr/>
          <p:nvPr/>
        </p:nvSpPr>
        <p:spPr>
          <a:xfrm>
            <a:off x="685800" y="4928616"/>
            <a:ext cx="507492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Slope ΔP/ΔQ = +2/+20 = +0.1.  Vertical intercept = 1 — the reservation price below which nothing is supplied.</a:t>
            </a:r>
            <a:endParaRPr lang="en-US" sz="1150" dirty="0"/>
          </a:p>
        </p:txBody>
      </p:sp>
      <p:sp>
        <p:nvSpPr>
          <p:cNvPr id="11" name="Shape 8"/>
          <p:cNvSpPr/>
          <p:nvPr/>
        </p:nvSpPr>
        <p:spPr>
          <a:xfrm>
            <a:off x="502920" y="5532120"/>
            <a:ext cx="5440680" cy="594360"/>
          </a:xfrm>
          <a:prstGeom prst="rect">
            <a:avLst/>
          </a:prstGeom>
          <a:solidFill>
            <a:srgbClr val="1A2E4A"/>
          </a:solidFill>
          <a:ln/>
        </p:spPr>
      </p:sp>
      <p:sp>
        <p:nvSpPr>
          <p:cNvPr id="12" name="Text 9"/>
          <p:cNvSpPr/>
          <p:nvPr/>
        </p:nvSpPr>
        <p:spPr>
          <a:xfrm>
            <a:off x="758952" y="5660136"/>
            <a:ext cx="492861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LAW OF SUPPLY</a:t>
            </a:r>
            <a:endParaRPr lang="en-US" sz="1050" dirty="0"/>
          </a:p>
        </p:txBody>
      </p:sp>
      <p:sp>
        <p:nvSpPr>
          <p:cNvPr id="13" name="Text 10"/>
          <p:cNvSpPr/>
          <p:nvPr/>
        </p:nvSpPr>
        <p:spPr>
          <a:xfrm>
            <a:off x="758952" y="5934456"/>
            <a:ext cx="4928616" cy="2743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As price rises, quantity supplied rises — because higher prices make production more profitable at the margin. The upward slope is really rising marginal cost, a claim Module 9 will prove.</a:t>
            </a:r>
            <a:endParaRPr lang="en-US" sz="1000" dirty="0"/>
          </a:p>
        </p:txBody>
      </p:sp>
      <p:pic>
        <p:nvPicPr>
          <p:cNvPr id="14" name="Image 0" descr="figs/m3_supply.png">    </p:cNvPr>
          <p:cNvPicPr>
            <a:picLocks noChangeAspect="1"/>
          </p:cNvPicPr>
          <p:nvPr/>
        </p:nvPicPr>
        <p:blipFill>
          <a:blip r:embed="rId1"/>
          <a:stretch>
            <a:fillRect/>
          </a:stretch>
        </p:blipFill>
        <p:spPr>
          <a:xfrm>
            <a:off x="6126480" y="1882632"/>
            <a:ext cx="5577840" cy="377853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03</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Market Equilibrium —</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Algebraic &amp; Graphical</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Determine market equilibrium algebraically and graphically; interpret what market-clearing means — and what it does not mean.</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THE FORMAL APPARATUS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Equilibrium: Symbols, Definitions and the Solution Method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
        <p:nvSpPr>
          <p:cNvPr id="6" name="Shape 4"/>
          <p:cNvSpPr/>
          <p:nvPr/>
        </p:nvSpPr>
        <p:spPr>
          <a:xfrm>
            <a:off x="502920" y="1444752"/>
            <a:ext cx="5486400"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27632"/>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DEMAND EQUATION</a:t>
            </a:r>
            <a:endParaRPr lang="en-US" sz="1550" dirty="0"/>
          </a:p>
        </p:txBody>
      </p:sp>
      <p:sp>
        <p:nvSpPr>
          <p:cNvPr id="8" name="Text 6"/>
          <p:cNvSpPr/>
          <p:nvPr/>
        </p:nvSpPr>
        <p:spPr>
          <a:xfrm>
            <a:off x="758952" y="2029968"/>
            <a:ext cx="4974336" cy="86868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Qd  =  αd  −  βd · P</a:t>
            </a:r>
            <a:endParaRPr lang="en-US" sz="950" dirty="0"/>
          </a:p>
          <a:p>
            <a:pPr indent="0" marL="0">
              <a:lnSpc>
                <a:spcPts val="1300"/>
              </a:lnSpc>
              <a:buNone/>
            </a:pP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αd (alpha-d) = the demand INTERCEPT — quantity demanded when P = 0.</a:t>
            </a: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βd (beta-d) = the demand SLOPE — the rate at which Qd falls as P rises. Always positive as written, because the minus sign carries the law of demand.</a:t>
            </a:r>
            <a:endParaRPr lang="en-US" sz="950" dirty="0"/>
          </a:p>
        </p:txBody>
      </p:sp>
      <p:sp>
        <p:nvSpPr>
          <p:cNvPr id="9" name="Shape 7"/>
          <p:cNvSpPr/>
          <p:nvPr/>
        </p:nvSpPr>
        <p:spPr>
          <a:xfrm>
            <a:off x="6199632" y="1444752"/>
            <a:ext cx="5486400"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627632"/>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SUPPLY EQUATION</a:t>
            </a:r>
            <a:endParaRPr lang="en-US" sz="1550" dirty="0"/>
          </a:p>
        </p:txBody>
      </p:sp>
      <p:sp>
        <p:nvSpPr>
          <p:cNvPr id="11" name="Text 9"/>
          <p:cNvSpPr/>
          <p:nvPr/>
        </p:nvSpPr>
        <p:spPr>
          <a:xfrm>
            <a:off x="6455664" y="2029968"/>
            <a:ext cx="4974336" cy="86868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Qs  =  αs  +  βs · P</a:t>
            </a:r>
            <a:endParaRPr lang="en-US" sz="950" dirty="0"/>
          </a:p>
          <a:p>
            <a:pPr indent="0" marL="0">
              <a:lnSpc>
                <a:spcPts val="1300"/>
              </a:lnSpc>
              <a:buNone/>
            </a:pP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αs (alpha-s) = the supply INTERCEPT — quantity supplied when P = 0. It CAN be negative, which simply means nothing is supplied below some reservation price.</a:t>
            </a: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βs (beta-s) = the supply SLOPE — the rate at which Qs rises as P rises.</a:t>
            </a:r>
            <a:endParaRPr lang="en-US" sz="950" dirty="0"/>
          </a:p>
        </p:txBody>
      </p:sp>
      <p:sp>
        <p:nvSpPr>
          <p:cNvPr id="12" name="Shape 10"/>
          <p:cNvSpPr/>
          <p:nvPr/>
        </p:nvSpPr>
        <p:spPr>
          <a:xfrm>
            <a:off x="502920" y="3310128"/>
            <a:ext cx="11183112" cy="1234440"/>
          </a:xfrm>
          <a:prstGeom prst="rect">
            <a:avLst/>
          </a:prstGeom>
          <a:solidFill>
            <a:srgbClr val="1A2E4A"/>
          </a:solidFill>
          <a:ln/>
        </p:spPr>
      </p:sp>
      <p:sp>
        <p:nvSpPr>
          <p:cNvPr id="13" name="Text 11"/>
          <p:cNvSpPr/>
          <p:nvPr/>
        </p:nvSpPr>
        <p:spPr>
          <a:xfrm>
            <a:off x="685800" y="3438144"/>
            <a:ext cx="10817352" cy="66751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Set  Qd = Qs :        αd − βd·P  =  αs + βs·P        →        P*  =  ( αd − αs ) / ( βd + βs )</a:t>
            </a:r>
            <a:endParaRPr lang="en-US" sz="2000" dirty="0"/>
          </a:p>
        </p:txBody>
      </p:sp>
      <p:sp>
        <p:nvSpPr>
          <p:cNvPr id="14" name="Text 12"/>
          <p:cNvSpPr/>
          <p:nvPr/>
        </p:nvSpPr>
        <p:spPr>
          <a:xfrm>
            <a:off x="685800" y="4032504"/>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Then substitute P* back into EITHER equation to obtain Q*. Check your answer in the OTHER equation — if the two disagree, you have made an arithmetic error.</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4709160"/>
          <a:ext cx="11183112" cy="914400"/>
        </p:xfrm>
        <a:graphic>
          <a:graphicData uri="http://schemas.openxmlformats.org/drawingml/2006/table">
            <a:tbl>
              <a:tblPr/>
              <a:tblGrid>
                <a:gridCol w="1463040"/>
                <a:gridCol w="6217920"/>
                <a:gridCol w="3502152"/>
              </a:tblGrid>
              <a:tr h="45720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CONDITION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HAPPENS IN THE MARKET</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THE PRICE SIGNAL</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5720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  =  P*</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Qd = Qs. The market CLEARS: every buyer willing to pay P* finds a seller, and every seller willing to sell at P* finds a buyer.</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No pressure. The market is at rest.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  &gt;  P*</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Qs &gt; Qd — a SURPLUS (excess supply) equal to Qs − Qd. Unsold inventory accumulates.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Downward pressure on price; price falls toward P*.</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5720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  &lt;  P*</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Qd &gt; Qs — a SHORTAGE (excess demand) equal to Qd − Qs. Buyers queue; shelves empty.</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Upward pressure on price; price rises toward P*.</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THE ADJUSTMENT MECHANISM</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Adam Smith's Invisible Hand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pic>
        <p:nvPicPr>
          <p:cNvPr id="6" name="Image 0" descr="figs/m3_shortsurplus.png">    </p:cNvPr>
          <p:cNvPicPr>
            <a:picLocks noChangeAspect="1"/>
          </p:cNvPicPr>
          <p:nvPr/>
        </p:nvPicPr>
        <p:blipFill>
          <a:blip r:embed="rId1"/>
          <a:stretch>
            <a:fillRect/>
          </a:stretch>
        </p:blipFill>
        <p:spPr>
          <a:xfrm>
            <a:off x="529295" y="1417320"/>
            <a:ext cx="6713810" cy="3931920"/>
          </a:xfrm>
          <a:prstGeom prst="rect">
            <a:avLst/>
          </a:prstGeom>
        </p:spPr>
      </p:pic>
      <p:sp>
        <p:nvSpPr>
          <p:cNvPr id="7" name="Shape 4"/>
          <p:cNvSpPr/>
          <p:nvPr/>
        </p:nvSpPr>
        <p:spPr>
          <a:xfrm>
            <a:off x="7498080" y="1463040"/>
            <a:ext cx="4187952" cy="18745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754112" y="1645920"/>
            <a:ext cx="367588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THE INVISIBLE HAND</a:t>
            </a:r>
            <a:endParaRPr lang="en-US" sz="1550" dirty="0"/>
          </a:p>
        </p:txBody>
      </p:sp>
      <p:sp>
        <p:nvSpPr>
          <p:cNvPr id="9" name="Text 6"/>
          <p:cNvSpPr/>
          <p:nvPr/>
        </p:nvSpPr>
        <p:spPr>
          <a:xfrm>
            <a:off x="7754112" y="2048256"/>
            <a:ext cx="3675888" cy="105156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No central planner is needed. Individual self-interest — buyers seeking the lowest price, sellers seeking the highest — pushes the market toward equilibrium "as if guided by an invisible hand."</a:t>
            </a:r>
            <a:endParaRPr lang="en-US" sz="950" dirty="0"/>
          </a:p>
          <a:p>
            <a:pPr indent="0" marL="0">
              <a:lnSpc>
                <a:spcPts val="1300"/>
              </a:lnSpc>
              <a:buNone/>
            </a:pP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Smith (1776), Wealth of Nations, Book IV, Chapter II.</a:t>
            </a:r>
            <a:endParaRPr lang="en-US" sz="950" dirty="0"/>
          </a:p>
        </p:txBody>
      </p:sp>
      <p:sp>
        <p:nvSpPr>
          <p:cNvPr id="10" name="Shape 7"/>
          <p:cNvSpPr/>
          <p:nvPr/>
        </p:nvSpPr>
        <p:spPr>
          <a:xfrm>
            <a:off x="7498080" y="3474720"/>
            <a:ext cx="4187952" cy="18745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754112" y="3657600"/>
            <a:ext cx="367588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WHAT MARKET-CLEARING MEANS</a:t>
            </a:r>
            <a:endParaRPr lang="en-US" sz="1550" dirty="0"/>
          </a:p>
        </p:txBody>
      </p:sp>
      <p:sp>
        <p:nvSpPr>
          <p:cNvPr id="12" name="Text 9"/>
          <p:cNvSpPr/>
          <p:nvPr/>
        </p:nvSpPr>
        <p:spPr>
          <a:xfrm>
            <a:off x="7754112" y="4059936"/>
            <a:ext cx="3675888" cy="10515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It means Qd = Qs at the going price — no unsatisfied buyer at that price, no unsold unit at that price.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IT DOES NOT MEAN: that everyone who NEEDS the good gets it; that the distribution is fair; that the price is affordable; or that the outcome is just. Clearing is an accounting identity, not a moral verdict.</a:t>
            </a:r>
            <a:endParaRPr lang="en-US" sz="850" dirty="0"/>
          </a:p>
        </p:txBody>
      </p:sp>
      <p:sp>
        <p:nvSpPr>
          <p:cNvPr id="13" name="Shape 10"/>
          <p:cNvSpPr/>
          <p:nvPr/>
        </p:nvSpPr>
        <p:spPr>
          <a:xfrm>
            <a:off x="502920" y="5486400"/>
            <a:ext cx="11183112" cy="658368"/>
          </a:xfrm>
          <a:prstGeom prst="rect">
            <a:avLst/>
          </a:prstGeom>
          <a:solidFill>
            <a:srgbClr val="1A2E4A"/>
          </a:solidFill>
          <a:ln/>
        </p:spPr>
      </p:sp>
      <p:sp>
        <p:nvSpPr>
          <p:cNvPr id="14" name="Text 11"/>
          <p:cNvSpPr/>
          <p:nvPr/>
        </p:nvSpPr>
        <p:spPr>
          <a:xfrm>
            <a:off x="758952" y="56144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HAYEK'S ADDITION (1945)</a:t>
            </a:r>
            <a:endParaRPr lang="en-US" sz="1050" dirty="0"/>
          </a:p>
        </p:txBody>
      </p:sp>
      <p:sp>
        <p:nvSpPr>
          <p:cNvPr id="15" name="Text 12"/>
          <p:cNvSpPr/>
          <p:nvPr/>
        </p:nvSpPr>
        <p:spPr>
          <a:xfrm>
            <a:off x="758952" y="5888736"/>
            <a:ext cx="10671048" cy="91440"/>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The price is doing something no planner could: aggregating dispersed local knowledge — every buyer's private valuation and every seller's private cost — into a single number that no one had to know in advance.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3.3 · ABBASID CALIPHATE, IRAQ, C. 800 CE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Farmer of Basra — Solving for Equilibrium</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
        <p:nvSpPr>
          <p:cNvPr id="6" name="Text 4"/>
          <p:cNvSpPr/>
          <p:nvPr/>
        </p:nvSpPr>
        <p:spPr>
          <a:xfrm>
            <a:off x="502920" y="1417320"/>
            <a:ext cx="5440680" cy="68580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In 800 CE the Abbasid Caliphate governed the fertile lands around Basra, a thriving port at the mouth of the Tigris and Euphrates. Abbasid scholars — al-Khwārizmī among them — were introducing the algebraic methods we are about to use.</a:t>
            </a:r>
            <a:endParaRPr lang="en-US" sz="1200" dirty="0"/>
          </a:p>
        </p:txBody>
      </p:sp>
      <p:sp>
        <p:nvSpPr>
          <p:cNvPr id="7" name="Shape 5"/>
          <p:cNvSpPr/>
          <p:nvPr/>
        </p:nvSpPr>
        <p:spPr>
          <a:xfrm>
            <a:off x="502920" y="2194560"/>
            <a:ext cx="5440680" cy="2011680"/>
          </a:xfrm>
          <a:prstGeom prst="rect">
            <a:avLst/>
          </a:prstGeom>
          <a:solidFill>
            <a:srgbClr val="1A2E4A"/>
          </a:solidFill>
          <a:ln/>
        </p:spPr>
      </p:sp>
      <p:sp>
        <p:nvSpPr>
          <p:cNvPr id="8" name="Text 6"/>
          <p:cNvSpPr/>
          <p:nvPr/>
        </p:nvSpPr>
        <p:spPr>
          <a:xfrm>
            <a:off x="685800" y="2194560"/>
            <a:ext cx="5074920" cy="20116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Qd = 500 − 25P        Qs = 50 + 25P</a:t>
            </a:r>
            <a:endParaRPr lang="en-US" sz="1500" dirty="0"/>
          </a:p>
          <a:p>
            <a:pPr algn="ctr" indent="0" marL="0">
              <a:buNone/>
            </a:pPr>
            <a:endParaRPr lang="en-US" sz="1500" dirty="0"/>
          </a:p>
          <a:p>
            <a:pPr algn="ctr" indent="0" marL="0">
              <a:buNone/>
            </a:pPr>
            <a:r>
              <a:rPr lang="en-US" sz="1500" b="1" dirty="0">
                <a:solidFill>
                  <a:srgbClr val="FFFFFF"/>
                </a:solidFill>
                <a:latin typeface="Cambria" pitchFamily="34" charset="0"/>
                <a:ea typeface="Cambria" pitchFamily="34" charset="-122"/>
                <a:cs typeface="Cambria" pitchFamily="34" charset="-120"/>
              </a:rPr>
              <a:t>500 − 25P  =  50 + 25P</a:t>
            </a:r>
            <a:endParaRPr lang="en-US" sz="1500" dirty="0"/>
          </a:p>
          <a:p>
            <a:pPr algn="ctr" indent="0" marL="0">
              <a:buNone/>
            </a:pPr>
            <a:r>
              <a:rPr lang="en-US" sz="1500" b="1" dirty="0">
                <a:solidFill>
                  <a:srgbClr val="FFFFFF"/>
                </a:solidFill>
                <a:latin typeface="Cambria" pitchFamily="34" charset="0"/>
                <a:ea typeface="Cambria" pitchFamily="34" charset="-122"/>
                <a:cs typeface="Cambria" pitchFamily="34" charset="-120"/>
              </a:rPr>
              <a:t>450  =  50P</a:t>
            </a:r>
            <a:endParaRPr lang="en-US" sz="1500" dirty="0"/>
          </a:p>
          <a:p>
            <a:pPr algn="ctr" indent="0" marL="0">
              <a:buNone/>
            </a:pPr>
            <a:r>
              <a:rPr lang="en-US" sz="1500" b="1" dirty="0">
                <a:solidFill>
                  <a:srgbClr val="FFFFFF"/>
                </a:solidFill>
                <a:latin typeface="Cambria" pitchFamily="34" charset="0"/>
                <a:ea typeface="Cambria" pitchFamily="34" charset="-122"/>
                <a:cs typeface="Cambria" pitchFamily="34" charset="-120"/>
              </a:rPr>
              <a:t>P*  =  9</a:t>
            </a:r>
            <a:endParaRPr lang="en-US" sz="1500" dirty="0"/>
          </a:p>
          <a:p>
            <a:pPr algn="ctr" indent="0" marL="0">
              <a:buNone/>
            </a:pPr>
            <a:endParaRPr lang="en-US" sz="1500" dirty="0"/>
          </a:p>
          <a:p>
            <a:pPr algn="ctr" indent="0" marL="0">
              <a:buNone/>
            </a:pPr>
            <a:r>
              <a:rPr lang="en-US" sz="1500" b="1" dirty="0">
                <a:solidFill>
                  <a:srgbClr val="FFFFFF"/>
                </a:solidFill>
                <a:latin typeface="Cambria" pitchFamily="34" charset="0"/>
                <a:ea typeface="Cambria" pitchFamily="34" charset="-122"/>
                <a:cs typeface="Cambria" pitchFamily="34" charset="-120"/>
              </a:rPr>
              <a:t>Q*  =  500 − 25(9)  =  275</a:t>
            </a:r>
            <a:endParaRPr lang="en-US" sz="1500" dirty="0"/>
          </a:p>
          <a:p>
            <a:pPr algn="ctr" indent="0" marL="0">
              <a:buNone/>
            </a:pPr>
            <a:r>
              <a:rPr lang="en-US" sz="1500" b="1" dirty="0">
                <a:solidFill>
                  <a:srgbClr val="FFFFFF"/>
                </a:solidFill>
                <a:latin typeface="Cambria" pitchFamily="34" charset="0"/>
                <a:ea typeface="Cambria" pitchFamily="34" charset="-122"/>
                <a:cs typeface="Cambria" pitchFamily="34" charset="-120"/>
              </a:rPr>
              <a:t>CHECK:  Qs = 50 + 25(9)  =  275  ✓</a:t>
            </a:r>
            <a:endParaRPr lang="en-US" sz="1500" dirty="0"/>
          </a:p>
        </p:txBody>
      </p:sp>
      <p:sp>
        <p:nvSpPr>
          <p:cNvPr id="9" name="Shape 7"/>
          <p:cNvSpPr/>
          <p:nvPr/>
        </p:nvSpPr>
        <p:spPr>
          <a:xfrm>
            <a:off x="502920" y="4389120"/>
            <a:ext cx="5440680" cy="17373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4572000"/>
            <a:ext cx="492861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READING THE SURPLUS TRIANGLES</a:t>
            </a:r>
            <a:endParaRPr lang="en-US" sz="1550" dirty="0"/>
          </a:p>
        </p:txBody>
      </p:sp>
      <p:sp>
        <p:nvSpPr>
          <p:cNvPr id="11" name="Text 9"/>
          <p:cNvSpPr/>
          <p:nvPr/>
        </p:nvSpPr>
        <p:spPr>
          <a:xfrm>
            <a:off x="758952" y="4974336"/>
            <a:ext cx="4928616" cy="9144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CONSUMER SURPLUS: the area ABOVE P* and BELOW the demand curve — what buyers were willing to pay minus what they actually paid. Here: ½ × 275 × (20 − 9) = 1,512.5.</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PRODUCER SURPLUS: the area BELOW P* and ABOVE the supply curve — what sellers received minus their willingness to sell. Here: ½ × 275 × (9 − 2) = 962.5.</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We formalize both in Module 5.</a:t>
            </a:r>
            <a:endParaRPr lang="en-US" sz="850" dirty="0"/>
          </a:p>
        </p:txBody>
      </p:sp>
      <p:pic>
        <p:nvPicPr>
          <p:cNvPr id="12" name="Image 0" descr="figs/m3_equilibrium.png">    </p:cNvPr>
          <p:cNvPicPr>
            <a:picLocks noChangeAspect="1"/>
          </p:cNvPicPr>
          <p:nvPr/>
        </p:nvPicPr>
        <p:blipFill>
          <a:blip r:embed="rId1"/>
          <a:stretch>
            <a:fillRect/>
          </a:stretch>
        </p:blipFill>
        <p:spPr>
          <a:xfrm>
            <a:off x="6126480" y="1841582"/>
            <a:ext cx="5577840" cy="381491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WORKSHEET ✦2</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Efficient Clearing, Unequal Outcomes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
        <p:nvSpPr>
          <p:cNvPr id="6" name="Shape 4"/>
          <p:cNvSpPr/>
          <p:nvPr/>
        </p:nvSpPr>
        <p:spPr>
          <a:xfrm>
            <a:off x="502920" y="1417320"/>
            <a:ext cx="11183112" cy="91440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34747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Market equilibrium maximizes TOTAL surplus — but it does not guarantee a just or equitable DISTRIBUTION of that surplus. Using Marcus and Ray's neighborhood as your context, explain how a market can "clear" efficiently while generating profoundly unequal outcomes for the participants.</a:t>
            </a:r>
            <a:endParaRPr lang="en-US" sz="1000" dirty="0"/>
          </a:p>
        </p:txBody>
      </p:sp>
      <p:sp>
        <p:nvSpPr>
          <p:cNvPr id="9" name="Shape 7"/>
          <p:cNvSpPr/>
          <p:nvPr/>
        </p:nvSpPr>
        <p:spPr>
          <a:xfrm>
            <a:off x="502920" y="2514600"/>
            <a:ext cx="3611880" cy="2194560"/>
          </a:xfrm>
          <a:prstGeom prst="rect">
            <a:avLst/>
          </a:prstGeom>
          <a:solidFill>
            <a:srgbClr val="E8EDF3"/>
          </a:solidFill>
          <a:ln/>
        </p:spPr>
      </p:sp>
      <p:sp>
        <p:nvSpPr>
          <p:cNvPr id="10" name="Shape 8"/>
          <p:cNvSpPr/>
          <p:nvPr/>
        </p:nvSpPr>
        <p:spPr>
          <a:xfrm>
            <a:off x="704088" y="2715768"/>
            <a:ext cx="457200" cy="457200"/>
          </a:xfrm>
          <a:prstGeom prst="ellipse">
            <a:avLst/>
          </a:prstGeom>
          <a:solidFill>
            <a:srgbClr val="1A2E4A"/>
          </a:solidFill>
          <a:ln/>
        </p:spPr>
      </p:sp>
      <p:sp>
        <p:nvSpPr>
          <p:cNvPr id="11" name="Text 9"/>
          <p:cNvSpPr/>
          <p:nvPr/>
        </p:nvSpPr>
        <p:spPr>
          <a:xfrm>
            <a:off x="704088" y="27157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271576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EFFICIENCY IS ABOUT SIZE</a:t>
            </a:r>
            <a:endParaRPr lang="en-US" sz="1600" dirty="0"/>
          </a:p>
        </p:txBody>
      </p:sp>
      <p:sp>
        <p:nvSpPr>
          <p:cNvPr id="13" name="Text 11"/>
          <p:cNvSpPr/>
          <p:nvPr/>
        </p:nvSpPr>
        <p:spPr>
          <a:xfrm>
            <a:off x="722376" y="3264408"/>
            <a:ext cx="3154680" cy="1234440"/>
          </a:xfrm>
          <a:prstGeom prst="rect">
            <a:avLst/>
          </a:prstGeom>
          <a:noFill/>
          <a:ln/>
        </p:spPr>
        <p:txBody>
          <a:bodyPr wrap="square" lIns="0" tIns="0" rIns="0" bIns="0" rtlCol="0" anchor="t"/>
          <a:lstStyle/>
          <a:p>
            <a:pPr indent="0" marL="0">
              <a:lnSpc>
                <a:spcPts val="1600"/>
              </a:lnSpc>
              <a:buNone/>
            </a:pPr>
            <a:r>
              <a:rPr lang="en-US" sz="1100" dirty="0">
                <a:solidFill>
                  <a:srgbClr val="4A6180"/>
                </a:solidFill>
                <a:latin typeface="Calibri" pitchFamily="34" charset="0"/>
                <a:ea typeface="Calibri" pitchFamily="34" charset="-122"/>
                <a:cs typeface="Calibri" pitchFamily="34" charset="-120"/>
              </a:rPr>
              <a:t>Total surplus is the size of the pie: consumer surplus plus producer surplus. Equilibrium maximizes that total. But a maximum total is consistent with ANY division of that total between buyers and sellers — the model is silent on the split.</a:t>
            </a:r>
            <a:endParaRPr lang="en-US" sz="1100" dirty="0"/>
          </a:p>
        </p:txBody>
      </p:sp>
      <p:sp>
        <p:nvSpPr>
          <p:cNvPr id="14" name="Shape 12"/>
          <p:cNvSpPr/>
          <p:nvPr/>
        </p:nvSpPr>
        <p:spPr>
          <a:xfrm>
            <a:off x="4315968" y="2514600"/>
            <a:ext cx="3611880" cy="2194560"/>
          </a:xfrm>
          <a:prstGeom prst="rect">
            <a:avLst/>
          </a:prstGeom>
          <a:solidFill>
            <a:srgbClr val="E8EDF3"/>
          </a:solidFill>
          <a:ln/>
        </p:spPr>
      </p:sp>
      <p:sp>
        <p:nvSpPr>
          <p:cNvPr id="15" name="Shape 13"/>
          <p:cNvSpPr/>
          <p:nvPr/>
        </p:nvSpPr>
        <p:spPr>
          <a:xfrm>
            <a:off x="4517136" y="2715768"/>
            <a:ext cx="457200" cy="457200"/>
          </a:xfrm>
          <a:prstGeom prst="ellipse">
            <a:avLst/>
          </a:prstGeom>
          <a:solidFill>
            <a:srgbClr val="C0892E"/>
          </a:solidFill>
          <a:ln/>
        </p:spPr>
      </p:sp>
      <p:sp>
        <p:nvSpPr>
          <p:cNvPr id="16" name="Text 14"/>
          <p:cNvSpPr/>
          <p:nvPr/>
        </p:nvSpPr>
        <p:spPr>
          <a:xfrm>
            <a:off x="4517136" y="27157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93208" y="271576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WILLINGNESS ≠ NEED</a:t>
            </a:r>
            <a:endParaRPr lang="en-US" sz="1600" dirty="0"/>
          </a:p>
        </p:txBody>
      </p:sp>
      <p:sp>
        <p:nvSpPr>
          <p:cNvPr id="18" name="Text 16"/>
          <p:cNvSpPr/>
          <p:nvPr/>
        </p:nvSpPr>
        <p:spPr>
          <a:xfrm>
            <a:off x="4535424" y="3264408"/>
            <a:ext cx="3154680" cy="1234440"/>
          </a:xfrm>
          <a:prstGeom prst="rect">
            <a:avLst/>
          </a:prstGeom>
          <a:noFill/>
          <a:ln/>
        </p:spPr>
        <p:txBody>
          <a:bodyPr wrap="square" lIns="0" tIns="0" rIns="0" bIns="0" rtlCol="0" anchor="t"/>
          <a:lstStyle/>
          <a:p>
            <a:pPr indent="0" marL="0">
              <a:lnSpc>
                <a:spcPts val="1600"/>
              </a:lnSpc>
              <a:buNone/>
            </a:pPr>
            <a:r>
              <a:rPr lang="en-US" sz="1100" dirty="0">
                <a:solidFill>
                  <a:srgbClr val="4A6180"/>
                </a:solidFill>
                <a:latin typeface="Calibri" pitchFamily="34" charset="0"/>
                <a:ea typeface="Calibri" pitchFamily="34" charset="-122"/>
                <a:cs typeface="Calibri" pitchFamily="34" charset="-120"/>
              </a:rPr>
              <a:t>Demand measures willingness AND ABILITY to pay. A household that needs housing desperately but cannot pay P* simply does not appear in the demand curve. The market clears precisely by excluding them — and records no failure in doing so.</a:t>
            </a:r>
            <a:endParaRPr lang="en-US" sz="1100" dirty="0"/>
          </a:p>
        </p:txBody>
      </p:sp>
      <p:sp>
        <p:nvSpPr>
          <p:cNvPr id="19" name="Shape 17"/>
          <p:cNvSpPr/>
          <p:nvPr/>
        </p:nvSpPr>
        <p:spPr>
          <a:xfrm>
            <a:off x="8119872" y="2514600"/>
            <a:ext cx="3566160" cy="2194560"/>
          </a:xfrm>
          <a:prstGeom prst="rect">
            <a:avLst/>
          </a:prstGeom>
          <a:solidFill>
            <a:srgbClr val="E8EDF3"/>
          </a:solidFill>
          <a:ln/>
        </p:spPr>
      </p:sp>
      <p:sp>
        <p:nvSpPr>
          <p:cNvPr id="20" name="Shape 18"/>
          <p:cNvSpPr/>
          <p:nvPr/>
        </p:nvSpPr>
        <p:spPr>
          <a:xfrm>
            <a:off x="8321040" y="2715768"/>
            <a:ext cx="457200" cy="457200"/>
          </a:xfrm>
          <a:prstGeom prst="ellipse">
            <a:avLst/>
          </a:prstGeom>
          <a:solidFill>
            <a:srgbClr val="9E2A2B"/>
          </a:solidFill>
          <a:ln/>
        </p:spPr>
      </p:sp>
      <p:sp>
        <p:nvSpPr>
          <p:cNvPr id="21" name="Text 19"/>
          <p:cNvSpPr/>
          <p:nvPr/>
        </p:nvSpPr>
        <p:spPr>
          <a:xfrm>
            <a:off x="8321040" y="27157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97112" y="2715768"/>
            <a:ext cx="256032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WHO SETS THE CURVE</a:t>
            </a:r>
            <a:endParaRPr lang="en-US" sz="1600" dirty="0"/>
          </a:p>
        </p:txBody>
      </p:sp>
      <p:sp>
        <p:nvSpPr>
          <p:cNvPr id="23" name="Text 21"/>
          <p:cNvSpPr/>
          <p:nvPr/>
        </p:nvSpPr>
        <p:spPr>
          <a:xfrm>
            <a:off x="8339328" y="3264408"/>
            <a:ext cx="3108960" cy="123444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Ray owns the commercial property; Marcus sells his labor. Both face a clearing market. But Ray's surplus derives from an asset whose supply is fixed, while Marcus's derives from an input he must reproduce daily. Same equilibrium, entirely different position within it.</a:t>
            </a:r>
            <a:endParaRPr lang="en-US" sz="1050" dirty="0"/>
          </a:p>
        </p:txBody>
      </p:sp>
      <p:sp>
        <p:nvSpPr>
          <p:cNvPr id="24" name="Shape 22"/>
          <p:cNvSpPr/>
          <p:nvPr/>
        </p:nvSpPr>
        <p:spPr>
          <a:xfrm>
            <a:off x="502920" y="4937760"/>
            <a:ext cx="11183112" cy="1188720"/>
          </a:xfrm>
          <a:prstGeom prst="rect">
            <a:avLst/>
          </a:prstGeom>
          <a:solidFill>
            <a:srgbClr val="1A2E4A"/>
          </a:solidFill>
          <a:ln/>
        </p:spPr>
      </p:sp>
      <p:sp>
        <p:nvSpPr>
          <p:cNvPr id="25" name="Text 23"/>
          <p:cNvSpPr/>
          <p:nvPr/>
        </p:nvSpPr>
        <p:spPr>
          <a:xfrm>
            <a:off x="685800" y="5065776"/>
            <a:ext cx="1081735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EFFICIENCY  is a positive claim.        EQUITY  is a normative claim.</a:t>
            </a:r>
            <a:endParaRPr lang="en-US" sz="2200" dirty="0"/>
          </a:p>
        </p:txBody>
      </p:sp>
      <p:sp>
        <p:nvSpPr>
          <p:cNvPr id="26" name="Text 24"/>
          <p:cNvSpPr/>
          <p:nvPr/>
        </p:nvSpPr>
        <p:spPr>
          <a:xfrm>
            <a:off x="685800" y="56144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Module 1 taught you to keep these apart. Module 5 will measure efficiency precisely. Modules 7 and 8 will ask who captured the surplus — and why.</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Shifting the Market Model</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4  ·  All determinants of demand (TRIBE) and supply (PROFIT); the ceteris paribus procedure</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5  ·  Simultaneous double shifts and the four-case indeterminacy framework</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5  ·  Three canonical historical case studies: the Black Death, COVID-19, and the 1973 OPEC embargo</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04</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Determinants of</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Demand &amp; Supply</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Enumerate all determinants of demand and supply; explain the ceteris paribus procedure; classify any event as a shift or a movement along.</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TRIBE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Five Determinants of Demand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502920"/>
                <a:gridCol w="2743200"/>
                <a:gridCol w="3931920"/>
                <a:gridCol w="4005072"/>
              </a:tblGrid>
              <a:tr h="182880">
                <a:tc>
                  <a:txBody>
                    <a:bodyPr/>
                    <a:lstStyle/>
                    <a:p>
                      <a:pPr algn="l" indent="0" marL="0">
                        <a:buNone/>
                      </a:pP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DETERMINANT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THE RULE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HISTORICAL / CONTEMPORARY EXAMPLE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TASTES &amp; PREFERENCES</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(cultural, religious, fashion, technology)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 favorable shift in taste → D shifts RIGHT. An unfavorable shift → D shifts LEFT.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Chinese court adopts ivory as a status symbol → D for ivory RIGHT. A study warns against a product → D LEFT.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PRICES OF RELATED GOODS</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(substitutes and complements)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SUBSTITUTE: price of the substitute ↑ → D for this good RIGHT (buyers switch in).</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COMPLEMENT: price of the complement ↑ → D for this good LEFT (goods used together).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Price of tea rises → demand for coffee rises (substitutes). Price of gasoline rises → demand for large cars falls (complements).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INCOME</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(normal vs. inferior goods)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NORMAL GOOD: income ↑ → D RIGHT.</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INFERIOR GOOD: income ↑ → D LEFT. The relationship is INVERSE.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Gold trade booms and Indian merchants grow wealthier → demand for ivory (normal) rises. Incomes rise → demand for instant noodles (inferior) falls.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BUYER COUNT</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(number of buyers / market size)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More buyers in the market → D RIGHT. Fewer buyers → D LEFT. The POPULATION of your data matters.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Indian Ocean trade networks expand → entirely new groups of buyers enter the Kilwa ivory market. Persian merchants lose their fleet → fewer buyers → D LEFT.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EXPECTATIONS</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(future prices, availability)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Buyers expect prices to RISE next period → buy more NOW → current D RIGHT. Expect prices to FALL → current D LEFT.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News and weather reports cause households to hoard toilet paper and bread. Buyers expect ivory prices to double next season → buy now.</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160520"/>
            <a:ext cx="3611880" cy="13258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58952" y="4343400"/>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NORMAL vs. INFERIOR — formal</a:t>
            </a:r>
            <a:endParaRPr lang="en-US" sz="1550" dirty="0"/>
          </a:p>
        </p:txBody>
      </p:sp>
      <p:sp>
        <p:nvSpPr>
          <p:cNvPr id="9" name="Text 6"/>
          <p:cNvSpPr/>
          <p:nvPr/>
        </p:nvSpPr>
        <p:spPr>
          <a:xfrm>
            <a:off x="758952" y="4745736"/>
            <a:ext cx="3099816" cy="5029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good is NORMAL if demand rises with income (∂D/∂I &gt; 0) and INFERIOR if demand falls with income (∂D/∂I &lt; 0). Inferiority is not a claim about quality — it is a claim about the sign of one derivative.</a:t>
            </a:r>
            <a:endParaRPr lang="en-US" sz="850" dirty="0"/>
          </a:p>
        </p:txBody>
      </p:sp>
      <p:sp>
        <p:nvSpPr>
          <p:cNvPr id="10" name="Shape 7"/>
          <p:cNvSpPr/>
          <p:nvPr/>
        </p:nvSpPr>
        <p:spPr>
          <a:xfrm>
            <a:off x="4315968" y="4160520"/>
            <a:ext cx="3611880" cy="13258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4572000" y="4343400"/>
            <a:ext cx="3099816" cy="384048"/>
          </a:xfrm>
          <a:prstGeom prst="rect">
            <a:avLst/>
          </a:prstGeom>
          <a:noFill/>
          <a:ln/>
        </p:spPr>
        <p:txBody>
          <a:bodyPr wrap="square" lIns="0" tIns="0" rIns="0" bIns="0" rtlCol="0" anchor="ctr"/>
          <a:lstStyle/>
          <a:p>
            <a:pPr indent="0" marL="0">
              <a:buNone/>
            </a:pPr>
            <a:r>
              <a:rPr lang="en-US" sz="1300" b="1" dirty="0">
                <a:solidFill>
                  <a:srgbClr val="C0892E"/>
                </a:solidFill>
                <a:latin typeface="Cambria" pitchFamily="34" charset="0"/>
                <a:ea typeface="Cambria" pitchFamily="34" charset="-122"/>
                <a:cs typeface="Cambria" pitchFamily="34" charset="-120"/>
              </a:rPr>
              <a:t>SUBSTITUTES vs. COMPLEMENTS — formal</a:t>
            </a:r>
            <a:endParaRPr lang="en-US" sz="1300" dirty="0"/>
          </a:p>
        </p:txBody>
      </p:sp>
      <p:sp>
        <p:nvSpPr>
          <p:cNvPr id="12" name="Text 9"/>
          <p:cNvSpPr/>
          <p:nvPr/>
        </p:nvSpPr>
        <p:spPr>
          <a:xfrm>
            <a:off x="4572000" y="4745736"/>
            <a:ext cx="3099816" cy="5029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SUBSTITUTES: ∂Dx/∂Py &gt; 0 — a rise in the other good's price raises demand for this one. COMPLEMENTS: ∂Dx/∂Py &lt; 0. Module 4 measures both with the CROSS-PRICE ELASTICITY.</a:t>
            </a:r>
            <a:endParaRPr lang="en-US" sz="850" dirty="0"/>
          </a:p>
        </p:txBody>
      </p:sp>
      <p:sp>
        <p:nvSpPr>
          <p:cNvPr id="13" name="Shape 10"/>
          <p:cNvSpPr/>
          <p:nvPr/>
        </p:nvSpPr>
        <p:spPr>
          <a:xfrm>
            <a:off x="8119872" y="4160520"/>
            <a:ext cx="3566160" cy="13258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8375904" y="4343400"/>
            <a:ext cx="305409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ONE EXCLUSION</a:t>
            </a:r>
            <a:endParaRPr lang="en-US" sz="1550" dirty="0"/>
          </a:p>
        </p:txBody>
      </p:sp>
      <p:sp>
        <p:nvSpPr>
          <p:cNvPr id="15" name="Text 12"/>
          <p:cNvSpPr/>
          <p:nvPr/>
        </p:nvSpPr>
        <p:spPr>
          <a:xfrm>
            <a:off x="8375904" y="4745736"/>
            <a:ext cx="3054096" cy="5029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good's OWN price is NOT on this list, and never will be. Own price is the variable on the vertical axis — changing it moves you along the curve you already drew.</a:t>
            </a:r>
            <a:endParaRPr lang="en-US" sz="850" dirty="0"/>
          </a:p>
        </p:txBody>
      </p:sp>
      <p:sp>
        <p:nvSpPr>
          <p:cNvPr id="16" name="Shape 13"/>
          <p:cNvSpPr/>
          <p:nvPr/>
        </p:nvSpPr>
        <p:spPr>
          <a:xfrm>
            <a:off x="502920" y="5596128"/>
            <a:ext cx="11183112" cy="548640"/>
          </a:xfrm>
          <a:prstGeom prst="rect">
            <a:avLst/>
          </a:prstGeom>
          <a:solidFill>
            <a:srgbClr val="1A2E4A"/>
          </a:solidFill>
          <a:ln/>
        </p:spPr>
      </p:sp>
      <p:sp>
        <p:nvSpPr>
          <p:cNvPr id="17" name="Text 14"/>
          <p:cNvSpPr/>
          <p:nvPr/>
        </p:nvSpPr>
        <p:spPr>
          <a:xfrm>
            <a:off x="758952" y="5724144"/>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WHAT IS EXOGENOUS TO THE DEMAND MODEL</a:t>
            </a:r>
            <a:endParaRPr lang="en-US" sz="1050" dirty="0"/>
          </a:p>
        </p:txBody>
      </p:sp>
      <p:sp>
        <p:nvSpPr>
          <p:cNvPr id="18" name="Text 15"/>
          <p:cNvSpPr/>
          <p:nvPr/>
        </p:nvSpPr>
        <p:spPr>
          <a:xfrm>
            <a:off x="758952" y="5998464"/>
            <a:ext cx="10671048" cy="-18288"/>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Everything on this list. Price is ENDOGENOUS — it is determined inside the model, so a price change moves you along the curve. Everything else comes from outside, and therefore moves the curve itself.</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PROFIT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Six Determinants of Supply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502920"/>
                <a:gridCol w="2743200"/>
                <a:gridCol w="3931920"/>
                <a:gridCol w="4005072"/>
              </a:tblGrid>
              <a:tr h="182880">
                <a:tc>
                  <a:txBody>
                    <a:bodyPr/>
                    <a:lstStyle/>
                    <a:p>
                      <a:pPr algn="l" indent="0" marL="0">
                        <a:buNone/>
                      </a:pP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DETERMINANT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THE RULE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HISTORICAL / CONTEMPORARY EXAMPLE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PRICES OF INPUTS</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(costs of production)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Higher input costs (iron, wood, wages) → S shifts LEFT. Lower input costs → S shifts RIGHT.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Ray raises commercial rents → the supply of neighborhood goods falls. Wages rise for suppliers → S LEFT.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RELATED GOODS IN PRODUCTION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If a producer can switch output, a rise in the price of the alternative good → S of this good LEFT.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 farmer who can plant wheat or barley shifts acreage to whichever price has risen.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OTHER PRODUCERS</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(number of sellers)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More producers enter → S RIGHT. Producers exit → S LEFT.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New workshops open in the Carolingian imperial forges → S of spearheads RIGHT.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FUTURE EXPECTATIONS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Expect higher prices later → withhold supply now → current S LEFT. Expect lower prices → release supply now → current S RIGHT.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Blacksmiths expecting a new campaign hold back inventory until prices rise.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INNOVATION</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(technology / productivity)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Better tools or methods → MORE OUTPUT FROM THE SAME INPUTS → S RIGHT. Technological setbacks → S LEFT.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Water-powered trip hammers raise iron output per worker → S RIGHT.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TAXES &amp; SUBSIDIES</a:t>
                      </a:r>
                      <a:endParaRPr lang="en-US" sz="950" dirty="0">
                        <a:latin typeface="Calibri" charset="0"/>
                        <a:ea typeface="Calibri" charset="0"/>
                        <a:cs typeface="Calibri" charset="0"/>
                      </a:endParaRPr>
                    </a:p>
                    <a:p>
                      <a:pPr algn="l" indent="0" marL="0">
                        <a:buNone/>
                      </a:pPr>
                      <a:r>
                        <a:rPr lang="en-US" sz="950" dirty="0">
                          <a:solidFill>
                            <a:srgbClr val="1A2E4A"/>
                          </a:solidFill>
                          <a:latin typeface="Calibri" pitchFamily="34" charset="0"/>
                          <a:ea typeface="Calibri" pitchFamily="34" charset="-122"/>
                          <a:cs typeface="Calibri" pitchFamily="34" charset="-120"/>
                        </a:rPr>
                        <a:t>(government policy)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 tax raises production cost → S LEFT. A subsidy lowers cost → S RIGHT.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An imperial levy on iron → S LEFT. A grain subsidy → S RIGHT. Formalized in Module 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NATURAL &amp; EXTERNAL CONDITIONS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Favorable weather, good harvests, resource discoveries → S RIGHT. Drought, disease, war → S LEFT.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Ideal rains bring a bumper tea harvest in Song Hangzhou → S RIGHT. Cacao harvest failure near Tenochtitlan → S LEFT.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596128"/>
            <a:ext cx="11183112" cy="548640"/>
          </a:xfrm>
          <a:prstGeom prst="rect">
            <a:avLst/>
          </a:prstGeom>
          <a:solidFill>
            <a:srgbClr val="1A2E4A"/>
          </a:solidFill>
          <a:ln/>
        </p:spPr>
      </p:sp>
      <p:sp>
        <p:nvSpPr>
          <p:cNvPr id="8" name="Text 5"/>
          <p:cNvSpPr/>
          <p:nvPr/>
        </p:nvSpPr>
        <p:spPr>
          <a:xfrm>
            <a:off x="758952" y="5724144"/>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MNEMONICS</a:t>
            </a:r>
            <a:endParaRPr lang="en-US" sz="1050" dirty="0"/>
          </a:p>
        </p:txBody>
      </p:sp>
      <p:sp>
        <p:nvSpPr>
          <p:cNvPr id="9" name="Text 6"/>
          <p:cNvSpPr/>
          <p:nvPr/>
        </p:nvSpPr>
        <p:spPr>
          <a:xfrm>
            <a:off x="758952" y="5998464"/>
            <a:ext cx="10671048" cy="-18288"/>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DEMAND = TRIBE: Tastes / Related prices / Income / Buyer count / Expectations.        SUPPLY = PROFIT: Prices of inputs / Related goods / Other producers / Future expectations / Innovation / Taxes and subsidies.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3.4 · KILWA KISIWANI, C. 800–1000 CE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Merchant of Kilwa — A Demand Shift Worked Through</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
        <p:nvSpPr>
          <p:cNvPr id="6" name="Text 4"/>
          <p:cNvSpPr/>
          <p:nvPr/>
        </p:nvSpPr>
        <p:spPr>
          <a:xfrm>
            <a:off x="502920" y="1417320"/>
            <a:ext cx="5486400" cy="105156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By 800 CE Kilwa Kisiwani (modern Tanzania) had emerged as a key Swahili trading port on the East African coast, where Gujarati textile traders and Abbasid spice merchants competed for ivory. As Indian Ocean trade networks expanded, demand from the Persian Gulf, India and China for East African ivory surged. This was an INCREASE IN DEMAND — entirely new groups of buyers entered the market, willing to buy at every price level.</a:t>
            </a:r>
            <a:endParaRPr lang="en-US" sz="1200" dirty="0"/>
          </a:p>
        </p:txBody>
      </p:sp>
      <p:sp>
        <p:nvSpPr>
          <p:cNvPr id="7" name="Shape 5"/>
          <p:cNvSpPr/>
          <p:nvPr/>
        </p:nvSpPr>
        <p:spPr>
          <a:xfrm>
            <a:off x="502920" y="2578608"/>
            <a:ext cx="5486400" cy="9601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6"/>
          <p:cNvSpPr/>
          <p:nvPr/>
        </p:nvSpPr>
        <p:spPr>
          <a:xfrm>
            <a:off x="758952" y="2761488"/>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1. WHICH DETERMINANT?</a:t>
            </a:r>
            <a:endParaRPr lang="en-US" sz="1550" dirty="0"/>
          </a:p>
        </p:txBody>
      </p:sp>
      <p:sp>
        <p:nvSpPr>
          <p:cNvPr id="9" name="Text 7"/>
          <p:cNvSpPr/>
          <p:nvPr/>
        </p:nvSpPr>
        <p:spPr>
          <a:xfrm>
            <a:off x="758952" y="3163824"/>
            <a:ext cx="4974336" cy="1371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BUYER COUNT (the B in TRIBE) — new groups of buyers entered the market. Secondarily TASTES, as the Chinese court adopted ivory as a status good, and INCOME, as gold-trade wealth rose among Indian merchants.</a:t>
            </a:r>
            <a:endParaRPr lang="en-US" sz="850" dirty="0"/>
          </a:p>
        </p:txBody>
      </p:sp>
      <p:sp>
        <p:nvSpPr>
          <p:cNvPr id="10" name="Shape 8"/>
          <p:cNvSpPr/>
          <p:nvPr/>
        </p:nvSpPr>
        <p:spPr>
          <a:xfrm>
            <a:off x="502920" y="3657600"/>
            <a:ext cx="5486400" cy="7772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9"/>
          <p:cNvSpPr/>
          <p:nvPr/>
        </p:nvSpPr>
        <p:spPr>
          <a:xfrm>
            <a:off x="758952" y="384048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3. THE NEW EQUILIBRIUM</a:t>
            </a:r>
            <a:endParaRPr lang="en-US" sz="1550" dirty="0"/>
          </a:p>
        </p:txBody>
      </p:sp>
      <p:sp>
        <p:nvSpPr>
          <p:cNvPr id="12" name="Text 10"/>
          <p:cNvSpPr/>
          <p:nvPr/>
        </p:nvSpPr>
        <p:spPr>
          <a:xfrm>
            <a:off x="758952" y="4242816"/>
            <a:ext cx="4974336" cy="-457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P₂* is HIGHER than P₁*.   Q₂* is HIGHER than Q₁*.   Supply is unchanged — we move ALONG the fixed supply curve to a new intersection.</a:t>
            </a:r>
            <a:endParaRPr lang="en-US" sz="8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4617720"/>
          <a:ext cx="5486400" cy="914400"/>
        </p:xfrm>
        <a:graphic>
          <a:graphicData uri="http://schemas.openxmlformats.org/drawingml/2006/table">
            <a:tbl>
              <a:tblPr/>
              <a:tblGrid>
                <a:gridCol w="3017520"/>
                <a:gridCol w="1234440"/>
                <a:gridCol w="1234440"/>
              </a:tblGrid>
              <a:tr h="256032">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4. CLASSIFY EACH EVENT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SHIFT or ALONG?</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DIRECTION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56032">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Price of ivory rises from 10 to 15 gold coins per tusk</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ALONG</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 quantity demanded</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Chinese court adopts ivory as a status symbol (new taste)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SHIFT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 D RIGHT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56032">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Persian merchants lose their trading fleet (fewer buyers)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SHIFT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 D LEFT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Buyers expect ivory prices to double next season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SHIFT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 D RIGHT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56032">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Gold trade booms — Indian merchants grow wealthier</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SHIFT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 D RIGHT (normal good)</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pic>
        <p:nvPicPr>
          <p:cNvPr id="14" name="Image 0" descr="figs/m3_kilwa.png">    </p:cNvPr>
          <p:cNvPicPr>
            <a:picLocks noChangeAspect="1"/>
          </p:cNvPicPr>
          <p:nvPr/>
        </p:nvPicPr>
        <p:blipFill>
          <a:blip r:embed="rId1"/>
          <a:stretch>
            <a:fillRect/>
          </a:stretch>
        </p:blipFill>
        <p:spPr>
          <a:xfrm>
            <a:off x="6172200" y="1606428"/>
            <a:ext cx="5513832" cy="43766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SUPPLY SHIFTS IN HISTORY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Song Hangzhou &amp; Tenochtitlan — Two Supply Shocks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pic>
        <p:nvPicPr>
          <p:cNvPr id="6" name="Image 0" descr="figs/m3_supplyshifts.png">    </p:cNvPr>
          <p:cNvPicPr>
            <a:picLocks noChangeAspect="1"/>
          </p:cNvPicPr>
          <p:nvPr/>
        </p:nvPicPr>
        <p:blipFill>
          <a:blip r:embed="rId1"/>
          <a:stretch>
            <a:fillRect/>
          </a:stretch>
        </p:blipFill>
        <p:spPr>
          <a:xfrm>
            <a:off x="2638462" y="1371600"/>
            <a:ext cx="6912028" cy="3246120"/>
          </a:xfrm>
          <a:prstGeom prst="rect">
            <a:avLst/>
          </a:prstGeom>
        </p:spPr>
      </p:pic>
      <p:sp>
        <p:nvSpPr>
          <p:cNvPr id="7" name="Shape 4"/>
          <p:cNvSpPr/>
          <p:nvPr/>
        </p:nvSpPr>
        <p:spPr>
          <a:xfrm>
            <a:off x="502920" y="4754880"/>
            <a:ext cx="548640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58952" y="4937760"/>
            <a:ext cx="497433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SONG HANGZHOU — A BUMPER TEA HARVEST</a:t>
            </a:r>
            <a:endParaRPr lang="en-US" sz="1550" dirty="0"/>
          </a:p>
        </p:txBody>
      </p:sp>
      <p:sp>
        <p:nvSpPr>
          <p:cNvPr id="9" name="Text 6"/>
          <p:cNvSpPr/>
          <p:nvPr/>
        </p:nvSpPr>
        <p:spPr>
          <a:xfrm>
            <a:off x="758952" y="5340096"/>
            <a:ext cx="497433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year of ideal rains brings a bumper harvest. Farmers deliver far more leaves to market: S shifts RIGHT. Prices FALL as stalls overflow, making tea accessible to ordinary townspeople. Consumers benefit — but small growers face slimmer margins, and merchants look to canal and maritime trade to move the surplus.</a:t>
            </a:r>
            <a:endParaRPr lang="en-US" sz="850" dirty="0"/>
          </a:p>
        </p:txBody>
      </p:sp>
      <p:sp>
        <p:nvSpPr>
          <p:cNvPr id="10" name="Shape 7"/>
          <p:cNvSpPr/>
          <p:nvPr/>
        </p:nvSpPr>
        <p:spPr>
          <a:xfrm>
            <a:off x="6199632" y="4754880"/>
            <a:ext cx="548640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6455664" y="493776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TENOCHTITLAN — CACAO HARVEST FAILURE</a:t>
            </a:r>
            <a:endParaRPr lang="en-US" sz="1550" dirty="0"/>
          </a:p>
        </p:txBody>
      </p:sp>
      <p:sp>
        <p:nvSpPr>
          <p:cNvPr id="12" name="Text 9"/>
          <p:cNvSpPr/>
          <p:nvPr/>
        </p:nvSpPr>
        <p:spPr>
          <a:xfrm>
            <a:off x="6455664" y="5340096"/>
            <a:ext cx="497433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Cacao beans served as both currency and the basis of ritual chocolate. Seasonal rains fail; far fewer beans reach the city: S shifts LEFT and prices RISE. Ordinary households and lower-status warriors can no longer afford cacao drinks while nobles and priests still buy for ceremonies. A negative supply shock raises prices, restricts access, and AMPLIFIES SOCIAL DIVISION.</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05</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Double Shifts &amp;</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Historical Case Studies</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Analyze simultaneous double shifts using the ceteris paribus procedure and three canonical historical case studies; identify which outcomes are determinate and which are ambiguous.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CETERIS PARIBUS PROCEDURE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How to Think With Two Things Happening at Once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
        <p:nvSpPr>
          <p:cNvPr id="6" name="Text 4"/>
          <p:cNvSpPr/>
          <p:nvPr/>
        </p:nvSpPr>
        <p:spPr>
          <a:xfrm>
            <a:off x="502920" y="1417320"/>
            <a:ext cx="11155680" cy="365760"/>
          </a:xfrm>
          <a:prstGeom prst="rect">
            <a:avLst/>
          </a:prstGeom>
          <a:noFill/>
          <a:ln/>
        </p:spPr>
        <p:txBody>
          <a:bodyPr wrap="square" lIns="0" tIns="0" rIns="0" bIns="0" rtlCol="0" anchor="ctr"/>
          <a:lstStyle/>
          <a:p>
            <a:pPr indent="0" marL="0">
              <a:buNone/>
            </a:pPr>
            <a:r>
              <a:rPr lang="en-US" sz="1350" dirty="0">
                <a:solidFill>
                  <a:srgbClr val="4A6180"/>
                </a:solidFill>
                <a:latin typeface="Calibri" pitchFamily="34" charset="0"/>
                <a:ea typeface="Calibri" pitchFamily="34" charset="-122"/>
                <a:cs typeface="Calibri" pitchFamily="34" charset="-120"/>
              </a:rPr>
              <a:t>Think like an economist: ISOLATE ONE FORCE AT A TIME, then analyze the change. Think of the two shifts as COMPETING SOCIAL FORCES.</a:t>
            </a:r>
            <a:endParaRPr lang="en-US" sz="13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83112" cy="914400"/>
        </p:xfrm>
        <a:graphic>
          <a:graphicData uri="http://schemas.openxmlformats.org/drawingml/2006/table">
            <a:tbl>
              <a:tblPr/>
              <a:tblGrid>
                <a:gridCol w="822960"/>
                <a:gridCol w="10360152"/>
              </a:tblGrid>
              <a:tr h="27432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STEP</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YOU DO</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Establish the BASELINE. Draw D₁ and S₁; mark E₁ and read off market price (Pm) and market quantity (Qm).</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Analyze the change to DEMAND alone. Which determinant? Which direction? Mark the effect on P and Q holding supply fixed.</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Analyze the change to SUPPLY alone. Which determinant? Which direction? Mark the effect on P and Q holding demand fixed.</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Combine. Where the two forces AGREE on a variable, that outcome CAN be determined. Where they COMPETE, it CANNOT be determined without knowing the relative magnitudes.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502920" y="3703320"/>
          <a:ext cx="11183112" cy="914400"/>
        </p:xfrm>
        <a:graphic>
          <a:graphicData uri="http://schemas.openxmlformats.org/drawingml/2006/table">
            <a:tbl>
              <a:tblPr/>
              <a:tblGrid>
                <a:gridCol w="4206240"/>
                <a:gridCol w="4023360"/>
                <a:gridCol w="2953512"/>
              </a:tblGrid>
              <a:tr h="31089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DOUBLE-SHIFT FRAMEWORK</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EFFECT ON P*</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EFFECT ON Q*</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D shifts RIGHT, S shifts RIGHT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AMBIGUOUS — depends on relative magnitudes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UNAMBIGUOUS: Q* ↑</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D shifts LEFT, S shifts LEFT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AMBIGUOUS — depends on relative magnitudes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UNAMBIGUOUS: Q* ↓</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D shifts RIGHT, S shifts LEFT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UNAMBIGUOUS: P* ↑</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AMBIGUOUS — depends on relative magnitudes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D shifts LEFT, S shifts RIGHT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UNAMBIGUOUS: P* ↓</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AMBIGUOUS — depends on relative magnitudes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9" name="Shape 5"/>
          <p:cNvSpPr/>
          <p:nvPr/>
        </p:nvSpPr>
        <p:spPr>
          <a:xfrm>
            <a:off x="502920" y="5486400"/>
            <a:ext cx="11183112" cy="640080"/>
          </a:xfrm>
          <a:prstGeom prst="rect">
            <a:avLst/>
          </a:prstGeom>
          <a:solidFill>
            <a:srgbClr val="1A2E4A"/>
          </a:solidFill>
          <a:ln/>
        </p:spPr>
      </p:sp>
      <p:sp>
        <p:nvSpPr>
          <p:cNvPr id="10" name="Text 6"/>
          <p:cNvSpPr/>
          <p:nvPr/>
        </p:nvSpPr>
        <p:spPr>
          <a:xfrm>
            <a:off x="758952" y="56144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PATTERN WORTH MEMORIZING</a:t>
            </a:r>
            <a:endParaRPr lang="en-US" sz="1050" dirty="0"/>
          </a:p>
        </p:txBody>
      </p:sp>
      <p:sp>
        <p:nvSpPr>
          <p:cNvPr id="11" name="Text 7"/>
          <p:cNvSpPr/>
          <p:nvPr/>
        </p:nvSpPr>
        <p:spPr>
          <a:xfrm>
            <a:off x="758952" y="5888736"/>
            <a:ext cx="10671048" cy="7315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SAME DIRECTION shifts → QUANTITY is determinate, price ambiguous.   OPPOSITE DIRECTION shifts → PRICE is determinate, quantity ambiguous.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THREE CANONICAL CASES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Black Death · COVID-19 · The OPEC Embargo</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pic>
        <p:nvPicPr>
          <p:cNvPr id="6" name="Image 0" descr="figs/m3_doubleshifts.png">    </p:cNvPr>
          <p:cNvPicPr>
            <a:picLocks noChangeAspect="1"/>
          </p:cNvPicPr>
          <p:nvPr/>
        </p:nvPicPr>
        <p:blipFill>
          <a:blip r:embed="rId1"/>
          <a:stretch>
            <a:fillRect/>
          </a:stretch>
        </p:blipFill>
        <p:spPr>
          <a:xfrm>
            <a:off x="1079972" y="1371600"/>
            <a:ext cx="10001576" cy="3429000"/>
          </a:xfrm>
          <a:prstGeom prst="rect">
            <a:avLst/>
          </a:prstGeom>
        </p:spPr>
      </p:pic>
      <p:sp>
        <p:nvSpPr>
          <p:cNvPr id="7" name="Shape 4"/>
          <p:cNvSpPr/>
          <p:nvPr/>
        </p:nvSpPr>
        <p:spPr>
          <a:xfrm>
            <a:off x="502920" y="4846320"/>
            <a:ext cx="3611880" cy="12801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58952" y="5029200"/>
            <a:ext cx="3099816" cy="384048"/>
          </a:xfrm>
          <a:prstGeom prst="rect">
            <a:avLst/>
          </a:prstGeom>
          <a:noFill/>
          <a:ln/>
        </p:spPr>
        <p:txBody>
          <a:bodyPr wrap="square" lIns="0" tIns="0" rIns="0" bIns="0" rtlCol="0" anchor="ctr"/>
          <a:lstStyle/>
          <a:p>
            <a:pPr indent="0" marL="0">
              <a:buNone/>
            </a:pPr>
            <a:r>
              <a:rPr lang="en-US" sz="1300" b="1" dirty="0">
                <a:solidFill>
                  <a:srgbClr val="1A2E4A"/>
                </a:solidFill>
                <a:latin typeface="Cambria" pitchFamily="34" charset="0"/>
                <a:ea typeface="Cambria" pitchFamily="34" charset="-122"/>
                <a:cs typeface="Cambria" pitchFamily="34" charset="-120"/>
              </a:rPr>
              <a:t>SCENARIO 3.5 — BLACK DEATH, 1348–52</a:t>
            </a:r>
            <a:endParaRPr lang="en-US" sz="1300" dirty="0"/>
          </a:p>
        </p:txBody>
      </p:sp>
      <p:sp>
        <p:nvSpPr>
          <p:cNvPr id="9" name="Text 6"/>
          <p:cNvSpPr/>
          <p:nvPr/>
        </p:nvSpPr>
        <p:spPr>
          <a:xfrm>
            <a:off x="758952" y="5431536"/>
            <a:ext cx="3099816" cy="4572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Plague killed roughly one-third of Europe. D LEFT (far fewer buyers) and S LEFT (far fewer farmers and artisans; fields fallow, workshops silent). Q* fell UNAMBIGUOUSLY. P* was AMBIGUOUS — grain prices sometimes fell, while wages for surviving laborers rose sharply as landowners competed for scarce workers.</a:t>
            </a:r>
            <a:endParaRPr lang="en-US" sz="850" dirty="0"/>
          </a:p>
        </p:txBody>
      </p:sp>
      <p:sp>
        <p:nvSpPr>
          <p:cNvPr id="10" name="Shape 7"/>
          <p:cNvSpPr/>
          <p:nvPr/>
        </p:nvSpPr>
        <p:spPr>
          <a:xfrm>
            <a:off x="4315968" y="4846320"/>
            <a:ext cx="3611880" cy="12801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4572000" y="5029200"/>
            <a:ext cx="3099816" cy="384048"/>
          </a:xfrm>
          <a:prstGeom prst="rect">
            <a:avLst/>
          </a:prstGeom>
          <a:noFill/>
          <a:ln/>
        </p:spPr>
        <p:txBody>
          <a:bodyPr wrap="square" lIns="0" tIns="0" rIns="0" bIns="0" rtlCol="0" anchor="ctr"/>
          <a:lstStyle/>
          <a:p>
            <a:pPr indent="0" marL="0">
              <a:buNone/>
            </a:pPr>
            <a:r>
              <a:rPr lang="en-US" sz="1400" b="1" dirty="0">
                <a:solidFill>
                  <a:srgbClr val="C0892E"/>
                </a:solidFill>
                <a:latin typeface="Cambria" pitchFamily="34" charset="0"/>
                <a:ea typeface="Cambria" pitchFamily="34" charset="-122"/>
                <a:cs typeface="Cambria" pitchFamily="34" charset="-120"/>
              </a:rPr>
              <a:t>SCENARIO 3.6 — COVID-19, 2020–22</a:t>
            </a:r>
            <a:endParaRPr lang="en-US" sz="1400" dirty="0"/>
          </a:p>
        </p:txBody>
      </p:sp>
      <p:sp>
        <p:nvSpPr>
          <p:cNvPr id="12" name="Text 9"/>
          <p:cNvSpPr/>
          <p:nvPr/>
        </p:nvSpPr>
        <p:spPr>
          <a:xfrm>
            <a:off x="4572000" y="5431536"/>
            <a:ext cx="3099816" cy="4572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Factory closures and semiconductor shortages shifted S sharply LEFT. Fiscal stimulus and substitution away from services shifted D RIGHT. P* rose UNAMBIGUOUSLY — sustained 7–9% inflation. Q* was AMBIGUOUS. Both demand-pull and cost-push forces operated at once.</a:t>
            </a:r>
            <a:endParaRPr lang="en-US" sz="850" dirty="0"/>
          </a:p>
        </p:txBody>
      </p:sp>
      <p:sp>
        <p:nvSpPr>
          <p:cNvPr id="13" name="Shape 10"/>
          <p:cNvSpPr/>
          <p:nvPr/>
        </p:nvSpPr>
        <p:spPr>
          <a:xfrm>
            <a:off x="8119872" y="4846320"/>
            <a:ext cx="3566160" cy="12801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8375904" y="5029200"/>
            <a:ext cx="3054096" cy="384048"/>
          </a:xfrm>
          <a:prstGeom prst="rect">
            <a:avLst/>
          </a:prstGeom>
          <a:noFill/>
          <a:ln/>
        </p:spPr>
        <p:txBody>
          <a:bodyPr wrap="square" lIns="0" tIns="0" rIns="0" bIns="0" rtlCol="0" anchor="ctr"/>
          <a:lstStyle/>
          <a:p>
            <a:pPr indent="0" marL="0">
              <a:buNone/>
            </a:pPr>
            <a:r>
              <a:rPr lang="en-US" sz="1400" b="1" dirty="0">
                <a:solidFill>
                  <a:srgbClr val="9E2A2B"/>
                </a:solidFill>
                <a:latin typeface="Cambria" pitchFamily="34" charset="0"/>
                <a:ea typeface="Cambria" pitchFamily="34" charset="-122"/>
                <a:cs typeface="Cambria" pitchFamily="34" charset="-120"/>
              </a:rPr>
              <a:t>SCENARIO 3.7 — OPEC EMBARGO, 1973</a:t>
            </a:r>
            <a:endParaRPr lang="en-US" sz="1400" dirty="0"/>
          </a:p>
        </p:txBody>
      </p:sp>
      <p:sp>
        <p:nvSpPr>
          <p:cNvPr id="15" name="Text 12"/>
          <p:cNvSpPr/>
          <p:nvPr/>
        </p:nvSpPr>
        <p:spPr>
          <a:xfrm>
            <a:off x="8375904" y="5431536"/>
            <a:ext cx="3054096" cy="4572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OPEC embargoed production: S of petroleum — and of every good made with it — shifted sharply LEFT. Short-run demand was highly INELASTIC. P* rose sharply; Q* fell only slightly. Downstream: cars, plastics and fertilizers all became costlier.</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3.7 · UNITED STATES, OCTOBER 1973</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Why Consumers Bore the Burden of the Oil Shock</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pic>
        <p:nvPicPr>
          <p:cNvPr id="6" name="Image 0" descr="figs/m3_opec.png">    </p:cNvPr>
          <p:cNvPicPr>
            <a:picLocks noChangeAspect="1"/>
          </p:cNvPicPr>
          <p:nvPr/>
        </p:nvPicPr>
        <p:blipFill>
          <a:blip r:embed="rId1"/>
          <a:stretch>
            <a:fillRect/>
          </a:stretch>
        </p:blipFill>
        <p:spPr>
          <a:xfrm>
            <a:off x="502920" y="1503551"/>
            <a:ext cx="6035040" cy="3759459"/>
          </a:xfrm>
          <a:prstGeom prst="rect">
            <a:avLst/>
          </a:prstGeom>
        </p:spPr>
      </p:pic>
      <p:sp>
        <p:nvSpPr>
          <p:cNvPr id="7" name="Shape 4"/>
          <p:cNvSpPr/>
          <p:nvPr/>
        </p:nvSpPr>
        <p:spPr>
          <a:xfrm>
            <a:off x="6766560" y="1463040"/>
            <a:ext cx="4919472" cy="16002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022592" y="1645920"/>
            <a:ext cx="4407408"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SHORT-RUN PED OF GASOLINE</a:t>
            </a:r>
            <a:endParaRPr lang="en-US" sz="1550" dirty="0"/>
          </a:p>
        </p:txBody>
      </p:sp>
      <p:sp>
        <p:nvSpPr>
          <p:cNvPr id="9" name="Text 6"/>
          <p:cNvSpPr/>
          <p:nvPr/>
        </p:nvSpPr>
        <p:spPr>
          <a:xfrm>
            <a:off x="7022592" y="2048256"/>
            <a:ext cx="4407408" cy="77724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INELASTIC. In the short run consumers have few immediate substitutes: the car is already owned, the commute is already fixed, the house is already heated with oil. Quantity demanded barely responds to price.</a:t>
            </a:r>
            <a:endParaRPr lang="en-US" sz="1050" dirty="0"/>
          </a:p>
        </p:txBody>
      </p:sp>
      <p:sp>
        <p:nvSpPr>
          <p:cNvPr id="10" name="Shape 7"/>
          <p:cNvSpPr/>
          <p:nvPr/>
        </p:nvSpPr>
        <p:spPr>
          <a:xfrm>
            <a:off x="6766560" y="3200400"/>
            <a:ext cx="4919472" cy="14630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022592" y="3383280"/>
            <a:ext cx="440740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WHY CONSUMERS BORE THE BURDEN</a:t>
            </a:r>
            <a:endParaRPr lang="en-US" sz="1550" dirty="0"/>
          </a:p>
        </p:txBody>
      </p:sp>
      <p:sp>
        <p:nvSpPr>
          <p:cNvPr id="12" name="Text 9"/>
          <p:cNvSpPr/>
          <p:nvPr/>
        </p:nvSpPr>
        <p:spPr>
          <a:xfrm>
            <a:off x="7022592" y="3785616"/>
            <a:ext cx="4407408" cy="6400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When demand is far less elastic than supply, the side that CANNOT easily adjust absorbs most of the price change. Gasoline buyers could not adjust; so the leftward supply shift translated almost entirely into higher prices rather than lower quantities.</a:t>
            </a:r>
            <a:endParaRPr lang="en-US" sz="850" dirty="0"/>
          </a:p>
        </p:txBody>
      </p:sp>
      <p:sp>
        <p:nvSpPr>
          <p:cNvPr id="13" name="Shape 10"/>
          <p:cNvSpPr/>
          <p:nvPr/>
        </p:nvSpPr>
        <p:spPr>
          <a:xfrm>
            <a:off x="6766560" y="4800600"/>
            <a:ext cx="4919472" cy="13258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7022592" y="4983480"/>
            <a:ext cx="4407408"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THE DOWNSTREAM EFFECT</a:t>
            </a:r>
            <a:endParaRPr lang="en-US" sz="1550" dirty="0"/>
          </a:p>
        </p:txBody>
      </p:sp>
      <p:sp>
        <p:nvSpPr>
          <p:cNvPr id="15" name="Text 12"/>
          <p:cNvSpPr/>
          <p:nvPr/>
        </p:nvSpPr>
        <p:spPr>
          <a:xfrm>
            <a:off x="7022592" y="5385816"/>
            <a:ext cx="4407408" cy="5029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Petroleum is an INPUT (the P in PROFIT) for cars, plastics and fertilizers. A supply shock in one factor market propagates as a cost shock into every product market that uses it — the first hint of the general-equilibrium reasoning we meet in Module 6.</a:t>
            </a:r>
            <a:endParaRPr lang="en-US" sz="850" dirty="0"/>
          </a:p>
        </p:txBody>
      </p:sp>
      <p:sp>
        <p:nvSpPr>
          <p:cNvPr id="16" name="Shape 13"/>
          <p:cNvSpPr/>
          <p:nvPr/>
        </p:nvSpPr>
        <p:spPr>
          <a:xfrm>
            <a:off x="502920" y="5486400"/>
            <a:ext cx="6035040" cy="640080"/>
          </a:xfrm>
          <a:prstGeom prst="rect">
            <a:avLst/>
          </a:prstGeom>
          <a:solidFill>
            <a:srgbClr val="1A2E4A"/>
          </a:solidFill>
          <a:ln/>
        </p:spPr>
      </p:sp>
      <p:sp>
        <p:nvSpPr>
          <p:cNvPr id="17" name="Text 14"/>
          <p:cNvSpPr/>
          <p:nvPr/>
        </p:nvSpPr>
        <p:spPr>
          <a:xfrm>
            <a:off x="758952" y="5614416"/>
            <a:ext cx="552297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FORWARD REFERENCE</a:t>
            </a:r>
            <a:endParaRPr lang="en-US" sz="1050" dirty="0"/>
          </a:p>
        </p:txBody>
      </p:sp>
      <p:sp>
        <p:nvSpPr>
          <p:cNvPr id="18" name="Text 15"/>
          <p:cNvSpPr/>
          <p:nvPr/>
        </p:nvSpPr>
        <p:spPr>
          <a:xfrm>
            <a:off x="758952" y="5888736"/>
            <a:ext cx="5522976" cy="7315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The word ELASTICITY has now done real analytical work three times today. Module 4 makes it precise.</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WORKSHEET ✦3</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COVID-19 — A Double Shift You Lived Through</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
        <p:nvSpPr>
          <p:cNvPr id="6" name="Shape 4"/>
          <p:cNvSpPr/>
          <p:nvPr/>
        </p:nvSpPr>
        <p:spPr>
          <a:xfrm>
            <a:off x="502920" y="1417320"/>
            <a:ext cx="11183112" cy="91440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34747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The COVID-19 supply chain crisis is a double shift you lived through as a consumer. Which shift — supply or demand — do you believe exerted the larger effect on the prices you observed? What empirical evidence would you need to settle the question rigorously? What does this episode reveal about the limits of the partial equilibrium model?</a:t>
            </a:r>
            <a:endParaRPr lang="en-US" sz="1000" dirty="0"/>
          </a:p>
        </p:txBody>
      </p:sp>
      <p:sp>
        <p:nvSpPr>
          <p:cNvPr id="9" name="Shape 7"/>
          <p:cNvSpPr/>
          <p:nvPr/>
        </p:nvSpPr>
        <p:spPr>
          <a:xfrm>
            <a:off x="502920" y="2514600"/>
            <a:ext cx="3611880" cy="2194560"/>
          </a:xfrm>
          <a:prstGeom prst="rect">
            <a:avLst/>
          </a:prstGeom>
          <a:solidFill>
            <a:srgbClr val="E8EDF3"/>
          </a:solidFill>
          <a:ln/>
        </p:spPr>
      </p:sp>
      <p:sp>
        <p:nvSpPr>
          <p:cNvPr id="10" name="Shape 8"/>
          <p:cNvSpPr/>
          <p:nvPr/>
        </p:nvSpPr>
        <p:spPr>
          <a:xfrm>
            <a:off x="704088" y="2715768"/>
            <a:ext cx="457200" cy="457200"/>
          </a:xfrm>
          <a:prstGeom prst="ellipse">
            <a:avLst/>
          </a:prstGeom>
          <a:solidFill>
            <a:srgbClr val="1A2E4A"/>
          </a:solidFill>
          <a:ln/>
        </p:spPr>
      </p:sp>
      <p:sp>
        <p:nvSpPr>
          <p:cNvPr id="11" name="Text 9"/>
          <p:cNvSpPr/>
          <p:nvPr/>
        </p:nvSpPr>
        <p:spPr>
          <a:xfrm>
            <a:off x="704088" y="27157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271576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THE CLASSIFICATION QUESTION</a:t>
            </a:r>
            <a:endParaRPr lang="en-US" sz="1450" dirty="0"/>
          </a:p>
        </p:txBody>
      </p:sp>
      <p:sp>
        <p:nvSpPr>
          <p:cNvPr id="13" name="Text 11"/>
          <p:cNvSpPr/>
          <p:nvPr/>
        </p:nvSpPr>
        <p:spPr>
          <a:xfrm>
            <a:off x="722376" y="3264408"/>
            <a:ext cx="3154680" cy="1234440"/>
          </a:xfrm>
          <a:prstGeom prst="rect">
            <a:avLst/>
          </a:prstGeom>
          <a:noFill/>
          <a:ln/>
        </p:spPr>
        <p:txBody>
          <a:bodyPr wrap="square" lIns="0" tIns="0" rIns="0" bIns="0" rtlCol="0" anchor="t"/>
          <a:lstStyle/>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DEMAND-PULL inflation: prices rise because buyers are chasing goods (stimulus, substitution from services). COST-PUSH inflation: prices rise because production got more expensive (freight rates, chips, labor shortages). Both were present; the empirical question is the relative magnitude.</a:t>
            </a:r>
            <a:endParaRPr lang="en-US" sz="1000" dirty="0"/>
          </a:p>
        </p:txBody>
      </p:sp>
      <p:sp>
        <p:nvSpPr>
          <p:cNvPr id="14" name="Shape 12"/>
          <p:cNvSpPr/>
          <p:nvPr/>
        </p:nvSpPr>
        <p:spPr>
          <a:xfrm>
            <a:off x="4315968" y="2514600"/>
            <a:ext cx="3611880" cy="2194560"/>
          </a:xfrm>
          <a:prstGeom prst="rect">
            <a:avLst/>
          </a:prstGeom>
          <a:solidFill>
            <a:srgbClr val="E8EDF3"/>
          </a:solidFill>
          <a:ln/>
        </p:spPr>
      </p:sp>
      <p:sp>
        <p:nvSpPr>
          <p:cNvPr id="15" name="Shape 13"/>
          <p:cNvSpPr/>
          <p:nvPr/>
        </p:nvSpPr>
        <p:spPr>
          <a:xfrm>
            <a:off x="4517136" y="2715768"/>
            <a:ext cx="457200" cy="457200"/>
          </a:xfrm>
          <a:prstGeom prst="ellipse">
            <a:avLst/>
          </a:prstGeom>
          <a:solidFill>
            <a:srgbClr val="C0892E"/>
          </a:solidFill>
          <a:ln/>
        </p:spPr>
      </p:sp>
      <p:sp>
        <p:nvSpPr>
          <p:cNvPr id="16" name="Text 14"/>
          <p:cNvSpPr/>
          <p:nvPr/>
        </p:nvSpPr>
        <p:spPr>
          <a:xfrm>
            <a:off x="4517136" y="27157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93208" y="271576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WHAT EVIDENCE WOULD SETTLE IT</a:t>
            </a:r>
            <a:endParaRPr lang="en-US" sz="1450" dirty="0"/>
          </a:p>
        </p:txBody>
      </p:sp>
      <p:sp>
        <p:nvSpPr>
          <p:cNvPr id="18" name="Text 16"/>
          <p:cNvSpPr/>
          <p:nvPr/>
        </p:nvSpPr>
        <p:spPr>
          <a:xfrm>
            <a:off x="4535424" y="3264408"/>
            <a:ext cx="3154680" cy="1234440"/>
          </a:xfrm>
          <a:prstGeom prst="rect">
            <a:avLst/>
          </a:prstGeom>
          <a:noFill/>
          <a:ln/>
        </p:spPr>
        <p:txBody>
          <a:bodyPr wrap="square" lIns="0" tIns="0" rIns="0" bIns="0" rtlCol="0" anchor="t"/>
          <a:lstStyle/>
          <a:p>
            <a:pPr indent="0" marL="0">
              <a:lnSpc>
                <a:spcPts val="1600"/>
              </a:lnSpc>
              <a:buNone/>
            </a:pPr>
            <a:r>
              <a:rPr lang="en-US" sz="1100" dirty="0">
                <a:solidFill>
                  <a:srgbClr val="4A6180"/>
                </a:solidFill>
                <a:latin typeface="Calibri" pitchFamily="34" charset="0"/>
                <a:ea typeface="Calibri" pitchFamily="34" charset="-122"/>
                <a:cs typeface="Calibri" pitchFamily="34" charset="-120"/>
              </a:rPr>
              <a:t>Look at QUANTITY. If P rose AND Q rose, demand dominated. If P rose while Q FELL, supply dominated. Quantity is the discriminating variable — which is precisely why the double-shift framework says price alone is uninformative here.</a:t>
            </a:r>
            <a:endParaRPr lang="en-US" sz="1100" dirty="0"/>
          </a:p>
        </p:txBody>
      </p:sp>
      <p:sp>
        <p:nvSpPr>
          <p:cNvPr id="19" name="Shape 17"/>
          <p:cNvSpPr/>
          <p:nvPr/>
        </p:nvSpPr>
        <p:spPr>
          <a:xfrm>
            <a:off x="8119872" y="2514600"/>
            <a:ext cx="3566160" cy="2194560"/>
          </a:xfrm>
          <a:prstGeom prst="rect">
            <a:avLst/>
          </a:prstGeom>
          <a:solidFill>
            <a:srgbClr val="E8EDF3"/>
          </a:solidFill>
          <a:ln/>
        </p:spPr>
      </p:sp>
      <p:sp>
        <p:nvSpPr>
          <p:cNvPr id="20" name="Shape 18"/>
          <p:cNvSpPr/>
          <p:nvPr/>
        </p:nvSpPr>
        <p:spPr>
          <a:xfrm>
            <a:off x="8321040" y="2715768"/>
            <a:ext cx="457200" cy="457200"/>
          </a:xfrm>
          <a:prstGeom prst="ellipse">
            <a:avLst/>
          </a:prstGeom>
          <a:solidFill>
            <a:srgbClr val="9E2A2B"/>
          </a:solidFill>
          <a:ln/>
        </p:spPr>
      </p:sp>
      <p:sp>
        <p:nvSpPr>
          <p:cNvPr id="21" name="Text 19"/>
          <p:cNvSpPr/>
          <p:nvPr/>
        </p:nvSpPr>
        <p:spPr>
          <a:xfrm>
            <a:off x="8321040" y="27157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97112" y="2715768"/>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LIMITS OF PARTIAL EQUILIBRIUM</a:t>
            </a:r>
            <a:endParaRPr lang="en-US" sz="1450" dirty="0"/>
          </a:p>
        </p:txBody>
      </p:sp>
      <p:sp>
        <p:nvSpPr>
          <p:cNvPr id="23" name="Text 21"/>
          <p:cNvSpPr/>
          <p:nvPr/>
        </p:nvSpPr>
        <p:spPr>
          <a:xfrm>
            <a:off x="8339328" y="3264408"/>
            <a:ext cx="3108960" cy="1234440"/>
          </a:xfrm>
          <a:prstGeom prst="rect">
            <a:avLst/>
          </a:prstGeom>
          <a:noFill/>
          <a:ln/>
        </p:spPr>
        <p:txBody>
          <a:bodyPr wrap="square" lIns="0" tIns="0" rIns="0" bIns="0" rtlCol="0" anchor="t"/>
          <a:lstStyle/>
          <a:p>
            <a:pPr indent="0" marL="0">
              <a:lnSpc>
                <a:spcPts val="1600"/>
              </a:lnSpc>
              <a:buNone/>
            </a:pPr>
            <a:r>
              <a:rPr lang="en-US" sz="1100" dirty="0">
                <a:solidFill>
                  <a:srgbClr val="4A6180"/>
                </a:solidFill>
                <a:latin typeface="Calibri" pitchFamily="34" charset="0"/>
                <a:ea typeface="Calibri" pitchFamily="34" charset="-122"/>
                <a:cs typeface="Calibri" pitchFamily="34" charset="-120"/>
              </a:rPr>
              <a:t>Our model holds all OTHER markets fixed. In 2020–22 nothing else was fixed: labor, shipping, energy, semiconductors and housing all moved together, and each one's price was another's input cost. Partial equilibrium is a lens, not a photograph.</a:t>
            </a:r>
            <a:endParaRPr lang="en-US" sz="1100" dirty="0"/>
          </a:p>
        </p:txBody>
      </p:sp>
      <p:sp>
        <p:nvSpPr>
          <p:cNvPr id="24" name="Shape 22"/>
          <p:cNvSpPr/>
          <p:nvPr/>
        </p:nvSpPr>
        <p:spPr>
          <a:xfrm>
            <a:off x="502920" y="4937760"/>
            <a:ext cx="11183112" cy="1188720"/>
          </a:xfrm>
          <a:prstGeom prst="rect">
            <a:avLst/>
          </a:prstGeom>
          <a:solidFill>
            <a:srgbClr val="1A2E4A"/>
          </a:solidFill>
          <a:ln/>
        </p:spPr>
      </p:sp>
      <p:sp>
        <p:nvSpPr>
          <p:cNvPr id="25" name="Text 23"/>
          <p:cNvSpPr/>
          <p:nvPr/>
        </p:nvSpPr>
        <p:spPr>
          <a:xfrm>
            <a:off x="685800" y="5065776"/>
            <a:ext cx="1081735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P ↑ and Q ↑  →  DEMAND dominated.        P ↑ and Q ↓  →  SUPPLY dominated.</a:t>
            </a:r>
            <a:endParaRPr lang="en-US" sz="2200" dirty="0"/>
          </a:p>
        </p:txBody>
      </p:sp>
      <p:sp>
        <p:nvSpPr>
          <p:cNvPr id="26" name="Text 24"/>
          <p:cNvSpPr/>
          <p:nvPr/>
        </p:nvSpPr>
        <p:spPr>
          <a:xfrm>
            <a:off x="685800" y="56144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Write this rule on the inside cover of your notes. It converts an ambiguous price observation into a determinate diagnosis.</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400" b="1" spc="700" kern="0" dirty="0">
                <a:solidFill>
                  <a:srgbClr val="C0892E"/>
                </a:solidFill>
                <a:latin typeface="Calibri" pitchFamily="34" charset="0"/>
                <a:ea typeface="Calibri" pitchFamily="34" charset="-122"/>
                <a:cs typeface="Calibri" pitchFamily="34" charset="-120"/>
              </a:rPr>
              <a:t>YOU TRY</a:t>
            </a:r>
            <a:endParaRPr lang="en-US" sz="1400" dirty="0"/>
          </a:p>
        </p:txBody>
      </p:sp>
      <p:sp>
        <p:nvSpPr>
          <p:cNvPr id="3" name="Text 1"/>
          <p:cNvSpPr/>
          <p:nvPr/>
        </p:nvSpPr>
        <p:spPr>
          <a:xfrm>
            <a:off x="822960" y="164592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Module 3 — Independent Practice</a:t>
            </a:r>
            <a:endParaRPr lang="en-US" sz="3400" dirty="0"/>
          </a:p>
        </p:txBody>
      </p:sp>
      <p:sp>
        <p:nvSpPr>
          <p:cNvPr id="4" name="Text 2"/>
          <p:cNvSpPr/>
          <p:nvPr/>
        </p:nvSpPr>
        <p:spPr>
          <a:xfrm>
            <a:off x="822960" y="2834640"/>
            <a:ext cx="7863840" cy="2651760"/>
          </a:xfrm>
          <a:prstGeom prst="rect">
            <a:avLst/>
          </a:prstGeom>
          <a:noFill/>
          <a:ln/>
        </p:spPr>
        <p:txBody>
          <a:bodyPr wrap="square" lIns="0" tIns="0" rIns="0" bIns="0" rtlCol="0" anchor="ctr"/>
          <a:lstStyle/>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Complete all five Parts of the Module 3 Worksheet, including every graph — axes, curves, intercepts, E₁ and E₂ all labeled.</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Khan Academy: Supply and Demand Quizzes 1, 2 and 3 — reach mastery. Quiz 4 contains material we did not cover; treat it as exposure.</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MRU interactive practice: the demand-vs-quantity-demanded deep review.</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Answer reflection questions ✦2 and ✦3 in complete sentences.</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HOMEWORK RULE OF THUMB: above 80% → move on. Below 80% → retry once or twice. Consistently below 80% → office hours, immediately.</a:t>
            </a:r>
            <a:endParaRPr lang="en-US" sz="1500" dirty="0"/>
          </a:p>
        </p:txBody>
      </p:sp>
      <p:sp>
        <p:nvSpPr>
          <p:cNvPr id="5" name="Shape 3"/>
          <p:cNvSpPr/>
          <p:nvPr/>
        </p:nvSpPr>
        <p:spPr>
          <a:xfrm>
            <a:off x="9326880" y="3017520"/>
            <a:ext cx="1828800" cy="1828800"/>
          </a:xfrm>
          <a:prstGeom prst="ellipse">
            <a:avLst/>
          </a:prstGeom>
          <a:solidFill>
            <a:srgbClr val="C0892E"/>
          </a:solidFill>
          <a:ln/>
        </p:spPr>
      </p:sp>
      <p:sp>
        <p:nvSpPr>
          <p:cNvPr id="6" name="Text 4"/>
          <p:cNvSpPr/>
          <p:nvPr/>
        </p:nvSpPr>
        <p:spPr>
          <a:xfrm>
            <a:off x="9326880" y="301752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20</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MIN</a:t>
            </a:r>
            <a:endParaRPr lang="en-US" sz="3000" dirty="0"/>
          </a:p>
        </p:txBody>
      </p:sp>
      <p:sp>
        <p:nvSpPr>
          <p:cNvPr id="7" name="Text 5"/>
          <p:cNvSpPr/>
          <p:nvPr/>
        </p:nvSpPr>
        <p:spPr>
          <a:xfrm>
            <a:off x="822960" y="6345936"/>
            <a:ext cx="5486400" cy="274320"/>
          </a:xfrm>
          <a:prstGeom prst="rect">
            <a:avLst/>
          </a:prstGeom>
          <a:noFill/>
          <a:ln/>
        </p:spPr>
        <p:txBody>
          <a:bodyPr wrap="square" lIns="0" tIns="0" rIns="0" bIns="0" rtlCol="0" anchor="ctr"/>
          <a:lstStyle/>
          <a:p>
            <a:pPr indent="0" marL="0">
              <a:buNone/>
            </a:pPr>
            <a:r>
              <a:rPr lang="en-US" sz="900" spc="100" kern="0" dirty="0">
                <a:solidFill>
                  <a:srgbClr val="4A6180"/>
                </a:solidFill>
                <a:latin typeface="Calibri" pitchFamily="34" charset="0"/>
                <a:ea typeface="Calibri" pitchFamily="34" charset="-122"/>
                <a:cs typeface="Calibri" pitchFamily="34" charset="-120"/>
              </a:rPr>
              <a:t>INTRO TO MICROECONOMICS  |  PROF. VELAZQUEZ</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3</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You Should Be Able to Do</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1188720"/>
                <a:gridCol w="9994392"/>
              </a:tblGrid>
              <a:tr h="548640">
                <a:tc>
                  <a:txBody>
                    <a:bodyPr/>
                    <a:lstStyle/>
                    <a:p>
                      <a:pPr algn="l" indent="0" marL="0">
                        <a:buNone/>
                      </a:pP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LEARNING OUTCOME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4864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1</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State the law of demand and explain it through the substitution and income effects; build a linear demand model from a data table in all three forms; compute the slope and both intercepts; distinguish a change in quantity demanded from a change in demand.</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4864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2</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State the law of supply and explain the upward slope through rising marginal cost; build a linear supply model from producer data in all three forms; compute the slope and interpret the vertical intercept as a reservation price.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4864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3</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Solve Qd = Qs algebraically for P* and Q* and verify the solution in both equations; identify shortages and surpluses and predict the direction of price adjustment; explain what market clearing does and does NOT establish; shade and compute CS and PS.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4864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4</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Recite all five determinants of demand (TRIBE) and all six of supply (PROFIT); classify any event as a shift or a movement along, and state its direction; predict the effect on P* and Q* of any single-curve shift.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48640">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Part 5</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Execute the four-step ceteris paribus procedure for a double shift; state which of P* and Q* is determinate in each of the four cases and why; apply the framework to the Black Death, COVID-19 and the 1973 oil shock.</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5486400"/>
            <a:ext cx="11183112" cy="640080"/>
          </a:xfrm>
          <a:prstGeom prst="rect">
            <a:avLst/>
          </a:prstGeom>
          <a:solidFill>
            <a:srgbClr val="1A2E4A"/>
          </a:solidFill>
          <a:ln/>
        </p:spPr>
      </p:sp>
      <p:sp>
        <p:nvSpPr>
          <p:cNvPr id="8" name="Text 5"/>
          <p:cNvSpPr/>
          <p:nvPr/>
        </p:nvSpPr>
        <p:spPr>
          <a:xfrm>
            <a:off x="758952" y="56144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NEXT</a:t>
            </a:r>
            <a:endParaRPr lang="en-US" sz="1050" dirty="0"/>
          </a:p>
        </p:txBody>
      </p:sp>
      <p:sp>
        <p:nvSpPr>
          <p:cNvPr id="9" name="Text 6"/>
          <p:cNvSpPr/>
          <p:nvPr/>
        </p:nvSpPr>
        <p:spPr>
          <a:xfrm>
            <a:off x="758952" y="5888736"/>
            <a:ext cx="10671048" cy="73152"/>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MODULE 4 — SUPPLY AND DEMAND ELASTICITY. We have used the word 'elastic' informally three times today. Module 4 gives it a formula, a sign, a set of thresholds, and a direct link to total revenue.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3</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3: SUPPLY AND DEMAND EQUILIBRIUM</a:t>
            </a:r>
            <a:endParaRPr lang="en-US" sz="900" dirty="0"/>
          </a:p>
        </p:txBody>
      </p:sp>
      <p:sp>
        <p:nvSpPr>
          <p:cNvPr id="6" name="Text 4"/>
          <p:cNvSpPr/>
          <p:nvPr/>
        </p:nvSpPr>
        <p:spPr>
          <a:xfrm>
            <a:off x="502920" y="1645920"/>
            <a:ext cx="5486400" cy="4206240"/>
          </a:xfrm>
          <a:prstGeom prst="rect">
            <a:avLst/>
          </a:prstGeom>
          <a:noFill/>
          <a:ln/>
        </p:spPr>
        <p:txBody>
          <a:bodyPr wrap="square" lIns="0" tIns="0" rIns="0" bIns="0" rtlCol="0" anchor="ctr"/>
          <a:lstStyle/>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Hayek, F. A. (1945). The use of knowledge in society. American Economic Review, 35(4), 519–530.</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Marshall, A. (1890). Principles of economics. London: Macmillan.</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Mankiw, N. G. (2021). Principles of microeconomics (9th ed.), Chs. 4–5. Cengage.</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Hamilton, A. (1985). Wages and prices in Byzantium. Byzantine Studies Review.</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de la Vaissière, É. (2005). Sogdian traders: A history. Leiden: Brill.</a:t>
            </a:r>
            <a:endParaRPr lang="en-US" sz="1100" dirty="0"/>
          </a:p>
        </p:txBody>
      </p:sp>
      <p:sp>
        <p:nvSpPr>
          <p:cNvPr id="7" name="Text 5"/>
          <p:cNvSpPr/>
          <p:nvPr/>
        </p:nvSpPr>
        <p:spPr>
          <a:xfrm>
            <a:off x="6199632" y="1645920"/>
            <a:ext cx="5486400" cy="4206240"/>
          </a:xfrm>
          <a:prstGeom prst="rect">
            <a:avLst/>
          </a:prstGeom>
          <a:noFill/>
          <a:ln/>
        </p:spPr>
        <p:txBody>
          <a:bodyPr wrap="square" lIns="0" tIns="0" rIns="0" bIns="0" rtlCol="0" anchor="ctr"/>
          <a:lstStyle/>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Herlihy, D. (1997). The Black Death and the transformation of the West. Harvard University Press.</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Chuku, C., Samal, P., et al. (2023). Are we heading for another debt crisis? IMF Working Paper. (COVID-era price dynamics)</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Hamilton, J. D. (2013). Historical oil shocks. In Routledge Handbook of Major Events in Economic History.</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Chittick, N. (1974). Kilwa: An Islamic trading city on the East African coast. British Institute in Eastern Africa.</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Smith, A. (1776). An inquiry into the nature and causes of the wealth of nations. London: W. Strahan &amp; T. Cadell.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Saint Joseph's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ECN 101 — Module 3: Supply and Demand Equilibrium</dc:title>
  <dc:subject>Introduction to Microeconomics</dc:subject>
  <dc:creator>Professor Velazquez</dc:creator>
  <cp:lastModifiedBy>Professor Velazquez</cp:lastModifiedBy>
  <cp:revision>1</cp:revision>
  <dcterms:created xsi:type="dcterms:W3CDTF">2026-08-24T19:24:08Z</dcterms:created>
  <dcterms:modified xsi:type="dcterms:W3CDTF">2026-08-24T19:24:08Z</dcterms:modified>
</cp:coreProperties>
</file>